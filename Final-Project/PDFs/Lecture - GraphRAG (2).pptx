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57" r:id="rId1"/>
  </p:sldMasterIdLst>
  <p:notesMasterIdLst>
    <p:notesMasterId r:id="rId34"/>
  </p:notesMasterIdLst>
  <p:handoutMasterIdLst>
    <p:handoutMasterId r:id="rId35"/>
  </p:handoutMasterIdLst>
  <p:sldIdLst>
    <p:sldId id="349" r:id="rId2"/>
    <p:sldId id="350" r:id="rId3"/>
    <p:sldId id="351" r:id="rId4"/>
    <p:sldId id="352" r:id="rId5"/>
    <p:sldId id="353" r:id="rId6"/>
    <p:sldId id="354" r:id="rId7"/>
    <p:sldId id="355" r:id="rId8"/>
    <p:sldId id="356" r:id="rId9"/>
    <p:sldId id="357" r:id="rId10"/>
    <p:sldId id="358" r:id="rId11"/>
    <p:sldId id="359" r:id="rId12"/>
    <p:sldId id="360" r:id="rId13"/>
    <p:sldId id="361" r:id="rId14"/>
    <p:sldId id="362" r:id="rId15"/>
    <p:sldId id="363" r:id="rId16"/>
    <p:sldId id="364" r:id="rId17"/>
    <p:sldId id="365" r:id="rId18"/>
    <p:sldId id="366" r:id="rId19"/>
    <p:sldId id="367" r:id="rId20"/>
    <p:sldId id="368" r:id="rId21"/>
    <p:sldId id="369" r:id="rId22"/>
    <p:sldId id="370" r:id="rId23"/>
    <p:sldId id="371" r:id="rId24"/>
    <p:sldId id="372" r:id="rId25"/>
    <p:sldId id="373" r:id="rId26"/>
    <p:sldId id="374" r:id="rId27"/>
    <p:sldId id="375" r:id="rId28"/>
    <p:sldId id="376" r:id="rId29"/>
    <p:sldId id="377" r:id="rId30"/>
    <p:sldId id="378" r:id="rId31"/>
    <p:sldId id="379" r:id="rId32"/>
    <p:sldId id="380" r:id="rId3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9FFB9"/>
    <a:srgbClr val="FFFFE9"/>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5" d="100"/>
          <a:sy n="65" d="100"/>
        </p:scale>
        <p:origin x="1536"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BD9761D-1F95-3B4C-BE9C-CDD1389A8812}" type="datetimeFigureOut">
              <a:rPr lang="en-US" smtClean="0"/>
              <a:t>4/3/2025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FADCD51-711A-044D-9B2C-C47F74A9A11F}" type="slidenum">
              <a:rPr lang="en-US" smtClean="0"/>
              <a:t>‹#›</a:t>
            </a:fld>
            <a:endParaRPr lang="en-US"/>
          </a:p>
        </p:txBody>
      </p:sp>
    </p:spTree>
    <p:extLst>
      <p:ext uri="{BB962C8B-B14F-4D97-AF65-F5344CB8AC3E}">
        <p14:creationId xmlns:p14="http://schemas.microsoft.com/office/powerpoint/2010/main" val="854895520"/>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D95A596-FA52-0448-9C24-EA3FEFB30C0E}" type="datetimeFigureOut">
              <a:rPr lang="en-US" smtClean="0"/>
              <a:t>4/3/2025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64C5791-7364-9E4F-986D-297FD347B6DE}" type="slidenum">
              <a:rPr lang="en-US" smtClean="0"/>
              <a:t>‹#›</a:t>
            </a:fld>
            <a:endParaRPr lang="en-US"/>
          </a:p>
        </p:txBody>
      </p:sp>
    </p:spTree>
    <p:extLst>
      <p:ext uri="{BB962C8B-B14F-4D97-AF65-F5344CB8AC3E}">
        <p14:creationId xmlns:p14="http://schemas.microsoft.com/office/powerpoint/2010/main" val="615199402"/>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64C5791-7364-9E4F-986D-297FD347B6DE}" type="slidenum">
              <a:rPr lang="en-US" smtClean="0"/>
              <a:t>2</a:t>
            </a:fld>
            <a:endParaRPr lang="en-US"/>
          </a:p>
        </p:txBody>
      </p:sp>
    </p:spTree>
    <p:extLst>
      <p:ext uri="{BB962C8B-B14F-4D97-AF65-F5344CB8AC3E}">
        <p14:creationId xmlns:p14="http://schemas.microsoft.com/office/powerpoint/2010/main" val="1803885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a:t>Click to edit Master title style</a:t>
            </a:r>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CF164A81-75B2-194C-A843-C64EC5C16B31}" type="datetime1">
              <a:rPr lang="en-US" smtClean="0"/>
              <a:t>4/3/2025</a:t>
            </a:fld>
            <a:endParaRPr lang="en-US" dirty="0"/>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endParaRPr lang="en-US" dirty="0"/>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FA84A37A-AFC2-4A01-80A1-FC20F2C0D5BB}" type="slidenum">
              <a:rPr lang="en-US" smtClean="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20315" y="228600"/>
            <a:ext cx="8943473" cy="990600"/>
          </a:xfrm>
        </p:spPr>
        <p:txBody>
          <a:bodyPr>
            <a:normAutofit/>
          </a:bodyPr>
          <a:lstStyle>
            <a:lvl1pPr>
              <a:defRPr sz="3800" b="1">
                <a:latin typeface="Arial Narrow" panose="020B0606020202030204" pitchFamily="34" charset="0"/>
              </a:defRPr>
            </a:lvl1pPr>
          </a:lstStyle>
          <a:p>
            <a:r>
              <a:rPr kumimoji="0" lang="en-US" dirty="0"/>
              <a:t>Click to edit Master title style</a:t>
            </a:r>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EBFB1032-EA64-7144-B003-9BCC9D94B503}" type="slidenum">
              <a:rPr lang="en-US" smtClean="0"/>
              <a:t>‹#›</a:t>
            </a:fld>
            <a:endParaRPr lang="en-US" dirty="0"/>
          </a:p>
        </p:txBody>
      </p:sp>
      <p:sp>
        <p:nvSpPr>
          <p:cNvPr id="8" name="Content Placeholder 7"/>
          <p:cNvSpPr>
            <a:spLocks noGrp="1"/>
          </p:cNvSpPr>
          <p:nvPr>
            <p:ph sz="quarter" idx="1"/>
          </p:nvPr>
        </p:nvSpPr>
        <p:spPr>
          <a:xfrm>
            <a:off x="120315" y="1600200"/>
            <a:ext cx="8943473" cy="5153526"/>
          </a:xfrm>
        </p:spPr>
        <p:txBody>
          <a:bodyPr>
            <a:normAutofit/>
          </a:bodyPr>
          <a:lstStyle>
            <a:lvl1pPr>
              <a:defRPr sz="2400">
                <a:latin typeface="Arial Narrow" panose="020B0606020202030204" pitchFamily="34" charset="0"/>
              </a:defRPr>
            </a:lvl1pPr>
            <a:lvl2pPr>
              <a:defRPr sz="2400">
                <a:latin typeface="Arial Narrow" panose="020B0606020202030204" pitchFamily="34" charset="0"/>
              </a:defRPr>
            </a:lvl2pPr>
            <a:lvl3pPr>
              <a:defRPr sz="2400">
                <a:latin typeface="Arial Narrow" panose="020B0606020202030204" pitchFamily="34" charset="0"/>
              </a:defRPr>
            </a:lvl3pPr>
            <a:lvl4pPr>
              <a:defRPr sz="2400">
                <a:latin typeface="Arial Narrow" panose="020B0606020202030204" pitchFamily="34" charset="0"/>
              </a:defRPr>
            </a:lvl4pPr>
            <a:lvl5pPr>
              <a:defRPr sz="2400">
                <a:latin typeface="Arial Narrow" panose="020B0606020202030204" pitchFamily="34" charset="0"/>
              </a:defRPr>
            </a:lvl5pPr>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a:t>Click to edit Master title style</a:t>
            </a:r>
          </a:p>
        </p:txBody>
      </p:sp>
      <p:sp>
        <p:nvSpPr>
          <p:cNvPr id="12" name="Date Placeholder 11"/>
          <p:cNvSpPr>
            <a:spLocks noGrp="1"/>
          </p:cNvSpPr>
          <p:nvPr>
            <p:ph type="dt" sz="half" idx="10"/>
          </p:nvPr>
        </p:nvSpPr>
        <p:spPr/>
        <p:txBody>
          <a:bodyPr/>
          <a:lstStyle/>
          <a:p>
            <a:fld id="{EDF00D79-2A23-4C40-804A-C01F394F0C72}" type="datetime1">
              <a:rPr lang="en-US" smtClean="0"/>
              <a:t>4/3/2025</a:t>
            </a:fld>
            <a:endParaRPr lang="en-US" dirty="0"/>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EBFB1032-EA64-7144-B003-9BCC9D94B503}" type="slidenum">
              <a:rPr lang="en-US" smtClean="0"/>
              <a:t>‹#›</a:t>
            </a:fld>
            <a:endParaRPr lang="en-US" dirty="0"/>
          </a:p>
        </p:txBody>
      </p:sp>
      <p:sp>
        <p:nvSpPr>
          <p:cNvPr id="14" name="Footer Placeholder 13"/>
          <p:cNvSpPr>
            <a:spLocks noGrp="1"/>
          </p:cNvSpPr>
          <p:nvPr>
            <p:ph type="ftr" sz="quarter" idx="12"/>
          </p:nvPr>
        </p:nvSpPr>
        <p:spPr/>
        <p:txBody>
          <a:bodyPr/>
          <a:lstStyle/>
          <a:p>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8" name="Date Placeholder 7"/>
          <p:cNvSpPr>
            <a:spLocks noGrp="1"/>
          </p:cNvSpPr>
          <p:nvPr>
            <p:ph type="dt" sz="half" idx="15"/>
          </p:nvPr>
        </p:nvSpPr>
        <p:spPr/>
        <p:txBody>
          <a:bodyPr rtlCol="0"/>
          <a:lstStyle/>
          <a:p>
            <a:fld id="{0674B835-C713-9846-B110-24995DE671EF}" type="datetime1">
              <a:rPr lang="en-US" smtClean="0"/>
              <a:t>4/3/2025</a:t>
            </a:fld>
            <a:endParaRPr lang="en-US" dirty="0"/>
          </a:p>
        </p:txBody>
      </p:sp>
      <p:sp>
        <p:nvSpPr>
          <p:cNvPr id="10" name="Slide Number Placeholder 9"/>
          <p:cNvSpPr>
            <a:spLocks noGrp="1"/>
          </p:cNvSpPr>
          <p:nvPr>
            <p:ph type="sldNum" sz="quarter" idx="16"/>
          </p:nvPr>
        </p:nvSpPr>
        <p:spPr/>
        <p:txBody>
          <a:bodyPr rtlCol="0"/>
          <a:lstStyle/>
          <a:p>
            <a:fld id="{EBFB1032-EA64-7144-B003-9BCC9D94B503}" type="slidenum">
              <a:rPr lang="en-US" smtClean="0"/>
              <a:t>‹#›</a:t>
            </a:fld>
            <a:endParaRPr lang="en-US" dirty="0"/>
          </a:p>
        </p:txBody>
      </p:sp>
      <p:sp>
        <p:nvSpPr>
          <p:cNvPr id="12" name="Footer Placeholder 11"/>
          <p:cNvSpPr>
            <a:spLocks noGrp="1"/>
          </p:cNvSpPr>
          <p:nvPr>
            <p:ph type="ftr" sz="quarter" idx="17"/>
          </p:nvPr>
        </p:nvSpPr>
        <p:spPr/>
        <p:txBody>
          <a:bodyPr rtlCol="0"/>
          <a:lstStyle/>
          <a:p>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a:t>Click to edit Master title style</a:t>
            </a:r>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 name="Date Placeholder 9"/>
          <p:cNvSpPr>
            <a:spLocks noGrp="1"/>
          </p:cNvSpPr>
          <p:nvPr>
            <p:ph type="dt" sz="half" idx="15"/>
          </p:nvPr>
        </p:nvSpPr>
        <p:spPr/>
        <p:txBody>
          <a:bodyPr rtlCol="0"/>
          <a:lstStyle/>
          <a:p>
            <a:fld id="{D0393BC9-E94F-5B47-BD76-EECA0CBE7CA1}" type="datetime1">
              <a:rPr lang="en-US" smtClean="0"/>
              <a:t>4/3/2025</a:t>
            </a:fld>
            <a:endParaRPr lang="en-US" dirty="0"/>
          </a:p>
        </p:txBody>
      </p:sp>
      <p:sp>
        <p:nvSpPr>
          <p:cNvPr id="12" name="Slide Number Placeholder 11"/>
          <p:cNvSpPr>
            <a:spLocks noGrp="1"/>
          </p:cNvSpPr>
          <p:nvPr>
            <p:ph type="sldNum" sz="quarter" idx="16"/>
          </p:nvPr>
        </p:nvSpPr>
        <p:spPr/>
        <p:txBody>
          <a:bodyPr rtlCol="0"/>
          <a:lstStyle/>
          <a:p>
            <a:fld id="{EBFB1032-EA64-7144-B003-9BCC9D94B503}" type="slidenum">
              <a:rPr lang="en-US" smtClean="0"/>
              <a:t>‹#›</a:t>
            </a:fld>
            <a:endParaRPr lang="en-US" dirty="0"/>
          </a:p>
        </p:txBody>
      </p:sp>
      <p:sp>
        <p:nvSpPr>
          <p:cNvPr id="14" name="Footer Placeholder 13"/>
          <p:cNvSpPr>
            <a:spLocks noGrp="1"/>
          </p:cNvSpPr>
          <p:nvPr>
            <p:ph type="ftr" sz="quarter" idx="17"/>
          </p:nvPr>
        </p:nvSpPr>
        <p:spPr/>
        <p:txBody>
          <a:bodyPr rtlCol="0"/>
          <a:lstStyle/>
          <a:p>
            <a:endParaRPr lang="en-US" dirty="0"/>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57F308A2-EBB5-744B-B5B4-7699A7EC7B98}" type="datetime1">
              <a:rPr lang="en-US" smtClean="0"/>
              <a:t>4/3/2025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EBFB1032-EA64-7144-B003-9BCC9D94B503}" type="slidenum">
              <a:rPr lang="en-US" smtClean="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C9872E7-27FD-CA40-8E81-E7A5851A1F00}" type="datetime1">
              <a:rPr lang="en-US" smtClean="0"/>
              <a:t>4/3/2025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EBFB1032-EA64-7144-B003-9BCC9D94B503}" type="slidenum">
              <a:rPr lang="en-US" smtClean="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a:t>Click to edit Master title style</a:t>
            </a:r>
          </a:p>
        </p:txBody>
      </p:sp>
      <p:sp>
        <p:nvSpPr>
          <p:cNvPr id="5" name="Date Placeholder 4"/>
          <p:cNvSpPr>
            <a:spLocks noGrp="1"/>
          </p:cNvSpPr>
          <p:nvPr>
            <p:ph type="dt" sz="half" idx="10"/>
          </p:nvPr>
        </p:nvSpPr>
        <p:spPr/>
        <p:txBody>
          <a:bodyPr/>
          <a:lstStyle/>
          <a:p>
            <a:fld id="{0F37C8EB-B6A2-A747-83AD-60E35A0235F5}" type="datetime1">
              <a:rPr lang="en-US" smtClean="0"/>
              <a:t>4/3/2025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FA84A37A-AFC2-4A01-80A1-FC20F2C0D5BB}" type="slidenum">
              <a:rPr lang="en-US" smtClean="0"/>
              <a:pPr/>
              <a:t>‹#›</a:t>
            </a:fld>
            <a:endParaRPr lang="en-US" dirty="0"/>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a:t>Click to edit Master title style</a:t>
            </a:r>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ate Placeholder 11"/>
          <p:cNvSpPr>
            <a:spLocks noGrp="1"/>
          </p:cNvSpPr>
          <p:nvPr>
            <p:ph type="dt" sz="half" idx="10"/>
          </p:nvPr>
        </p:nvSpPr>
        <p:spPr>
          <a:xfrm>
            <a:off x="6248400" y="6248400"/>
            <a:ext cx="2667000" cy="365125"/>
          </a:xfrm>
        </p:spPr>
        <p:txBody>
          <a:bodyPr rtlCol="0"/>
          <a:lstStyle/>
          <a:p>
            <a:fld id="{CD6682E5-7E97-2F44-B961-B3631B15779F}" type="datetime1">
              <a:rPr lang="en-US" smtClean="0"/>
              <a:t>4/3/2025</a:t>
            </a:fld>
            <a:endParaRPr lang="en-US" dirty="0"/>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EBFB1032-EA64-7144-B003-9BCC9D94B503}" type="slidenum">
              <a:rPr lang="en-US" smtClean="0"/>
              <a:t>‹#›</a:t>
            </a:fld>
            <a:endParaRPr lang="en-US" dirty="0"/>
          </a:p>
        </p:txBody>
      </p:sp>
      <p:sp>
        <p:nvSpPr>
          <p:cNvPr id="14" name="Footer Placeholder 13"/>
          <p:cNvSpPr>
            <a:spLocks noGrp="1"/>
          </p:cNvSpPr>
          <p:nvPr>
            <p:ph type="ftr" sz="quarter" idx="12"/>
          </p:nvPr>
        </p:nvSpPr>
        <p:spPr>
          <a:xfrm>
            <a:off x="1600200" y="6248206"/>
            <a:ext cx="4572000" cy="365125"/>
          </a:xfrm>
        </p:spPr>
        <p:txBody>
          <a:bodyPr rtlCol="0"/>
          <a:lstStyle/>
          <a:p>
            <a:endParaRPr lang="en-US" dirty="0"/>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a:t>Click icon to add picture</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0DD67E5-F24F-664E-AC9C-26173D2CF6BA}" type="datetime1">
              <a:rPr lang="en-US" smtClean="0"/>
              <a:t>4/3/2025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BFB1032-EA64-7144-B003-9BCC9D94B503}" type="slidenum">
              <a:rPr lang="en-US" smtClean="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a:xfrm>
            <a:off x="6553200" y="6248402"/>
            <a:ext cx="2209800" cy="365125"/>
          </a:xfrm>
        </p:spPr>
        <p:txBody>
          <a:bodyPr/>
          <a:lstStyle/>
          <a:p>
            <a:fld id="{E5DF139F-CB8F-D149-BA56-8B0C015E5021}" type="datetime1">
              <a:rPr lang="en-US" smtClean="0"/>
              <a:t>4/3/2025</a:t>
            </a:fld>
            <a:endParaRPr lang="en-US" dirty="0"/>
          </a:p>
        </p:txBody>
      </p:sp>
      <p:sp>
        <p:nvSpPr>
          <p:cNvPr id="5" name="Footer Placeholder 4"/>
          <p:cNvSpPr>
            <a:spLocks noGrp="1"/>
          </p:cNvSpPr>
          <p:nvPr>
            <p:ph type="ftr" sz="quarter" idx="11"/>
          </p:nvPr>
        </p:nvSpPr>
        <p:spPr>
          <a:xfrm>
            <a:off x="457201" y="6248207"/>
            <a:ext cx="5573483" cy="365125"/>
          </a:xfrm>
        </p:spPr>
        <p:txBody>
          <a:bodyPr/>
          <a:lstStyle/>
          <a:p>
            <a:endParaRPr lang="en-US" dirty="0"/>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8" y="144462"/>
            <a:ext cx="533400" cy="244476"/>
          </a:xfrm>
        </p:spPr>
        <p:txBody>
          <a:bodyPr/>
          <a:lstStyle/>
          <a:p>
            <a:fld id="{EBFB1032-EA64-7144-B003-9BCC9D94B503}" type="slidenum">
              <a:rPr lang="en-US" smtClean="0"/>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a:t>Click to edit Master title style</a:t>
            </a:r>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fld id="{F6F81F14-9AEC-394B-B8F6-AE69A194437D}" type="datetime1">
              <a:rPr lang="en-US" smtClean="0"/>
              <a:t>4/3/2025</a:t>
            </a:fld>
            <a:endParaRPr lang="en-US" dirty="0"/>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endParaRPr lang="en-US" dirty="0"/>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EBFB1032-EA64-7144-B003-9BCC9D94B503}"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Lst>
  <p:hf hdr="0" ftr="0" dt="0"/>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graphrag.com/"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C1B65F7-0113-7DE2-3991-A125F6F6787F}"/>
              </a:ext>
            </a:extLst>
          </p:cNvPr>
          <p:cNvSpPr>
            <a:spLocks noGrp="1"/>
          </p:cNvSpPr>
          <p:nvPr>
            <p:ph type="title"/>
          </p:nvPr>
        </p:nvSpPr>
        <p:spPr/>
        <p:txBody>
          <a:bodyPr>
            <a:normAutofit/>
          </a:bodyPr>
          <a:lstStyle/>
          <a:p>
            <a:r>
              <a:rPr lang="en-US" sz="4000" dirty="0" err="1"/>
              <a:t>GraphRAG</a:t>
            </a:r>
            <a:endParaRPr lang="en-US" sz="4000" dirty="0"/>
          </a:p>
        </p:txBody>
      </p:sp>
      <p:sp>
        <p:nvSpPr>
          <p:cNvPr id="2" name="Slide Number Placeholder 1">
            <a:extLst>
              <a:ext uri="{FF2B5EF4-FFF2-40B4-BE49-F238E27FC236}">
                <a16:creationId xmlns:a16="http://schemas.microsoft.com/office/drawing/2014/main" id="{7137B734-908D-3509-4F4F-4206C8E7291B}"/>
              </a:ext>
            </a:extLst>
          </p:cNvPr>
          <p:cNvSpPr>
            <a:spLocks noGrp="1"/>
          </p:cNvSpPr>
          <p:nvPr>
            <p:ph type="sldNum" sz="quarter" idx="12"/>
          </p:nvPr>
        </p:nvSpPr>
        <p:spPr/>
        <p:txBody>
          <a:bodyPr>
            <a:normAutofit fontScale="85000" lnSpcReduction="20000"/>
          </a:bodyPr>
          <a:lstStyle/>
          <a:p>
            <a:fld id="{EBFB1032-EA64-7144-B003-9BCC9D94B503}" type="slidenum">
              <a:rPr lang="en-US" smtClean="0"/>
              <a:t>1</a:t>
            </a:fld>
            <a:endParaRPr lang="en-US" dirty="0"/>
          </a:p>
        </p:txBody>
      </p:sp>
      <p:sp>
        <p:nvSpPr>
          <p:cNvPr id="4" name="Content Placeholder 3">
            <a:extLst>
              <a:ext uri="{FF2B5EF4-FFF2-40B4-BE49-F238E27FC236}">
                <a16:creationId xmlns:a16="http://schemas.microsoft.com/office/drawing/2014/main" id="{D1E027C4-4CBB-81FD-6CCB-3B08B2BD3E39}"/>
              </a:ext>
            </a:extLst>
          </p:cNvPr>
          <p:cNvSpPr>
            <a:spLocks noGrp="1"/>
          </p:cNvSpPr>
          <p:nvPr>
            <p:ph sz="quarter" idx="1"/>
          </p:nvPr>
        </p:nvSpPr>
        <p:spPr/>
        <p:txBody>
          <a:bodyPr>
            <a:noAutofit/>
          </a:bodyPr>
          <a:lstStyle/>
          <a:p>
            <a:pPr algn="just"/>
            <a:r>
              <a:rPr lang="en-US" sz="2300" dirty="0" err="1"/>
              <a:t>GraphRAG</a:t>
            </a:r>
            <a:r>
              <a:rPr lang="en-US" sz="2300" dirty="0"/>
              <a:t> is a powerful retrieval mechanism that improves GenAI applications by taking advantage of the rich context in graph data structures.</a:t>
            </a:r>
          </a:p>
          <a:p>
            <a:pPr algn="just"/>
            <a:r>
              <a:rPr lang="en-US" sz="2300" dirty="0"/>
              <a:t>Enterprise GenAI systems face a critical challenge:</a:t>
            </a:r>
          </a:p>
          <a:p>
            <a:pPr lvl="1" algn="just"/>
            <a:r>
              <a:rPr lang="en-US" sz="2300" dirty="0"/>
              <a:t>the need for trustworthy and reliable results.</a:t>
            </a:r>
          </a:p>
          <a:p>
            <a:pPr algn="just"/>
            <a:r>
              <a:rPr lang="en-US" sz="2300" dirty="0"/>
              <a:t>Pure large language model (LLM)-based solutions often fall short in this regard. </a:t>
            </a:r>
          </a:p>
          <a:p>
            <a:pPr algn="just"/>
            <a:r>
              <a:rPr lang="en-US" sz="2300" dirty="0"/>
              <a:t>These models are trained to prioritize helpfulness over factuality, and their pre-training data usually lacks crucial recent and relevant information. </a:t>
            </a:r>
          </a:p>
          <a:p>
            <a:pPr algn="just"/>
            <a:r>
              <a:rPr lang="en-US" sz="2300" dirty="0"/>
              <a:t>Consequently, they are prone to generating hallucinations of facts and explanations, which is particularly damaging in high-value business domains and use cases.</a:t>
            </a:r>
          </a:p>
          <a:p>
            <a:pPr algn="just"/>
            <a:r>
              <a:rPr lang="en-US" sz="2300" dirty="0"/>
              <a:t>To address these issues, Retrieval-Augmented Generation (RAG) architectures have emerged as a solution.</a:t>
            </a:r>
          </a:p>
        </p:txBody>
      </p:sp>
    </p:spTree>
    <p:extLst>
      <p:ext uri="{BB962C8B-B14F-4D97-AF65-F5344CB8AC3E}">
        <p14:creationId xmlns:p14="http://schemas.microsoft.com/office/powerpoint/2010/main" val="13898763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73157-A0B1-EBA5-7E49-25BE20F09DE4}"/>
              </a:ext>
            </a:extLst>
          </p:cNvPr>
          <p:cNvSpPr>
            <a:spLocks noGrp="1"/>
          </p:cNvSpPr>
          <p:nvPr>
            <p:ph type="title"/>
          </p:nvPr>
        </p:nvSpPr>
        <p:spPr/>
        <p:txBody>
          <a:bodyPr/>
          <a:lstStyle/>
          <a:p>
            <a:r>
              <a:rPr lang="en-US" dirty="0"/>
              <a:t>RAG</a:t>
            </a:r>
          </a:p>
        </p:txBody>
      </p:sp>
      <p:sp>
        <p:nvSpPr>
          <p:cNvPr id="3" name="Slide Number Placeholder 2">
            <a:extLst>
              <a:ext uri="{FF2B5EF4-FFF2-40B4-BE49-F238E27FC236}">
                <a16:creationId xmlns:a16="http://schemas.microsoft.com/office/drawing/2014/main" id="{CD1E7E4C-9F93-D681-CC7F-550C58E5B62C}"/>
              </a:ext>
            </a:extLst>
          </p:cNvPr>
          <p:cNvSpPr>
            <a:spLocks noGrp="1"/>
          </p:cNvSpPr>
          <p:nvPr>
            <p:ph type="sldNum" sz="quarter" idx="12"/>
          </p:nvPr>
        </p:nvSpPr>
        <p:spPr/>
        <p:txBody>
          <a:bodyPr>
            <a:normAutofit fontScale="85000" lnSpcReduction="20000"/>
          </a:bodyPr>
          <a:lstStyle/>
          <a:p>
            <a:fld id="{EBFB1032-EA64-7144-B003-9BCC9D94B503}" type="slidenum">
              <a:rPr lang="en-US" smtClean="0"/>
              <a:t>2</a:t>
            </a:fld>
            <a:endParaRPr lang="en-US" dirty="0"/>
          </a:p>
        </p:txBody>
      </p:sp>
      <p:sp>
        <p:nvSpPr>
          <p:cNvPr id="4" name="Content Placeholder 3">
            <a:extLst>
              <a:ext uri="{FF2B5EF4-FFF2-40B4-BE49-F238E27FC236}">
                <a16:creationId xmlns:a16="http://schemas.microsoft.com/office/drawing/2014/main" id="{6D40AF99-9271-CFA6-54FE-A4DA08B925BD}"/>
              </a:ext>
            </a:extLst>
          </p:cNvPr>
          <p:cNvSpPr>
            <a:spLocks noGrp="1"/>
          </p:cNvSpPr>
          <p:nvPr>
            <p:ph sz="quarter" idx="1"/>
          </p:nvPr>
        </p:nvSpPr>
        <p:spPr/>
        <p:txBody>
          <a:bodyPr>
            <a:normAutofit/>
          </a:bodyPr>
          <a:lstStyle/>
          <a:p>
            <a:pPr algn="just"/>
            <a:r>
              <a:rPr lang="en-US" dirty="0"/>
              <a:t>RAG improves the reliability of GenAI components by ensuring that LLM answers are based only on accurate information from existing knowledge sources.</a:t>
            </a:r>
          </a:p>
          <a:p>
            <a:pPr algn="just"/>
            <a:r>
              <a:rPr lang="en-US" dirty="0"/>
              <a:t>Basic RAG systems rely solely on semantic search in vector databases to retrieve and rank sets of isolated text fragments.</a:t>
            </a:r>
          </a:p>
          <a:p>
            <a:pPr algn="just"/>
            <a:r>
              <a:rPr lang="en-US" dirty="0"/>
              <a:t>While this approach can surface some relevant information, it fails to capture the context connecting these pieces.</a:t>
            </a:r>
          </a:p>
          <a:p>
            <a:pPr algn="just"/>
            <a:r>
              <a:rPr lang="en-US" dirty="0"/>
              <a:t>For this reason, basic RAG systems are ill-equipped to answer complex, multi-hop questions.</a:t>
            </a:r>
          </a:p>
          <a:p>
            <a:pPr algn="just"/>
            <a:r>
              <a:rPr lang="en-US" dirty="0"/>
              <a:t>This is where </a:t>
            </a:r>
            <a:r>
              <a:rPr lang="en-US" dirty="0" err="1"/>
              <a:t>GraphRAG</a:t>
            </a:r>
            <a:r>
              <a:rPr lang="en-US" dirty="0"/>
              <a:t> comes in.</a:t>
            </a:r>
          </a:p>
        </p:txBody>
      </p:sp>
    </p:spTree>
    <p:extLst>
      <p:ext uri="{BB962C8B-B14F-4D97-AF65-F5344CB8AC3E}">
        <p14:creationId xmlns:p14="http://schemas.microsoft.com/office/powerpoint/2010/main" val="36692784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23ECF-27BF-B4BF-BDE0-F33D86C26959}"/>
              </a:ext>
            </a:extLst>
          </p:cNvPr>
          <p:cNvSpPr>
            <a:spLocks noGrp="1"/>
          </p:cNvSpPr>
          <p:nvPr>
            <p:ph type="title"/>
          </p:nvPr>
        </p:nvSpPr>
        <p:spPr/>
        <p:txBody>
          <a:bodyPr>
            <a:noAutofit/>
          </a:bodyPr>
          <a:lstStyle/>
          <a:p>
            <a:r>
              <a:rPr lang="en-US" sz="3000" b="0" dirty="0"/>
              <a:t>Graph retrievers can provide more accurate &amp; relevant results</a:t>
            </a:r>
          </a:p>
        </p:txBody>
      </p:sp>
      <p:sp>
        <p:nvSpPr>
          <p:cNvPr id="3" name="Slide Number Placeholder 2">
            <a:extLst>
              <a:ext uri="{FF2B5EF4-FFF2-40B4-BE49-F238E27FC236}">
                <a16:creationId xmlns:a16="http://schemas.microsoft.com/office/drawing/2014/main" id="{D800CC77-1307-4367-B7DB-EBE30027B134}"/>
              </a:ext>
            </a:extLst>
          </p:cNvPr>
          <p:cNvSpPr>
            <a:spLocks noGrp="1"/>
          </p:cNvSpPr>
          <p:nvPr>
            <p:ph type="sldNum" sz="quarter" idx="12"/>
          </p:nvPr>
        </p:nvSpPr>
        <p:spPr/>
        <p:txBody>
          <a:bodyPr>
            <a:normAutofit fontScale="85000" lnSpcReduction="20000"/>
          </a:bodyPr>
          <a:lstStyle/>
          <a:p>
            <a:fld id="{EBFB1032-EA64-7144-B003-9BCC9D94B503}" type="slidenum">
              <a:rPr lang="en-US" smtClean="0"/>
              <a:t>3</a:t>
            </a:fld>
            <a:endParaRPr lang="en-US" dirty="0"/>
          </a:p>
        </p:txBody>
      </p:sp>
      <p:sp>
        <p:nvSpPr>
          <p:cNvPr id="4" name="Content Placeholder 3">
            <a:extLst>
              <a:ext uri="{FF2B5EF4-FFF2-40B4-BE49-F238E27FC236}">
                <a16:creationId xmlns:a16="http://schemas.microsoft.com/office/drawing/2014/main" id="{E5936297-408F-5F5C-F634-83DF6A8FCA41}"/>
              </a:ext>
            </a:extLst>
          </p:cNvPr>
          <p:cNvSpPr>
            <a:spLocks noGrp="1"/>
          </p:cNvSpPr>
          <p:nvPr>
            <p:ph sz="quarter" idx="1"/>
          </p:nvPr>
        </p:nvSpPr>
        <p:spPr/>
        <p:txBody>
          <a:bodyPr/>
          <a:lstStyle/>
          <a:p>
            <a:r>
              <a:rPr lang="en-US" dirty="0"/>
              <a:t>It uses knowledge graphs to represent and connect information to capture not only more data points but also their relationships.</a:t>
            </a:r>
          </a:p>
          <a:p>
            <a:endParaRPr lang="en-US" dirty="0"/>
          </a:p>
          <a:p>
            <a:r>
              <a:rPr lang="en-US" dirty="0"/>
              <a:t>Thus, graph-based retrievers can provide more accurate and relevant results by uncovering hidden connections that aren’t often obvious but are crucial for correlating information.</a:t>
            </a:r>
          </a:p>
          <a:p>
            <a:endParaRPr lang="en-US" dirty="0"/>
          </a:p>
          <a:p>
            <a:r>
              <a:rPr lang="en-US" dirty="0"/>
              <a:t>In this lecture, we’ll dive into how </a:t>
            </a:r>
            <a:r>
              <a:rPr lang="en-US" dirty="0" err="1"/>
              <a:t>GraphRAG</a:t>
            </a:r>
            <a:r>
              <a:rPr lang="en-US" dirty="0"/>
              <a:t> works, explore its advantages over other RAG architectures in improving answer quality and explainability, and demonstrate its practical application using a Neo4j example.</a:t>
            </a:r>
          </a:p>
        </p:txBody>
      </p:sp>
    </p:spTree>
    <p:extLst>
      <p:ext uri="{BB962C8B-B14F-4D97-AF65-F5344CB8AC3E}">
        <p14:creationId xmlns:p14="http://schemas.microsoft.com/office/powerpoint/2010/main" val="21491879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2412A3-22AF-B33F-C1BB-19597B207703}"/>
              </a:ext>
            </a:extLst>
          </p:cNvPr>
          <p:cNvSpPr>
            <a:spLocks noGrp="1"/>
          </p:cNvSpPr>
          <p:nvPr>
            <p:ph type="title"/>
          </p:nvPr>
        </p:nvSpPr>
        <p:spPr/>
        <p:txBody>
          <a:bodyPr/>
          <a:lstStyle/>
          <a:p>
            <a:r>
              <a:rPr lang="en-US" dirty="0"/>
              <a:t>Three key phases of RAG:</a:t>
            </a:r>
          </a:p>
        </p:txBody>
      </p:sp>
      <p:sp>
        <p:nvSpPr>
          <p:cNvPr id="3" name="Slide Number Placeholder 2">
            <a:extLst>
              <a:ext uri="{FF2B5EF4-FFF2-40B4-BE49-F238E27FC236}">
                <a16:creationId xmlns:a16="http://schemas.microsoft.com/office/drawing/2014/main" id="{02A7A56E-EECD-8397-8258-447A5283FD95}"/>
              </a:ext>
            </a:extLst>
          </p:cNvPr>
          <p:cNvSpPr>
            <a:spLocks noGrp="1"/>
          </p:cNvSpPr>
          <p:nvPr>
            <p:ph type="sldNum" sz="quarter" idx="12"/>
          </p:nvPr>
        </p:nvSpPr>
        <p:spPr/>
        <p:txBody>
          <a:bodyPr>
            <a:normAutofit fontScale="85000" lnSpcReduction="20000"/>
          </a:bodyPr>
          <a:lstStyle/>
          <a:p>
            <a:fld id="{EBFB1032-EA64-7144-B003-9BCC9D94B503}" type="slidenum">
              <a:rPr lang="en-US" smtClean="0"/>
              <a:t>4</a:t>
            </a:fld>
            <a:endParaRPr lang="en-US" dirty="0"/>
          </a:p>
        </p:txBody>
      </p:sp>
      <p:sp>
        <p:nvSpPr>
          <p:cNvPr id="4" name="Content Placeholder 3">
            <a:extLst>
              <a:ext uri="{FF2B5EF4-FFF2-40B4-BE49-F238E27FC236}">
                <a16:creationId xmlns:a16="http://schemas.microsoft.com/office/drawing/2014/main" id="{DA15F345-5565-17A6-DC8F-250BE5C7D8D5}"/>
              </a:ext>
            </a:extLst>
          </p:cNvPr>
          <p:cNvSpPr>
            <a:spLocks noGrp="1"/>
          </p:cNvSpPr>
          <p:nvPr>
            <p:ph sz="quarter" idx="1"/>
          </p:nvPr>
        </p:nvSpPr>
        <p:spPr/>
        <p:txBody>
          <a:bodyPr/>
          <a:lstStyle/>
          <a:p>
            <a:pPr marL="457200" indent="-457200">
              <a:buAutoNum type="arabicPeriod"/>
            </a:pPr>
            <a:r>
              <a:rPr lang="en-US" dirty="0"/>
              <a:t>Retrieval</a:t>
            </a:r>
          </a:p>
          <a:p>
            <a:pPr marL="457200" indent="-457200">
              <a:buAutoNum type="arabicPeriod"/>
            </a:pPr>
            <a:r>
              <a:rPr lang="en-US" dirty="0"/>
              <a:t>Augmentation</a:t>
            </a:r>
          </a:p>
          <a:p>
            <a:pPr marL="457200" indent="-457200">
              <a:buAutoNum type="arabicPeriod"/>
            </a:pPr>
            <a:r>
              <a:rPr lang="en-US" dirty="0"/>
              <a:t>Generation</a:t>
            </a:r>
          </a:p>
          <a:p>
            <a:pPr marL="457200" indent="-457200">
              <a:buAutoNum type="arabicPeriod"/>
            </a:pPr>
            <a:endParaRPr lang="en-US" dirty="0"/>
          </a:p>
        </p:txBody>
      </p:sp>
    </p:spTree>
    <p:extLst>
      <p:ext uri="{BB962C8B-B14F-4D97-AF65-F5344CB8AC3E}">
        <p14:creationId xmlns:p14="http://schemas.microsoft.com/office/powerpoint/2010/main" val="42927823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E20AAC-853B-A95A-A238-674B58B63490}"/>
              </a:ext>
            </a:extLst>
          </p:cNvPr>
          <p:cNvSpPr>
            <a:spLocks noGrp="1"/>
          </p:cNvSpPr>
          <p:nvPr>
            <p:ph type="title"/>
          </p:nvPr>
        </p:nvSpPr>
        <p:spPr/>
        <p:txBody>
          <a:bodyPr/>
          <a:lstStyle/>
          <a:p>
            <a:r>
              <a:rPr lang="en-US" dirty="0"/>
              <a:t>Retrieval</a:t>
            </a:r>
          </a:p>
        </p:txBody>
      </p:sp>
      <p:sp>
        <p:nvSpPr>
          <p:cNvPr id="3" name="Slide Number Placeholder 2">
            <a:extLst>
              <a:ext uri="{FF2B5EF4-FFF2-40B4-BE49-F238E27FC236}">
                <a16:creationId xmlns:a16="http://schemas.microsoft.com/office/drawing/2014/main" id="{5838A11E-3AC2-90D1-9A96-8ADECF9761CE}"/>
              </a:ext>
            </a:extLst>
          </p:cNvPr>
          <p:cNvSpPr>
            <a:spLocks noGrp="1"/>
          </p:cNvSpPr>
          <p:nvPr>
            <p:ph type="sldNum" sz="quarter" idx="12"/>
          </p:nvPr>
        </p:nvSpPr>
        <p:spPr/>
        <p:txBody>
          <a:bodyPr>
            <a:normAutofit fontScale="85000" lnSpcReduction="20000"/>
          </a:bodyPr>
          <a:lstStyle/>
          <a:p>
            <a:fld id="{EBFB1032-EA64-7144-B003-9BCC9D94B503}" type="slidenum">
              <a:rPr lang="en-US" smtClean="0"/>
              <a:t>5</a:t>
            </a:fld>
            <a:endParaRPr lang="en-US" dirty="0"/>
          </a:p>
        </p:txBody>
      </p:sp>
      <p:sp>
        <p:nvSpPr>
          <p:cNvPr id="4" name="Content Placeholder 3">
            <a:extLst>
              <a:ext uri="{FF2B5EF4-FFF2-40B4-BE49-F238E27FC236}">
                <a16:creationId xmlns:a16="http://schemas.microsoft.com/office/drawing/2014/main" id="{0D0D9660-660C-3046-048D-57B2391300F1}"/>
              </a:ext>
            </a:extLst>
          </p:cNvPr>
          <p:cNvSpPr>
            <a:spLocks noGrp="1"/>
          </p:cNvSpPr>
          <p:nvPr>
            <p:ph sz="quarter" idx="1"/>
          </p:nvPr>
        </p:nvSpPr>
        <p:spPr/>
        <p:txBody>
          <a:bodyPr>
            <a:normAutofit/>
          </a:bodyPr>
          <a:lstStyle/>
          <a:p>
            <a:r>
              <a:rPr lang="en-US" dirty="0"/>
              <a:t>In this phase, the RAG system retrieves relevant information from external data sources, such as documents or databases, based on the user’s query. </a:t>
            </a:r>
          </a:p>
          <a:p>
            <a:endParaRPr lang="en-US" dirty="0"/>
          </a:p>
          <a:p>
            <a:r>
              <a:rPr lang="en-US" dirty="0"/>
              <a:t>The retrieval process can use different techniques to identify the most pertinent data, such as similarity searches or database queries.</a:t>
            </a:r>
          </a:p>
          <a:p>
            <a:endParaRPr lang="en-US" dirty="0"/>
          </a:p>
          <a:p>
            <a:r>
              <a:rPr lang="en-US" dirty="0"/>
              <a:t>The results are then ranked and scored based on their relevance to the query.</a:t>
            </a:r>
          </a:p>
        </p:txBody>
      </p:sp>
    </p:spTree>
    <p:extLst>
      <p:ext uri="{BB962C8B-B14F-4D97-AF65-F5344CB8AC3E}">
        <p14:creationId xmlns:p14="http://schemas.microsoft.com/office/powerpoint/2010/main" val="23366835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78B307-5ECB-3000-5D1F-A0ABE9C275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A276DC-E7EA-B614-DAC9-A77FE0009D2C}"/>
              </a:ext>
            </a:extLst>
          </p:cNvPr>
          <p:cNvSpPr>
            <a:spLocks noGrp="1"/>
          </p:cNvSpPr>
          <p:nvPr>
            <p:ph type="title"/>
          </p:nvPr>
        </p:nvSpPr>
        <p:spPr/>
        <p:txBody>
          <a:bodyPr/>
          <a:lstStyle/>
          <a:p>
            <a:r>
              <a:rPr lang="en-US" dirty="0"/>
              <a:t>Augmentation</a:t>
            </a:r>
          </a:p>
        </p:txBody>
      </p:sp>
      <p:sp>
        <p:nvSpPr>
          <p:cNvPr id="3" name="Slide Number Placeholder 2">
            <a:extLst>
              <a:ext uri="{FF2B5EF4-FFF2-40B4-BE49-F238E27FC236}">
                <a16:creationId xmlns:a16="http://schemas.microsoft.com/office/drawing/2014/main" id="{BF00023C-BCC7-213D-82D3-7D652E168052}"/>
              </a:ext>
            </a:extLst>
          </p:cNvPr>
          <p:cNvSpPr>
            <a:spLocks noGrp="1"/>
          </p:cNvSpPr>
          <p:nvPr>
            <p:ph type="sldNum" sz="quarter" idx="12"/>
          </p:nvPr>
        </p:nvSpPr>
        <p:spPr/>
        <p:txBody>
          <a:bodyPr>
            <a:normAutofit fontScale="85000" lnSpcReduction="20000"/>
          </a:bodyPr>
          <a:lstStyle/>
          <a:p>
            <a:fld id="{EBFB1032-EA64-7144-B003-9BCC9D94B503}" type="slidenum">
              <a:rPr lang="en-US" smtClean="0"/>
              <a:t>6</a:t>
            </a:fld>
            <a:endParaRPr lang="en-US" dirty="0"/>
          </a:p>
        </p:txBody>
      </p:sp>
      <p:sp>
        <p:nvSpPr>
          <p:cNvPr id="4" name="Content Placeholder 3">
            <a:extLst>
              <a:ext uri="{FF2B5EF4-FFF2-40B4-BE49-F238E27FC236}">
                <a16:creationId xmlns:a16="http://schemas.microsoft.com/office/drawing/2014/main" id="{ECDD30D1-0980-41C1-FCB7-F8AECB09B526}"/>
              </a:ext>
            </a:extLst>
          </p:cNvPr>
          <p:cNvSpPr>
            <a:spLocks noGrp="1"/>
          </p:cNvSpPr>
          <p:nvPr>
            <p:ph sz="quarter" idx="1"/>
          </p:nvPr>
        </p:nvSpPr>
        <p:spPr/>
        <p:txBody>
          <a:bodyPr>
            <a:normAutofit/>
          </a:bodyPr>
          <a:lstStyle/>
          <a:p>
            <a:r>
              <a:rPr lang="en-US" dirty="0"/>
              <a:t>During the augmentation phase, the retrieved information is combined with the original user question, along with any additional instructions or context. </a:t>
            </a:r>
          </a:p>
          <a:p>
            <a:endParaRPr lang="en-US" dirty="0"/>
          </a:p>
          <a:p>
            <a:r>
              <a:rPr lang="en-US" dirty="0"/>
              <a:t>This augmented prompt provides a richer context for the language model to generate a response.</a:t>
            </a:r>
          </a:p>
          <a:p>
            <a:endParaRPr lang="en-US" dirty="0"/>
          </a:p>
          <a:p>
            <a:r>
              <a:rPr lang="en-US" dirty="0"/>
              <a:t>The goal is to force the model to only use this relevant information to produce an accurate and useful output.</a:t>
            </a:r>
          </a:p>
        </p:txBody>
      </p:sp>
    </p:spTree>
    <p:extLst>
      <p:ext uri="{BB962C8B-B14F-4D97-AF65-F5344CB8AC3E}">
        <p14:creationId xmlns:p14="http://schemas.microsoft.com/office/powerpoint/2010/main" val="9840001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E1DA7E-7477-536B-4FEE-9D1A2692F9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FC3CD7-B826-DB42-81F2-287C236F82D6}"/>
              </a:ext>
            </a:extLst>
          </p:cNvPr>
          <p:cNvSpPr>
            <a:spLocks noGrp="1"/>
          </p:cNvSpPr>
          <p:nvPr>
            <p:ph type="title"/>
          </p:nvPr>
        </p:nvSpPr>
        <p:spPr/>
        <p:txBody>
          <a:bodyPr/>
          <a:lstStyle/>
          <a:p>
            <a:r>
              <a:rPr lang="en-US" dirty="0"/>
              <a:t>Generation</a:t>
            </a:r>
          </a:p>
        </p:txBody>
      </p:sp>
      <p:sp>
        <p:nvSpPr>
          <p:cNvPr id="3" name="Slide Number Placeholder 2">
            <a:extLst>
              <a:ext uri="{FF2B5EF4-FFF2-40B4-BE49-F238E27FC236}">
                <a16:creationId xmlns:a16="http://schemas.microsoft.com/office/drawing/2014/main" id="{67FAB473-2BB1-39B7-0093-C49AE6DFC59C}"/>
              </a:ext>
            </a:extLst>
          </p:cNvPr>
          <p:cNvSpPr>
            <a:spLocks noGrp="1"/>
          </p:cNvSpPr>
          <p:nvPr>
            <p:ph type="sldNum" sz="quarter" idx="12"/>
          </p:nvPr>
        </p:nvSpPr>
        <p:spPr/>
        <p:txBody>
          <a:bodyPr>
            <a:normAutofit fontScale="85000" lnSpcReduction="20000"/>
          </a:bodyPr>
          <a:lstStyle/>
          <a:p>
            <a:fld id="{EBFB1032-EA64-7144-B003-9BCC9D94B503}" type="slidenum">
              <a:rPr lang="en-US" smtClean="0"/>
              <a:t>7</a:t>
            </a:fld>
            <a:endParaRPr lang="en-US" dirty="0"/>
          </a:p>
        </p:txBody>
      </p:sp>
      <p:sp>
        <p:nvSpPr>
          <p:cNvPr id="4" name="Content Placeholder 3">
            <a:extLst>
              <a:ext uri="{FF2B5EF4-FFF2-40B4-BE49-F238E27FC236}">
                <a16:creationId xmlns:a16="http://schemas.microsoft.com/office/drawing/2014/main" id="{722356B0-CBD5-6BD1-C5D6-ACCE7054518A}"/>
              </a:ext>
            </a:extLst>
          </p:cNvPr>
          <p:cNvSpPr>
            <a:spLocks noGrp="1"/>
          </p:cNvSpPr>
          <p:nvPr>
            <p:ph sz="quarter" idx="1"/>
          </p:nvPr>
        </p:nvSpPr>
        <p:spPr/>
        <p:txBody>
          <a:bodyPr>
            <a:normAutofit/>
          </a:bodyPr>
          <a:lstStyle/>
          <a:p>
            <a:r>
              <a:rPr lang="en-US" dirty="0"/>
              <a:t>In the final phase, the augmented prompt is processed by an LLM, which generates an answer in a requested format using only the provided context rather than relying on its pre-trained knowledge.</a:t>
            </a:r>
          </a:p>
          <a:p>
            <a:endParaRPr lang="en-US" dirty="0"/>
          </a:p>
          <a:p>
            <a:r>
              <a:rPr lang="en-US" dirty="0"/>
              <a:t>The response can also link source information and additional metadata.</a:t>
            </a:r>
          </a:p>
        </p:txBody>
      </p:sp>
    </p:spTree>
    <p:extLst>
      <p:ext uri="{BB962C8B-B14F-4D97-AF65-F5344CB8AC3E}">
        <p14:creationId xmlns:p14="http://schemas.microsoft.com/office/powerpoint/2010/main" val="26860685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FFBEB06-A133-A699-CD32-1871064F47AA}"/>
              </a:ext>
            </a:extLst>
          </p:cNvPr>
          <p:cNvSpPr>
            <a:spLocks noGrp="1"/>
          </p:cNvSpPr>
          <p:nvPr>
            <p:ph type="sldNum" sz="quarter" idx="12"/>
          </p:nvPr>
        </p:nvSpPr>
        <p:spPr/>
        <p:txBody>
          <a:bodyPr/>
          <a:lstStyle/>
          <a:p>
            <a:fld id="{EBFB1032-EA64-7144-B003-9BCC9D94B503}" type="slidenum">
              <a:rPr lang="en-US" smtClean="0"/>
              <a:t>8</a:t>
            </a:fld>
            <a:endParaRPr lang="en-US" dirty="0"/>
          </a:p>
        </p:txBody>
      </p:sp>
      <p:pic>
        <p:nvPicPr>
          <p:cNvPr id="6" name="Picture 5">
            <a:extLst>
              <a:ext uri="{FF2B5EF4-FFF2-40B4-BE49-F238E27FC236}">
                <a16:creationId xmlns:a16="http://schemas.microsoft.com/office/drawing/2014/main" id="{7745C853-A354-ECAF-900A-2D506D4C3674}"/>
              </a:ext>
            </a:extLst>
          </p:cNvPr>
          <p:cNvPicPr>
            <a:picLocks noChangeAspect="1"/>
          </p:cNvPicPr>
          <p:nvPr/>
        </p:nvPicPr>
        <p:blipFill>
          <a:blip r:embed="rId2"/>
          <a:stretch>
            <a:fillRect/>
          </a:stretch>
        </p:blipFill>
        <p:spPr>
          <a:xfrm>
            <a:off x="91440" y="590530"/>
            <a:ext cx="8961120" cy="5676940"/>
          </a:xfrm>
          <a:prstGeom prst="rect">
            <a:avLst/>
          </a:prstGeom>
          <a:ln>
            <a:solidFill>
              <a:schemeClr val="accent1"/>
            </a:solidFill>
          </a:ln>
        </p:spPr>
      </p:pic>
    </p:spTree>
    <p:extLst>
      <p:ext uri="{BB962C8B-B14F-4D97-AF65-F5344CB8AC3E}">
        <p14:creationId xmlns:p14="http://schemas.microsoft.com/office/powerpoint/2010/main" val="9320968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DDD7DF-F18E-1021-776E-DA9ADAB222DA}"/>
              </a:ext>
            </a:extLst>
          </p:cNvPr>
          <p:cNvSpPr>
            <a:spLocks noGrp="1"/>
          </p:cNvSpPr>
          <p:nvPr>
            <p:ph type="title"/>
          </p:nvPr>
        </p:nvSpPr>
        <p:spPr/>
        <p:txBody>
          <a:bodyPr>
            <a:normAutofit/>
          </a:bodyPr>
          <a:lstStyle/>
          <a:p>
            <a:r>
              <a:rPr lang="en-US" dirty="0"/>
              <a:t>Limitations of Vector-Only RAG</a:t>
            </a:r>
          </a:p>
        </p:txBody>
      </p:sp>
      <p:sp>
        <p:nvSpPr>
          <p:cNvPr id="3" name="Slide Number Placeholder 2">
            <a:extLst>
              <a:ext uri="{FF2B5EF4-FFF2-40B4-BE49-F238E27FC236}">
                <a16:creationId xmlns:a16="http://schemas.microsoft.com/office/drawing/2014/main" id="{E2CC0D64-580E-7D8A-262C-E504C7C70901}"/>
              </a:ext>
            </a:extLst>
          </p:cNvPr>
          <p:cNvSpPr>
            <a:spLocks noGrp="1"/>
          </p:cNvSpPr>
          <p:nvPr>
            <p:ph type="sldNum" sz="quarter" idx="12"/>
          </p:nvPr>
        </p:nvSpPr>
        <p:spPr/>
        <p:txBody>
          <a:bodyPr>
            <a:normAutofit fontScale="85000" lnSpcReduction="20000"/>
          </a:bodyPr>
          <a:lstStyle/>
          <a:p>
            <a:fld id="{EBFB1032-EA64-7144-B003-9BCC9D94B503}" type="slidenum">
              <a:rPr lang="en-US" smtClean="0"/>
              <a:t>9</a:t>
            </a:fld>
            <a:endParaRPr lang="en-US" dirty="0"/>
          </a:p>
        </p:txBody>
      </p:sp>
      <p:sp>
        <p:nvSpPr>
          <p:cNvPr id="4" name="Content Placeholder 3">
            <a:extLst>
              <a:ext uri="{FF2B5EF4-FFF2-40B4-BE49-F238E27FC236}">
                <a16:creationId xmlns:a16="http://schemas.microsoft.com/office/drawing/2014/main" id="{C2F07168-CDE7-36B4-7FDB-8E0489BEAF1E}"/>
              </a:ext>
            </a:extLst>
          </p:cNvPr>
          <p:cNvSpPr>
            <a:spLocks noGrp="1"/>
          </p:cNvSpPr>
          <p:nvPr>
            <p:ph sz="quarter" idx="1"/>
          </p:nvPr>
        </p:nvSpPr>
        <p:spPr/>
        <p:txBody>
          <a:bodyPr>
            <a:normAutofit lnSpcReduction="10000"/>
          </a:bodyPr>
          <a:lstStyle/>
          <a:p>
            <a:r>
              <a:rPr lang="en-US" dirty="0"/>
              <a:t>Many baseline RAG systems rely solely on vector search over text embeddings (numerical vector representations) for information retrieval.</a:t>
            </a:r>
          </a:p>
          <a:p>
            <a:endParaRPr lang="en-US" sz="2000" dirty="0"/>
          </a:p>
          <a:p>
            <a:r>
              <a:rPr lang="en-US" dirty="0"/>
              <a:t>To accurately capture the cohesive semantic meaning of a piece of text, the source documents are often chunked into smaller fragments, which are then embedded, indexed, and stored for retrieval.</a:t>
            </a:r>
          </a:p>
          <a:p>
            <a:endParaRPr lang="en-US" sz="2000" dirty="0"/>
          </a:p>
          <a:p>
            <a:r>
              <a:rPr lang="en-US" dirty="0"/>
              <a:t>However, this approach has its limitations.</a:t>
            </a:r>
          </a:p>
          <a:p>
            <a:endParaRPr lang="en-US" sz="2000" dirty="0"/>
          </a:p>
          <a:p>
            <a:r>
              <a:rPr lang="en-US" dirty="0"/>
              <a:t>By relying solely on vector search, the response’s content is confined to the text fragments in the retrieved chunks.</a:t>
            </a:r>
          </a:p>
          <a:p>
            <a:endParaRPr lang="en-US" sz="2000" dirty="0"/>
          </a:p>
          <a:p>
            <a:r>
              <a:rPr lang="en-US" dirty="0"/>
              <a:t>This can lead to incomplete or fragmented answers.</a:t>
            </a:r>
          </a:p>
        </p:txBody>
      </p:sp>
    </p:spTree>
    <p:extLst>
      <p:ext uri="{BB962C8B-B14F-4D97-AF65-F5344CB8AC3E}">
        <p14:creationId xmlns:p14="http://schemas.microsoft.com/office/powerpoint/2010/main" val="26370996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5E45C-E0E1-A778-9685-A46A8FC5D7BC}"/>
              </a:ext>
            </a:extLst>
          </p:cNvPr>
          <p:cNvSpPr>
            <a:spLocks noGrp="1"/>
          </p:cNvSpPr>
          <p:nvPr>
            <p:ph type="title"/>
          </p:nvPr>
        </p:nvSpPr>
        <p:spPr/>
        <p:txBody>
          <a:bodyPr/>
          <a:lstStyle/>
          <a:p>
            <a:r>
              <a:rPr lang="en-US" dirty="0"/>
              <a:t>RAG system might retrieve chunks</a:t>
            </a:r>
          </a:p>
        </p:txBody>
      </p:sp>
      <p:sp>
        <p:nvSpPr>
          <p:cNvPr id="3" name="Slide Number Placeholder 2">
            <a:extLst>
              <a:ext uri="{FF2B5EF4-FFF2-40B4-BE49-F238E27FC236}">
                <a16:creationId xmlns:a16="http://schemas.microsoft.com/office/drawing/2014/main" id="{8F247002-5FD8-1EA1-F06B-7627FE4660AA}"/>
              </a:ext>
            </a:extLst>
          </p:cNvPr>
          <p:cNvSpPr>
            <a:spLocks noGrp="1"/>
          </p:cNvSpPr>
          <p:nvPr>
            <p:ph type="sldNum" sz="quarter" idx="12"/>
          </p:nvPr>
        </p:nvSpPr>
        <p:spPr/>
        <p:txBody>
          <a:bodyPr>
            <a:normAutofit fontScale="85000" lnSpcReduction="20000"/>
          </a:bodyPr>
          <a:lstStyle/>
          <a:p>
            <a:fld id="{EBFB1032-EA64-7144-B003-9BCC9D94B503}" type="slidenum">
              <a:rPr lang="en-US" smtClean="0"/>
              <a:t>10</a:t>
            </a:fld>
            <a:endParaRPr lang="en-US" dirty="0"/>
          </a:p>
        </p:txBody>
      </p:sp>
      <p:sp>
        <p:nvSpPr>
          <p:cNvPr id="4" name="Content Placeholder 3">
            <a:extLst>
              <a:ext uri="{FF2B5EF4-FFF2-40B4-BE49-F238E27FC236}">
                <a16:creationId xmlns:a16="http://schemas.microsoft.com/office/drawing/2014/main" id="{701A4428-7BEC-ECA6-D741-6DD1F2F8E573}"/>
              </a:ext>
            </a:extLst>
          </p:cNvPr>
          <p:cNvSpPr>
            <a:spLocks noGrp="1"/>
          </p:cNvSpPr>
          <p:nvPr>
            <p:ph sz="quarter" idx="1"/>
          </p:nvPr>
        </p:nvSpPr>
        <p:spPr/>
        <p:txBody>
          <a:bodyPr>
            <a:normAutofit/>
          </a:bodyPr>
          <a:lstStyle/>
          <a:p>
            <a:r>
              <a:rPr lang="en-US" sz="2300" dirty="0"/>
              <a:t>For example, if a user asks a question about a specific product feature, a vector-only RAG system might retrieve chunks that mention the product but fail to include relevant information from other parts of the documentation that provide a more comprehensive answer.</a:t>
            </a:r>
          </a:p>
          <a:p>
            <a:endParaRPr lang="en-US" sz="1000" dirty="0"/>
          </a:p>
          <a:p>
            <a:r>
              <a:rPr lang="en-US" sz="2300" dirty="0"/>
              <a:t>Moreover, due to the black-box nature of vector representations and vector search, such methods cannot explain the sources of the gathered information.</a:t>
            </a:r>
          </a:p>
          <a:p>
            <a:endParaRPr lang="en-US" sz="1000" dirty="0"/>
          </a:p>
          <a:p>
            <a:r>
              <a:rPr lang="en-US" sz="2300" dirty="0"/>
              <a:t>This means that users and developers have limited visibility into why certain chunks were retrieved and how they contribute to the generated response. </a:t>
            </a:r>
          </a:p>
          <a:p>
            <a:endParaRPr lang="en-US" sz="1000" dirty="0"/>
          </a:p>
          <a:p>
            <a:r>
              <a:rPr lang="en-US" sz="2300" dirty="0"/>
              <a:t>This lack of explainability can be a significant drawback, particularly in domains where transparency &amp; accountability are crucial, such as healthcare or finance.</a:t>
            </a:r>
          </a:p>
        </p:txBody>
      </p:sp>
    </p:spTree>
    <p:extLst>
      <p:ext uri="{BB962C8B-B14F-4D97-AF65-F5344CB8AC3E}">
        <p14:creationId xmlns:p14="http://schemas.microsoft.com/office/powerpoint/2010/main" val="19386743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1A08E-8940-8EA4-10CB-9D0C9B533841}"/>
              </a:ext>
            </a:extLst>
          </p:cNvPr>
          <p:cNvSpPr>
            <a:spLocks noGrp="1"/>
          </p:cNvSpPr>
          <p:nvPr>
            <p:ph type="title"/>
          </p:nvPr>
        </p:nvSpPr>
        <p:spPr/>
        <p:txBody>
          <a:bodyPr>
            <a:noAutofit/>
          </a:bodyPr>
          <a:lstStyle/>
          <a:p>
            <a:r>
              <a:rPr lang="en-US" sz="3400" b="0" dirty="0" err="1"/>
              <a:t>GraphRAG</a:t>
            </a:r>
            <a:r>
              <a:rPr lang="en-US" sz="3400" b="0" dirty="0"/>
              <a:t> is a common approach to enhance retrieval</a:t>
            </a:r>
          </a:p>
        </p:txBody>
      </p:sp>
      <p:sp>
        <p:nvSpPr>
          <p:cNvPr id="3" name="Slide Number Placeholder 2">
            <a:extLst>
              <a:ext uri="{FF2B5EF4-FFF2-40B4-BE49-F238E27FC236}">
                <a16:creationId xmlns:a16="http://schemas.microsoft.com/office/drawing/2014/main" id="{CB270ACA-B40F-1B11-0EEA-CA8DF5FBC483}"/>
              </a:ext>
            </a:extLst>
          </p:cNvPr>
          <p:cNvSpPr>
            <a:spLocks noGrp="1"/>
          </p:cNvSpPr>
          <p:nvPr>
            <p:ph type="sldNum" sz="quarter" idx="12"/>
          </p:nvPr>
        </p:nvSpPr>
        <p:spPr/>
        <p:txBody>
          <a:bodyPr>
            <a:normAutofit fontScale="85000" lnSpcReduction="20000"/>
          </a:bodyPr>
          <a:lstStyle/>
          <a:p>
            <a:fld id="{EBFB1032-EA64-7144-B003-9BCC9D94B503}" type="slidenum">
              <a:rPr lang="en-US" smtClean="0"/>
              <a:t>11</a:t>
            </a:fld>
            <a:endParaRPr lang="en-US" dirty="0"/>
          </a:p>
        </p:txBody>
      </p:sp>
      <p:sp>
        <p:nvSpPr>
          <p:cNvPr id="4" name="Content Placeholder 3">
            <a:extLst>
              <a:ext uri="{FF2B5EF4-FFF2-40B4-BE49-F238E27FC236}">
                <a16:creationId xmlns:a16="http://schemas.microsoft.com/office/drawing/2014/main" id="{8DF06A3A-4E33-7C17-846B-7295A0BE2174}"/>
              </a:ext>
            </a:extLst>
          </p:cNvPr>
          <p:cNvSpPr>
            <a:spLocks noGrp="1"/>
          </p:cNvSpPr>
          <p:nvPr>
            <p:ph sz="quarter" idx="1"/>
          </p:nvPr>
        </p:nvSpPr>
        <p:spPr/>
        <p:txBody>
          <a:bodyPr>
            <a:normAutofit/>
          </a:bodyPr>
          <a:lstStyle/>
          <a:p>
            <a:r>
              <a:rPr lang="en-US" sz="2300" dirty="0"/>
              <a:t>To address these shortcomings, new techniques are emerging to improve different phases of the RAG process (retrieval, augmentation, and generation).</a:t>
            </a:r>
          </a:p>
          <a:p>
            <a:endParaRPr lang="en-US" sz="2300" dirty="0"/>
          </a:p>
          <a:p>
            <a:r>
              <a:rPr lang="en-US" sz="2300" dirty="0"/>
              <a:t>Since the information provided to the LLM is crucial to answer quality, improving the retrieval mechanism often has the most significant impact. </a:t>
            </a:r>
          </a:p>
          <a:p>
            <a:endParaRPr lang="en-US" sz="2300" dirty="0"/>
          </a:p>
          <a:p>
            <a:r>
              <a:rPr lang="en-US" sz="2300" dirty="0" err="1"/>
              <a:t>GraphRAG</a:t>
            </a:r>
            <a:r>
              <a:rPr lang="en-US" sz="2300" dirty="0"/>
              <a:t> is a common approach to enhance retrieval by incorporating structured domain knowledge stored in a knowledge graph.</a:t>
            </a:r>
          </a:p>
          <a:p>
            <a:endParaRPr lang="en-US" sz="2300" dirty="0"/>
          </a:p>
          <a:p>
            <a:r>
              <a:rPr lang="en-US" sz="2300" dirty="0"/>
              <a:t>By tapping into the rich connections and semantic relationships in a knowledge graph, </a:t>
            </a:r>
            <a:r>
              <a:rPr lang="en-US" sz="2300" dirty="0" err="1"/>
              <a:t>GraphRAG</a:t>
            </a:r>
            <a:r>
              <a:rPr lang="en-US" sz="2300" dirty="0"/>
              <a:t> aims to overcome the limitations of vector-only RAG and provide more accurate and explainable responses.</a:t>
            </a:r>
          </a:p>
        </p:txBody>
      </p:sp>
    </p:spTree>
    <p:extLst>
      <p:ext uri="{BB962C8B-B14F-4D97-AF65-F5344CB8AC3E}">
        <p14:creationId xmlns:p14="http://schemas.microsoft.com/office/powerpoint/2010/main" val="13510207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93AB97-201B-8ABC-F040-AB5EDE632F2B}"/>
              </a:ext>
            </a:extLst>
          </p:cNvPr>
          <p:cNvSpPr>
            <a:spLocks noGrp="1"/>
          </p:cNvSpPr>
          <p:nvPr>
            <p:ph type="title"/>
          </p:nvPr>
        </p:nvSpPr>
        <p:spPr/>
        <p:txBody>
          <a:bodyPr>
            <a:normAutofit/>
          </a:bodyPr>
          <a:lstStyle/>
          <a:p>
            <a:r>
              <a:rPr lang="en-US" dirty="0"/>
              <a:t>Knowledge Graph for Data Representation</a:t>
            </a:r>
          </a:p>
        </p:txBody>
      </p:sp>
      <p:sp>
        <p:nvSpPr>
          <p:cNvPr id="3" name="Slide Number Placeholder 2">
            <a:extLst>
              <a:ext uri="{FF2B5EF4-FFF2-40B4-BE49-F238E27FC236}">
                <a16:creationId xmlns:a16="http://schemas.microsoft.com/office/drawing/2014/main" id="{A11A5EF8-CDC0-E4AC-A88A-1951B94C183F}"/>
              </a:ext>
            </a:extLst>
          </p:cNvPr>
          <p:cNvSpPr>
            <a:spLocks noGrp="1"/>
          </p:cNvSpPr>
          <p:nvPr>
            <p:ph type="sldNum" sz="quarter" idx="12"/>
          </p:nvPr>
        </p:nvSpPr>
        <p:spPr/>
        <p:txBody>
          <a:bodyPr>
            <a:normAutofit fontScale="85000" lnSpcReduction="20000"/>
          </a:bodyPr>
          <a:lstStyle/>
          <a:p>
            <a:fld id="{EBFB1032-EA64-7144-B003-9BCC9D94B503}" type="slidenum">
              <a:rPr lang="en-US" smtClean="0"/>
              <a:t>12</a:t>
            </a:fld>
            <a:endParaRPr lang="en-US" dirty="0"/>
          </a:p>
        </p:txBody>
      </p:sp>
      <p:sp>
        <p:nvSpPr>
          <p:cNvPr id="4" name="Content Placeholder 3">
            <a:extLst>
              <a:ext uri="{FF2B5EF4-FFF2-40B4-BE49-F238E27FC236}">
                <a16:creationId xmlns:a16="http://schemas.microsoft.com/office/drawing/2014/main" id="{7D531D89-F344-8F1B-23BE-299D8A68F54E}"/>
              </a:ext>
            </a:extLst>
          </p:cNvPr>
          <p:cNvSpPr>
            <a:spLocks noGrp="1"/>
          </p:cNvSpPr>
          <p:nvPr>
            <p:ph sz="quarter" idx="1"/>
          </p:nvPr>
        </p:nvSpPr>
        <p:spPr/>
        <p:txBody>
          <a:bodyPr/>
          <a:lstStyle/>
          <a:p>
            <a:pPr algn="just"/>
            <a:r>
              <a:rPr lang="en-US" dirty="0"/>
              <a:t>A knowledge graph model is especially suitable for representing structured and unstructured data with connected elements.</a:t>
            </a:r>
          </a:p>
          <a:p>
            <a:pPr algn="just"/>
            <a:endParaRPr lang="en-US" dirty="0"/>
          </a:p>
          <a:p>
            <a:pPr algn="just"/>
            <a:r>
              <a:rPr lang="en-US" dirty="0"/>
              <a:t>Unlike traditional databases, they don’t require a rigid schema but are more flexible in the data model.</a:t>
            </a:r>
          </a:p>
          <a:p>
            <a:pPr algn="just"/>
            <a:endParaRPr lang="en-US" dirty="0"/>
          </a:p>
          <a:p>
            <a:pPr algn="just"/>
            <a:r>
              <a:rPr lang="en-US" dirty="0"/>
              <a:t>The graph model allows efficient storage, management, querying, and processing of the richness of real-world information.</a:t>
            </a:r>
          </a:p>
          <a:p>
            <a:pPr algn="just"/>
            <a:endParaRPr lang="en-US" dirty="0"/>
          </a:p>
          <a:p>
            <a:pPr algn="just"/>
            <a:r>
              <a:rPr lang="en-US" dirty="0"/>
              <a:t>In a RAG system, the knowledge graph serves as the flexible memory companion to the language skills of LLMs, such as summarization, translation, and extraction.</a:t>
            </a:r>
          </a:p>
        </p:txBody>
      </p:sp>
    </p:spTree>
    <p:extLst>
      <p:ext uri="{BB962C8B-B14F-4D97-AF65-F5344CB8AC3E}">
        <p14:creationId xmlns:p14="http://schemas.microsoft.com/office/powerpoint/2010/main" val="15644705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B9939F1-6170-B655-BBB8-A8624CBE8112}"/>
              </a:ext>
            </a:extLst>
          </p:cNvPr>
          <p:cNvSpPr>
            <a:spLocks noGrp="1"/>
          </p:cNvSpPr>
          <p:nvPr>
            <p:ph type="sldNum" sz="quarter" idx="12"/>
          </p:nvPr>
        </p:nvSpPr>
        <p:spPr/>
        <p:txBody>
          <a:bodyPr>
            <a:normAutofit/>
          </a:bodyPr>
          <a:lstStyle/>
          <a:p>
            <a:fld id="{EBFB1032-EA64-7144-B003-9BCC9D94B503}" type="slidenum">
              <a:rPr lang="en-US" smtClean="0"/>
              <a:t>13</a:t>
            </a:fld>
            <a:endParaRPr lang="en-US" dirty="0"/>
          </a:p>
        </p:txBody>
      </p:sp>
      <p:pic>
        <p:nvPicPr>
          <p:cNvPr id="10" name="Picture 9">
            <a:extLst>
              <a:ext uri="{FF2B5EF4-FFF2-40B4-BE49-F238E27FC236}">
                <a16:creationId xmlns:a16="http://schemas.microsoft.com/office/drawing/2014/main" id="{4617132A-7950-9090-BFF1-70D8FDB7454C}"/>
              </a:ext>
            </a:extLst>
          </p:cNvPr>
          <p:cNvPicPr>
            <a:picLocks noChangeAspect="1"/>
          </p:cNvPicPr>
          <p:nvPr/>
        </p:nvPicPr>
        <p:blipFill>
          <a:blip r:embed="rId2"/>
          <a:stretch>
            <a:fillRect/>
          </a:stretch>
        </p:blipFill>
        <p:spPr>
          <a:xfrm>
            <a:off x="91440" y="1894320"/>
            <a:ext cx="8961120" cy="3069360"/>
          </a:xfrm>
          <a:prstGeom prst="rect">
            <a:avLst/>
          </a:prstGeom>
          <a:ln>
            <a:solidFill>
              <a:schemeClr val="accent1"/>
            </a:solidFill>
          </a:ln>
        </p:spPr>
      </p:pic>
    </p:spTree>
    <p:extLst>
      <p:ext uri="{BB962C8B-B14F-4D97-AF65-F5344CB8AC3E}">
        <p14:creationId xmlns:p14="http://schemas.microsoft.com/office/powerpoint/2010/main" val="40131120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B071D6-BE0F-AF08-FC03-E2DF5286570F}"/>
              </a:ext>
            </a:extLst>
          </p:cNvPr>
          <p:cNvSpPr>
            <a:spLocks noGrp="1"/>
          </p:cNvSpPr>
          <p:nvPr>
            <p:ph type="title"/>
          </p:nvPr>
        </p:nvSpPr>
        <p:spPr/>
        <p:txBody>
          <a:bodyPr/>
          <a:lstStyle/>
          <a:p>
            <a:r>
              <a:rPr lang="en-US" dirty="0"/>
              <a:t>Graph Querying for </a:t>
            </a:r>
            <a:r>
              <a:rPr lang="en-US" dirty="0" err="1"/>
              <a:t>GraphRAG</a:t>
            </a:r>
            <a:r>
              <a:rPr lang="en-US" dirty="0"/>
              <a:t> Retrievers</a:t>
            </a:r>
          </a:p>
        </p:txBody>
      </p:sp>
      <p:sp>
        <p:nvSpPr>
          <p:cNvPr id="3" name="Slide Number Placeholder 2">
            <a:extLst>
              <a:ext uri="{FF2B5EF4-FFF2-40B4-BE49-F238E27FC236}">
                <a16:creationId xmlns:a16="http://schemas.microsoft.com/office/drawing/2014/main" id="{F113D04B-2152-B405-4B51-72B3F3B51D07}"/>
              </a:ext>
            </a:extLst>
          </p:cNvPr>
          <p:cNvSpPr>
            <a:spLocks noGrp="1"/>
          </p:cNvSpPr>
          <p:nvPr>
            <p:ph type="sldNum" sz="quarter" idx="12"/>
          </p:nvPr>
        </p:nvSpPr>
        <p:spPr/>
        <p:txBody>
          <a:bodyPr>
            <a:normAutofit fontScale="85000" lnSpcReduction="20000"/>
          </a:bodyPr>
          <a:lstStyle/>
          <a:p>
            <a:fld id="{EBFB1032-EA64-7144-B003-9BCC9D94B503}" type="slidenum">
              <a:rPr lang="en-US" smtClean="0"/>
              <a:t>14</a:t>
            </a:fld>
            <a:endParaRPr lang="en-US" dirty="0"/>
          </a:p>
        </p:txBody>
      </p:sp>
      <p:pic>
        <p:nvPicPr>
          <p:cNvPr id="8" name="Picture 7">
            <a:extLst>
              <a:ext uri="{FF2B5EF4-FFF2-40B4-BE49-F238E27FC236}">
                <a16:creationId xmlns:a16="http://schemas.microsoft.com/office/drawing/2014/main" id="{6C2F19DE-B302-9596-3928-964C717A4EDB}"/>
              </a:ext>
            </a:extLst>
          </p:cNvPr>
          <p:cNvPicPr>
            <a:picLocks noChangeAspect="1"/>
          </p:cNvPicPr>
          <p:nvPr/>
        </p:nvPicPr>
        <p:blipFill>
          <a:blip r:embed="rId2"/>
          <a:stretch>
            <a:fillRect/>
          </a:stretch>
        </p:blipFill>
        <p:spPr>
          <a:xfrm>
            <a:off x="91440" y="1726617"/>
            <a:ext cx="8961120" cy="4365136"/>
          </a:xfrm>
          <a:prstGeom prst="rect">
            <a:avLst/>
          </a:prstGeom>
        </p:spPr>
      </p:pic>
    </p:spTree>
    <p:extLst>
      <p:ext uri="{BB962C8B-B14F-4D97-AF65-F5344CB8AC3E}">
        <p14:creationId xmlns:p14="http://schemas.microsoft.com/office/powerpoint/2010/main" val="29759818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E0DB8-A654-BE23-7E2D-747942D0A8C7}"/>
              </a:ext>
            </a:extLst>
          </p:cNvPr>
          <p:cNvSpPr>
            <a:spLocks noGrp="1"/>
          </p:cNvSpPr>
          <p:nvPr>
            <p:ph type="title"/>
          </p:nvPr>
        </p:nvSpPr>
        <p:spPr/>
        <p:txBody>
          <a:bodyPr>
            <a:normAutofit/>
          </a:bodyPr>
          <a:lstStyle/>
          <a:p>
            <a:r>
              <a:rPr lang="en-US" dirty="0"/>
              <a:t>How </a:t>
            </a:r>
            <a:r>
              <a:rPr lang="en-US" dirty="0" err="1"/>
              <a:t>GraphRAG</a:t>
            </a:r>
            <a:r>
              <a:rPr lang="en-US" dirty="0"/>
              <a:t> Improves Retrieval</a:t>
            </a:r>
          </a:p>
        </p:txBody>
      </p:sp>
      <p:sp>
        <p:nvSpPr>
          <p:cNvPr id="3" name="Slide Number Placeholder 2">
            <a:extLst>
              <a:ext uri="{FF2B5EF4-FFF2-40B4-BE49-F238E27FC236}">
                <a16:creationId xmlns:a16="http://schemas.microsoft.com/office/drawing/2014/main" id="{0D117FEF-D80C-238B-58C8-FDF0F0BEF64E}"/>
              </a:ext>
            </a:extLst>
          </p:cNvPr>
          <p:cNvSpPr>
            <a:spLocks noGrp="1"/>
          </p:cNvSpPr>
          <p:nvPr>
            <p:ph type="sldNum" sz="quarter" idx="12"/>
          </p:nvPr>
        </p:nvSpPr>
        <p:spPr/>
        <p:txBody>
          <a:bodyPr>
            <a:normAutofit fontScale="85000" lnSpcReduction="20000"/>
          </a:bodyPr>
          <a:lstStyle/>
          <a:p>
            <a:fld id="{EBFB1032-EA64-7144-B003-9BCC9D94B503}" type="slidenum">
              <a:rPr lang="en-US" smtClean="0"/>
              <a:t>15</a:t>
            </a:fld>
            <a:endParaRPr lang="en-US" dirty="0"/>
          </a:p>
        </p:txBody>
      </p:sp>
      <p:sp>
        <p:nvSpPr>
          <p:cNvPr id="4" name="Content Placeholder 3">
            <a:extLst>
              <a:ext uri="{FF2B5EF4-FFF2-40B4-BE49-F238E27FC236}">
                <a16:creationId xmlns:a16="http://schemas.microsoft.com/office/drawing/2014/main" id="{74635A90-F748-8A2B-8F5C-2D5FE9E174F6}"/>
              </a:ext>
            </a:extLst>
          </p:cNvPr>
          <p:cNvSpPr>
            <a:spLocks noGrp="1"/>
          </p:cNvSpPr>
          <p:nvPr>
            <p:ph sz="quarter" idx="1"/>
          </p:nvPr>
        </p:nvSpPr>
        <p:spPr/>
        <p:txBody>
          <a:bodyPr/>
          <a:lstStyle/>
          <a:p>
            <a:pPr algn="just"/>
            <a:r>
              <a:rPr lang="en-US" dirty="0"/>
              <a:t>A </a:t>
            </a:r>
            <a:r>
              <a:rPr lang="en-US" dirty="0" err="1"/>
              <a:t>GraphRAG</a:t>
            </a:r>
            <a:r>
              <a:rPr lang="en-US" dirty="0"/>
              <a:t> retrieval can find starting points in this network of data via vector, </a:t>
            </a:r>
            <a:r>
              <a:rPr lang="en-US" dirty="0" err="1"/>
              <a:t>fulltext</a:t>
            </a:r>
            <a:r>
              <a:rPr lang="en-US" dirty="0"/>
              <a:t>, spatial, or other searches and then follow relevant relationships to gather additional information to satisfy the user queries.</a:t>
            </a:r>
          </a:p>
          <a:p>
            <a:pPr algn="just"/>
            <a:endParaRPr lang="en-US" dirty="0"/>
          </a:p>
          <a:p>
            <a:pPr algn="just"/>
            <a:r>
              <a:rPr lang="en-US" dirty="0"/>
              <a:t>The context of the user and task is considered to increase relevance.</a:t>
            </a:r>
          </a:p>
          <a:p>
            <a:pPr algn="just"/>
            <a:endParaRPr lang="en-US" dirty="0"/>
          </a:p>
          <a:p>
            <a:pPr algn="just"/>
            <a:r>
              <a:rPr lang="en-US" dirty="0"/>
              <a:t>All captured nodes, relationships and their attributes can be filtered and ranked before being returned as context in the augmentation phase.</a:t>
            </a:r>
          </a:p>
        </p:txBody>
      </p:sp>
    </p:spTree>
    <p:extLst>
      <p:ext uri="{BB962C8B-B14F-4D97-AF65-F5344CB8AC3E}">
        <p14:creationId xmlns:p14="http://schemas.microsoft.com/office/powerpoint/2010/main" val="21309402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E03C1-C138-CB5E-53E1-067CDEB196C9}"/>
              </a:ext>
            </a:extLst>
          </p:cNvPr>
          <p:cNvSpPr>
            <a:spLocks noGrp="1"/>
          </p:cNvSpPr>
          <p:nvPr>
            <p:ph type="title"/>
          </p:nvPr>
        </p:nvSpPr>
        <p:spPr/>
        <p:txBody>
          <a:bodyPr>
            <a:noAutofit/>
          </a:bodyPr>
          <a:lstStyle/>
          <a:p>
            <a:r>
              <a:rPr lang="en-US" sz="3400" dirty="0"/>
              <a:t>Several advantages over vector-only RAG systems:</a:t>
            </a:r>
          </a:p>
        </p:txBody>
      </p:sp>
      <p:sp>
        <p:nvSpPr>
          <p:cNvPr id="3" name="Slide Number Placeholder 2">
            <a:extLst>
              <a:ext uri="{FF2B5EF4-FFF2-40B4-BE49-F238E27FC236}">
                <a16:creationId xmlns:a16="http://schemas.microsoft.com/office/drawing/2014/main" id="{4A42E8B3-3848-02FE-0B67-4D10F32EA898}"/>
              </a:ext>
            </a:extLst>
          </p:cNvPr>
          <p:cNvSpPr>
            <a:spLocks noGrp="1"/>
          </p:cNvSpPr>
          <p:nvPr>
            <p:ph type="sldNum" sz="quarter" idx="12"/>
          </p:nvPr>
        </p:nvSpPr>
        <p:spPr/>
        <p:txBody>
          <a:bodyPr>
            <a:normAutofit fontScale="85000" lnSpcReduction="20000"/>
          </a:bodyPr>
          <a:lstStyle/>
          <a:p>
            <a:fld id="{EBFB1032-EA64-7144-B003-9BCC9D94B503}" type="slidenum">
              <a:rPr lang="en-US" smtClean="0"/>
              <a:t>16</a:t>
            </a:fld>
            <a:endParaRPr lang="en-US" dirty="0"/>
          </a:p>
        </p:txBody>
      </p:sp>
      <p:sp>
        <p:nvSpPr>
          <p:cNvPr id="4" name="Content Placeholder 3">
            <a:extLst>
              <a:ext uri="{FF2B5EF4-FFF2-40B4-BE49-F238E27FC236}">
                <a16:creationId xmlns:a16="http://schemas.microsoft.com/office/drawing/2014/main" id="{2D7B2A20-217E-D85E-A588-8AEE1074B1A8}"/>
              </a:ext>
            </a:extLst>
          </p:cNvPr>
          <p:cNvSpPr>
            <a:spLocks noGrp="1"/>
          </p:cNvSpPr>
          <p:nvPr>
            <p:ph sz="quarter" idx="1"/>
          </p:nvPr>
        </p:nvSpPr>
        <p:spPr/>
        <p:txBody>
          <a:bodyPr>
            <a:normAutofit lnSpcReduction="10000"/>
          </a:bodyPr>
          <a:lstStyle/>
          <a:p>
            <a:pPr marL="457200" indent="-457200" algn="just">
              <a:buFont typeface="+mj-lt"/>
              <a:buAutoNum type="arabicPeriod"/>
            </a:pPr>
            <a:r>
              <a:rPr lang="en-US" dirty="0">
                <a:solidFill>
                  <a:srgbClr val="0070C0"/>
                </a:solidFill>
              </a:rPr>
              <a:t>By navigating the graph structure and following relevant relationships, </a:t>
            </a:r>
            <a:r>
              <a:rPr lang="en-US" dirty="0" err="1">
                <a:solidFill>
                  <a:srgbClr val="0070C0"/>
                </a:solidFill>
              </a:rPr>
              <a:t>GraphRAG</a:t>
            </a:r>
            <a:r>
              <a:rPr lang="en-US" dirty="0">
                <a:solidFill>
                  <a:srgbClr val="0070C0"/>
                </a:solidFill>
              </a:rPr>
              <a:t> can retrieve information that may not be directly mentioned in the initial set of retrieved chunks, providing a more comprehensive and contextually relevant response.</a:t>
            </a:r>
          </a:p>
          <a:p>
            <a:pPr marL="457200" indent="-457200" algn="just">
              <a:buFont typeface="+mj-lt"/>
              <a:buAutoNum type="arabicPeriod"/>
            </a:pPr>
            <a:r>
              <a:rPr lang="en-US" dirty="0"/>
              <a:t>The ability to filter and rank the retrieved information based on the user’s context and task allows </a:t>
            </a:r>
            <a:r>
              <a:rPr lang="en-US" dirty="0" err="1"/>
              <a:t>GraphRAG</a:t>
            </a:r>
            <a:r>
              <a:rPr lang="en-US" dirty="0"/>
              <a:t> to prioritize the most pertinent information, improving the overall quality of the generated response.</a:t>
            </a:r>
          </a:p>
          <a:p>
            <a:pPr marL="457200" indent="-457200" algn="just">
              <a:buFont typeface="+mj-lt"/>
              <a:buAutoNum type="arabicPeriod"/>
            </a:pPr>
            <a:r>
              <a:rPr lang="en-US" dirty="0" err="1">
                <a:solidFill>
                  <a:srgbClr val="0070C0"/>
                </a:solidFill>
              </a:rPr>
              <a:t>GraphRAG</a:t>
            </a:r>
            <a:r>
              <a:rPr lang="en-US" dirty="0">
                <a:solidFill>
                  <a:srgbClr val="0070C0"/>
                </a:solidFill>
              </a:rPr>
              <a:t> enables better explainability by capturing the relationships between the retrieved information, making it easier to trace the sources and reasoning behind the generated response.</a:t>
            </a:r>
          </a:p>
          <a:p>
            <a:pPr marL="457200" indent="-457200" algn="just">
              <a:buFont typeface="+mj-lt"/>
              <a:buAutoNum type="arabicPeriod"/>
            </a:pPr>
            <a:r>
              <a:rPr lang="en-US" dirty="0"/>
              <a:t>By using the knowledge graph’s ability to integrate structured and unstructured data, as well as computed signals, </a:t>
            </a:r>
            <a:r>
              <a:rPr lang="en-US" dirty="0" err="1"/>
              <a:t>GraphRAG</a:t>
            </a:r>
            <a:r>
              <a:rPr lang="en-US" dirty="0"/>
              <a:t> can provide more informed and nuanced responses that draw from a wider range of information sources.</a:t>
            </a:r>
          </a:p>
        </p:txBody>
      </p:sp>
    </p:spTree>
    <p:extLst>
      <p:ext uri="{BB962C8B-B14F-4D97-AF65-F5344CB8AC3E}">
        <p14:creationId xmlns:p14="http://schemas.microsoft.com/office/powerpoint/2010/main" val="41301707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54F37FE-7F18-E59F-48F3-37F3C566AC0D}"/>
              </a:ext>
            </a:extLst>
          </p:cNvPr>
          <p:cNvSpPr>
            <a:spLocks noGrp="1"/>
          </p:cNvSpPr>
          <p:nvPr>
            <p:ph type="sldNum" sz="quarter" idx="12"/>
          </p:nvPr>
        </p:nvSpPr>
        <p:spPr/>
        <p:txBody>
          <a:bodyPr/>
          <a:lstStyle/>
          <a:p>
            <a:fld id="{EBFB1032-EA64-7144-B003-9BCC9D94B503}" type="slidenum">
              <a:rPr lang="en-US" smtClean="0"/>
              <a:t>17</a:t>
            </a:fld>
            <a:endParaRPr lang="en-US" dirty="0"/>
          </a:p>
        </p:txBody>
      </p:sp>
      <p:pic>
        <p:nvPicPr>
          <p:cNvPr id="6" name="Picture 5">
            <a:extLst>
              <a:ext uri="{FF2B5EF4-FFF2-40B4-BE49-F238E27FC236}">
                <a16:creationId xmlns:a16="http://schemas.microsoft.com/office/drawing/2014/main" id="{AC7B4C02-CCD3-0257-6C93-EBA427C7D45A}"/>
              </a:ext>
            </a:extLst>
          </p:cNvPr>
          <p:cNvPicPr>
            <a:picLocks noChangeAspect="1"/>
          </p:cNvPicPr>
          <p:nvPr/>
        </p:nvPicPr>
        <p:blipFill>
          <a:blip r:embed="rId2"/>
          <a:stretch>
            <a:fillRect/>
          </a:stretch>
        </p:blipFill>
        <p:spPr>
          <a:xfrm>
            <a:off x="91440" y="829430"/>
            <a:ext cx="8961120" cy="5199140"/>
          </a:xfrm>
          <a:prstGeom prst="rect">
            <a:avLst/>
          </a:prstGeom>
          <a:ln>
            <a:solidFill>
              <a:schemeClr val="accent1"/>
            </a:solidFill>
          </a:ln>
        </p:spPr>
      </p:pic>
    </p:spTree>
    <p:extLst>
      <p:ext uri="{BB962C8B-B14F-4D97-AF65-F5344CB8AC3E}">
        <p14:creationId xmlns:p14="http://schemas.microsoft.com/office/powerpoint/2010/main" val="34367811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DFEE38-D34D-7269-7546-08167C49443A}"/>
              </a:ext>
            </a:extLst>
          </p:cNvPr>
          <p:cNvSpPr>
            <a:spLocks noGrp="1"/>
          </p:cNvSpPr>
          <p:nvPr>
            <p:ph type="title"/>
          </p:nvPr>
        </p:nvSpPr>
        <p:spPr/>
        <p:txBody>
          <a:bodyPr>
            <a:normAutofit/>
          </a:bodyPr>
          <a:lstStyle/>
          <a:p>
            <a:r>
              <a:rPr lang="en-US" dirty="0"/>
              <a:t>Types of </a:t>
            </a:r>
            <a:r>
              <a:rPr lang="en-US" dirty="0" err="1"/>
              <a:t>GraphRAG</a:t>
            </a:r>
            <a:r>
              <a:rPr lang="en-US" dirty="0"/>
              <a:t> Retrievers</a:t>
            </a:r>
          </a:p>
        </p:txBody>
      </p:sp>
      <p:sp>
        <p:nvSpPr>
          <p:cNvPr id="3" name="Slide Number Placeholder 2">
            <a:extLst>
              <a:ext uri="{FF2B5EF4-FFF2-40B4-BE49-F238E27FC236}">
                <a16:creationId xmlns:a16="http://schemas.microsoft.com/office/drawing/2014/main" id="{FFDB262E-600F-1F5F-8AC9-0CAAD1EC0DC9}"/>
              </a:ext>
            </a:extLst>
          </p:cNvPr>
          <p:cNvSpPr>
            <a:spLocks noGrp="1"/>
          </p:cNvSpPr>
          <p:nvPr>
            <p:ph type="sldNum" sz="quarter" idx="12"/>
          </p:nvPr>
        </p:nvSpPr>
        <p:spPr/>
        <p:txBody>
          <a:bodyPr>
            <a:normAutofit fontScale="85000" lnSpcReduction="20000"/>
          </a:bodyPr>
          <a:lstStyle/>
          <a:p>
            <a:fld id="{EBFB1032-EA64-7144-B003-9BCC9D94B503}" type="slidenum">
              <a:rPr lang="en-US" smtClean="0"/>
              <a:t>18</a:t>
            </a:fld>
            <a:endParaRPr lang="en-US" dirty="0"/>
          </a:p>
        </p:txBody>
      </p:sp>
      <p:sp>
        <p:nvSpPr>
          <p:cNvPr id="4" name="Content Placeholder 3">
            <a:extLst>
              <a:ext uri="{FF2B5EF4-FFF2-40B4-BE49-F238E27FC236}">
                <a16:creationId xmlns:a16="http://schemas.microsoft.com/office/drawing/2014/main" id="{64D64323-49BD-D5BB-429F-DF66188E48ED}"/>
              </a:ext>
            </a:extLst>
          </p:cNvPr>
          <p:cNvSpPr>
            <a:spLocks noGrp="1"/>
          </p:cNvSpPr>
          <p:nvPr>
            <p:ph sz="quarter" idx="1"/>
          </p:nvPr>
        </p:nvSpPr>
        <p:spPr/>
        <p:txBody>
          <a:bodyPr/>
          <a:lstStyle/>
          <a:p>
            <a:pPr algn="just"/>
            <a:r>
              <a:rPr lang="en-US" dirty="0"/>
              <a:t>The actual graph retrieval depends on the use case and domain.</a:t>
            </a:r>
          </a:p>
          <a:p>
            <a:pPr algn="just"/>
            <a:endParaRPr lang="en-US" dirty="0"/>
          </a:p>
          <a:p>
            <a:pPr algn="just"/>
            <a:r>
              <a:rPr lang="en-US" dirty="0"/>
              <a:t>Different types of retrievers can be combined, and their results ranked, combined, or sequenced.</a:t>
            </a:r>
          </a:p>
          <a:p>
            <a:pPr algn="just"/>
            <a:endParaRPr lang="en-US" dirty="0"/>
          </a:p>
          <a:p>
            <a:pPr algn="just"/>
            <a:r>
              <a:rPr lang="en-US" dirty="0"/>
              <a:t>In an agentic setup, retrievers can become tools that the LLM selects and runs iteratively, passing parameters and results until the necessary information to answer the question is collected.</a:t>
            </a:r>
          </a:p>
        </p:txBody>
      </p:sp>
    </p:spTree>
    <p:extLst>
      <p:ext uri="{BB962C8B-B14F-4D97-AF65-F5344CB8AC3E}">
        <p14:creationId xmlns:p14="http://schemas.microsoft.com/office/powerpoint/2010/main" val="15408557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BF34B8F-6B51-67CE-ACB4-5E8C69CEE88A}"/>
              </a:ext>
            </a:extLst>
          </p:cNvPr>
          <p:cNvSpPr>
            <a:spLocks noGrp="1"/>
          </p:cNvSpPr>
          <p:nvPr>
            <p:ph type="sldNum" sz="quarter" idx="12"/>
          </p:nvPr>
        </p:nvSpPr>
        <p:spPr/>
        <p:txBody>
          <a:bodyPr/>
          <a:lstStyle/>
          <a:p>
            <a:fld id="{EBFB1032-EA64-7144-B003-9BCC9D94B503}" type="slidenum">
              <a:rPr lang="en-US" smtClean="0"/>
              <a:t>19</a:t>
            </a:fld>
            <a:endParaRPr lang="en-US" dirty="0"/>
          </a:p>
        </p:txBody>
      </p:sp>
      <p:pic>
        <p:nvPicPr>
          <p:cNvPr id="6" name="Picture 5">
            <a:extLst>
              <a:ext uri="{FF2B5EF4-FFF2-40B4-BE49-F238E27FC236}">
                <a16:creationId xmlns:a16="http://schemas.microsoft.com/office/drawing/2014/main" id="{7D57E249-CF3C-BC78-05CA-6EF5B221BD20}"/>
              </a:ext>
            </a:extLst>
          </p:cNvPr>
          <p:cNvPicPr>
            <a:picLocks noChangeAspect="1"/>
          </p:cNvPicPr>
          <p:nvPr/>
        </p:nvPicPr>
        <p:blipFill>
          <a:blip r:embed="rId2"/>
          <a:stretch>
            <a:fillRect/>
          </a:stretch>
        </p:blipFill>
        <p:spPr>
          <a:xfrm>
            <a:off x="91440" y="626465"/>
            <a:ext cx="8961120" cy="5605070"/>
          </a:xfrm>
          <a:prstGeom prst="rect">
            <a:avLst/>
          </a:prstGeom>
          <a:ln>
            <a:solidFill>
              <a:schemeClr val="accent1"/>
            </a:solidFill>
          </a:ln>
        </p:spPr>
      </p:pic>
    </p:spTree>
    <p:extLst>
      <p:ext uri="{BB962C8B-B14F-4D97-AF65-F5344CB8AC3E}">
        <p14:creationId xmlns:p14="http://schemas.microsoft.com/office/powerpoint/2010/main" val="11497262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346282-478E-3546-1F2B-9014FDCE9B83}"/>
              </a:ext>
            </a:extLst>
          </p:cNvPr>
          <p:cNvSpPr>
            <a:spLocks noGrp="1"/>
          </p:cNvSpPr>
          <p:nvPr>
            <p:ph type="title"/>
          </p:nvPr>
        </p:nvSpPr>
        <p:spPr/>
        <p:txBody>
          <a:bodyPr/>
          <a:lstStyle/>
          <a:p>
            <a:r>
              <a:rPr lang="en-US" dirty="0" err="1"/>
              <a:t>GraphRAG</a:t>
            </a:r>
            <a:r>
              <a:rPr lang="en-US" dirty="0"/>
              <a:t> Pattern Catalog</a:t>
            </a:r>
          </a:p>
        </p:txBody>
      </p:sp>
      <p:sp>
        <p:nvSpPr>
          <p:cNvPr id="3" name="Slide Number Placeholder 2">
            <a:extLst>
              <a:ext uri="{FF2B5EF4-FFF2-40B4-BE49-F238E27FC236}">
                <a16:creationId xmlns:a16="http://schemas.microsoft.com/office/drawing/2014/main" id="{4CE6C16B-76F3-E539-2C22-90C3954C4547}"/>
              </a:ext>
            </a:extLst>
          </p:cNvPr>
          <p:cNvSpPr>
            <a:spLocks noGrp="1"/>
          </p:cNvSpPr>
          <p:nvPr>
            <p:ph type="sldNum" sz="quarter" idx="12"/>
          </p:nvPr>
        </p:nvSpPr>
        <p:spPr/>
        <p:txBody>
          <a:bodyPr>
            <a:normAutofit fontScale="85000" lnSpcReduction="20000"/>
          </a:bodyPr>
          <a:lstStyle/>
          <a:p>
            <a:fld id="{EBFB1032-EA64-7144-B003-9BCC9D94B503}" type="slidenum">
              <a:rPr lang="en-US" smtClean="0"/>
              <a:t>20</a:t>
            </a:fld>
            <a:endParaRPr lang="en-US" dirty="0"/>
          </a:p>
        </p:txBody>
      </p:sp>
      <p:sp>
        <p:nvSpPr>
          <p:cNvPr id="4" name="Content Placeholder 3">
            <a:extLst>
              <a:ext uri="{FF2B5EF4-FFF2-40B4-BE49-F238E27FC236}">
                <a16:creationId xmlns:a16="http://schemas.microsoft.com/office/drawing/2014/main" id="{96095ADE-DE6D-B6E5-AA07-8198110F1D86}"/>
              </a:ext>
            </a:extLst>
          </p:cNvPr>
          <p:cNvSpPr>
            <a:spLocks noGrp="1"/>
          </p:cNvSpPr>
          <p:nvPr>
            <p:ph sz="quarter" idx="1"/>
          </p:nvPr>
        </p:nvSpPr>
        <p:spPr/>
        <p:txBody>
          <a:bodyPr/>
          <a:lstStyle/>
          <a:p>
            <a:r>
              <a:rPr lang="en-US" dirty="0"/>
              <a:t>You can find more examples in the </a:t>
            </a:r>
            <a:r>
              <a:rPr lang="en-US" dirty="0" err="1"/>
              <a:t>GraphRAG</a:t>
            </a:r>
            <a:r>
              <a:rPr lang="en-US" dirty="0"/>
              <a:t> Pattern Catalog on</a:t>
            </a:r>
          </a:p>
          <a:p>
            <a:pPr marL="0" indent="0">
              <a:buNone/>
            </a:pPr>
            <a:r>
              <a:rPr lang="en-US" dirty="0"/>
              <a:t>	</a:t>
            </a:r>
            <a:r>
              <a:rPr lang="en-US" dirty="0">
                <a:hlinkClick r:id="rId2"/>
              </a:rPr>
              <a:t>https://graphrag.com</a:t>
            </a:r>
            <a:endParaRPr lang="en-US" dirty="0"/>
          </a:p>
          <a:p>
            <a:pPr marL="0" indent="0">
              <a:buNone/>
            </a:pPr>
            <a:endParaRPr lang="en-US" dirty="0"/>
          </a:p>
        </p:txBody>
      </p:sp>
      <p:pic>
        <p:nvPicPr>
          <p:cNvPr id="6" name="Picture 5">
            <a:extLst>
              <a:ext uri="{FF2B5EF4-FFF2-40B4-BE49-F238E27FC236}">
                <a16:creationId xmlns:a16="http://schemas.microsoft.com/office/drawing/2014/main" id="{13896C9F-F8F5-B46B-A882-89967ADCB45B}"/>
              </a:ext>
            </a:extLst>
          </p:cNvPr>
          <p:cNvPicPr>
            <a:picLocks noChangeAspect="1"/>
          </p:cNvPicPr>
          <p:nvPr/>
        </p:nvPicPr>
        <p:blipFill>
          <a:blip r:embed="rId3"/>
          <a:stretch>
            <a:fillRect/>
          </a:stretch>
        </p:blipFill>
        <p:spPr>
          <a:xfrm>
            <a:off x="934451" y="2606151"/>
            <a:ext cx="7315200" cy="4066459"/>
          </a:xfrm>
          <a:prstGeom prst="rect">
            <a:avLst/>
          </a:prstGeom>
        </p:spPr>
      </p:pic>
    </p:spTree>
    <p:extLst>
      <p:ext uri="{BB962C8B-B14F-4D97-AF65-F5344CB8AC3E}">
        <p14:creationId xmlns:p14="http://schemas.microsoft.com/office/powerpoint/2010/main" val="8464588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9F373-9494-2D08-0FF4-51B5697499A5}"/>
              </a:ext>
            </a:extLst>
          </p:cNvPr>
          <p:cNvSpPr>
            <a:spLocks noGrp="1"/>
          </p:cNvSpPr>
          <p:nvPr>
            <p:ph type="title"/>
          </p:nvPr>
        </p:nvSpPr>
        <p:spPr/>
        <p:txBody>
          <a:bodyPr>
            <a:normAutofit/>
          </a:bodyPr>
          <a:lstStyle/>
          <a:p>
            <a:r>
              <a:rPr lang="en-US" dirty="0"/>
              <a:t>Knowledge Graph Construction</a:t>
            </a:r>
          </a:p>
        </p:txBody>
      </p:sp>
      <p:sp>
        <p:nvSpPr>
          <p:cNvPr id="3" name="Slide Number Placeholder 2">
            <a:extLst>
              <a:ext uri="{FF2B5EF4-FFF2-40B4-BE49-F238E27FC236}">
                <a16:creationId xmlns:a16="http://schemas.microsoft.com/office/drawing/2014/main" id="{74F291A4-9411-B233-D37A-A3C4901ADADD}"/>
              </a:ext>
            </a:extLst>
          </p:cNvPr>
          <p:cNvSpPr>
            <a:spLocks noGrp="1"/>
          </p:cNvSpPr>
          <p:nvPr>
            <p:ph type="sldNum" sz="quarter" idx="12"/>
          </p:nvPr>
        </p:nvSpPr>
        <p:spPr/>
        <p:txBody>
          <a:bodyPr>
            <a:normAutofit fontScale="85000" lnSpcReduction="20000"/>
          </a:bodyPr>
          <a:lstStyle/>
          <a:p>
            <a:fld id="{EBFB1032-EA64-7144-B003-9BCC9D94B503}" type="slidenum">
              <a:rPr lang="en-US" smtClean="0"/>
              <a:t>21</a:t>
            </a:fld>
            <a:endParaRPr lang="en-US" dirty="0"/>
          </a:p>
        </p:txBody>
      </p:sp>
      <p:sp>
        <p:nvSpPr>
          <p:cNvPr id="4" name="Content Placeholder 3">
            <a:extLst>
              <a:ext uri="{FF2B5EF4-FFF2-40B4-BE49-F238E27FC236}">
                <a16:creationId xmlns:a16="http://schemas.microsoft.com/office/drawing/2014/main" id="{C1722F36-73C3-D7A3-9485-D2E860D84BB4}"/>
              </a:ext>
            </a:extLst>
          </p:cNvPr>
          <p:cNvSpPr>
            <a:spLocks noGrp="1"/>
          </p:cNvSpPr>
          <p:nvPr>
            <p:ph sz="quarter" idx="1"/>
          </p:nvPr>
        </p:nvSpPr>
        <p:spPr/>
        <p:txBody>
          <a:bodyPr/>
          <a:lstStyle/>
          <a:p>
            <a:r>
              <a:rPr lang="en-US" dirty="0"/>
              <a:t>For </a:t>
            </a:r>
            <a:r>
              <a:rPr lang="en-US" dirty="0" err="1"/>
              <a:t>GraphRAG</a:t>
            </a:r>
            <a:r>
              <a:rPr lang="en-US" dirty="0"/>
              <a:t> to work well, we need to ensure that our data has a shape that accurately represents the highly relevant, connected pieces of information.</a:t>
            </a:r>
          </a:p>
          <a:p>
            <a:endParaRPr lang="en-US" dirty="0"/>
          </a:p>
          <a:p>
            <a:r>
              <a:rPr lang="en-US" dirty="0"/>
              <a:t>To create this knowledge graph, we need to follow two steps, which can be repeated for refinement:</a:t>
            </a:r>
          </a:p>
          <a:p>
            <a:pPr marL="822960" lvl="1" indent="-457200">
              <a:buFont typeface="+mj-lt"/>
              <a:buAutoNum type="arabicPeriod"/>
            </a:pPr>
            <a:r>
              <a:rPr lang="en-US" sz="2300" dirty="0"/>
              <a:t>Model the relevant nodes and relationships to represent our domain data.</a:t>
            </a:r>
          </a:p>
          <a:p>
            <a:pPr marL="822960" lvl="1" indent="-457200">
              <a:buFont typeface="+mj-lt"/>
              <a:buAutoNum type="arabicPeriod"/>
            </a:pPr>
            <a:r>
              <a:rPr lang="en-US" sz="2300" dirty="0"/>
              <a:t>Import, create, or compute the graph structures to fit this graph model.</a:t>
            </a:r>
          </a:p>
          <a:p>
            <a:endParaRPr lang="en-US" dirty="0"/>
          </a:p>
        </p:txBody>
      </p:sp>
    </p:spTree>
    <p:extLst>
      <p:ext uri="{BB962C8B-B14F-4D97-AF65-F5344CB8AC3E}">
        <p14:creationId xmlns:p14="http://schemas.microsoft.com/office/powerpoint/2010/main" val="37834758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B477C64-B78A-817B-836B-CE3EEEA6C2F0}"/>
              </a:ext>
            </a:extLst>
          </p:cNvPr>
          <p:cNvSpPr>
            <a:spLocks noGrp="1"/>
          </p:cNvSpPr>
          <p:nvPr>
            <p:ph type="sldNum" sz="quarter" idx="12"/>
          </p:nvPr>
        </p:nvSpPr>
        <p:spPr/>
        <p:txBody>
          <a:bodyPr/>
          <a:lstStyle/>
          <a:p>
            <a:fld id="{EBFB1032-EA64-7144-B003-9BCC9D94B503}" type="slidenum">
              <a:rPr lang="en-US" smtClean="0"/>
              <a:t>22</a:t>
            </a:fld>
            <a:endParaRPr lang="en-US" dirty="0"/>
          </a:p>
        </p:txBody>
      </p:sp>
      <p:pic>
        <p:nvPicPr>
          <p:cNvPr id="6" name="Picture 5">
            <a:extLst>
              <a:ext uri="{FF2B5EF4-FFF2-40B4-BE49-F238E27FC236}">
                <a16:creationId xmlns:a16="http://schemas.microsoft.com/office/drawing/2014/main" id="{E99C20C4-EB22-5FF0-2133-D680006EFD0F}"/>
              </a:ext>
            </a:extLst>
          </p:cNvPr>
          <p:cNvPicPr>
            <a:picLocks noChangeAspect="1"/>
          </p:cNvPicPr>
          <p:nvPr/>
        </p:nvPicPr>
        <p:blipFill>
          <a:blip r:embed="rId2"/>
          <a:stretch>
            <a:fillRect/>
          </a:stretch>
        </p:blipFill>
        <p:spPr>
          <a:xfrm>
            <a:off x="91440" y="846782"/>
            <a:ext cx="8961120" cy="5164435"/>
          </a:xfrm>
          <a:prstGeom prst="rect">
            <a:avLst/>
          </a:prstGeom>
          <a:ln>
            <a:solidFill>
              <a:schemeClr val="accent1"/>
            </a:solidFill>
          </a:ln>
        </p:spPr>
      </p:pic>
    </p:spTree>
    <p:extLst>
      <p:ext uri="{BB962C8B-B14F-4D97-AF65-F5344CB8AC3E}">
        <p14:creationId xmlns:p14="http://schemas.microsoft.com/office/powerpoint/2010/main" val="24568165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1FAB19-020E-0BA3-41E6-173DEC70FE1F}"/>
              </a:ext>
            </a:extLst>
          </p:cNvPr>
          <p:cNvSpPr>
            <a:spLocks noGrp="1"/>
          </p:cNvSpPr>
          <p:nvPr>
            <p:ph type="title"/>
          </p:nvPr>
        </p:nvSpPr>
        <p:spPr/>
        <p:txBody>
          <a:bodyPr>
            <a:normAutofit/>
          </a:bodyPr>
          <a:lstStyle/>
          <a:p>
            <a:r>
              <a:rPr lang="en-US" dirty="0"/>
              <a:t>We can combine different sources of data:</a:t>
            </a:r>
          </a:p>
        </p:txBody>
      </p:sp>
      <p:sp>
        <p:nvSpPr>
          <p:cNvPr id="3" name="Slide Number Placeholder 2">
            <a:extLst>
              <a:ext uri="{FF2B5EF4-FFF2-40B4-BE49-F238E27FC236}">
                <a16:creationId xmlns:a16="http://schemas.microsoft.com/office/drawing/2014/main" id="{647520E5-2AF8-B06D-F9BB-37359660C480}"/>
              </a:ext>
            </a:extLst>
          </p:cNvPr>
          <p:cNvSpPr>
            <a:spLocks noGrp="1"/>
          </p:cNvSpPr>
          <p:nvPr>
            <p:ph type="sldNum" sz="quarter" idx="12"/>
          </p:nvPr>
        </p:nvSpPr>
        <p:spPr/>
        <p:txBody>
          <a:bodyPr>
            <a:normAutofit fontScale="85000" lnSpcReduction="20000"/>
          </a:bodyPr>
          <a:lstStyle/>
          <a:p>
            <a:fld id="{EBFB1032-EA64-7144-B003-9BCC9D94B503}" type="slidenum">
              <a:rPr lang="en-US" smtClean="0"/>
              <a:t>23</a:t>
            </a:fld>
            <a:endParaRPr lang="en-US" dirty="0"/>
          </a:p>
        </p:txBody>
      </p:sp>
      <p:sp>
        <p:nvSpPr>
          <p:cNvPr id="4" name="Content Placeholder 3">
            <a:extLst>
              <a:ext uri="{FF2B5EF4-FFF2-40B4-BE49-F238E27FC236}">
                <a16:creationId xmlns:a16="http://schemas.microsoft.com/office/drawing/2014/main" id="{2112F115-978E-C210-118A-70CAC2210D50}"/>
              </a:ext>
            </a:extLst>
          </p:cNvPr>
          <p:cNvSpPr>
            <a:spLocks noGrp="1"/>
          </p:cNvSpPr>
          <p:nvPr>
            <p:ph sz="quarter" idx="1"/>
          </p:nvPr>
        </p:nvSpPr>
        <p:spPr/>
        <p:txBody>
          <a:bodyPr>
            <a:noAutofit/>
          </a:bodyPr>
          <a:lstStyle/>
          <a:p>
            <a:pPr algn="just"/>
            <a:r>
              <a:rPr lang="en-US" dirty="0"/>
              <a:t>Import existing structured data from databases, files or APIs.</a:t>
            </a:r>
          </a:p>
          <a:p>
            <a:pPr algn="just"/>
            <a:endParaRPr lang="en-US" sz="1000" dirty="0"/>
          </a:p>
          <a:p>
            <a:pPr algn="just"/>
            <a:r>
              <a:rPr lang="en-US" dirty="0"/>
              <a:t>Turn unstructured data (text, audio, video) into a graph representation of document structures/hierarchies and add vector embeddings and full-text indexes for chunks.</a:t>
            </a:r>
          </a:p>
          <a:p>
            <a:pPr algn="just"/>
            <a:endParaRPr lang="en-US" sz="1000" dirty="0"/>
          </a:p>
          <a:p>
            <a:pPr algn="just"/>
            <a:r>
              <a:rPr lang="en-US" dirty="0"/>
              <a:t>Construct or connect structured entities (with optional embeddings) and their relationships from textual information.</a:t>
            </a:r>
          </a:p>
          <a:p>
            <a:pPr algn="just"/>
            <a:endParaRPr lang="en-US" sz="1000" dirty="0"/>
          </a:p>
          <a:p>
            <a:pPr algn="just"/>
            <a:r>
              <a:rPr lang="en-US" dirty="0"/>
              <a:t>Enhance existing graphs with additional computation or algorithms, such as topic-clustering summaries (like in Microsoft Query Focused Summarization), similarity relationships, and personalized page rank (PPR) scores.</a:t>
            </a:r>
          </a:p>
          <a:p>
            <a:pPr algn="just"/>
            <a:endParaRPr lang="en-US" dirty="0"/>
          </a:p>
        </p:txBody>
      </p:sp>
    </p:spTree>
    <p:extLst>
      <p:ext uri="{BB962C8B-B14F-4D97-AF65-F5344CB8AC3E}">
        <p14:creationId xmlns:p14="http://schemas.microsoft.com/office/powerpoint/2010/main" val="34899100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CC4341-41E4-D5BA-27AD-0F4787569A86}"/>
              </a:ext>
            </a:extLst>
          </p:cNvPr>
          <p:cNvSpPr>
            <a:spLocks noGrp="1"/>
          </p:cNvSpPr>
          <p:nvPr>
            <p:ph type="title"/>
          </p:nvPr>
        </p:nvSpPr>
        <p:spPr/>
        <p:txBody>
          <a:bodyPr>
            <a:normAutofit/>
          </a:bodyPr>
          <a:lstStyle/>
          <a:p>
            <a:r>
              <a:rPr lang="en-US" dirty="0"/>
              <a:t>A </a:t>
            </a:r>
            <a:r>
              <a:rPr lang="en-US" dirty="0" err="1"/>
              <a:t>GraphRAG</a:t>
            </a:r>
            <a:r>
              <a:rPr lang="en-US" dirty="0"/>
              <a:t> Example With Neo4j</a:t>
            </a:r>
          </a:p>
        </p:txBody>
      </p:sp>
      <p:sp>
        <p:nvSpPr>
          <p:cNvPr id="3" name="Slide Number Placeholder 2">
            <a:extLst>
              <a:ext uri="{FF2B5EF4-FFF2-40B4-BE49-F238E27FC236}">
                <a16:creationId xmlns:a16="http://schemas.microsoft.com/office/drawing/2014/main" id="{1CA3827D-2680-AB5D-20D8-1DB5CCF1802E}"/>
              </a:ext>
            </a:extLst>
          </p:cNvPr>
          <p:cNvSpPr>
            <a:spLocks noGrp="1"/>
          </p:cNvSpPr>
          <p:nvPr>
            <p:ph type="sldNum" sz="quarter" idx="12"/>
          </p:nvPr>
        </p:nvSpPr>
        <p:spPr/>
        <p:txBody>
          <a:bodyPr>
            <a:normAutofit fontScale="85000" lnSpcReduction="20000"/>
          </a:bodyPr>
          <a:lstStyle/>
          <a:p>
            <a:fld id="{EBFB1032-EA64-7144-B003-9BCC9D94B503}" type="slidenum">
              <a:rPr lang="en-US" smtClean="0"/>
              <a:t>24</a:t>
            </a:fld>
            <a:endParaRPr lang="en-US" dirty="0"/>
          </a:p>
        </p:txBody>
      </p:sp>
      <p:sp>
        <p:nvSpPr>
          <p:cNvPr id="4" name="Content Placeholder 3">
            <a:extLst>
              <a:ext uri="{FF2B5EF4-FFF2-40B4-BE49-F238E27FC236}">
                <a16:creationId xmlns:a16="http://schemas.microsoft.com/office/drawing/2014/main" id="{EBDDC14E-799F-B2D1-0F1B-7A529CDD7EFF}"/>
              </a:ext>
            </a:extLst>
          </p:cNvPr>
          <p:cNvSpPr>
            <a:spLocks noGrp="1"/>
          </p:cNvSpPr>
          <p:nvPr>
            <p:ph sz="quarter" idx="1"/>
          </p:nvPr>
        </p:nvSpPr>
        <p:spPr/>
        <p:txBody>
          <a:bodyPr>
            <a:normAutofit/>
          </a:bodyPr>
          <a:lstStyle/>
          <a:p>
            <a:r>
              <a:rPr lang="en-US" dirty="0"/>
              <a:t>A frequent use case for </a:t>
            </a:r>
            <a:r>
              <a:rPr lang="en-US" dirty="0" err="1"/>
              <a:t>GraphRAG</a:t>
            </a:r>
            <a:r>
              <a:rPr lang="en-US" dirty="0"/>
              <a:t> is analyzing research information in more detail than just “chatting with your PDF.”</a:t>
            </a:r>
          </a:p>
          <a:p>
            <a:r>
              <a:rPr lang="en-US" dirty="0"/>
              <a:t>In a vector-only semantic search approach, the data returned from the retrievers are just scored chunks of text with little or no information on how they relate to concepts from the domain or each other.</a:t>
            </a:r>
          </a:p>
          <a:p>
            <a:r>
              <a:rPr lang="en-US" dirty="0"/>
              <a:t>In contrast, a </a:t>
            </a:r>
            <a:r>
              <a:rPr lang="en-US" dirty="0" err="1"/>
              <a:t>GraphRAG</a:t>
            </a:r>
            <a:r>
              <a:rPr lang="en-US" dirty="0"/>
              <a:t> approach allows us to extract entities such as Person, Organization, Article, Paper, </a:t>
            </a:r>
            <a:r>
              <a:rPr lang="en-US" dirty="0" err="1"/>
              <a:t>BiologicalProcess</a:t>
            </a:r>
            <a:r>
              <a:rPr lang="en-US" dirty="0"/>
              <a:t>, Condition, Disease, Drug, Gene, Expression, Exposure, and Pathway that appear in our documents and create a rich network of information.</a:t>
            </a:r>
          </a:p>
          <a:p>
            <a:r>
              <a:rPr lang="en-US" dirty="0"/>
              <a:t>To demonstrate this, let’s walk through an example of constructing a knowledge graph using the open source neo4j-graphrag </a:t>
            </a:r>
            <a:r>
              <a:rPr lang="en-US"/>
              <a:t>package.</a:t>
            </a:r>
          </a:p>
          <a:p>
            <a:r>
              <a:rPr lang="en-US"/>
              <a:t>You </a:t>
            </a:r>
            <a:r>
              <a:rPr lang="en-US" dirty="0"/>
              <a:t>can also use </a:t>
            </a:r>
            <a:r>
              <a:rPr lang="en-US" dirty="0" err="1"/>
              <a:t>LangChain</a:t>
            </a:r>
            <a:r>
              <a:rPr lang="en-US" dirty="0"/>
              <a:t>, </a:t>
            </a:r>
            <a:r>
              <a:rPr lang="en-US" dirty="0" err="1"/>
              <a:t>LlamaIndex</a:t>
            </a:r>
            <a:r>
              <a:rPr lang="en-US" dirty="0"/>
              <a:t>, or other integrations.</a:t>
            </a:r>
          </a:p>
        </p:txBody>
      </p:sp>
    </p:spTree>
    <p:extLst>
      <p:ext uri="{BB962C8B-B14F-4D97-AF65-F5344CB8AC3E}">
        <p14:creationId xmlns:p14="http://schemas.microsoft.com/office/powerpoint/2010/main" val="32245922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C1E0E8-C939-86EF-5C83-8E16D59EDA98}"/>
              </a:ext>
            </a:extLst>
          </p:cNvPr>
          <p:cNvSpPr>
            <a:spLocks noGrp="1"/>
          </p:cNvSpPr>
          <p:nvPr>
            <p:ph type="title"/>
          </p:nvPr>
        </p:nvSpPr>
        <p:spPr/>
        <p:txBody>
          <a:bodyPr/>
          <a:lstStyle/>
          <a:p>
            <a:r>
              <a:rPr lang="en-US" dirty="0"/>
              <a:t>In this example, we use the </a:t>
            </a:r>
            <a:r>
              <a:rPr lang="en-US" dirty="0" err="1"/>
              <a:t>SimpleKGPipeline</a:t>
            </a:r>
            <a:endParaRPr lang="en-US" dirty="0"/>
          </a:p>
        </p:txBody>
      </p:sp>
      <p:sp>
        <p:nvSpPr>
          <p:cNvPr id="3" name="Slide Number Placeholder 2">
            <a:extLst>
              <a:ext uri="{FF2B5EF4-FFF2-40B4-BE49-F238E27FC236}">
                <a16:creationId xmlns:a16="http://schemas.microsoft.com/office/drawing/2014/main" id="{616DA9EC-8A71-3E96-78D7-6CE8546A43B3}"/>
              </a:ext>
            </a:extLst>
          </p:cNvPr>
          <p:cNvSpPr>
            <a:spLocks noGrp="1"/>
          </p:cNvSpPr>
          <p:nvPr>
            <p:ph type="sldNum" sz="quarter" idx="12"/>
          </p:nvPr>
        </p:nvSpPr>
        <p:spPr/>
        <p:txBody>
          <a:bodyPr>
            <a:normAutofit fontScale="85000" lnSpcReduction="20000"/>
          </a:bodyPr>
          <a:lstStyle/>
          <a:p>
            <a:fld id="{EBFB1032-EA64-7144-B003-9BCC9D94B503}" type="slidenum">
              <a:rPr lang="en-US" smtClean="0"/>
              <a:t>25</a:t>
            </a:fld>
            <a:endParaRPr lang="en-US" dirty="0"/>
          </a:p>
        </p:txBody>
      </p:sp>
      <p:pic>
        <p:nvPicPr>
          <p:cNvPr id="6" name="Picture 5">
            <a:extLst>
              <a:ext uri="{FF2B5EF4-FFF2-40B4-BE49-F238E27FC236}">
                <a16:creationId xmlns:a16="http://schemas.microsoft.com/office/drawing/2014/main" id="{AD91758F-422E-23EE-7134-6D2BD082DDDC}"/>
              </a:ext>
            </a:extLst>
          </p:cNvPr>
          <p:cNvPicPr>
            <a:picLocks noChangeAspect="1"/>
          </p:cNvPicPr>
          <p:nvPr/>
        </p:nvPicPr>
        <p:blipFill>
          <a:blip r:embed="rId2"/>
          <a:stretch>
            <a:fillRect/>
          </a:stretch>
        </p:blipFill>
        <p:spPr>
          <a:xfrm>
            <a:off x="91440" y="1672959"/>
            <a:ext cx="8961120" cy="4749706"/>
          </a:xfrm>
          <a:prstGeom prst="rect">
            <a:avLst/>
          </a:prstGeom>
          <a:ln>
            <a:solidFill>
              <a:schemeClr val="accent1"/>
            </a:solidFill>
          </a:ln>
        </p:spPr>
      </p:pic>
    </p:spTree>
    <p:extLst>
      <p:ext uri="{BB962C8B-B14F-4D97-AF65-F5344CB8AC3E}">
        <p14:creationId xmlns:p14="http://schemas.microsoft.com/office/powerpoint/2010/main" val="13990152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D2E3135-D799-6441-8606-6CE26A4F7CA0}"/>
              </a:ext>
            </a:extLst>
          </p:cNvPr>
          <p:cNvSpPr>
            <a:spLocks noGrp="1"/>
          </p:cNvSpPr>
          <p:nvPr>
            <p:ph type="sldNum" sz="quarter" idx="12"/>
          </p:nvPr>
        </p:nvSpPr>
        <p:spPr/>
        <p:txBody>
          <a:bodyPr/>
          <a:lstStyle/>
          <a:p>
            <a:fld id="{EBFB1032-EA64-7144-B003-9BCC9D94B503}" type="slidenum">
              <a:rPr lang="en-US" smtClean="0"/>
              <a:t>26</a:t>
            </a:fld>
            <a:endParaRPr lang="en-US" dirty="0"/>
          </a:p>
        </p:txBody>
      </p:sp>
      <p:pic>
        <p:nvPicPr>
          <p:cNvPr id="6" name="Picture 5">
            <a:extLst>
              <a:ext uri="{FF2B5EF4-FFF2-40B4-BE49-F238E27FC236}">
                <a16:creationId xmlns:a16="http://schemas.microsoft.com/office/drawing/2014/main" id="{576DBA70-36E3-0903-0D33-EB9488659F61}"/>
              </a:ext>
            </a:extLst>
          </p:cNvPr>
          <p:cNvPicPr>
            <a:picLocks noChangeAspect="1"/>
          </p:cNvPicPr>
          <p:nvPr/>
        </p:nvPicPr>
        <p:blipFill>
          <a:blip r:embed="rId2"/>
          <a:stretch>
            <a:fillRect/>
          </a:stretch>
        </p:blipFill>
        <p:spPr>
          <a:xfrm>
            <a:off x="91440" y="499625"/>
            <a:ext cx="8961120" cy="5858750"/>
          </a:xfrm>
          <a:prstGeom prst="rect">
            <a:avLst/>
          </a:prstGeom>
          <a:ln>
            <a:solidFill>
              <a:schemeClr val="accent1"/>
            </a:solidFill>
          </a:ln>
        </p:spPr>
      </p:pic>
    </p:spTree>
    <p:extLst>
      <p:ext uri="{BB962C8B-B14F-4D97-AF65-F5344CB8AC3E}">
        <p14:creationId xmlns:p14="http://schemas.microsoft.com/office/powerpoint/2010/main" val="9340771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107AFFD-21D9-F49A-2374-1442DA0B380B}"/>
              </a:ext>
            </a:extLst>
          </p:cNvPr>
          <p:cNvSpPr>
            <a:spLocks noGrp="1"/>
          </p:cNvSpPr>
          <p:nvPr>
            <p:ph type="sldNum" sz="quarter" idx="12"/>
          </p:nvPr>
        </p:nvSpPr>
        <p:spPr/>
        <p:txBody>
          <a:bodyPr/>
          <a:lstStyle/>
          <a:p>
            <a:fld id="{EBFB1032-EA64-7144-B003-9BCC9D94B503}" type="slidenum">
              <a:rPr lang="en-US" smtClean="0"/>
              <a:t>27</a:t>
            </a:fld>
            <a:endParaRPr lang="en-US" dirty="0"/>
          </a:p>
        </p:txBody>
      </p:sp>
      <p:pic>
        <p:nvPicPr>
          <p:cNvPr id="6" name="Picture 5">
            <a:extLst>
              <a:ext uri="{FF2B5EF4-FFF2-40B4-BE49-F238E27FC236}">
                <a16:creationId xmlns:a16="http://schemas.microsoft.com/office/drawing/2014/main" id="{E77D9DE7-C852-1105-CC5E-53B9349FE29E}"/>
              </a:ext>
            </a:extLst>
          </p:cNvPr>
          <p:cNvPicPr>
            <a:picLocks noChangeAspect="1"/>
          </p:cNvPicPr>
          <p:nvPr/>
        </p:nvPicPr>
        <p:blipFill>
          <a:blip r:embed="rId2"/>
          <a:stretch>
            <a:fillRect/>
          </a:stretch>
        </p:blipFill>
        <p:spPr>
          <a:xfrm>
            <a:off x="91440" y="928893"/>
            <a:ext cx="8961120" cy="5000213"/>
          </a:xfrm>
          <a:prstGeom prst="rect">
            <a:avLst/>
          </a:prstGeom>
          <a:ln>
            <a:solidFill>
              <a:schemeClr val="accent1"/>
            </a:solidFill>
          </a:ln>
        </p:spPr>
      </p:pic>
    </p:spTree>
    <p:extLst>
      <p:ext uri="{BB962C8B-B14F-4D97-AF65-F5344CB8AC3E}">
        <p14:creationId xmlns:p14="http://schemas.microsoft.com/office/powerpoint/2010/main" val="14589139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FAA923-AA72-4361-6BFA-E8C6AD44444F}"/>
              </a:ext>
            </a:extLst>
          </p:cNvPr>
          <p:cNvSpPr>
            <a:spLocks noGrp="1"/>
          </p:cNvSpPr>
          <p:nvPr>
            <p:ph type="sldNum" sz="quarter" idx="12"/>
          </p:nvPr>
        </p:nvSpPr>
        <p:spPr/>
        <p:txBody>
          <a:bodyPr/>
          <a:lstStyle/>
          <a:p>
            <a:fld id="{EBFB1032-EA64-7144-B003-9BCC9D94B503}" type="slidenum">
              <a:rPr lang="en-US" smtClean="0"/>
              <a:t>28</a:t>
            </a:fld>
            <a:endParaRPr lang="en-US" dirty="0"/>
          </a:p>
        </p:txBody>
      </p:sp>
      <p:pic>
        <p:nvPicPr>
          <p:cNvPr id="4" name="Picture 3">
            <a:extLst>
              <a:ext uri="{FF2B5EF4-FFF2-40B4-BE49-F238E27FC236}">
                <a16:creationId xmlns:a16="http://schemas.microsoft.com/office/drawing/2014/main" id="{BE27D55D-ECCC-8D12-F727-46480528AD79}"/>
              </a:ext>
            </a:extLst>
          </p:cNvPr>
          <p:cNvPicPr>
            <a:picLocks noChangeAspect="1"/>
          </p:cNvPicPr>
          <p:nvPr/>
        </p:nvPicPr>
        <p:blipFill>
          <a:blip r:embed="rId2"/>
          <a:stretch>
            <a:fillRect/>
          </a:stretch>
        </p:blipFill>
        <p:spPr>
          <a:xfrm>
            <a:off x="91440" y="770844"/>
            <a:ext cx="8961120" cy="5316312"/>
          </a:xfrm>
          <a:prstGeom prst="rect">
            <a:avLst/>
          </a:prstGeom>
          <a:ln>
            <a:solidFill>
              <a:schemeClr val="accent1"/>
            </a:solidFill>
          </a:ln>
        </p:spPr>
      </p:pic>
    </p:spTree>
    <p:extLst>
      <p:ext uri="{BB962C8B-B14F-4D97-AF65-F5344CB8AC3E}">
        <p14:creationId xmlns:p14="http://schemas.microsoft.com/office/powerpoint/2010/main" val="11303878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15FA801-F54C-0853-0BDA-B01E07EB1B44}"/>
              </a:ext>
            </a:extLst>
          </p:cNvPr>
          <p:cNvSpPr>
            <a:spLocks noGrp="1"/>
          </p:cNvSpPr>
          <p:nvPr>
            <p:ph type="sldNum" sz="quarter" idx="12"/>
          </p:nvPr>
        </p:nvSpPr>
        <p:spPr/>
        <p:txBody>
          <a:bodyPr/>
          <a:lstStyle/>
          <a:p>
            <a:fld id="{EBFB1032-EA64-7144-B003-9BCC9D94B503}" type="slidenum">
              <a:rPr lang="en-US" smtClean="0"/>
              <a:t>29</a:t>
            </a:fld>
            <a:endParaRPr lang="en-US" dirty="0"/>
          </a:p>
        </p:txBody>
      </p:sp>
      <p:pic>
        <p:nvPicPr>
          <p:cNvPr id="4" name="Picture 3">
            <a:extLst>
              <a:ext uri="{FF2B5EF4-FFF2-40B4-BE49-F238E27FC236}">
                <a16:creationId xmlns:a16="http://schemas.microsoft.com/office/drawing/2014/main" id="{078BCB52-3209-68B2-B1EE-FC9918D48FC9}"/>
              </a:ext>
            </a:extLst>
          </p:cNvPr>
          <p:cNvPicPr>
            <a:picLocks noChangeAspect="1"/>
          </p:cNvPicPr>
          <p:nvPr/>
        </p:nvPicPr>
        <p:blipFill>
          <a:blip r:embed="rId2"/>
          <a:stretch>
            <a:fillRect/>
          </a:stretch>
        </p:blipFill>
        <p:spPr>
          <a:xfrm>
            <a:off x="91440" y="1281341"/>
            <a:ext cx="8961120" cy="4295317"/>
          </a:xfrm>
          <a:prstGeom prst="rect">
            <a:avLst/>
          </a:prstGeom>
          <a:ln>
            <a:solidFill>
              <a:schemeClr val="accent1"/>
            </a:solidFill>
          </a:ln>
        </p:spPr>
      </p:pic>
    </p:spTree>
    <p:extLst>
      <p:ext uri="{BB962C8B-B14F-4D97-AF65-F5344CB8AC3E}">
        <p14:creationId xmlns:p14="http://schemas.microsoft.com/office/powerpoint/2010/main" val="28988006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295362F-5810-59AA-4F69-D1765429AA6C}"/>
              </a:ext>
            </a:extLst>
          </p:cNvPr>
          <p:cNvSpPr>
            <a:spLocks noGrp="1"/>
          </p:cNvSpPr>
          <p:nvPr>
            <p:ph type="sldNum" sz="quarter" idx="12"/>
          </p:nvPr>
        </p:nvSpPr>
        <p:spPr/>
        <p:txBody>
          <a:bodyPr/>
          <a:lstStyle/>
          <a:p>
            <a:fld id="{EBFB1032-EA64-7144-B003-9BCC9D94B503}" type="slidenum">
              <a:rPr lang="en-US" smtClean="0"/>
              <a:t>30</a:t>
            </a:fld>
            <a:endParaRPr lang="en-US" dirty="0"/>
          </a:p>
        </p:txBody>
      </p:sp>
      <p:pic>
        <p:nvPicPr>
          <p:cNvPr id="4" name="Picture 3" descr="A screenshot of a computer&#10;&#10;AI-generated content may be incorrect.">
            <a:extLst>
              <a:ext uri="{FF2B5EF4-FFF2-40B4-BE49-F238E27FC236}">
                <a16:creationId xmlns:a16="http://schemas.microsoft.com/office/drawing/2014/main" id="{86BEB3B7-F535-71D8-53A9-A2C8711F58DE}"/>
              </a:ext>
            </a:extLst>
          </p:cNvPr>
          <p:cNvPicPr>
            <a:picLocks noChangeAspect="1"/>
          </p:cNvPicPr>
          <p:nvPr/>
        </p:nvPicPr>
        <p:blipFill>
          <a:blip r:embed="rId2"/>
          <a:stretch>
            <a:fillRect/>
          </a:stretch>
        </p:blipFill>
        <p:spPr>
          <a:xfrm>
            <a:off x="442705" y="45720"/>
            <a:ext cx="8258590" cy="6766560"/>
          </a:xfrm>
          <a:prstGeom prst="rect">
            <a:avLst/>
          </a:prstGeom>
          <a:ln>
            <a:solidFill>
              <a:schemeClr val="accent1"/>
            </a:solidFill>
          </a:ln>
        </p:spPr>
      </p:pic>
      <p:sp>
        <p:nvSpPr>
          <p:cNvPr id="5" name="TextBox 4">
            <a:extLst>
              <a:ext uri="{FF2B5EF4-FFF2-40B4-BE49-F238E27FC236}">
                <a16:creationId xmlns:a16="http://schemas.microsoft.com/office/drawing/2014/main" id="{6DFD12EB-33D2-9A2C-9D61-35C317A52404}"/>
              </a:ext>
            </a:extLst>
          </p:cNvPr>
          <p:cNvSpPr txBox="1"/>
          <p:nvPr/>
        </p:nvSpPr>
        <p:spPr>
          <a:xfrm>
            <a:off x="149201" y="6534835"/>
            <a:ext cx="8936293" cy="323165"/>
          </a:xfrm>
          <a:prstGeom prst="rect">
            <a:avLst/>
          </a:prstGeom>
          <a:noFill/>
        </p:spPr>
        <p:txBody>
          <a:bodyPr wrap="square" rtlCol="0">
            <a:spAutoFit/>
          </a:bodyPr>
          <a:lstStyle/>
          <a:p>
            <a:r>
              <a:rPr lang="en-US" sz="1500" dirty="0">
                <a:solidFill>
                  <a:srgbClr val="FF0000"/>
                </a:solidFill>
                <a:latin typeface="Arial Narrow" panose="020B0606020202030204" pitchFamily="34" charset="0"/>
              </a:rPr>
              <a:t>Comparison of answers shows the </a:t>
            </a:r>
            <a:r>
              <a:rPr lang="en-US" sz="1500" dirty="0" err="1">
                <a:solidFill>
                  <a:srgbClr val="FF0000"/>
                </a:solidFill>
                <a:latin typeface="Arial Narrow" panose="020B0606020202030204" pitchFamily="34" charset="0"/>
              </a:rPr>
              <a:t>GraphRAG</a:t>
            </a:r>
            <a:r>
              <a:rPr lang="en-US" sz="1500" dirty="0">
                <a:solidFill>
                  <a:srgbClr val="FF0000"/>
                </a:solidFill>
                <a:latin typeface="Arial Narrow" panose="020B0606020202030204" pitchFamily="34" charset="0"/>
              </a:rPr>
              <a:t> response is much more comprehensive &amp; covers more of the relevant context</a:t>
            </a:r>
          </a:p>
        </p:txBody>
      </p:sp>
    </p:spTree>
    <p:extLst>
      <p:ext uri="{BB962C8B-B14F-4D97-AF65-F5344CB8AC3E}">
        <p14:creationId xmlns:p14="http://schemas.microsoft.com/office/powerpoint/2010/main" val="23866540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484D13C-E1E4-A300-D437-AC392360E1A2}"/>
              </a:ext>
            </a:extLst>
          </p:cNvPr>
          <p:cNvSpPr>
            <a:spLocks noGrp="1"/>
          </p:cNvSpPr>
          <p:nvPr>
            <p:ph type="title"/>
          </p:nvPr>
        </p:nvSpPr>
        <p:spPr/>
        <p:txBody>
          <a:bodyPr>
            <a:normAutofit/>
          </a:bodyPr>
          <a:lstStyle/>
          <a:p>
            <a:r>
              <a:rPr lang="en-US" b="1" dirty="0"/>
              <a:t>Common </a:t>
            </a:r>
            <a:r>
              <a:rPr lang="en-US" b="1" dirty="0" err="1"/>
              <a:t>GraphRAG</a:t>
            </a:r>
            <a:r>
              <a:rPr lang="en-US" b="1" dirty="0"/>
              <a:t> Use Cases</a:t>
            </a:r>
            <a:endParaRPr lang="en-US" dirty="0"/>
          </a:p>
        </p:txBody>
      </p:sp>
      <p:sp>
        <p:nvSpPr>
          <p:cNvPr id="2" name="Slide Number Placeholder 1">
            <a:extLst>
              <a:ext uri="{FF2B5EF4-FFF2-40B4-BE49-F238E27FC236}">
                <a16:creationId xmlns:a16="http://schemas.microsoft.com/office/drawing/2014/main" id="{D3D0E569-1971-8267-A926-256F4501F075}"/>
              </a:ext>
            </a:extLst>
          </p:cNvPr>
          <p:cNvSpPr>
            <a:spLocks noGrp="1"/>
          </p:cNvSpPr>
          <p:nvPr>
            <p:ph type="sldNum" sz="quarter" idx="12"/>
          </p:nvPr>
        </p:nvSpPr>
        <p:spPr/>
        <p:txBody>
          <a:bodyPr>
            <a:normAutofit fontScale="85000" lnSpcReduction="20000"/>
          </a:bodyPr>
          <a:lstStyle/>
          <a:p>
            <a:fld id="{EBFB1032-EA64-7144-B003-9BCC9D94B503}" type="slidenum">
              <a:rPr lang="en-US" smtClean="0"/>
              <a:t>31</a:t>
            </a:fld>
            <a:endParaRPr lang="en-US" dirty="0"/>
          </a:p>
        </p:txBody>
      </p:sp>
      <p:pic>
        <p:nvPicPr>
          <p:cNvPr id="6" name="Picture 5">
            <a:extLst>
              <a:ext uri="{FF2B5EF4-FFF2-40B4-BE49-F238E27FC236}">
                <a16:creationId xmlns:a16="http://schemas.microsoft.com/office/drawing/2014/main" id="{0B771C10-8044-E877-8523-FEE80C214405}"/>
              </a:ext>
            </a:extLst>
          </p:cNvPr>
          <p:cNvPicPr>
            <a:picLocks noChangeAspect="1"/>
          </p:cNvPicPr>
          <p:nvPr/>
        </p:nvPicPr>
        <p:blipFill>
          <a:blip r:embed="rId2"/>
          <a:stretch>
            <a:fillRect/>
          </a:stretch>
        </p:blipFill>
        <p:spPr>
          <a:xfrm>
            <a:off x="91440" y="1692377"/>
            <a:ext cx="8961120" cy="4817049"/>
          </a:xfrm>
          <a:prstGeom prst="rect">
            <a:avLst/>
          </a:prstGeom>
          <a:ln>
            <a:solidFill>
              <a:schemeClr val="accent1"/>
            </a:solidFill>
          </a:ln>
        </p:spPr>
      </p:pic>
    </p:spTree>
    <p:extLst>
      <p:ext uri="{BB962C8B-B14F-4D97-AF65-F5344CB8AC3E}">
        <p14:creationId xmlns:p14="http://schemas.microsoft.com/office/powerpoint/2010/main" val="38573477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FD324-AEF9-1858-4976-1DBDBB4881AD}"/>
              </a:ext>
            </a:extLst>
          </p:cNvPr>
          <p:cNvSpPr>
            <a:spLocks noGrp="1"/>
          </p:cNvSpPr>
          <p:nvPr>
            <p:ph type="title"/>
          </p:nvPr>
        </p:nvSpPr>
        <p:spPr/>
        <p:txBody>
          <a:bodyPr>
            <a:normAutofit fontScale="90000"/>
          </a:bodyPr>
          <a:lstStyle/>
          <a:p>
            <a:r>
              <a:rPr lang="en-US" dirty="0" err="1"/>
              <a:t>GraphRAG</a:t>
            </a:r>
            <a:r>
              <a:rPr lang="en-US" dirty="0"/>
              <a:t>: Enabling Enterprise-Grade AI Apps</a:t>
            </a:r>
          </a:p>
        </p:txBody>
      </p:sp>
      <p:sp>
        <p:nvSpPr>
          <p:cNvPr id="3" name="Slide Number Placeholder 2">
            <a:extLst>
              <a:ext uri="{FF2B5EF4-FFF2-40B4-BE49-F238E27FC236}">
                <a16:creationId xmlns:a16="http://schemas.microsoft.com/office/drawing/2014/main" id="{AAFE0E5C-8BF3-6EFB-4C6D-64EA879CF706}"/>
              </a:ext>
            </a:extLst>
          </p:cNvPr>
          <p:cNvSpPr>
            <a:spLocks noGrp="1"/>
          </p:cNvSpPr>
          <p:nvPr>
            <p:ph type="sldNum" sz="quarter" idx="12"/>
          </p:nvPr>
        </p:nvSpPr>
        <p:spPr/>
        <p:txBody>
          <a:bodyPr/>
          <a:lstStyle/>
          <a:p>
            <a:fld id="{EBFB1032-EA64-7144-B003-9BCC9D94B503}" type="slidenum">
              <a:rPr lang="en-US" smtClean="0"/>
              <a:t>32</a:t>
            </a:fld>
            <a:endParaRPr lang="en-US" dirty="0"/>
          </a:p>
        </p:txBody>
      </p:sp>
      <p:sp>
        <p:nvSpPr>
          <p:cNvPr id="4" name="Content Placeholder 3">
            <a:extLst>
              <a:ext uri="{FF2B5EF4-FFF2-40B4-BE49-F238E27FC236}">
                <a16:creationId xmlns:a16="http://schemas.microsoft.com/office/drawing/2014/main" id="{5B7F975E-F4F2-C4A8-4472-71CACBFB19BB}"/>
              </a:ext>
            </a:extLst>
          </p:cNvPr>
          <p:cNvSpPr>
            <a:spLocks noGrp="1"/>
          </p:cNvSpPr>
          <p:nvPr>
            <p:ph sz="quarter" idx="1"/>
          </p:nvPr>
        </p:nvSpPr>
        <p:spPr/>
        <p:txBody>
          <a:bodyPr>
            <a:noAutofit/>
          </a:bodyPr>
          <a:lstStyle/>
          <a:p>
            <a:pPr algn="just">
              <a:spcBef>
                <a:spcPts val="0"/>
              </a:spcBef>
            </a:pPr>
            <a:r>
              <a:rPr lang="en-US" dirty="0"/>
              <a:t>RAG architectures are currently the most effective way to provide reliable content for GenAI applications by using data from trusted data sources. </a:t>
            </a:r>
          </a:p>
          <a:p>
            <a:pPr algn="just">
              <a:spcBef>
                <a:spcPts val="0"/>
              </a:spcBef>
            </a:pPr>
            <a:r>
              <a:rPr lang="en-US" dirty="0" err="1">
                <a:solidFill>
                  <a:srgbClr val="0070C0"/>
                </a:solidFill>
              </a:rPr>
              <a:t>GraphRAG</a:t>
            </a:r>
            <a:r>
              <a:rPr lang="en-US" dirty="0">
                <a:solidFill>
                  <a:srgbClr val="0070C0"/>
                </a:solidFill>
              </a:rPr>
              <a:t> takes this a step further, improving upon basic vector-based RAG in both quality and explainability.</a:t>
            </a:r>
          </a:p>
          <a:p>
            <a:pPr algn="just">
              <a:spcBef>
                <a:spcPts val="0"/>
              </a:spcBef>
            </a:pPr>
            <a:r>
              <a:rPr lang="en-US" dirty="0"/>
              <a:t>By considering more relevant context and using a variety of retrievers that navigate document, domain, and computed graph structures, </a:t>
            </a:r>
            <a:r>
              <a:rPr lang="en-US" dirty="0" err="1"/>
              <a:t>GraphRAG</a:t>
            </a:r>
            <a:r>
              <a:rPr lang="en-US" dirty="0"/>
              <a:t> delivers more accurate, trustworthy, and traceable results.</a:t>
            </a:r>
          </a:p>
          <a:p>
            <a:pPr algn="just">
              <a:spcBef>
                <a:spcPts val="0"/>
              </a:spcBef>
            </a:pPr>
            <a:r>
              <a:rPr lang="en-US" dirty="0">
                <a:solidFill>
                  <a:srgbClr val="0070C0"/>
                </a:solidFill>
              </a:rPr>
              <a:t>The combination of knowledge graphs, with their rich representation of real-world information, and LLMs, with their advanced language skills, creates a robust and reliable solution for enterprise use cases.</a:t>
            </a:r>
          </a:p>
          <a:p>
            <a:pPr algn="just">
              <a:spcBef>
                <a:spcPts val="0"/>
              </a:spcBef>
            </a:pPr>
            <a:r>
              <a:rPr lang="en-US" dirty="0"/>
              <a:t>As more organizations adopt GenAI, </a:t>
            </a:r>
            <a:r>
              <a:rPr lang="en-US" dirty="0" err="1"/>
              <a:t>GraphRAG</a:t>
            </a:r>
            <a:r>
              <a:rPr lang="en-US" dirty="0"/>
              <a:t> will be essential in ensuring the accuracy, reliability, and transparency of these systems, paving the way for better decision-making &amp; improved business outcomes.</a:t>
            </a:r>
          </a:p>
        </p:txBody>
      </p:sp>
    </p:spTree>
    <p:extLst>
      <p:ext uri="{BB962C8B-B14F-4D97-AF65-F5344CB8AC3E}">
        <p14:creationId xmlns:p14="http://schemas.microsoft.com/office/powerpoint/2010/main" val="967558808"/>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Facet</Template>
  <TotalTime>10404</TotalTime>
  <Words>1744</Words>
  <Application>Microsoft Office PowerPoint</Application>
  <PresentationFormat>On-screen Show (4:3)</PresentationFormat>
  <Paragraphs>157</Paragraphs>
  <Slides>32</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Arial Narrow</vt:lpstr>
      <vt:lpstr>Calibri</vt:lpstr>
      <vt:lpstr>Tw Cen MT</vt:lpstr>
      <vt:lpstr>Wingdings</vt:lpstr>
      <vt:lpstr>Wingdings 2</vt:lpstr>
      <vt:lpstr>Median</vt:lpstr>
      <vt:lpstr>GraphRAG</vt:lpstr>
      <vt:lpstr>RAG</vt:lpstr>
      <vt:lpstr>Graph retrievers can provide more accurate &amp; relevant results</vt:lpstr>
      <vt:lpstr>Three key phases of RAG:</vt:lpstr>
      <vt:lpstr>Retrieval</vt:lpstr>
      <vt:lpstr>Augmentation</vt:lpstr>
      <vt:lpstr>Generation</vt:lpstr>
      <vt:lpstr>PowerPoint Presentation</vt:lpstr>
      <vt:lpstr>Limitations of Vector-Only RAG</vt:lpstr>
      <vt:lpstr>RAG system might retrieve chunks</vt:lpstr>
      <vt:lpstr>GraphRAG is a common approach to enhance retrieval</vt:lpstr>
      <vt:lpstr>Knowledge Graph for Data Representation</vt:lpstr>
      <vt:lpstr>PowerPoint Presentation</vt:lpstr>
      <vt:lpstr>Graph Querying for GraphRAG Retrievers</vt:lpstr>
      <vt:lpstr>How GraphRAG Improves Retrieval</vt:lpstr>
      <vt:lpstr>Several advantages over vector-only RAG systems:</vt:lpstr>
      <vt:lpstr>PowerPoint Presentation</vt:lpstr>
      <vt:lpstr>Types of GraphRAG Retrievers</vt:lpstr>
      <vt:lpstr>PowerPoint Presentation</vt:lpstr>
      <vt:lpstr>GraphRAG Pattern Catalog</vt:lpstr>
      <vt:lpstr>Knowledge Graph Construction</vt:lpstr>
      <vt:lpstr>PowerPoint Presentation</vt:lpstr>
      <vt:lpstr>We can combine different sources of data:</vt:lpstr>
      <vt:lpstr>A GraphRAG Example With Neo4j</vt:lpstr>
      <vt:lpstr>In this example, we use the SimpleKGPipeline</vt:lpstr>
      <vt:lpstr>PowerPoint Presentation</vt:lpstr>
      <vt:lpstr>PowerPoint Presentation</vt:lpstr>
      <vt:lpstr>PowerPoint Presentation</vt:lpstr>
      <vt:lpstr>PowerPoint Presentation</vt:lpstr>
      <vt:lpstr>PowerPoint Presentation</vt:lpstr>
      <vt:lpstr>Common GraphRAG Use Cases</vt:lpstr>
      <vt:lpstr>GraphRAG: Enabling Enterprise-Grade AI Apps</vt:lpstr>
    </vt:vector>
  </TitlesOfParts>
  <Company>WPI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Mohamed Eltabakh</dc:creator>
  <cp:lastModifiedBy>Ozbek, Yusuf</cp:lastModifiedBy>
  <cp:revision>1396</cp:revision>
  <dcterms:created xsi:type="dcterms:W3CDTF">2013-01-13T20:33:29Z</dcterms:created>
  <dcterms:modified xsi:type="dcterms:W3CDTF">2025-04-04T01:11:30Z</dcterms:modified>
</cp:coreProperties>
</file>