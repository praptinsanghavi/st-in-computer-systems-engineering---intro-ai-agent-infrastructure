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7" r:id="rId1"/>
  </p:sldMasterIdLst>
  <p:notesMasterIdLst>
    <p:notesMasterId r:id="rId51"/>
  </p:notesMasterIdLst>
  <p:handoutMasterIdLst>
    <p:handoutMasterId r:id="rId52"/>
  </p:handoutMasterIdLst>
  <p:sldIdLst>
    <p:sldId id="349" r:id="rId2"/>
    <p:sldId id="350" r:id="rId3"/>
    <p:sldId id="351" r:id="rId4"/>
    <p:sldId id="352" r:id="rId5"/>
    <p:sldId id="353" r:id="rId6"/>
    <p:sldId id="354" r:id="rId7"/>
    <p:sldId id="355"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72" r:id="rId25"/>
    <p:sldId id="373" r:id="rId26"/>
    <p:sldId id="374" r:id="rId27"/>
    <p:sldId id="375" r:id="rId28"/>
    <p:sldId id="376" r:id="rId29"/>
    <p:sldId id="377" r:id="rId30"/>
    <p:sldId id="378" r:id="rId31"/>
    <p:sldId id="379" r:id="rId32"/>
    <p:sldId id="380" r:id="rId33"/>
    <p:sldId id="381" r:id="rId34"/>
    <p:sldId id="383" r:id="rId35"/>
    <p:sldId id="382" r:id="rId36"/>
    <p:sldId id="384" r:id="rId37"/>
    <p:sldId id="385" r:id="rId38"/>
    <p:sldId id="386" r:id="rId39"/>
    <p:sldId id="387" r:id="rId40"/>
    <p:sldId id="388" r:id="rId41"/>
    <p:sldId id="389" r:id="rId42"/>
    <p:sldId id="390" r:id="rId43"/>
    <p:sldId id="391" r:id="rId44"/>
    <p:sldId id="392" r:id="rId45"/>
    <p:sldId id="393" r:id="rId46"/>
    <p:sldId id="394" r:id="rId47"/>
    <p:sldId id="395" r:id="rId48"/>
    <p:sldId id="396" r:id="rId49"/>
    <p:sldId id="397"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FB9"/>
    <a:srgbClr val="FFFFE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28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D9761D-1F95-3B4C-BE9C-CDD1389A8812}" type="datetimeFigureOut">
              <a:rPr lang="en-US" smtClean="0"/>
              <a:t>10/16/2025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FADCD51-711A-044D-9B2C-C47F74A9A11F}" type="slidenum">
              <a:rPr lang="en-US" smtClean="0"/>
              <a:t>‹#›</a:t>
            </a:fld>
            <a:endParaRPr lang="en-US"/>
          </a:p>
        </p:txBody>
      </p:sp>
    </p:spTree>
    <p:extLst>
      <p:ext uri="{BB962C8B-B14F-4D97-AF65-F5344CB8AC3E}">
        <p14:creationId xmlns:p14="http://schemas.microsoft.com/office/powerpoint/2010/main" val="85489552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5A596-FA52-0448-9C24-EA3FEFB30C0E}" type="datetimeFigureOut">
              <a:rPr lang="en-US" smtClean="0"/>
              <a:t>10/16/2025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C5791-7364-9E4F-986D-297FD347B6DE}" type="slidenum">
              <a:rPr lang="en-US" smtClean="0"/>
              <a:t>‹#›</a:t>
            </a:fld>
            <a:endParaRPr lang="en-US"/>
          </a:p>
        </p:txBody>
      </p:sp>
    </p:spTree>
    <p:extLst>
      <p:ext uri="{BB962C8B-B14F-4D97-AF65-F5344CB8AC3E}">
        <p14:creationId xmlns:p14="http://schemas.microsoft.com/office/powerpoint/2010/main" val="6151994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F164A81-75B2-194C-A843-C64EC5C16B31}" type="datetime1">
              <a:rPr lang="en-US" smtClean="0"/>
              <a:t>10/16/2025</a:t>
            </a:fld>
            <a:endParaRPr lang="en-US"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A84A37A-AFC2-4A01-80A1-FC20F2C0D5B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0315" y="228600"/>
            <a:ext cx="8943473" cy="990600"/>
          </a:xfrm>
        </p:spPr>
        <p:txBody>
          <a:bodyPr>
            <a:normAutofit/>
          </a:bodyPr>
          <a:lstStyle>
            <a:lvl1pPr>
              <a:defRPr sz="3800" b="1">
                <a:latin typeface="Arial Narrow" panose="020B0606020202030204" pitchFamily="34" charset="0"/>
              </a:defRPr>
            </a:lvl1pPr>
          </a:lstStyle>
          <a:p>
            <a:r>
              <a:rPr kumimoji="0" lang="en-US" dirty="0"/>
              <a:t>Click to edit Master title style</a:t>
            </a:r>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
        <p:nvSpPr>
          <p:cNvPr id="8" name="Content Placeholder 7"/>
          <p:cNvSpPr>
            <a:spLocks noGrp="1"/>
          </p:cNvSpPr>
          <p:nvPr>
            <p:ph sz="quarter" idx="1"/>
          </p:nvPr>
        </p:nvSpPr>
        <p:spPr>
          <a:xfrm>
            <a:off x="120315" y="1600200"/>
            <a:ext cx="8943473" cy="5153526"/>
          </a:xfrm>
        </p:spPr>
        <p:txBody>
          <a:bodyPr>
            <a:normAutofit/>
          </a:bodyPr>
          <a:lstStyle>
            <a:lvl1pPr>
              <a:defRPr sz="2400">
                <a:latin typeface="Arial Narrow" panose="020B0606020202030204" pitchFamily="34" charset="0"/>
              </a:defRPr>
            </a:lvl1pPr>
            <a:lvl2pPr>
              <a:defRPr sz="2400">
                <a:latin typeface="Arial Narrow" panose="020B0606020202030204" pitchFamily="34" charset="0"/>
              </a:defRPr>
            </a:lvl2pPr>
            <a:lvl3pPr>
              <a:defRPr sz="2400">
                <a:latin typeface="Arial Narrow" panose="020B0606020202030204" pitchFamily="34" charset="0"/>
              </a:defRPr>
            </a:lvl3pPr>
            <a:lvl4pPr>
              <a:defRPr sz="2400">
                <a:latin typeface="Arial Narrow" panose="020B0606020202030204" pitchFamily="34" charset="0"/>
              </a:defRPr>
            </a:lvl4pPr>
            <a:lvl5pPr>
              <a:defRPr sz="2400">
                <a:latin typeface="Arial Narrow" panose="020B0606020202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EDF00D79-2A23-4C40-804A-C01F394F0C72}" type="datetime1">
              <a:rPr lang="en-US" smtClean="0"/>
              <a:t>10/16/2025</a:t>
            </a:fld>
            <a:endParaRPr lang="en-US"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p:txBody>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0674B835-C713-9846-B110-24995DE671EF}" type="datetime1">
              <a:rPr lang="en-US" smtClean="0"/>
              <a:t>10/16/2025</a:t>
            </a:fld>
            <a:endParaRPr lang="en-US" dirty="0"/>
          </a:p>
        </p:txBody>
      </p:sp>
      <p:sp>
        <p:nvSpPr>
          <p:cNvPr id="10" name="Slide Number Placeholder 9"/>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D0393BC9-E94F-5B47-BD76-EECA0CBE7CA1}" type="datetime1">
              <a:rPr lang="en-US" smtClean="0"/>
              <a:t>10/16/2025</a:t>
            </a:fld>
            <a:endParaRPr lang="en-US" dirty="0"/>
          </a:p>
        </p:txBody>
      </p:sp>
      <p:sp>
        <p:nvSpPr>
          <p:cNvPr id="12" name="Slide Number Placeholder 11"/>
          <p:cNvSpPr>
            <a:spLocks noGrp="1"/>
          </p:cNvSpPr>
          <p:nvPr>
            <p:ph type="sldNum" sz="quarter" idx="16"/>
          </p:nvPr>
        </p:nvSpPr>
        <p:spPr/>
        <p:txBody>
          <a:bodyPr rtlCol="0"/>
          <a:lstStyle/>
          <a:p>
            <a:fld id="{EBFB1032-EA64-7144-B003-9BCC9D94B503}"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F308A2-EBB5-744B-B5B4-7699A7EC7B98}" type="datetime1">
              <a:rPr lang="en-US" smtClean="0"/>
              <a:t>10/16/2025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BFB1032-EA64-7144-B003-9BCC9D94B503}"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9872E7-27FD-CA40-8E81-E7A5851A1F00}" type="datetime1">
              <a:rPr lang="en-US" smtClean="0"/>
              <a:t>10/16/2025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BFB1032-EA64-7144-B003-9BCC9D94B503}"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0F37C8EB-B6A2-A747-83AD-60E35A0235F5}" type="datetime1">
              <a:rPr lang="en-US" smtClean="0"/>
              <a:t>10/16/2025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A84A37A-AFC2-4A01-80A1-FC20F2C0D5BB}"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6682E5-7E97-2F44-B961-B3631B15779F}" type="datetime1">
              <a:rPr lang="en-US" smtClean="0"/>
              <a:t>10/16/2025</a:t>
            </a:fld>
            <a:endParaRPr lang="en-US"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BFB1032-EA64-7144-B003-9BCC9D94B503}" type="slidenum">
              <a:rPr lang="en-US" smtClean="0"/>
              <a:t>‹#›</a:t>
            </a:fld>
            <a:endParaRPr lang="en-US" dirty="0"/>
          </a:p>
        </p:txBody>
      </p:sp>
      <p:sp>
        <p:nvSpPr>
          <p:cNvPr id="14" name="Footer Placeholder 13"/>
          <p:cNvSpPr>
            <a:spLocks noGrp="1"/>
          </p:cNvSpPr>
          <p:nvPr>
            <p:ph type="ftr" sz="quarter" idx="12"/>
          </p:nvPr>
        </p:nvSpPr>
        <p:spPr>
          <a:xfrm>
            <a:off x="1600200" y="6248206"/>
            <a:ext cx="4572000" cy="365125"/>
          </a:xfrm>
        </p:spPr>
        <p:txBody>
          <a:bodyPr rtlCol="0"/>
          <a:lstStyle/>
          <a:p>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0DD67E5-F24F-664E-AC9C-26173D2CF6BA}" type="datetime1">
              <a:rPr lang="en-US" smtClean="0"/>
              <a:t>10/16/2025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BFB1032-EA64-7144-B003-9BCC9D94B503}"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E5DF139F-CB8F-D149-BA56-8B0C015E5021}" type="datetime1">
              <a:rPr lang="en-US" smtClean="0"/>
              <a:t>10/16/2025</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BFB1032-EA64-7144-B003-9BCC9D94B503}"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6F81F14-9AEC-394B-B8F6-AE69A194437D}" type="datetime1">
              <a:rPr lang="en-US" smtClean="0"/>
              <a:t>10/16/2025</a:t>
            </a:fld>
            <a:endParaRPr lang="en-US"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BFB1032-EA64-7144-B003-9BCC9D94B503}"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1B65F7-0113-7DE2-3991-A125F6F6787F}"/>
              </a:ext>
            </a:extLst>
          </p:cNvPr>
          <p:cNvSpPr>
            <a:spLocks noGrp="1"/>
          </p:cNvSpPr>
          <p:nvPr>
            <p:ph type="title"/>
          </p:nvPr>
        </p:nvSpPr>
        <p:spPr/>
        <p:txBody>
          <a:bodyPr>
            <a:normAutofit/>
          </a:bodyPr>
          <a:lstStyle/>
          <a:p>
            <a:r>
              <a:rPr lang="en-US" sz="4000" dirty="0"/>
              <a:t>Spring AI</a:t>
            </a:r>
          </a:p>
        </p:txBody>
      </p:sp>
      <p:sp>
        <p:nvSpPr>
          <p:cNvPr id="2" name="Slide Number Placeholder 1">
            <a:extLst>
              <a:ext uri="{FF2B5EF4-FFF2-40B4-BE49-F238E27FC236}">
                <a16:creationId xmlns:a16="http://schemas.microsoft.com/office/drawing/2014/main" id="{7137B734-908D-3509-4F4F-4206C8E7291B}"/>
              </a:ext>
            </a:extLst>
          </p:cNvPr>
          <p:cNvSpPr>
            <a:spLocks noGrp="1"/>
          </p:cNvSpPr>
          <p:nvPr>
            <p:ph type="sldNum" sz="quarter" idx="12"/>
          </p:nvPr>
        </p:nvSpPr>
        <p:spPr/>
        <p:txBody>
          <a:bodyPr>
            <a:normAutofit fontScale="85000" lnSpcReduction="20000"/>
          </a:bodyPr>
          <a:lstStyle/>
          <a:p>
            <a:fld id="{EBFB1032-EA64-7144-B003-9BCC9D94B503}" type="slidenum">
              <a:rPr lang="en-US" smtClean="0"/>
              <a:t>1</a:t>
            </a:fld>
            <a:endParaRPr lang="en-US" dirty="0"/>
          </a:p>
        </p:txBody>
      </p:sp>
      <p:sp>
        <p:nvSpPr>
          <p:cNvPr id="4" name="Content Placeholder 3">
            <a:extLst>
              <a:ext uri="{FF2B5EF4-FFF2-40B4-BE49-F238E27FC236}">
                <a16:creationId xmlns:a16="http://schemas.microsoft.com/office/drawing/2014/main" id="{D1E027C4-4CBB-81FD-6CCB-3B08B2BD3E39}"/>
              </a:ext>
            </a:extLst>
          </p:cNvPr>
          <p:cNvSpPr>
            <a:spLocks noGrp="1"/>
          </p:cNvSpPr>
          <p:nvPr>
            <p:ph sz="quarter" idx="1"/>
          </p:nvPr>
        </p:nvSpPr>
        <p:spPr/>
        <p:txBody>
          <a:bodyPr>
            <a:noAutofit/>
          </a:bodyPr>
          <a:lstStyle/>
          <a:p>
            <a:pPr algn="just">
              <a:lnSpc>
                <a:spcPct val="95000"/>
              </a:lnSpc>
              <a:spcBef>
                <a:spcPts val="0"/>
              </a:spcBef>
            </a:pPr>
            <a:r>
              <a:rPr lang="en-US" sz="2300" dirty="0"/>
              <a:t>Spring AI is an application framework for AI engineering.</a:t>
            </a:r>
          </a:p>
          <a:p>
            <a:pPr algn="just">
              <a:lnSpc>
                <a:spcPct val="95000"/>
              </a:lnSpc>
              <a:spcBef>
                <a:spcPts val="0"/>
              </a:spcBef>
            </a:pPr>
            <a:r>
              <a:rPr lang="en-US" sz="2300" dirty="0"/>
              <a:t>Its goal is to apply to the AI domain Spring ecosystem design principles such as portability and modular design and promote using POJOs as the building blocks of an application to the AI domain.</a:t>
            </a:r>
          </a:p>
          <a:p>
            <a:pPr algn="just">
              <a:lnSpc>
                <a:spcPct val="95000"/>
              </a:lnSpc>
              <a:spcBef>
                <a:spcPts val="0"/>
              </a:spcBef>
            </a:pPr>
            <a:r>
              <a:rPr lang="en-US" sz="2300" dirty="0"/>
              <a:t>At its core, Spring AI addresses the fundamental challenge of AI integration: Connecting your enterprise Data and APIs with the AI Models.</a:t>
            </a:r>
          </a:p>
        </p:txBody>
      </p:sp>
      <p:pic>
        <p:nvPicPr>
          <p:cNvPr id="6" name="Graphic 5">
            <a:extLst>
              <a:ext uri="{FF2B5EF4-FFF2-40B4-BE49-F238E27FC236}">
                <a16:creationId xmlns:a16="http://schemas.microsoft.com/office/drawing/2014/main" id="{725232F3-B429-DB8C-C50E-D438F620EB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14611" y="3615090"/>
            <a:ext cx="4754880" cy="3138636"/>
          </a:xfrm>
          <a:prstGeom prst="rect">
            <a:avLst/>
          </a:prstGeom>
        </p:spPr>
      </p:pic>
    </p:spTree>
    <p:extLst>
      <p:ext uri="{BB962C8B-B14F-4D97-AF65-F5344CB8AC3E}">
        <p14:creationId xmlns:p14="http://schemas.microsoft.com/office/powerpoint/2010/main" val="1389876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A0AC0-9BA7-D631-5BC5-52A60ADE798C}"/>
              </a:ext>
            </a:extLst>
          </p:cNvPr>
          <p:cNvSpPr>
            <a:spLocks noGrp="1"/>
          </p:cNvSpPr>
          <p:nvPr>
            <p:ph type="title"/>
          </p:nvPr>
        </p:nvSpPr>
        <p:spPr/>
        <p:txBody>
          <a:bodyPr>
            <a:normAutofit/>
          </a:bodyPr>
          <a:lstStyle/>
          <a:p>
            <a:r>
              <a:rPr lang="en-US" dirty="0"/>
              <a:t>Spring AI provides the following features:</a:t>
            </a:r>
          </a:p>
        </p:txBody>
      </p:sp>
      <p:sp>
        <p:nvSpPr>
          <p:cNvPr id="3" name="Slide Number Placeholder 2">
            <a:extLst>
              <a:ext uri="{FF2B5EF4-FFF2-40B4-BE49-F238E27FC236}">
                <a16:creationId xmlns:a16="http://schemas.microsoft.com/office/drawing/2014/main" id="{1467AE57-D986-E1EA-AC73-3D42ECF9424E}"/>
              </a:ext>
            </a:extLst>
          </p:cNvPr>
          <p:cNvSpPr>
            <a:spLocks noGrp="1"/>
          </p:cNvSpPr>
          <p:nvPr>
            <p:ph type="sldNum" sz="quarter" idx="12"/>
          </p:nvPr>
        </p:nvSpPr>
        <p:spPr/>
        <p:txBody>
          <a:bodyPr>
            <a:normAutofit fontScale="85000" lnSpcReduction="20000"/>
          </a:bodyPr>
          <a:lstStyle/>
          <a:p>
            <a:fld id="{EBFB1032-EA64-7144-B003-9BCC9D94B503}" type="slidenum">
              <a:rPr lang="en-US" smtClean="0"/>
              <a:t>2</a:t>
            </a:fld>
            <a:endParaRPr lang="en-US" dirty="0"/>
          </a:p>
        </p:txBody>
      </p:sp>
      <p:sp>
        <p:nvSpPr>
          <p:cNvPr id="4" name="Content Placeholder 3">
            <a:extLst>
              <a:ext uri="{FF2B5EF4-FFF2-40B4-BE49-F238E27FC236}">
                <a16:creationId xmlns:a16="http://schemas.microsoft.com/office/drawing/2014/main" id="{D97F06F5-0083-7C98-1566-108C5C58347D}"/>
              </a:ext>
            </a:extLst>
          </p:cNvPr>
          <p:cNvSpPr>
            <a:spLocks noGrp="1"/>
          </p:cNvSpPr>
          <p:nvPr>
            <p:ph sz="quarter" idx="1"/>
          </p:nvPr>
        </p:nvSpPr>
        <p:spPr/>
        <p:txBody>
          <a:bodyPr/>
          <a:lstStyle/>
          <a:p>
            <a:r>
              <a:rPr lang="en-US" dirty="0"/>
              <a:t>Support for all major AI Model providers such as Anthropic, OpenAI, Microsoft, Amazon, Google, and </a:t>
            </a:r>
            <a:r>
              <a:rPr lang="en-US" dirty="0" err="1"/>
              <a:t>Ollama</a:t>
            </a:r>
            <a:r>
              <a:rPr lang="en-US" dirty="0"/>
              <a:t>.</a:t>
            </a:r>
          </a:p>
          <a:p>
            <a:r>
              <a:rPr lang="en-US" dirty="0"/>
              <a:t>Supported model types include:</a:t>
            </a:r>
          </a:p>
          <a:p>
            <a:pPr marL="822960" lvl="1" indent="-457200">
              <a:buAutoNum type="arabicPeriod"/>
            </a:pPr>
            <a:r>
              <a:rPr lang="en-US" dirty="0"/>
              <a:t>Chat Completion</a:t>
            </a:r>
          </a:p>
          <a:p>
            <a:pPr marL="822960" lvl="1" indent="-457200">
              <a:buAutoNum type="arabicPeriod"/>
            </a:pPr>
            <a:r>
              <a:rPr lang="en-US" dirty="0"/>
              <a:t>Embedding</a:t>
            </a:r>
          </a:p>
          <a:p>
            <a:pPr marL="822960" lvl="1" indent="-457200">
              <a:buAutoNum type="arabicPeriod"/>
            </a:pPr>
            <a:r>
              <a:rPr lang="en-US" dirty="0"/>
              <a:t>Text to Image</a:t>
            </a:r>
          </a:p>
          <a:p>
            <a:pPr marL="822960" lvl="1" indent="-457200">
              <a:buAutoNum type="arabicPeriod"/>
            </a:pPr>
            <a:r>
              <a:rPr lang="en-US" dirty="0"/>
              <a:t>Audio Transcription</a:t>
            </a:r>
          </a:p>
          <a:p>
            <a:pPr marL="822960" lvl="1" indent="-457200">
              <a:buAutoNum type="arabicPeriod"/>
            </a:pPr>
            <a:r>
              <a:rPr lang="en-US" dirty="0"/>
              <a:t>Text to Speech</a:t>
            </a:r>
          </a:p>
          <a:p>
            <a:pPr marL="822960" lvl="1" indent="-457200">
              <a:buAutoNum type="arabicPeriod"/>
            </a:pPr>
            <a:r>
              <a:rPr lang="en-US" dirty="0"/>
              <a:t>Moderation</a:t>
            </a:r>
          </a:p>
          <a:p>
            <a:endParaRPr lang="en-US" dirty="0"/>
          </a:p>
        </p:txBody>
      </p:sp>
    </p:spTree>
    <p:extLst>
      <p:ext uri="{BB962C8B-B14F-4D97-AF65-F5344CB8AC3E}">
        <p14:creationId xmlns:p14="http://schemas.microsoft.com/office/powerpoint/2010/main" val="4033626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8D48F-2F69-65A6-8DAD-6B3AB639AA8B}"/>
              </a:ext>
            </a:extLst>
          </p:cNvPr>
          <p:cNvSpPr>
            <a:spLocks noGrp="1"/>
          </p:cNvSpPr>
          <p:nvPr>
            <p:ph type="title"/>
          </p:nvPr>
        </p:nvSpPr>
        <p:spPr/>
        <p:txBody>
          <a:bodyPr>
            <a:normAutofit/>
          </a:bodyPr>
          <a:lstStyle/>
          <a:p>
            <a:r>
              <a:rPr lang="en-US" dirty="0"/>
              <a:t>1. Chat Model API</a:t>
            </a:r>
          </a:p>
        </p:txBody>
      </p:sp>
      <p:sp>
        <p:nvSpPr>
          <p:cNvPr id="3" name="Slide Number Placeholder 2">
            <a:extLst>
              <a:ext uri="{FF2B5EF4-FFF2-40B4-BE49-F238E27FC236}">
                <a16:creationId xmlns:a16="http://schemas.microsoft.com/office/drawing/2014/main" id="{A047DB1F-8CAC-D9E2-2ECC-41688204BA6F}"/>
              </a:ext>
            </a:extLst>
          </p:cNvPr>
          <p:cNvSpPr>
            <a:spLocks noGrp="1"/>
          </p:cNvSpPr>
          <p:nvPr>
            <p:ph type="sldNum" sz="quarter" idx="12"/>
          </p:nvPr>
        </p:nvSpPr>
        <p:spPr/>
        <p:txBody>
          <a:bodyPr>
            <a:normAutofit fontScale="85000" lnSpcReduction="20000"/>
          </a:bodyPr>
          <a:lstStyle/>
          <a:p>
            <a:fld id="{EBFB1032-EA64-7144-B003-9BCC9D94B503}" type="slidenum">
              <a:rPr lang="en-US" smtClean="0"/>
              <a:t>3</a:t>
            </a:fld>
            <a:endParaRPr lang="en-US" dirty="0"/>
          </a:p>
        </p:txBody>
      </p:sp>
      <p:sp>
        <p:nvSpPr>
          <p:cNvPr id="4" name="Content Placeholder 3">
            <a:extLst>
              <a:ext uri="{FF2B5EF4-FFF2-40B4-BE49-F238E27FC236}">
                <a16:creationId xmlns:a16="http://schemas.microsoft.com/office/drawing/2014/main" id="{F970F58B-DEB3-D2EF-20BB-07D99D37B06A}"/>
              </a:ext>
            </a:extLst>
          </p:cNvPr>
          <p:cNvSpPr>
            <a:spLocks noGrp="1"/>
          </p:cNvSpPr>
          <p:nvPr>
            <p:ph sz="quarter" idx="1"/>
          </p:nvPr>
        </p:nvSpPr>
        <p:spPr/>
        <p:txBody>
          <a:bodyPr>
            <a:normAutofit/>
          </a:bodyPr>
          <a:lstStyle/>
          <a:p>
            <a:r>
              <a:rPr lang="en-US" sz="2300" dirty="0"/>
              <a:t>The Chat Model API offers developers the ability to integrate AI-powered chat completion capabilities into their applications.</a:t>
            </a:r>
          </a:p>
          <a:p>
            <a:endParaRPr lang="en-US" sz="2300" dirty="0"/>
          </a:p>
          <a:p>
            <a:r>
              <a:rPr lang="en-US" sz="2300" dirty="0"/>
              <a:t>It leverages pre-trained language models, such as GPT, to generate human-like responses to user inputs in natural language.</a:t>
            </a:r>
          </a:p>
          <a:p>
            <a:endParaRPr lang="en-US" sz="2300" dirty="0"/>
          </a:p>
          <a:p>
            <a:r>
              <a:rPr lang="en-US" sz="2300" dirty="0"/>
              <a:t>The API typically works by sending a prompt or partial conversation to the AI model, which then generates a completion or continuation of the conversation based on its training data and understanding of natural language patterns.</a:t>
            </a:r>
          </a:p>
          <a:p>
            <a:endParaRPr lang="en-US" sz="2300" dirty="0"/>
          </a:p>
          <a:p>
            <a:r>
              <a:rPr lang="en-US" sz="2300" dirty="0"/>
              <a:t>The completed response is then returned to the application, which can present it to the user or use it for further processing.</a:t>
            </a:r>
          </a:p>
          <a:p>
            <a:endParaRPr lang="en-US" sz="2300" dirty="0"/>
          </a:p>
        </p:txBody>
      </p:sp>
    </p:spTree>
    <p:extLst>
      <p:ext uri="{BB962C8B-B14F-4D97-AF65-F5344CB8AC3E}">
        <p14:creationId xmlns:p14="http://schemas.microsoft.com/office/powerpoint/2010/main" val="330406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BD9B-5CF2-64BA-AB37-7F04CF535D9E}"/>
              </a:ext>
            </a:extLst>
          </p:cNvPr>
          <p:cNvSpPr>
            <a:spLocks noGrp="1"/>
          </p:cNvSpPr>
          <p:nvPr>
            <p:ph type="title"/>
          </p:nvPr>
        </p:nvSpPr>
        <p:spPr/>
        <p:txBody>
          <a:bodyPr/>
          <a:lstStyle/>
          <a:p>
            <a:r>
              <a:rPr lang="en-US" dirty="0"/>
              <a:t>The Spring AI Chat Model API</a:t>
            </a:r>
          </a:p>
        </p:txBody>
      </p:sp>
      <p:sp>
        <p:nvSpPr>
          <p:cNvPr id="3" name="Slide Number Placeholder 2">
            <a:extLst>
              <a:ext uri="{FF2B5EF4-FFF2-40B4-BE49-F238E27FC236}">
                <a16:creationId xmlns:a16="http://schemas.microsoft.com/office/drawing/2014/main" id="{0D8944BE-AE1C-D4F9-9A1D-32F80A11D811}"/>
              </a:ext>
            </a:extLst>
          </p:cNvPr>
          <p:cNvSpPr>
            <a:spLocks noGrp="1"/>
          </p:cNvSpPr>
          <p:nvPr>
            <p:ph type="sldNum" sz="quarter" idx="12"/>
          </p:nvPr>
        </p:nvSpPr>
        <p:spPr/>
        <p:txBody>
          <a:bodyPr>
            <a:normAutofit fontScale="85000" lnSpcReduction="20000"/>
          </a:bodyPr>
          <a:lstStyle/>
          <a:p>
            <a:fld id="{EBFB1032-EA64-7144-B003-9BCC9D94B503}" type="slidenum">
              <a:rPr lang="en-US" smtClean="0"/>
              <a:t>4</a:t>
            </a:fld>
            <a:endParaRPr lang="en-US" dirty="0"/>
          </a:p>
        </p:txBody>
      </p:sp>
      <p:sp>
        <p:nvSpPr>
          <p:cNvPr id="4" name="Content Placeholder 3">
            <a:extLst>
              <a:ext uri="{FF2B5EF4-FFF2-40B4-BE49-F238E27FC236}">
                <a16:creationId xmlns:a16="http://schemas.microsoft.com/office/drawing/2014/main" id="{80459D39-70EF-9AF8-DB2C-10310E9B3FDE}"/>
              </a:ext>
            </a:extLst>
          </p:cNvPr>
          <p:cNvSpPr>
            <a:spLocks noGrp="1"/>
          </p:cNvSpPr>
          <p:nvPr>
            <p:ph sz="quarter" idx="1"/>
          </p:nvPr>
        </p:nvSpPr>
        <p:spPr/>
        <p:txBody>
          <a:bodyPr>
            <a:noAutofit/>
          </a:bodyPr>
          <a:lstStyle/>
          <a:p>
            <a:r>
              <a:rPr lang="en-US" sz="2300" dirty="0"/>
              <a:t>The Spring AI Chat Model API is designed to be a simple and portable interface for interacting with various AI Models, allowing developers to switch between different models with minimal code changes.</a:t>
            </a:r>
          </a:p>
          <a:p>
            <a:endParaRPr lang="en-US" sz="2300" dirty="0"/>
          </a:p>
          <a:p>
            <a:r>
              <a:rPr lang="en-US" sz="2300" dirty="0"/>
              <a:t>This design aligns with Spring’s philosophy of modularity and interchangeability.</a:t>
            </a:r>
          </a:p>
          <a:p>
            <a:endParaRPr lang="en-US" sz="2300" dirty="0"/>
          </a:p>
          <a:p>
            <a:r>
              <a:rPr lang="en-US" sz="2300" dirty="0"/>
              <a:t>Also, with the help of companion classes like Prompt for input encapsulation and </a:t>
            </a:r>
            <a:r>
              <a:rPr lang="en-US" sz="2300" dirty="0" err="1"/>
              <a:t>ChatResponse</a:t>
            </a:r>
            <a:r>
              <a:rPr lang="en-US" sz="2300" dirty="0"/>
              <a:t> for output handling, the Chat Model API unifies the communication with AI Models.</a:t>
            </a:r>
          </a:p>
          <a:p>
            <a:endParaRPr lang="en-US" sz="2300" dirty="0"/>
          </a:p>
          <a:p>
            <a:r>
              <a:rPr lang="en-US" sz="2300" dirty="0"/>
              <a:t>It manages the complexity of request preparation and response parsing, offering a direct and simplified API interaction.</a:t>
            </a:r>
          </a:p>
        </p:txBody>
      </p:sp>
    </p:spTree>
    <p:extLst>
      <p:ext uri="{BB962C8B-B14F-4D97-AF65-F5344CB8AC3E}">
        <p14:creationId xmlns:p14="http://schemas.microsoft.com/office/powerpoint/2010/main" val="4035938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DBF4-8A96-4A1B-79C2-D3A88DF205BA}"/>
              </a:ext>
            </a:extLst>
          </p:cNvPr>
          <p:cNvSpPr>
            <a:spLocks noGrp="1"/>
          </p:cNvSpPr>
          <p:nvPr>
            <p:ph type="title"/>
          </p:nvPr>
        </p:nvSpPr>
        <p:spPr/>
        <p:txBody>
          <a:bodyPr>
            <a:normAutofit/>
          </a:bodyPr>
          <a:lstStyle/>
          <a:p>
            <a:r>
              <a:rPr lang="en-US" b="1" dirty="0" err="1"/>
              <a:t>ChatModel</a:t>
            </a:r>
            <a:endParaRPr lang="en-US" dirty="0"/>
          </a:p>
        </p:txBody>
      </p:sp>
      <p:sp>
        <p:nvSpPr>
          <p:cNvPr id="3" name="Slide Number Placeholder 2">
            <a:extLst>
              <a:ext uri="{FF2B5EF4-FFF2-40B4-BE49-F238E27FC236}">
                <a16:creationId xmlns:a16="http://schemas.microsoft.com/office/drawing/2014/main" id="{596C4C0D-9CD2-3721-03A8-02FE0B9CBDCF}"/>
              </a:ext>
            </a:extLst>
          </p:cNvPr>
          <p:cNvSpPr>
            <a:spLocks noGrp="1"/>
          </p:cNvSpPr>
          <p:nvPr>
            <p:ph type="sldNum" sz="quarter" idx="12"/>
          </p:nvPr>
        </p:nvSpPr>
        <p:spPr/>
        <p:txBody>
          <a:bodyPr>
            <a:normAutofit fontScale="85000" lnSpcReduction="20000"/>
          </a:bodyPr>
          <a:lstStyle/>
          <a:p>
            <a:fld id="{EBFB1032-EA64-7144-B003-9BCC9D94B503}" type="slidenum">
              <a:rPr lang="en-US" smtClean="0"/>
              <a:t>5</a:t>
            </a:fld>
            <a:endParaRPr lang="en-US" dirty="0"/>
          </a:p>
        </p:txBody>
      </p:sp>
      <p:pic>
        <p:nvPicPr>
          <p:cNvPr id="6" name="Picture 5">
            <a:extLst>
              <a:ext uri="{FF2B5EF4-FFF2-40B4-BE49-F238E27FC236}">
                <a16:creationId xmlns:a16="http://schemas.microsoft.com/office/drawing/2014/main" id="{38F439CF-5960-84C3-5EF4-D83F0271ABAD}"/>
              </a:ext>
            </a:extLst>
          </p:cNvPr>
          <p:cNvPicPr>
            <a:picLocks noChangeAspect="1"/>
          </p:cNvPicPr>
          <p:nvPr/>
        </p:nvPicPr>
        <p:blipFill>
          <a:blip r:embed="rId2"/>
          <a:stretch>
            <a:fillRect/>
          </a:stretch>
        </p:blipFill>
        <p:spPr>
          <a:xfrm>
            <a:off x="91440" y="1752600"/>
            <a:ext cx="8961120" cy="4049181"/>
          </a:xfrm>
          <a:prstGeom prst="rect">
            <a:avLst/>
          </a:prstGeom>
        </p:spPr>
      </p:pic>
    </p:spTree>
    <p:extLst>
      <p:ext uri="{BB962C8B-B14F-4D97-AF65-F5344CB8AC3E}">
        <p14:creationId xmlns:p14="http://schemas.microsoft.com/office/powerpoint/2010/main" val="181813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72FE-6CDB-6AF8-DCDC-6C7FCCC85D1E}"/>
              </a:ext>
            </a:extLst>
          </p:cNvPr>
          <p:cNvSpPr>
            <a:spLocks noGrp="1"/>
          </p:cNvSpPr>
          <p:nvPr>
            <p:ph type="title"/>
          </p:nvPr>
        </p:nvSpPr>
        <p:spPr/>
        <p:txBody>
          <a:bodyPr/>
          <a:lstStyle/>
          <a:p>
            <a:r>
              <a:rPr lang="en-US" dirty="0" err="1"/>
              <a:t>StreamingChatModel</a:t>
            </a:r>
            <a:endParaRPr lang="en-US" dirty="0"/>
          </a:p>
        </p:txBody>
      </p:sp>
      <p:sp>
        <p:nvSpPr>
          <p:cNvPr id="3" name="Slide Number Placeholder 2">
            <a:extLst>
              <a:ext uri="{FF2B5EF4-FFF2-40B4-BE49-F238E27FC236}">
                <a16:creationId xmlns:a16="http://schemas.microsoft.com/office/drawing/2014/main" id="{37D85332-2DF6-4546-B300-42DD834236EB}"/>
              </a:ext>
            </a:extLst>
          </p:cNvPr>
          <p:cNvSpPr>
            <a:spLocks noGrp="1"/>
          </p:cNvSpPr>
          <p:nvPr>
            <p:ph type="sldNum" sz="quarter" idx="12"/>
          </p:nvPr>
        </p:nvSpPr>
        <p:spPr/>
        <p:txBody>
          <a:bodyPr>
            <a:normAutofit fontScale="85000" lnSpcReduction="20000"/>
          </a:bodyPr>
          <a:lstStyle/>
          <a:p>
            <a:fld id="{EBFB1032-EA64-7144-B003-9BCC9D94B503}" type="slidenum">
              <a:rPr lang="en-US" smtClean="0"/>
              <a:t>6</a:t>
            </a:fld>
            <a:endParaRPr lang="en-US" dirty="0"/>
          </a:p>
        </p:txBody>
      </p:sp>
      <p:pic>
        <p:nvPicPr>
          <p:cNvPr id="6" name="Picture 5">
            <a:extLst>
              <a:ext uri="{FF2B5EF4-FFF2-40B4-BE49-F238E27FC236}">
                <a16:creationId xmlns:a16="http://schemas.microsoft.com/office/drawing/2014/main" id="{673B07EC-74FF-F356-75EB-44B2509B3325}"/>
              </a:ext>
            </a:extLst>
          </p:cNvPr>
          <p:cNvPicPr>
            <a:picLocks noChangeAspect="1"/>
          </p:cNvPicPr>
          <p:nvPr/>
        </p:nvPicPr>
        <p:blipFill>
          <a:blip r:embed="rId2"/>
          <a:stretch>
            <a:fillRect/>
          </a:stretch>
        </p:blipFill>
        <p:spPr>
          <a:xfrm>
            <a:off x="91440" y="1713730"/>
            <a:ext cx="8961120" cy="3654598"/>
          </a:xfrm>
          <a:prstGeom prst="rect">
            <a:avLst/>
          </a:prstGeom>
        </p:spPr>
      </p:pic>
    </p:spTree>
    <p:extLst>
      <p:ext uri="{BB962C8B-B14F-4D97-AF65-F5344CB8AC3E}">
        <p14:creationId xmlns:p14="http://schemas.microsoft.com/office/powerpoint/2010/main" val="1046111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BAC4-FF48-0B38-EAF1-81E0360F2D22}"/>
              </a:ext>
            </a:extLst>
          </p:cNvPr>
          <p:cNvSpPr>
            <a:spLocks noGrp="1"/>
          </p:cNvSpPr>
          <p:nvPr>
            <p:ph type="title"/>
          </p:nvPr>
        </p:nvSpPr>
        <p:spPr/>
        <p:txBody>
          <a:bodyPr/>
          <a:lstStyle/>
          <a:p>
            <a:r>
              <a:rPr lang="en-US" dirty="0"/>
              <a:t>Prompt</a:t>
            </a:r>
          </a:p>
        </p:txBody>
      </p:sp>
      <p:sp>
        <p:nvSpPr>
          <p:cNvPr id="3" name="Slide Number Placeholder 2">
            <a:extLst>
              <a:ext uri="{FF2B5EF4-FFF2-40B4-BE49-F238E27FC236}">
                <a16:creationId xmlns:a16="http://schemas.microsoft.com/office/drawing/2014/main" id="{161C52E9-316B-2899-5264-BBBEA5402098}"/>
              </a:ext>
            </a:extLst>
          </p:cNvPr>
          <p:cNvSpPr>
            <a:spLocks noGrp="1"/>
          </p:cNvSpPr>
          <p:nvPr>
            <p:ph type="sldNum" sz="quarter" idx="12"/>
          </p:nvPr>
        </p:nvSpPr>
        <p:spPr/>
        <p:txBody>
          <a:bodyPr>
            <a:normAutofit fontScale="85000" lnSpcReduction="20000"/>
          </a:bodyPr>
          <a:lstStyle/>
          <a:p>
            <a:fld id="{EBFB1032-EA64-7144-B003-9BCC9D94B503}" type="slidenum">
              <a:rPr lang="en-US" smtClean="0"/>
              <a:t>7</a:t>
            </a:fld>
            <a:endParaRPr lang="en-US" dirty="0"/>
          </a:p>
        </p:txBody>
      </p:sp>
      <p:pic>
        <p:nvPicPr>
          <p:cNvPr id="6" name="Picture 5">
            <a:extLst>
              <a:ext uri="{FF2B5EF4-FFF2-40B4-BE49-F238E27FC236}">
                <a16:creationId xmlns:a16="http://schemas.microsoft.com/office/drawing/2014/main" id="{5C626997-B3AE-25F0-1949-130ED0EB5930}"/>
              </a:ext>
            </a:extLst>
          </p:cNvPr>
          <p:cNvPicPr>
            <a:picLocks noChangeAspect="1"/>
          </p:cNvPicPr>
          <p:nvPr/>
        </p:nvPicPr>
        <p:blipFill>
          <a:blip r:embed="rId2"/>
          <a:stretch>
            <a:fillRect/>
          </a:stretch>
        </p:blipFill>
        <p:spPr>
          <a:xfrm>
            <a:off x="91440" y="1644877"/>
            <a:ext cx="8961120" cy="5213123"/>
          </a:xfrm>
          <a:prstGeom prst="rect">
            <a:avLst/>
          </a:prstGeom>
        </p:spPr>
      </p:pic>
    </p:spTree>
    <p:extLst>
      <p:ext uri="{BB962C8B-B14F-4D97-AF65-F5344CB8AC3E}">
        <p14:creationId xmlns:p14="http://schemas.microsoft.com/office/powerpoint/2010/main" val="1281581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581F-208C-60B4-5D47-08DD98D34D1F}"/>
              </a:ext>
            </a:extLst>
          </p:cNvPr>
          <p:cNvSpPr>
            <a:spLocks noGrp="1"/>
          </p:cNvSpPr>
          <p:nvPr>
            <p:ph type="title"/>
          </p:nvPr>
        </p:nvSpPr>
        <p:spPr/>
        <p:txBody>
          <a:bodyPr/>
          <a:lstStyle/>
          <a:p>
            <a:r>
              <a:rPr lang="en-US" dirty="0"/>
              <a:t>Message</a:t>
            </a:r>
          </a:p>
        </p:txBody>
      </p:sp>
      <p:sp>
        <p:nvSpPr>
          <p:cNvPr id="3" name="Slide Number Placeholder 2">
            <a:extLst>
              <a:ext uri="{FF2B5EF4-FFF2-40B4-BE49-F238E27FC236}">
                <a16:creationId xmlns:a16="http://schemas.microsoft.com/office/drawing/2014/main" id="{B0931671-2231-4F25-F957-78762B6711B4}"/>
              </a:ext>
            </a:extLst>
          </p:cNvPr>
          <p:cNvSpPr>
            <a:spLocks noGrp="1"/>
          </p:cNvSpPr>
          <p:nvPr>
            <p:ph type="sldNum" sz="quarter" idx="12"/>
          </p:nvPr>
        </p:nvSpPr>
        <p:spPr/>
        <p:txBody>
          <a:bodyPr>
            <a:normAutofit fontScale="85000" lnSpcReduction="20000"/>
          </a:bodyPr>
          <a:lstStyle/>
          <a:p>
            <a:fld id="{EBFB1032-EA64-7144-B003-9BCC9D94B503}" type="slidenum">
              <a:rPr lang="en-US" smtClean="0"/>
              <a:t>8</a:t>
            </a:fld>
            <a:endParaRPr lang="en-US" dirty="0"/>
          </a:p>
        </p:txBody>
      </p:sp>
      <p:pic>
        <p:nvPicPr>
          <p:cNvPr id="6" name="Picture 5">
            <a:extLst>
              <a:ext uri="{FF2B5EF4-FFF2-40B4-BE49-F238E27FC236}">
                <a16:creationId xmlns:a16="http://schemas.microsoft.com/office/drawing/2014/main" id="{9285DE73-9911-D6A6-CA5F-6CBF582FA006}"/>
              </a:ext>
            </a:extLst>
          </p:cNvPr>
          <p:cNvPicPr>
            <a:picLocks noChangeAspect="1"/>
          </p:cNvPicPr>
          <p:nvPr/>
        </p:nvPicPr>
        <p:blipFill>
          <a:blip r:embed="rId2"/>
          <a:stretch>
            <a:fillRect/>
          </a:stretch>
        </p:blipFill>
        <p:spPr>
          <a:xfrm>
            <a:off x="91440" y="1684234"/>
            <a:ext cx="8961120" cy="4734816"/>
          </a:xfrm>
          <a:prstGeom prst="rect">
            <a:avLst/>
          </a:prstGeom>
        </p:spPr>
      </p:pic>
    </p:spTree>
    <p:extLst>
      <p:ext uri="{BB962C8B-B14F-4D97-AF65-F5344CB8AC3E}">
        <p14:creationId xmlns:p14="http://schemas.microsoft.com/office/powerpoint/2010/main" val="1383292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2E9CF-FA09-6C6C-47E9-7EFC0261B9C5}"/>
              </a:ext>
            </a:extLst>
          </p:cNvPr>
          <p:cNvSpPr>
            <a:spLocks noGrp="1"/>
          </p:cNvSpPr>
          <p:nvPr>
            <p:ph type="title"/>
          </p:nvPr>
        </p:nvSpPr>
        <p:spPr/>
        <p:txBody>
          <a:bodyPr/>
          <a:lstStyle/>
          <a:p>
            <a:r>
              <a:rPr lang="en-US" dirty="0" err="1"/>
              <a:t>MediaContent</a:t>
            </a:r>
            <a:endParaRPr lang="en-US" dirty="0"/>
          </a:p>
        </p:txBody>
      </p:sp>
      <p:sp>
        <p:nvSpPr>
          <p:cNvPr id="3" name="Slide Number Placeholder 2">
            <a:extLst>
              <a:ext uri="{FF2B5EF4-FFF2-40B4-BE49-F238E27FC236}">
                <a16:creationId xmlns:a16="http://schemas.microsoft.com/office/drawing/2014/main" id="{AC4CA8EF-7C8D-1487-8298-4598D55BCEF7}"/>
              </a:ext>
            </a:extLst>
          </p:cNvPr>
          <p:cNvSpPr>
            <a:spLocks noGrp="1"/>
          </p:cNvSpPr>
          <p:nvPr>
            <p:ph type="sldNum" sz="quarter" idx="12"/>
          </p:nvPr>
        </p:nvSpPr>
        <p:spPr/>
        <p:txBody>
          <a:bodyPr>
            <a:normAutofit fontScale="85000" lnSpcReduction="20000"/>
          </a:bodyPr>
          <a:lstStyle/>
          <a:p>
            <a:fld id="{EBFB1032-EA64-7144-B003-9BCC9D94B503}" type="slidenum">
              <a:rPr lang="en-US" smtClean="0"/>
              <a:t>9</a:t>
            </a:fld>
            <a:endParaRPr lang="en-US" dirty="0"/>
          </a:p>
        </p:txBody>
      </p:sp>
      <p:pic>
        <p:nvPicPr>
          <p:cNvPr id="6" name="Picture 5">
            <a:extLst>
              <a:ext uri="{FF2B5EF4-FFF2-40B4-BE49-F238E27FC236}">
                <a16:creationId xmlns:a16="http://schemas.microsoft.com/office/drawing/2014/main" id="{1EBDB165-A661-1029-56CE-F596249E0C53}"/>
              </a:ext>
            </a:extLst>
          </p:cNvPr>
          <p:cNvPicPr>
            <a:picLocks noChangeAspect="1"/>
          </p:cNvPicPr>
          <p:nvPr/>
        </p:nvPicPr>
        <p:blipFill>
          <a:blip r:embed="rId2"/>
          <a:stretch>
            <a:fillRect/>
          </a:stretch>
        </p:blipFill>
        <p:spPr>
          <a:xfrm>
            <a:off x="91440" y="1738115"/>
            <a:ext cx="8961120" cy="3381770"/>
          </a:xfrm>
          <a:prstGeom prst="rect">
            <a:avLst/>
          </a:prstGeom>
        </p:spPr>
      </p:pic>
    </p:spTree>
    <p:extLst>
      <p:ext uri="{BB962C8B-B14F-4D97-AF65-F5344CB8AC3E}">
        <p14:creationId xmlns:p14="http://schemas.microsoft.com/office/powerpoint/2010/main" val="1074690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75E63B-190C-0B04-29EC-86B788A24B54}"/>
              </a:ext>
            </a:extLst>
          </p:cNvPr>
          <p:cNvSpPr>
            <a:spLocks noGrp="1"/>
          </p:cNvSpPr>
          <p:nvPr>
            <p:ph type="sldNum" sz="quarter" idx="12"/>
          </p:nvPr>
        </p:nvSpPr>
        <p:spPr/>
        <p:txBody>
          <a:bodyPr/>
          <a:lstStyle/>
          <a:p>
            <a:fld id="{EBFB1032-EA64-7144-B003-9BCC9D94B503}" type="slidenum">
              <a:rPr lang="en-US" smtClean="0"/>
              <a:t>10</a:t>
            </a:fld>
            <a:endParaRPr lang="en-US" dirty="0"/>
          </a:p>
        </p:txBody>
      </p:sp>
      <p:pic>
        <p:nvPicPr>
          <p:cNvPr id="6" name="Picture 5" descr="A diagram of a chat bot&#10;&#10;AI-generated content may be incorrect.">
            <a:extLst>
              <a:ext uri="{FF2B5EF4-FFF2-40B4-BE49-F238E27FC236}">
                <a16:creationId xmlns:a16="http://schemas.microsoft.com/office/drawing/2014/main" id="{A0AD13D1-C5FA-5D26-8EF3-E53FC0183DCA}"/>
              </a:ext>
            </a:extLst>
          </p:cNvPr>
          <p:cNvPicPr>
            <a:picLocks noChangeAspect="1"/>
          </p:cNvPicPr>
          <p:nvPr/>
        </p:nvPicPr>
        <p:blipFill>
          <a:blip r:embed="rId2"/>
          <a:stretch>
            <a:fillRect/>
          </a:stretch>
        </p:blipFill>
        <p:spPr>
          <a:xfrm>
            <a:off x="422305" y="45720"/>
            <a:ext cx="8299389" cy="6766560"/>
          </a:xfrm>
          <a:prstGeom prst="rect">
            <a:avLst/>
          </a:prstGeom>
          <a:ln>
            <a:solidFill>
              <a:schemeClr val="accent1"/>
            </a:solidFill>
          </a:ln>
        </p:spPr>
      </p:pic>
    </p:spTree>
    <p:extLst>
      <p:ext uri="{BB962C8B-B14F-4D97-AF65-F5344CB8AC3E}">
        <p14:creationId xmlns:p14="http://schemas.microsoft.com/office/powerpoint/2010/main" val="1562419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05B341-79BD-1000-DC11-E76BEE95007B}"/>
              </a:ext>
            </a:extLst>
          </p:cNvPr>
          <p:cNvSpPr>
            <a:spLocks noGrp="1"/>
          </p:cNvSpPr>
          <p:nvPr>
            <p:ph type="title"/>
          </p:nvPr>
        </p:nvSpPr>
        <p:spPr/>
        <p:txBody>
          <a:bodyPr/>
          <a:lstStyle/>
          <a:p>
            <a:r>
              <a:rPr lang="en-US" dirty="0"/>
              <a:t>Spring AI Message API</a:t>
            </a:r>
          </a:p>
        </p:txBody>
      </p:sp>
      <p:sp>
        <p:nvSpPr>
          <p:cNvPr id="2" name="Slide Number Placeholder 1">
            <a:extLst>
              <a:ext uri="{FF2B5EF4-FFF2-40B4-BE49-F238E27FC236}">
                <a16:creationId xmlns:a16="http://schemas.microsoft.com/office/drawing/2014/main" id="{A5CE3324-CAE6-31F4-8820-13A6E4460941}"/>
              </a:ext>
            </a:extLst>
          </p:cNvPr>
          <p:cNvSpPr>
            <a:spLocks noGrp="1"/>
          </p:cNvSpPr>
          <p:nvPr>
            <p:ph type="sldNum" sz="quarter" idx="12"/>
          </p:nvPr>
        </p:nvSpPr>
        <p:spPr/>
        <p:txBody>
          <a:bodyPr>
            <a:normAutofit fontScale="85000" lnSpcReduction="20000"/>
          </a:bodyPr>
          <a:lstStyle/>
          <a:p>
            <a:fld id="{EBFB1032-EA64-7144-B003-9BCC9D94B503}" type="slidenum">
              <a:rPr lang="en-US" smtClean="0"/>
              <a:t>11</a:t>
            </a:fld>
            <a:endParaRPr lang="en-US" dirty="0"/>
          </a:p>
        </p:txBody>
      </p:sp>
      <p:sp>
        <p:nvSpPr>
          <p:cNvPr id="4" name="Content Placeholder 3">
            <a:extLst>
              <a:ext uri="{FF2B5EF4-FFF2-40B4-BE49-F238E27FC236}">
                <a16:creationId xmlns:a16="http://schemas.microsoft.com/office/drawing/2014/main" id="{A523AED3-CACC-CD5A-F614-2547E74E57F3}"/>
              </a:ext>
            </a:extLst>
          </p:cNvPr>
          <p:cNvSpPr>
            <a:spLocks noGrp="1"/>
          </p:cNvSpPr>
          <p:nvPr>
            <p:ph sz="quarter" idx="1"/>
          </p:nvPr>
        </p:nvSpPr>
        <p:spPr/>
        <p:txBody>
          <a:bodyPr>
            <a:normAutofit/>
          </a:bodyPr>
          <a:lstStyle/>
          <a:p>
            <a:r>
              <a:rPr lang="en-US" dirty="0"/>
              <a:t>The chat completion endpoint, distinguish between message categories based on conversational roles, effectively mapped by the </a:t>
            </a:r>
            <a:r>
              <a:rPr lang="en-US" dirty="0" err="1"/>
              <a:t>MessageType</a:t>
            </a:r>
            <a:r>
              <a:rPr lang="en-US" dirty="0"/>
              <a:t>.</a:t>
            </a:r>
          </a:p>
          <a:p>
            <a:endParaRPr lang="en-US" dirty="0"/>
          </a:p>
          <a:p>
            <a:r>
              <a:rPr lang="en-US" dirty="0"/>
              <a:t>For instance, OpenAI recognizes message categories for distinct conversational roles such as system, user, function, or assistant.</a:t>
            </a:r>
          </a:p>
          <a:p>
            <a:endParaRPr lang="en-US" dirty="0"/>
          </a:p>
          <a:p>
            <a:r>
              <a:rPr lang="en-US" dirty="0"/>
              <a:t>While the term </a:t>
            </a:r>
            <a:r>
              <a:rPr lang="en-US" dirty="0" err="1"/>
              <a:t>MessageType</a:t>
            </a:r>
            <a:r>
              <a:rPr lang="en-US" dirty="0"/>
              <a:t> might imply a specific message format, in this context it effectively designates the role a message plays in the dialogue.</a:t>
            </a:r>
          </a:p>
          <a:p>
            <a:endParaRPr lang="en-US" dirty="0"/>
          </a:p>
          <a:p>
            <a:r>
              <a:rPr lang="en-US" dirty="0"/>
              <a:t>For AI models that do not use specific roles, the </a:t>
            </a:r>
            <a:r>
              <a:rPr lang="en-US" dirty="0" err="1"/>
              <a:t>UserMessage</a:t>
            </a:r>
            <a:r>
              <a:rPr lang="en-US" dirty="0"/>
              <a:t> implementation acts as a standard category, typically representing user-generated inquiries or instructions.</a:t>
            </a:r>
          </a:p>
        </p:txBody>
      </p:sp>
    </p:spTree>
    <p:extLst>
      <p:ext uri="{BB962C8B-B14F-4D97-AF65-F5344CB8AC3E}">
        <p14:creationId xmlns:p14="http://schemas.microsoft.com/office/powerpoint/2010/main" val="258923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6345B-393C-A36C-7A65-E38528F1BF1C}"/>
              </a:ext>
            </a:extLst>
          </p:cNvPr>
          <p:cNvSpPr>
            <a:spLocks noGrp="1"/>
          </p:cNvSpPr>
          <p:nvPr>
            <p:ph type="title"/>
          </p:nvPr>
        </p:nvSpPr>
        <p:spPr/>
        <p:txBody>
          <a:bodyPr/>
          <a:lstStyle/>
          <a:p>
            <a:r>
              <a:rPr lang="en-US" dirty="0" err="1"/>
              <a:t>ChatOptions</a:t>
            </a:r>
            <a:endParaRPr lang="en-US" dirty="0"/>
          </a:p>
        </p:txBody>
      </p:sp>
      <p:sp>
        <p:nvSpPr>
          <p:cNvPr id="3" name="Slide Number Placeholder 2">
            <a:extLst>
              <a:ext uri="{FF2B5EF4-FFF2-40B4-BE49-F238E27FC236}">
                <a16:creationId xmlns:a16="http://schemas.microsoft.com/office/drawing/2014/main" id="{3ED49C54-0D24-2D8E-5EB3-253A42DAC77E}"/>
              </a:ext>
            </a:extLst>
          </p:cNvPr>
          <p:cNvSpPr>
            <a:spLocks noGrp="1"/>
          </p:cNvSpPr>
          <p:nvPr>
            <p:ph type="sldNum" sz="quarter" idx="12"/>
          </p:nvPr>
        </p:nvSpPr>
        <p:spPr/>
        <p:txBody>
          <a:bodyPr>
            <a:normAutofit fontScale="85000" lnSpcReduction="20000"/>
          </a:bodyPr>
          <a:lstStyle/>
          <a:p>
            <a:fld id="{EBFB1032-EA64-7144-B003-9BCC9D94B503}" type="slidenum">
              <a:rPr lang="en-US" smtClean="0"/>
              <a:t>12</a:t>
            </a:fld>
            <a:endParaRPr lang="en-US" dirty="0"/>
          </a:p>
        </p:txBody>
      </p:sp>
      <p:pic>
        <p:nvPicPr>
          <p:cNvPr id="6" name="Picture 5">
            <a:extLst>
              <a:ext uri="{FF2B5EF4-FFF2-40B4-BE49-F238E27FC236}">
                <a16:creationId xmlns:a16="http://schemas.microsoft.com/office/drawing/2014/main" id="{63E15242-C950-38CA-0F29-F7FD58C3B4BC}"/>
              </a:ext>
            </a:extLst>
          </p:cNvPr>
          <p:cNvPicPr>
            <a:picLocks noChangeAspect="1"/>
          </p:cNvPicPr>
          <p:nvPr/>
        </p:nvPicPr>
        <p:blipFill>
          <a:blip r:embed="rId2"/>
          <a:stretch>
            <a:fillRect/>
          </a:stretch>
        </p:blipFill>
        <p:spPr>
          <a:xfrm>
            <a:off x="829676" y="1516698"/>
            <a:ext cx="7524750" cy="5229225"/>
          </a:xfrm>
          <a:prstGeom prst="rect">
            <a:avLst/>
          </a:prstGeom>
        </p:spPr>
      </p:pic>
    </p:spTree>
    <p:extLst>
      <p:ext uri="{BB962C8B-B14F-4D97-AF65-F5344CB8AC3E}">
        <p14:creationId xmlns:p14="http://schemas.microsoft.com/office/powerpoint/2010/main" val="1571397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F4466-3862-F0AE-9DF6-E8B6E38CEF2A}"/>
              </a:ext>
            </a:extLst>
          </p:cNvPr>
          <p:cNvSpPr>
            <a:spLocks noGrp="1"/>
          </p:cNvSpPr>
          <p:nvPr>
            <p:ph type="title"/>
          </p:nvPr>
        </p:nvSpPr>
        <p:spPr/>
        <p:txBody>
          <a:bodyPr/>
          <a:lstStyle/>
          <a:p>
            <a:r>
              <a:rPr lang="en-US" dirty="0"/>
              <a:t>Spring AI provides a sophisticated system</a:t>
            </a:r>
          </a:p>
        </p:txBody>
      </p:sp>
      <p:sp>
        <p:nvSpPr>
          <p:cNvPr id="3" name="Slide Number Placeholder 2">
            <a:extLst>
              <a:ext uri="{FF2B5EF4-FFF2-40B4-BE49-F238E27FC236}">
                <a16:creationId xmlns:a16="http://schemas.microsoft.com/office/drawing/2014/main" id="{DAA613DC-5D26-CCF8-DB6C-B3AEB81FC5BB}"/>
              </a:ext>
            </a:extLst>
          </p:cNvPr>
          <p:cNvSpPr>
            <a:spLocks noGrp="1"/>
          </p:cNvSpPr>
          <p:nvPr>
            <p:ph type="sldNum" sz="quarter" idx="12"/>
          </p:nvPr>
        </p:nvSpPr>
        <p:spPr/>
        <p:txBody>
          <a:bodyPr>
            <a:normAutofit fontScale="85000" lnSpcReduction="20000"/>
          </a:bodyPr>
          <a:lstStyle/>
          <a:p>
            <a:fld id="{EBFB1032-EA64-7144-B003-9BCC9D94B503}" type="slidenum">
              <a:rPr lang="en-US" smtClean="0"/>
              <a:t>13</a:t>
            </a:fld>
            <a:endParaRPr lang="en-US" dirty="0"/>
          </a:p>
        </p:txBody>
      </p:sp>
      <p:sp>
        <p:nvSpPr>
          <p:cNvPr id="4" name="Content Placeholder 3">
            <a:extLst>
              <a:ext uri="{FF2B5EF4-FFF2-40B4-BE49-F238E27FC236}">
                <a16:creationId xmlns:a16="http://schemas.microsoft.com/office/drawing/2014/main" id="{C5B9E7D1-B57F-D416-1C9C-F18D5C47914F}"/>
              </a:ext>
            </a:extLst>
          </p:cNvPr>
          <p:cNvSpPr>
            <a:spLocks noGrp="1"/>
          </p:cNvSpPr>
          <p:nvPr>
            <p:ph sz="quarter" idx="1"/>
          </p:nvPr>
        </p:nvSpPr>
        <p:spPr/>
        <p:txBody>
          <a:bodyPr/>
          <a:lstStyle/>
          <a:p>
            <a:r>
              <a:rPr lang="en-US" dirty="0"/>
              <a:t>Spring AI provides a sophisticated system for configuring and using Chat Models.</a:t>
            </a:r>
          </a:p>
          <a:p>
            <a:endParaRPr lang="en-US" dirty="0"/>
          </a:p>
          <a:p>
            <a:r>
              <a:rPr lang="en-US" dirty="0"/>
              <a:t>It allows for default configurations to be set at start-up, while also providing the flexibility to override these settings on a per-request basis.</a:t>
            </a:r>
          </a:p>
          <a:p>
            <a:endParaRPr lang="en-US" dirty="0"/>
          </a:p>
          <a:p>
            <a:r>
              <a:rPr lang="en-US" dirty="0"/>
              <a:t>This approach enables developers to easily work with different AI models and adjust parameters as needed, all within a consistent interface provided by the Spring AI framework.</a:t>
            </a:r>
          </a:p>
        </p:txBody>
      </p:sp>
    </p:spTree>
    <p:extLst>
      <p:ext uri="{BB962C8B-B14F-4D97-AF65-F5344CB8AC3E}">
        <p14:creationId xmlns:p14="http://schemas.microsoft.com/office/powerpoint/2010/main" val="2039805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C6340D-63D9-E3FD-FD99-24F6187926F3}"/>
              </a:ext>
            </a:extLst>
          </p:cNvPr>
          <p:cNvSpPr>
            <a:spLocks noGrp="1"/>
          </p:cNvSpPr>
          <p:nvPr>
            <p:ph type="sldNum" sz="quarter" idx="12"/>
          </p:nvPr>
        </p:nvSpPr>
        <p:spPr/>
        <p:txBody>
          <a:bodyPr/>
          <a:lstStyle/>
          <a:p>
            <a:fld id="{EBFB1032-EA64-7144-B003-9BCC9D94B503}" type="slidenum">
              <a:rPr lang="en-US" smtClean="0"/>
              <a:t>14</a:t>
            </a:fld>
            <a:endParaRPr lang="en-US" dirty="0"/>
          </a:p>
        </p:txBody>
      </p:sp>
      <p:pic>
        <p:nvPicPr>
          <p:cNvPr id="6" name="Picture 5">
            <a:extLst>
              <a:ext uri="{FF2B5EF4-FFF2-40B4-BE49-F238E27FC236}">
                <a16:creationId xmlns:a16="http://schemas.microsoft.com/office/drawing/2014/main" id="{F3873540-8C18-DCEB-B63D-51A09C86E3EE}"/>
              </a:ext>
            </a:extLst>
          </p:cNvPr>
          <p:cNvPicPr>
            <a:picLocks noChangeAspect="1"/>
          </p:cNvPicPr>
          <p:nvPr/>
        </p:nvPicPr>
        <p:blipFill>
          <a:blip r:embed="rId2"/>
          <a:stretch>
            <a:fillRect/>
          </a:stretch>
        </p:blipFill>
        <p:spPr>
          <a:xfrm>
            <a:off x="91440" y="228600"/>
            <a:ext cx="8961120" cy="6405798"/>
          </a:xfrm>
          <a:prstGeom prst="rect">
            <a:avLst/>
          </a:prstGeom>
          <a:ln>
            <a:solidFill>
              <a:schemeClr val="accent1"/>
            </a:solidFill>
          </a:ln>
        </p:spPr>
      </p:pic>
    </p:spTree>
    <p:extLst>
      <p:ext uri="{BB962C8B-B14F-4D97-AF65-F5344CB8AC3E}">
        <p14:creationId xmlns:p14="http://schemas.microsoft.com/office/powerpoint/2010/main" val="2904351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7A114-9E2A-8ED9-8373-844BBBFD7606}"/>
              </a:ext>
            </a:extLst>
          </p:cNvPr>
          <p:cNvSpPr>
            <a:spLocks noGrp="1"/>
          </p:cNvSpPr>
          <p:nvPr>
            <p:ph type="sldNum" sz="quarter" idx="12"/>
          </p:nvPr>
        </p:nvSpPr>
        <p:spPr/>
        <p:txBody>
          <a:bodyPr/>
          <a:lstStyle/>
          <a:p>
            <a:fld id="{EBFB1032-EA64-7144-B003-9BCC9D94B503}" type="slidenum">
              <a:rPr lang="en-US" smtClean="0"/>
              <a:t>15</a:t>
            </a:fld>
            <a:endParaRPr lang="en-US" dirty="0"/>
          </a:p>
        </p:txBody>
      </p:sp>
      <p:pic>
        <p:nvPicPr>
          <p:cNvPr id="4" name="Picture 3">
            <a:extLst>
              <a:ext uri="{FF2B5EF4-FFF2-40B4-BE49-F238E27FC236}">
                <a16:creationId xmlns:a16="http://schemas.microsoft.com/office/drawing/2014/main" id="{FB17B4BA-B3CD-0D55-A127-8E8B4A9E4E8D}"/>
              </a:ext>
            </a:extLst>
          </p:cNvPr>
          <p:cNvPicPr>
            <a:picLocks noChangeAspect="1"/>
          </p:cNvPicPr>
          <p:nvPr/>
        </p:nvPicPr>
        <p:blipFill>
          <a:blip r:embed="rId2"/>
          <a:stretch>
            <a:fillRect/>
          </a:stretch>
        </p:blipFill>
        <p:spPr>
          <a:xfrm>
            <a:off x="91440" y="1456390"/>
            <a:ext cx="8961120" cy="3945220"/>
          </a:xfrm>
          <a:prstGeom prst="rect">
            <a:avLst/>
          </a:prstGeom>
          <a:ln>
            <a:solidFill>
              <a:schemeClr val="accent1"/>
            </a:solidFill>
          </a:ln>
        </p:spPr>
      </p:pic>
    </p:spTree>
    <p:extLst>
      <p:ext uri="{BB962C8B-B14F-4D97-AF65-F5344CB8AC3E}">
        <p14:creationId xmlns:p14="http://schemas.microsoft.com/office/powerpoint/2010/main" val="3944529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D3A5A6-272F-29F1-513F-F054D77A905C}"/>
              </a:ext>
            </a:extLst>
          </p:cNvPr>
          <p:cNvSpPr>
            <a:spLocks noGrp="1"/>
          </p:cNvSpPr>
          <p:nvPr>
            <p:ph type="sldNum" sz="quarter" idx="12"/>
          </p:nvPr>
        </p:nvSpPr>
        <p:spPr/>
        <p:txBody>
          <a:bodyPr/>
          <a:lstStyle/>
          <a:p>
            <a:fld id="{EBFB1032-EA64-7144-B003-9BCC9D94B503}" type="slidenum">
              <a:rPr lang="en-US" smtClean="0"/>
              <a:t>16</a:t>
            </a:fld>
            <a:endParaRPr lang="en-US" dirty="0"/>
          </a:p>
        </p:txBody>
      </p:sp>
      <p:pic>
        <p:nvPicPr>
          <p:cNvPr id="4" name="Picture 3">
            <a:extLst>
              <a:ext uri="{FF2B5EF4-FFF2-40B4-BE49-F238E27FC236}">
                <a16:creationId xmlns:a16="http://schemas.microsoft.com/office/drawing/2014/main" id="{3EC7229C-2A36-A09D-169C-86C89F224F44}"/>
              </a:ext>
            </a:extLst>
          </p:cNvPr>
          <p:cNvPicPr>
            <a:picLocks noChangeAspect="1"/>
          </p:cNvPicPr>
          <p:nvPr/>
        </p:nvPicPr>
        <p:blipFill>
          <a:blip r:embed="rId2"/>
          <a:stretch>
            <a:fillRect/>
          </a:stretch>
        </p:blipFill>
        <p:spPr>
          <a:xfrm>
            <a:off x="91440" y="126640"/>
            <a:ext cx="8961120" cy="6604719"/>
          </a:xfrm>
          <a:prstGeom prst="rect">
            <a:avLst/>
          </a:prstGeom>
          <a:ln>
            <a:solidFill>
              <a:schemeClr val="accent1"/>
            </a:solidFill>
          </a:ln>
        </p:spPr>
      </p:pic>
    </p:spTree>
    <p:extLst>
      <p:ext uri="{BB962C8B-B14F-4D97-AF65-F5344CB8AC3E}">
        <p14:creationId xmlns:p14="http://schemas.microsoft.com/office/powerpoint/2010/main" val="185206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6B0E6B-DF63-9882-98E1-7B2353450235}"/>
              </a:ext>
            </a:extLst>
          </p:cNvPr>
          <p:cNvSpPr>
            <a:spLocks noGrp="1"/>
          </p:cNvSpPr>
          <p:nvPr>
            <p:ph type="sldNum" sz="quarter" idx="12"/>
          </p:nvPr>
        </p:nvSpPr>
        <p:spPr/>
        <p:txBody>
          <a:bodyPr/>
          <a:lstStyle/>
          <a:p>
            <a:fld id="{EBFB1032-EA64-7144-B003-9BCC9D94B503}" type="slidenum">
              <a:rPr lang="en-US" smtClean="0"/>
              <a:t>17</a:t>
            </a:fld>
            <a:endParaRPr lang="en-US" dirty="0"/>
          </a:p>
        </p:txBody>
      </p:sp>
      <p:pic>
        <p:nvPicPr>
          <p:cNvPr id="4" name="Picture 3">
            <a:extLst>
              <a:ext uri="{FF2B5EF4-FFF2-40B4-BE49-F238E27FC236}">
                <a16:creationId xmlns:a16="http://schemas.microsoft.com/office/drawing/2014/main" id="{1923B361-F158-A510-CDA2-FE18607984FD}"/>
              </a:ext>
            </a:extLst>
          </p:cNvPr>
          <p:cNvPicPr>
            <a:picLocks noChangeAspect="1"/>
          </p:cNvPicPr>
          <p:nvPr/>
        </p:nvPicPr>
        <p:blipFill>
          <a:blip r:embed="rId2"/>
          <a:stretch>
            <a:fillRect/>
          </a:stretch>
        </p:blipFill>
        <p:spPr>
          <a:xfrm>
            <a:off x="91440" y="857998"/>
            <a:ext cx="8961120" cy="5142003"/>
          </a:xfrm>
          <a:prstGeom prst="rect">
            <a:avLst/>
          </a:prstGeom>
          <a:ln>
            <a:solidFill>
              <a:schemeClr val="accent1"/>
            </a:solidFill>
          </a:ln>
        </p:spPr>
      </p:pic>
    </p:spTree>
    <p:extLst>
      <p:ext uri="{BB962C8B-B14F-4D97-AF65-F5344CB8AC3E}">
        <p14:creationId xmlns:p14="http://schemas.microsoft.com/office/powerpoint/2010/main" val="2034600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5FAF34-33CB-FE6C-F3B9-67F5AAC40323}"/>
              </a:ext>
            </a:extLst>
          </p:cNvPr>
          <p:cNvSpPr>
            <a:spLocks noGrp="1"/>
          </p:cNvSpPr>
          <p:nvPr>
            <p:ph type="sldNum" sz="quarter" idx="12"/>
          </p:nvPr>
        </p:nvSpPr>
        <p:spPr/>
        <p:txBody>
          <a:bodyPr/>
          <a:lstStyle/>
          <a:p>
            <a:fld id="{EBFB1032-EA64-7144-B003-9BCC9D94B503}" type="slidenum">
              <a:rPr lang="en-US" smtClean="0"/>
              <a:t>18</a:t>
            </a:fld>
            <a:endParaRPr lang="en-US" dirty="0"/>
          </a:p>
        </p:txBody>
      </p:sp>
      <p:pic>
        <p:nvPicPr>
          <p:cNvPr id="4" name="Picture 3">
            <a:extLst>
              <a:ext uri="{FF2B5EF4-FFF2-40B4-BE49-F238E27FC236}">
                <a16:creationId xmlns:a16="http://schemas.microsoft.com/office/drawing/2014/main" id="{976B6D75-7130-2E3E-86B1-1CB59F0D4E59}"/>
              </a:ext>
            </a:extLst>
          </p:cNvPr>
          <p:cNvPicPr>
            <a:picLocks noChangeAspect="1"/>
          </p:cNvPicPr>
          <p:nvPr/>
        </p:nvPicPr>
        <p:blipFill>
          <a:blip r:embed="rId2"/>
          <a:stretch>
            <a:fillRect/>
          </a:stretch>
        </p:blipFill>
        <p:spPr>
          <a:xfrm>
            <a:off x="91440" y="543703"/>
            <a:ext cx="8961120" cy="5770593"/>
          </a:xfrm>
          <a:prstGeom prst="rect">
            <a:avLst/>
          </a:prstGeom>
          <a:ln>
            <a:solidFill>
              <a:schemeClr val="accent1"/>
            </a:solidFill>
          </a:ln>
        </p:spPr>
      </p:pic>
    </p:spTree>
    <p:extLst>
      <p:ext uri="{BB962C8B-B14F-4D97-AF65-F5344CB8AC3E}">
        <p14:creationId xmlns:p14="http://schemas.microsoft.com/office/powerpoint/2010/main" val="3088520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ACD523-3DB3-61C2-6014-B4C57CC1AF60}"/>
              </a:ext>
            </a:extLst>
          </p:cNvPr>
          <p:cNvSpPr>
            <a:spLocks noGrp="1"/>
          </p:cNvSpPr>
          <p:nvPr>
            <p:ph type="sldNum" sz="quarter" idx="12"/>
          </p:nvPr>
        </p:nvSpPr>
        <p:spPr/>
        <p:txBody>
          <a:bodyPr/>
          <a:lstStyle/>
          <a:p>
            <a:fld id="{EBFB1032-EA64-7144-B003-9BCC9D94B503}" type="slidenum">
              <a:rPr lang="en-US" smtClean="0"/>
              <a:t>19</a:t>
            </a:fld>
            <a:endParaRPr lang="en-US" dirty="0"/>
          </a:p>
        </p:txBody>
      </p:sp>
      <p:pic>
        <p:nvPicPr>
          <p:cNvPr id="4" name="Picture 3">
            <a:extLst>
              <a:ext uri="{FF2B5EF4-FFF2-40B4-BE49-F238E27FC236}">
                <a16:creationId xmlns:a16="http://schemas.microsoft.com/office/drawing/2014/main" id="{97FE7838-C62D-6CB1-0BCC-96178F3E51BF}"/>
              </a:ext>
            </a:extLst>
          </p:cNvPr>
          <p:cNvPicPr>
            <a:picLocks noChangeAspect="1"/>
          </p:cNvPicPr>
          <p:nvPr/>
        </p:nvPicPr>
        <p:blipFill>
          <a:blip r:embed="rId2"/>
          <a:stretch>
            <a:fillRect/>
          </a:stretch>
        </p:blipFill>
        <p:spPr>
          <a:xfrm>
            <a:off x="91440" y="1768872"/>
            <a:ext cx="8961120" cy="3320256"/>
          </a:xfrm>
          <a:prstGeom prst="rect">
            <a:avLst/>
          </a:prstGeom>
          <a:ln>
            <a:solidFill>
              <a:schemeClr val="accent1"/>
            </a:solidFill>
          </a:ln>
        </p:spPr>
      </p:pic>
    </p:spTree>
    <p:extLst>
      <p:ext uri="{BB962C8B-B14F-4D97-AF65-F5344CB8AC3E}">
        <p14:creationId xmlns:p14="http://schemas.microsoft.com/office/powerpoint/2010/main" val="1930509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CB2E6C-5D30-11C4-2535-D67013949E89}"/>
              </a:ext>
            </a:extLst>
          </p:cNvPr>
          <p:cNvSpPr>
            <a:spLocks noGrp="1"/>
          </p:cNvSpPr>
          <p:nvPr>
            <p:ph type="sldNum" sz="quarter" idx="12"/>
          </p:nvPr>
        </p:nvSpPr>
        <p:spPr/>
        <p:txBody>
          <a:bodyPr/>
          <a:lstStyle/>
          <a:p>
            <a:fld id="{EBFB1032-EA64-7144-B003-9BCC9D94B503}" type="slidenum">
              <a:rPr lang="en-US" smtClean="0"/>
              <a:t>20</a:t>
            </a:fld>
            <a:endParaRPr lang="en-US" dirty="0"/>
          </a:p>
        </p:txBody>
      </p:sp>
      <p:pic>
        <p:nvPicPr>
          <p:cNvPr id="4" name="Picture 3">
            <a:extLst>
              <a:ext uri="{FF2B5EF4-FFF2-40B4-BE49-F238E27FC236}">
                <a16:creationId xmlns:a16="http://schemas.microsoft.com/office/drawing/2014/main" id="{B6F51FB5-1E9E-CE28-547D-D7032C414964}"/>
              </a:ext>
            </a:extLst>
          </p:cNvPr>
          <p:cNvPicPr>
            <a:picLocks noChangeAspect="1"/>
          </p:cNvPicPr>
          <p:nvPr/>
        </p:nvPicPr>
        <p:blipFill>
          <a:blip r:embed="rId2"/>
          <a:stretch>
            <a:fillRect/>
          </a:stretch>
        </p:blipFill>
        <p:spPr>
          <a:xfrm>
            <a:off x="91440" y="612973"/>
            <a:ext cx="8961120" cy="5632053"/>
          </a:xfrm>
          <a:prstGeom prst="rect">
            <a:avLst/>
          </a:prstGeom>
          <a:ln>
            <a:solidFill>
              <a:schemeClr val="accent1"/>
            </a:solidFill>
          </a:ln>
        </p:spPr>
      </p:pic>
    </p:spTree>
    <p:extLst>
      <p:ext uri="{BB962C8B-B14F-4D97-AF65-F5344CB8AC3E}">
        <p14:creationId xmlns:p14="http://schemas.microsoft.com/office/powerpoint/2010/main" val="2741066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7EADD0-97F7-D042-7D2C-9F72AA51D3CF}"/>
              </a:ext>
            </a:extLst>
          </p:cNvPr>
          <p:cNvSpPr>
            <a:spLocks noGrp="1"/>
          </p:cNvSpPr>
          <p:nvPr>
            <p:ph type="title"/>
          </p:nvPr>
        </p:nvSpPr>
        <p:spPr/>
        <p:txBody>
          <a:bodyPr/>
          <a:lstStyle/>
          <a:p>
            <a:r>
              <a:rPr lang="en-US" dirty="0"/>
              <a:t>Chat Models Comparison</a:t>
            </a:r>
          </a:p>
        </p:txBody>
      </p:sp>
      <p:sp>
        <p:nvSpPr>
          <p:cNvPr id="2" name="Slide Number Placeholder 1">
            <a:extLst>
              <a:ext uri="{FF2B5EF4-FFF2-40B4-BE49-F238E27FC236}">
                <a16:creationId xmlns:a16="http://schemas.microsoft.com/office/drawing/2014/main" id="{0BC7D713-B7FE-41B5-BC89-49D25A11F39A}"/>
              </a:ext>
            </a:extLst>
          </p:cNvPr>
          <p:cNvSpPr>
            <a:spLocks noGrp="1"/>
          </p:cNvSpPr>
          <p:nvPr>
            <p:ph type="sldNum" sz="quarter" idx="12"/>
          </p:nvPr>
        </p:nvSpPr>
        <p:spPr/>
        <p:txBody>
          <a:bodyPr>
            <a:normAutofit fontScale="85000" lnSpcReduction="20000"/>
          </a:bodyPr>
          <a:lstStyle/>
          <a:p>
            <a:fld id="{EBFB1032-EA64-7144-B003-9BCC9D94B503}" type="slidenum">
              <a:rPr lang="en-US" smtClean="0"/>
              <a:t>21</a:t>
            </a:fld>
            <a:endParaRPr lang="en-US" dirty="0"/>
          </a:p>
        </p:txBody>
      </p:sp>
      <p:sp>
        <p:nvSpPr>
          <p:cNvPr id="4" name="Content Placeholder 3">
            <a:extLst>
              <a:ext uri="{FF2B5EF4-FFF2-40B4-BE49-F238E27FC236}">
                <a16:creationId xmlns:a16="http://schemas.microsoft.com/office/drawing/2014/main" id="{77066DA8-4774-1C3E-A5D7-2D2EEC5FF42E}"/>
              </a:ext>
            </a:extLst>
          </p:cNvPr>
          <p:cNvSpPr>
            <a:spLocks noGrp="1"/>
          </p:cNvSpPr>
          <p:nvPr>
            <p:ph sz="quarter" idx="1"/>
          </p:nvPr>
        </p:nvSpPr>
        <p:spPr/>
        <p:txBody>
          <a:bodyPr>
            <a:normAutofit lnSpcReduction="10000"/>
          </a:bodyPr>
          <a:lstStyle/>
          <a:p>
            <a:pPr>
              <a:lnSpc>
                <a:spcPct val="120000"/>
              </a:lnSpc>
              <a:spcBef>
                <a:spcPts val="0"/>
              </a:spcBef>
            </a:pPr>
            <a:r>
              <a:rPr lang="en-US" dirty="0"/>
              <a:t>This table compares various Chat Models supported by Spring AI, detailing their capabilities:</a:t>
            </a:r>
          </a:p>
          <a:p>
            <a:pPr lvl="1">
              <a:lnSpc>
                <a:spcPct val="120000"/>
              </a:lnSpc>
              <a:spcBef>
                <a:spcPts val="0"/>
              </a:spcBef>
            </a:pPr>
            <a:r>
              <a:rPr lang="en-US" dirty="0"/>
              <a:t>Multimodality: The types of input the model can process (e.g., text, image, audio, video).</a:t>
            </a:r>
          </a:p>
          <a:p>
            <a:pPr lvl="1">
              <a:lnSpc>
                <a:spcPct val="120000"/>
              </a:lnSpc>
              <a:spcBef>
                <a:spcPts val="0"/>
              </a:spcBef>
            </a:pPr>
            <a:r>
              <a:rPr lang="en-US" dirty="0"/>
              <a:t>Tools/Function Calling: Whether the model supports function calling or tool use.</a:t>
            </a:r>
          </a:p>
          <a:p>
            <a:pPr lvl="1">
              <a:lnSpc>
                <a:spcPct val="120000"/>
              </a:lnSpc>
              <a:spcBef>
                <a:spcPts val="0"/>
              </a:spcBef>
            </a:pPr>
            <a:r>
              <a:rPr lang="en-US" dirty="0"/>
              <a:t>Streaming: If the model offers streaming responses.</a:t>
            </a:r>
          </a:p>
          <a:p>
            <a:pPr lvl="1">
              <a:lnSpc>
                <a:spcPct val="120000"/>
              </a:lnSpc>
              <a:spcBef>
                <a:spcPts val="0"/>
              </a:spcBef>
            </a:pPr>
            <a:r>
              <a:rPr lang="en-US" dirty="0"/>
              <a:t>Retry: Support for retry mechanisms.</a:t>
            </a:r>
          </a:p>
          <a:p>
            <a:pPr lvl="1">
              <a:lnSpc>
                <a:spcPct val="120000"/>
              </a:lnSpc>
              <a:spcBef>
                <a:spcPts val="0"/>
              </a:spcBef>
            </a:pPr>
            <a:r>
              <a:rPr lang="en-US" dirty="0"/>
              <a:t>Observability: Features for monitoring and debugging.</a:t>
            </a:r>
          </a:p>
          <a:p>
            <a:pPr lvl="1">
              <a:lnSpc>
                <a:spcPct val="120000"/>
              </a:lnSpc>
              <a:spcBef>
                <a:spcPts val="0"/>
              </a:spcBef>
            </a:pPr>
            <a:r>
              <a:rPr lang="en-US" dirty="0"/>
              <a:t>Built-in JSON: Native support for JSON output.</a:t>
            </a:r>
          </a:p>
          <a:p>
            <a:pPr lvl="1">
              <a:lnSpc>
                <a:spcPct val="120000"/>
              </a:lnSpc>
              <a:spcBef>
                <a:spcPts val="0"/>
              </a:spcBef>
            </a:pPr>
            <a:r>
              <a:rPr lang="en-US" dirty="0"/>
              <a:t>Local deployment: Whether the model can be run locally.</a:t>
            </a:r>
          </a:p>
          <a:p>
            <a:pPr lvl="1">
              <a:lnSpc>
                <a:spcPct val="120000"/>
              </a:lnSpc>
              <a:spcBef>
                <a:spcPts val="0"/>
              </a:spcBef>
            </a:pPr>
            <a:r>
              <a:rPr lang="en-US" dirty="0"/>
              <a:t>OpenAI API Compatibility: If the model is compatible with OpenAI’s API.</a:t>
            </a:r>
          </a:p>
        </p:txBody>
      </p:sp>
    </p:spTree>
    <p:extLst>
      <p:ext uri="{BB962C8B-B14F-4D97-AF65-F5344CB8AC3E}">
        <p14:creationId xmlns:p14="http://schemas.microsoft.com/office/powerpoint/2010/main" val="3244658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E9B319-B074-B151-4F5D-9169B7F0EB38}"/>
              </a:ext>
            </a:extLst>
          </p:cNvPr>
          <p:cNvSpPr>
            <a:spLocks noGrp="1"/>
          </p:cNvSpPr>
          <p:nvPr>
            <p:ph type="sldNum" sz="quarter" idx="12"/>
          </p:nvPr>
        </p:nvSpPr>
        <p:spPr/>
        <p:txBody>
          <a:bodyPr/>
          <a:lstStyle/>
          <a:p>
            <a:fld id="{EBFB1032-EA64-7144-B003-9BCC9D94B503}" type="slidenum">
              <a:rPr lang="en-US" smtClean="0"/>
              <a:t>22</a:t>
            </a:fld>
            <a:endParaRPr lang="en-US" dirty="0"/>
          </a:p>
        </p:txBody>
      </p:sp>
      <p:pic>
        <p:nvPicPr>
          <p:cNvPr id="6" name="Picture 5">
            <a:extLst>
              <a:ext uri="{FF2B5EF4-FFF2-40B4-BE49-F238E27FC236}">
                <a16:creationId xmlns:a16="http://schemas.microsoft.com/office/drawing/2014/main" id="{42D505FD-2535-2AFE-13C2-CAB60D42AC03}"/>
              </a:ext>
            </a:extLst>
          </p:cNvPr>
          <p:cNvPicPr>
            <a:picLocks noChangeAspect="1"/>
          </p:cNvPicPr>
          <p:nvPr/>
        </p:nvPicPr>
        <p:blipFill>
          <a:blip r:embed="rId2"/>
          <a:stretch>
            <a:fillRect/>
          </a:stretch>
        </p:blipFill>
        <p:spPr>
          <a:xfrm>
            <a:off x="91440" y="812584"/>
            <a:ext cx="8961120" cy="5232832"/>
          </a:xfrm>
          <a:prstGeom prst="rect">
            <a:avLst/>
          </a:prstGeom>
          <a:ln>
            <a:solidFill>
              <a:schemeClr val="accent1"/>
            </a:solidFill>
          </a:ln>
        </p:spPr>
      </p:pic>
    </p:spTree>
    <p:extLst>
      <p:ext uri="{BB962C8B-B14F-4D97-AF65-F5344CB8AC3E}">
        <p14:creationId xmlns:p14="http://schemas.microsoft.com/office/powerpoint/2010/main" val="3895217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1D0539-581B-C633-82C5-99619C249CC7}"/>
              </a:ext>
            </a:extLst>
          </p:cNvPr>
          <p:cNvSpPr>
            <a:spLocks noGrp="1"/>
          </p:cNvSpPr>
          <p:nvPr>
            <p:ph type="title"/>
          </p:nvPr>
        </p:nvSpPr>
        <p:spPr/>
        <p:txBody>
          <a:bodyPr/>
          <a:lstStyle/>
          <a:p>
            <a:r>
              <a:rPr lang="en-US" dirty="0"/>
              <a:t>2. Embeddings Model API</a:t>
            </a:r>
          </a:p>
        </p:txBody>
      </p:sp>
      <p:sp>
        <p:nvSpPr>
          <p:cNvPr id="2" name="Slide Number Placeholder 1">
            <a:extLst>
              <a:ext uri="{FF2B5EF4-FFF2-40B4-BE49-F238E27FC236}">
                <a16:creationId xmlns:a16="http://schemas.microsoft.com/office/drawing/2014/main" id="{92335F9C-FAF1-A9D4-44C5-1D22D34A9FDA}"/>
              </a:ext>
            </a:extLst>
          </p:cNvPr>
          <p:cNvSpPr>
            <a:spLocks noGrp="1"/>
          </p:cNvSpPr>
          <p:nvPr>
            <p:ph type="sldNum" sz="quarter" idx="12"/>
          </p:nvPr>
        </p:nvSpPr>
        <p:spPr/>
        <p:txBody>
          <a:bodyPr>
            <a:normAutofit fontScale="85000" lnSpcReduction="20000"/>
          </a:bodyPr>
          <a:lstStyle/>
          <a:p>
            <a:fld id="{EBFB1032-EA64-7144-B003-9BCC9D94B503}" type="slidenum">
              <a:rPr lang="en-US" smtClean="0"/>
              <a:t>23</a:t>
            </a:fld>
            <a:endParaRPr lang="en-US" dirty="0"/>
          </a:p>
        </p:txBody>
      </p:sp>
      <p:pic>
        <p:nvPicPr>
          <p:cNvPr id="6" name="Picture 5">
            <a:extLst>
              <a:ext uri="{FF2B5EF4-FFF2-40B4-BE49-F238E27FC236}">
                <a16:creationId xmlns:a16="http://schemas.microsoft.com/office/drawing/2014/main" id="{AE98B58D-1BC8-F4B3-A1EB-E826A1A7C7EB}"/>
              </a:ext>
            </a:extLst>
          </p:cNvPr>
          <p:cNvPicPr>
            <a:picLocks noChangeAspect="1"/>
          </p:cNvPicPr>
          <p:nvPr/>
        </p:nvPicPr>
        <p:blipFill>
          <a:blip r:embed="rId2"/>
          <a:stretch>
            <a:fillRect/>
          </a:stretch>
        </p:blipFill>
        <p:spPr>
          <a:xfrm>
            <a:off x="91440" y="1730477"/>
            <a:ext cx="8961120" cy="4054388"/>
          </a:xfrm>
          <a:prstGeom prst="rect">
            <a:avLst/>
          </a:prstGeom>
          <a:ln>
            <a:solidFill>
              <a:schemeClr val="accent1"/>
            </a:solidFill>
          </a:ln>
        </p:spPr>
      </p:pic>
    </p:spTree>
    <p:extLst>
      <p:ext uri="{BB962C8B-B14F-4D97-AF65-F5344CB8AC3E}">
        <p14:creationId xmlns:p14="http://schemas.microsoft.com/office/powerpoint/2010/main" val="151566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EFD91-7F41-33C9-112E-287EFE9FF41F}"/>
              </a:ext>
            </a:extLst>
          </p:cNvPr>
          <p:cNvSpPr>
            <a:spLocks noGrp="1"/>
          </p:cNvSpPr>
          <p:nvPr>
            <p:ph type="title"/>
          </p:nvPr>
        </p:nvSpPr>
        <p:spPr/>
        <p:txBody>
          <a:bodyPr/>
          <a:lstStyle/>
          <a:p>
            <a:r>
              <a:rPr lang="en-US" dirty="0"/>
              <a:t>Primary Goals</a:t>
            </a:r>
          </a:p>
        </p:txBody>
      </p:sp>
      <p:sp>
        <p:nvSpPr>
          <p:cNvPr id="3" name="Slide Number Placeholder 2">
            <a:extLst>
              <a:ext uri="{FF2B5EF4-FFF2-40B4-BE49-F238E27FC236}">
                <a16:creationId xmlns:a16="http://schemas.microsoft.com/office/drawing/2014/main" id="{6119CD95-F619-664A-C283-602A2473BC86}"/>
              </a:ext>
            </a:extLst>
          </p:cNvPr>
          <p:cNvSpPr>
            <a:spLocks noGrp="1"/>
          </p:cNvSpPr>
          <p:nvPr>
            <p:ph type="sldNum" sz="quarter" idx="12"/>
          </p:nvPr>
        </p:nvSpPr>
        <p:spPr/>
        <p:txBody>
          <a:bodyPr>
            <a:normAutofit fontScale="85000" lnSpcReduction="20000"/>
          </a:bodyPr>
          <a:lstStyle/>
          <a:p>
            <a:fld id="{EBFB1032-EA64-7144-B003-9BCC9D94B503}" type="slidenum">
              <a:rPr lang="en-US" smtClean="0"/>
              <a:t>24</a:t>
            </a:fld>
            <a:endParaRPr lang="en-US" dirty="0"/>
          </a:p>
        </p:txBody>
      </p:sp>
      <p:sp>
        <p:nvSpPr>
          <p:cNvPr id="4" name="Content Placeholder 3">
            <a:extLst>
              <a:ext uri="{FF2B5EF4-FFF2-40B4-BE49-F238E27FC236}">
                <a16:creationId xmlns:a16="http://schemas.microsoft.com/office/drawing/2014/main" id="{CD03F06D-C99A-E0D7-778F-0C00FB4DBC55}"/>
              </a:ext>
            </a:extLst>
          </p:cNvPr>
          <p:cNvSpPr>
            <a:spLocks noGrp="1"/>
          </p:cNvSpPr>
          <p:nvPr>
            <p:ph sz="quarter" idx="1"/>
          </p:nvPr>
        </p:nvSpPr>
        <p:spPr/>
        <p:txBody>
          <a:bodyPr>
            <a:noAutofit/>
          </a:bodyPr>
          <a:lstStyle/>
          <a:p>
            <a:pPr>
              <a:lnSpc>
                <a:spcPct val="95000"/>
              </a:lnSpc>
              <a:spcBef>
                <a:spcPts val="0"/>
              </a:spcBef>
            </a:pPr>
            <a:r>
              <a:rPr lang="en-US" sz="2200" dirty="0"/>
              <a:t>The design of the </a:t>
            </a:r>
            <a:r>
              <a:rPr lang="en-US" sz="2200" dirty="0" err="1"/>
              <a:t>EmbeddingModel</a:t>
            </a:r>
            <a:r>
              <a:rPr lang="en-US" sz="2200" dirty="0"/>
              <a:t> interface centers around two primary goals:</a:t>
            </a:r>
          </a:p>
          <a:p>
            <a:pPr lvl="1">
              <a:lnSpc>
                <a:spcPct val="95000"/>
              </a:lnSpc>
              <a:spcBef>
                <a:spcPts val="0"/>
              </a:spcBef>
            </a:pPr>
            <a:r>
              <a:rPr lang="en-US" sz="2200" b="1" dirty="0"/>
              <a:t>Portability:</a:t>
            </a:r>
          </a:p>
          <a:p>
            <a:pPr lvl="2">
              <a:lnSpc>
                <a:spcPct val="95000"/>
              </a:lnSpc>
              <a:spcBef>
                <a:spcPts val="0"/>
              </a:spcBef>
            </a:pPr>
            <a:r>
              <a:rPr lang="en-US" sz="2200" dirty="0"/>
              <a:t>This interface ensures easy adaptability across various embedding models.</a:t>
            </a:r>
          </a:p>
          <a:p>
            <a:pPr lvl="2">
              <a:lnSpc>
                <a:spcPct val="95000"/>
              </a:lnSpc>
              <a:spcBef>
                <a:spcPts val="0"/>
              </a:spcBef>
            </a:pPr>
            <a:r>
              <a:rPr lang="en-US" sz="2200" dirty="0"/>
              <a:t>It allows developers to switch between different embedding techniques or models with minimal code changes.</a:t>
            </a:r>
          </a:p>
          <a:p>
            <a:pPr lvl="2">
              <a:lnSpc>
                <a:spcPct val="95000"/>
              </a:lnSpc>
              <a:spcBef>
                <a:spcPts val="0"/>
              </a:spcBef>
            </a:pPr>
            <a:r>
              <a:rPr lang="en-US" sz="2200" dirty="0"/>
              <a:t>This design aligns with Spring’s philosophy of modularity and interchangeability.</a:t>
            </a:r>
          </a:p>
          <a:p>
            <a:pPr lvl="1">
              <a:lnSpc>
                <a:spcPct val="95000"/>
              </a:lnSpc>
              <a:spcBef>
                <a:spcPts val="0"/>
              </a:spcBef>
            </a:pPr>
            <a:r>
              <a:rPr lang="en-US" sz="2200" b="1" dirty="0"/>
              <a:t>Simplicity:</a:t>
            </a:r>
          </a:p>
          <a:p>
            <a:pPr lvl="2">
              <a:lnSpc>
                <a:spcPct val="95000"/>
              </a:lnSpc>
              <a:spcBef>
                <a:spcPts val="0"/>
              </a:spcBef>
            </a:pPr>
            <a:r>
              <a:rPr lang="en-US" sz="2200" dirty="0" err="1"/>
              <a:t>EmbeddingModel</a:t>
            </a:r>
            <a:r>
              <a:rPr lang="en-US" sz="2200" dirty="0"/>
              <a:t> simplifies the process of converting text to embeddings.</a:t>
            </a:r>
          </a:p>
          <a:p>
            <a:pPr lvl="2">
              <a:lnSpc>
                <a:spcPct val="95000"/>
              </a:lnSpc>
              <a:spcBef>
                <a:spcPts val="0"/>
              </a:spcBef>
            </a:pPr>
            <a:r>
              <a:rPr lang="en-US" sz="2200" dirty="0"/>
              <a:t>By providing straightforward methods like embed(String text) and embed(Document document), it takes the complexity out of dealing with raw text data and embedding algorithms.</a:t>
            </a:r>
          </a:p>
          <a:p>
            <a:pPr lvl="2">
              <a:lnSpc>
                <a:spcPct val="95000"/>
              </a:lnSpc>
              <a:spcBef>
                <a:spcPts val="0"/>
              </a:spcBef>
            </a:pPr>
            <a:r>
              <a:rPr lang="en-US" sz="2200" dirty="0"/>
              <a:t>This design choice makes it easier for developers, especially those new to AI, to utilize embeddings in their applications without delving deep into the underlying mechanics.</a:t>
            </a:r>
          </a:p>
        </p:txBody>
      </p:sp>
    </p:spTree>
    <p:extLst>
      <p:ext uri="{BB962C8B-B14F-4D97-AF65-F5344CB8AC3E}">
        <p14:creationId xmlns:p14="http://schemas.microsoft.com/office/powerpoint/2010/main" val="34766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F69B-185B-03C4-48DB-E98D4AB79D1A}"/>
              </a:ext>
            </a:extLst>
          </p:cNvPr>
          <p:cNvSpPr>
            <a:spLocks noGrp="1"/>
          </p:cNvSpPr>
          <p:nvPr>
            <p:ph type="title"/>
          </p:nvPr>
        </p:nvSpPr>
        <p:spPr/>
        <p:txBody>
          <a:bodyPr>
            <a:normAutofit/>
          </a:bodyPr>
          <a:lstStyle/>
          <a:p>
            <a:r>
              <a:rPr lang="en-US" dirty="0"/>
              <a:t>API Overview</a:t>
            </a:r>
          </a:p>
        </p:txBody>
      </p:sp>
      <p:sp>
        <p:nvSpPr>
          <p:cNvPr id="3" name="Slide Number Placeholder 2">
            <a:extLst>
              <a:ext uri="{FF2B5EF4-FFF2-40B4-BE49-F238E27FC236}">
                <a16:creationId xmlns:a16="http://schemas.microsoft.com/office/drawing/2014/main" id="{0E4452E7-CF45-2394-F33C-C6E7DC8FE55B}"/>
              </a:ext>
            </a:extLst>
          </p:cNvPr>
          <p:cNvSpPr>
            <a:spLocks noGrp="1"/>
          </p:cNvSpPr>
          <p:nvPr>
            <p:ph type="sldNum" sz="quarter" idx="12"/>
          </p:nvPr>
        </p:nvSpPr>
        <p:spPr/>
        <p:txBody>
          <a:bodyPr>
            <a:normAutofit fontScale="85000" lnSpcReduction="20000"/>
          </a:bodyPr>
          <a:lstStyle/>
          <a:p>
            <a:fld id="{EBFB1032-EA64-7144-B003-9BCC9D94B503}" type="slidenum">
              <a:rPr lang="en-US" smtClean="0"/>
              <a:t>25</a:t>
            </a:fld>
            <a:endParaRPr lang="en-US" dirty="0"/>
          </a:p>
        </p:txBody>
      </p:sp>
      <p:sp>
        <p:nvSpPr>
          <p:cNvPr id="4" name="Content Placeholder 3">
            <a:extLst>
              <a:ext uri="{FF2B5EF4-FFF2-40B4-BE49-F238E27FC236}">
                <a16:creationId xmlns:a16="http://schemas.microsoft.com/office/drawing/2014/main" id="{6D935F62-2B7B-AF83-1ED4-A978F60968B3}"/>
              </a:ext>
            </a:extLst>
          </p:cNvPr>
          <p:cNvSpPr>
            <a:spLocks noGrp="1"/>
          </p:cNvSpPr>
          <p:nvPr>
            <p:ph sz="quarter" idx="1"/>
          </p:nvPr>
        </p:nvSpPr>
        <p:spPr/>
        <p:txBody>
          <a:bodyPr>
            <a:normAutofit lnSpcReduction="10000"/>
          </a:bodyPr>
          <a:lstStyle/>
          <a:p>
            <a:r>
              <a:rPr lang="en-US" dirty="0"/>
              <a:t>The Embedding Model API is built on top of the generic Spring AI Model API, which is a part of the Spring AI library.</a:t>
            </a:r>
          </a:p>
          <a:p>
            <a:endParaRPr lang="en-US" dirty="0"/>
          </a:p>
          <a:p>
            <a:r>
              <a:rPr lang="en-US" dirty="0"/>
              <a:t>As such, the </a:t>
            </a:r>
            <a:r>
              <a:rPr lang="en-US" dirty="0" err="1"/>
              <a:t>EmbeddingModel</a:t>
            </a:r>
            <a:r>
              <a:rPr lang="en-US" dirty="0"/>
              <a:t> interface extends the Model interface, which provides a standard set of methods for interacting with AI models.</a:t>
            </a:r>
          </a:p>
          <a:p>
            <a:endParaRPr lang="en-US" dirty="0"/>
          </a:p>
          <a:p>
            <a:r>
              <a:rPr lang="en-US" dirty="0"/>
              <a:t>The </a:t>
            </a:r>
            <a:r>
              <a:rPr lang="en-US" dirty="0" err="1"/>
              <a:t>EmbeddingRequest</a:t>
            </a:r>
            <a:r>
              <a:rPr lang="en-US" dirty="0"/>
              <a:t> and </a:t>
            </a:r>
            <a:r>
              <a:rPr lang="en-US" dirty="0" err="1"/>
              <a:t>EmbeddingResponse</a:t>
            </a:r>
            <a:r>
              <a:rPr lang="en-US" dirty="0"/>
              <a:t> classes extend from the </a:t>
            </a:r>
            <a:r>
              <a:rPr lang="en-US" dirty="0" err="1"/>
              <a:t>ModelRequest</a:t>
            </a:r>
            <a:r>
              <a:rPr lang="en-US" dirty="0"/>
              <a:t> and </a:t>
            </a:r>
            <a:r>
              <a:rPr lang="en-US" dirty="0" err="1"/>
              <a:t>ModelResponse</a:t>
            </a:r>
            <a:r>
              <a:rPr lang="en-US" dirty="0"/>
              <a:t> are used to encapsulate the input and output of the embedding models, respectively.</a:t>
            </a:r>
          </a:p>
          <a:p>
            <a:endParaRPr lang="en-US" dirty="0"/>
          </a:p>
          <a:p>
            <a:r>
              <a:rPr lang="en-US" dirty="0"/>
              <a:t>The Embedding API in turn is used by higher-level components to implement Embedding Models for specific embedding models, such as OpenAI, Titan, Azure OpenAI, Ollie, and others.</a:t>
            </a:r>
          </a:p>
          <a:p>
            <a:endParaRPr lang="en-US" dirty="0"/>
          </a:p>
        </p:txBody>
      </p:sp>
    </p:spTree>
    <p:extLst>
      <p:ext uri="{BB962C8B-B14F-4D97-AF65-F5344CB8AC3E}">
        <p14:creationId xmlns:p14="http://schemas.microsoft.com/office/powerpoint/2010/main" val="272471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370A35-CD1F-7243-31BA-FFC9E2F9527B}"/>
              </a:ext>
            </a:extLst>
          </p:cNvPr>
          <p:cNvSpPr>
            <a:spLocks noGrp="1"/>
          </p:cNvSpPr>
          <p:nvPr>
            <p:ph type="sldNum" sz="quarter" idx="12"/>
          </p:nvPr>
        </p:nvSpPr>
        <p:spPr/>
        <p:txBody>
          <a:bodyPr/>
          <a:lstStyle/>
          <a:p>
            <a:fld id="{EBFB1032-EA64-7144-B003-9BCC9D94B503}" type="slidenum">
              <a:rPr lang="en-US" smtClean="0"/>
              <a:t>26</a:t>
            </a:fld>
            <a:endParaRPr lang="en-US" dirty="0"/>
          </a:p>
        </p:txBody>
      </p:sp>
      <p:pic>
        <p:nvPicPr>
          <p:cNvPr id="6" name="Picture 5">
            <a:extLst>
              <a:ext uri="{FF2B5EF4-FFF2-40B4-BE49-F238E27FC236}">
                <a16:creationId xmlns:a16="http://schemas.microsoft.com/office/drawing/2014/main" id="{4EBB1FB0-B78B-FC8E-0B65-569B8D1D440A}"/>
              </a:ext>
            </a:extLst>
          </p:cNvPr>
          <p:cNvPicPr>
            <a:picLocks noChangeAspect="1"/>
          </p:cNvPicPr>
          <p:nvPr/>
        </p:nvPicPr>
        <p:blipFill>
          <a:blip r:embed="rId2"/>
          <a:stretch>
            <a:fillRect/>
          </a:stretch>
        </p:blipFill>
        <p:spPr>
          <a:xfrm>
            <a:off x="91440" y="916644"/>
            <a:ext cx="8961120" cy="5024711"/>
          </a:xfrm>
          <a:prstGeom prst="rect">
            <a:avLst/>
          </a:prstGeom>
          <a:ln>
            <a:solidFill>
              <a:schemeClr val="accent1"/>
            </a:solidFill>
          </a:ln>
        </p:spPr>
      </p:pic>
    </p:spTree>
    <p:extLst>
      <p:ext uri="{BB962C8B-B14F-4D97-AF65-F5344CB8AC3E}">
        <p14:creationId xmlns:p14="http://schemas.microsoft.com/office/powerpoint/2010/main" val="2355798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FC4F4-7330-B140-E17F-D7EC1960000A}"/>
              </a:ext>
            </a:extLst>
          </p:cNvPr>
          <p:cNvSpPr>
            <a:spLocks noGrp="1"/>
          </p:cNvSpPr>
          <p:nvPr>
            <p:ph type="title"/>
          </p:nvPr>
        </p:nvSpPr>
        <p:spPr/>
        <p:txBody>
          <a:bodyPr/>
          <a:lstStyle/>
          <a:p>
            <a:r>
              <a:rPr lang="en-US" dirty="0"/>
              <a:t>3. Image Model API</a:t>
            </a:r>
          </a:p>
        </p:txBody>
      </p:sp>
      <p:sp>
        <p:nvSpPr>
          <p:cNvPr id="2" name="Slide Number Placeholder 1">
            <a:extLst>
              <a:ext uri="{FF2B5EF4-FFF2-40B4-BE49-F238E27FC236}">
                <a16:creationId xmlns:a16="http://schemas.microsoft.com/office/drawing/2014/main" id="{3A0F6EDB-6A56-F420-8ABC-9446D6A89734}"/>
              </a:ext>
            </a:extLst>
          </p:cNvPr>
          <p:cNvSpPr>
            <a:spLocks noGrp="1"/>
          </p:cNvSpPr>
          <p:nvPr>
            <p:ph type="sldNum" sz="quarter" idx="12"/>
          </p:nvPr>
        </p:nvSpPr>
        <p:spPr/>
        <p:txBody>
          <a:bodyPr>
            <a:normAutofit fontScale="85000" lnSpcReduction="20000"/>
          </a:bodyPr>
          <a:lstStyle/>
          <a:p>
            <a:fld id="{EBFB1032-EA64-7144-B003-9BCC9D94B503}" type="slidenum">
              <a:rPr lang="en-US" smtClean="0"/>
              <a:t>27</a:t>
            </a:fld>
            <a:endParaRPr lang="en-US" dirty="0"/>
          </a:p>
        </p:txBody>
      </p:sp>
      <p:pic>
        <p:nvPicPr>
          <p:cNvPr id="8" name="Picture 7">
            <a:extLst>
              <a:ext uri="{FF2B5EF4-FFF2-40B4-BE49-F238E27FC236}">
                <a16:creationId xmlns:a16="http://schemas.microsoft.com/office/drawing/2014/main" id="{38FFF9A2-DB1C-F637-C709-9F603FFB62C8}"/>
              </a:ext>
            </a:extLst>
          </p:cNvPr>
          <p:cNvPicPr>
            <a:picLocks noChangeAspect="1"/>
          </p:cNvPicPr>
          <p:nvPr/>
        </p:nvPicPr>
        <p:blipFill>
          <a:blip r:embed="rId2"/>
          <a:stretch>
            <a:fillRect/>
          </a:stretch>
        </p:blipFill>
        <p:spPr>
          <a:xfrm>
            <a:off x="91440" y="1671062"/>
            <a:ext cx="8961120" cy="3914716"/>
          </a:xfrm>
          <a:prstGeom prst="rect">
            <a:avLst/>
          </a:prstGeom>
        </p:spPr>
      </p:pic>
    </p:spTree>
    <p:extLst>
      <p:ext uri="{BB962C8B-B14F-4D97-AF65-F5344CB8AC3E}">
        <p14:creationId xmlns:p14="http://schemas.microsoft.com/office/powerpoint/2010/main" val="177895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D9F05F1-F36C-54A6-7E81-401D0E86B55B}"/>
              </a:ext>
            </a:extLst>
          </p:cNvPr>
          <p:cNvSpPr>
            <a:spLocks noGrp="1"/>
          </p:cNvSpPr>
          <p:nvPr>
            <p:ph type="sldNum" sz="quarter" idx="12"/>
          </p:nvPr>
        </p:nvSpPr>
        <p:spPr/>
        <p:txBody>
          <a:bodyPr/>
          <a:lstStyle/>
          <a:p>
            <a:fld id="{EBFB1032-EA64-7144-B003-9BCC9D94B503}" type="slidenum">
              <a:rPr lang="en-US" smtClean="0"/>
              <a:t>28</a:t>
            </a:fld>
            <a:endParaRPr lang="en-US" dirty="0"/>
          </a:p>
        </p:txBody>
      </p:sp>
      <p:pic>
        <p:nvPicPr>
          <p:cNvPr id="6" name="Picture 5">
            <a:extLst>
              <a:ext uri="{FF2B5EF4-FFF2-40B4-BE49-F238E27FC236}">
                <a16:creationId xmlns:a16="http://schemas.microsoft.com/office/drawing/2014/main" id="{E3AD5C05-21E7-E9F6-6EC0-B4A0A4B8096C}"/>
              </a:ext>
            </a:extLst>
          </p:cNvPr>
          <p:cNvPicPr>
            <a:picLocks noChangeAspect="1"/>
          </p:cNvPicPr>
          <p:nvPr/>
        </p:nvPicPr>
        <p:blipFill>
          <a:blip r:embed="rId2"/>
          <a:stretch>
            <a:fillRect/>
          </a:stretch>
        </p:blipFill>
        <p:spPr>
          <a:xfrm>
            <a:off x="91440" y="1620458"/>
            <a:ext cx="8961120" cy="3617083"/>
          </a:xfrm>
          <a:prstGeom prst="rect">
            <a:avLst/>
          </a:prstGeom>
        </p:spPr>
      </p:pic>
    </p:spTree>
    <p:extLst>
      <p:ext uri="{BB962C8B-B14F-4D97-AF65-F5344CB8AC3E}">
        <p14:creationId xmlns:p14="http://schemas.microsoft.com/office/powerpoint/2010/main" val="1050437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C2BC06-644C-350F-AD46-91A9E396236E}"/>
              </a:ext>
            </a:extLst>
          </p:cNvPr>
          <p:cNvSpPr>
            <a:spLocks noGrp="1"/>
          </p:cNvSpPr>
          <p:nvPr>
            <p:ph type="title"/>
          </p:nvPr>
        </p:nvSpPr>
        <p:spPr/>
        <p:txBody>
          <a:bodyPr>
            <a:normAutofit/>
          </a:bodyPr>
          <a:lstStyle/>
          <a:p>
            <a:r>
              <a:rPr lang="en-US" dirty="0"/>
              <a:t>Available Implementations</a:t>
            </a:r>
          </a:p>
        </p:txBody>
      </p:sp>
      <p:sp>
        <p:nvSpPr>
          <p:cNvPr id="2" name="Slide Number Placeholder 1">
            <a:extLst>
              <a:ext uri="{FF2B5EF4-FFF2-40B4-BE49-F238E27FC236}">
                <a16:creationId xmlns:a16="http://schemas.microsoft.com/office/drawing/2014/main" id="{59D88992-20E0-A402-C885-945B01F51A30}"/>
              </a:ext>
            </a:extLst>
          </p:cNvPr>
          <p:cNvSpPr>
            <a:spLocks noGrp="1"/>
          </p:cNvSpPr>
          <p:nvPr>
            <p:ph type="sldNum" sz="quarter" idx="12"/>
          </p:nvPr>
        </p:nvSpPr>
        <p:spPr/>
        <p:txBody>
          <a:bodyPr>
            <a:normAutofit fontScale="85000" lnSpcReduction="20000"/>
          </a:bodyPr>
          <a:lstStyle/>
          <a:p>
            <a:fld id="{EBFB1032-EA64-7144-B003-9BCC9D94B503}" type="slidenum">
              <a:rPr lang="en-US" smtClean="0"/>
              <a:t>29</a:t>
            </a:fld>
            <a:endParaRPr lang="en-US" dirty="0"/>
          </a:p>
        </p:txBody>
      </p:sp>
      <p:sp>
        <p:nvSpPr>
          <p:cNvPr id="4" name="Content Placeholder 3">
            <a:extLst>
              <a:ext uri="{FF2B5EF4-FFF2-40B4-BE49-F238E27FC236}">
                <a16:creationId xmlns:a16="http://schemas.microsoft.com/office/drawing/2014/main" id="{9BD12BC8-2380-EF1A-9326-FCFAAF50C63C}"/>
              </a:ext>
            </a:extLst>
          </p:cNvPr>
          <p:cNvSpPr>
            <a:spLocks noGrp="1"/>
          </p:cNvSpPr>
          <p:nvPr>
            <p:ph sz="quarter" idx="1"/>
          </p:nvPr>
        </p:nvSpPr>
        <p:spPr/>
        <p:txBody>
          <a:bodyPr>
            <a:normAutofit/>
          </a:bodyPr>
          <a:lstStyle/>
          <a:p>
            <a:r>
              <a:rPr lang="en-US" dirty="0" err="1"/>
              <a:t>ImageModel</a:t>
            </a:r>
            <a:r>
              <a:rPr lang="en-US" dirty="0"/>
              <a:t> implementations are provided for the following Model providers:</a:t>
            </a:r>
          </a:p>
          <a:p>
            <a:pPr lvl="1"/>
            <a:r>
              <a:rPr lang="en-US" dirty="0"/>
              <a:t>OpenAI Image Generation</a:t>
            </a:r>
          </a:p>
          <a:p>
            <a:pPr lvl="1"/>
            <a:r>
              <a:rPr lang="en-US" dirty="0"/>
              <a:t>Azure OpenAI Image Generation</a:t>
            </a:r>
          </a:p>
          <a:p>
            <a:pPr lvl="1"/>
            <a:r>
              <a:rPr lang="en-US" dirty="0" err="1"/>
              <a:t>StabilityAI</a:t>
            </a:r>
            <a:r>
              <a:rPr lang="en-US" dirty="0"/>
              <a:t> Image Generation</a:t>
            </a:r>
          </a:p>
          <a:p>
            <a:pPr lvl="1"/>
            <a:r>
              <a:rPr lang="en-US" dirty="0" err="1"/>
              <a:t>ZhiPuAI</a:t>
            </a:r>
            <a:r>
              <a:rPr lang="en-US" dirty="0"/>
              <a:t> Image Generation</a:t>
            </a:r>
          </a:p>
          <a:p>
            <a:endParaRPr lang="en-US" dirty="0"/>
          </a:p>
          <a:p>
            <a:endParaRPr lang="en-US" dirty="0"/>
          </a:p>
        </p:txBody>
      </p:sp>
    </p:spTree>
    <p:extLst>
      <p:ext uri="{BB962C8B-B14F-4D97-AF65-F5344CB8AC3E}">
        <p14:creationId xmlns:p14="http://schemas.microsoft.com/office/powerpoint/2010/main" val="2333775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5101-07AE-AD62-DB63-C0F8A4E5E18C}"/>
              </a:ext>
            </a:extLst>
          </p:cNvPr>
          <p:cNvSpPr>
            <a:spLocks noGrp="1"/>
          </p:cNvSpPr>
          <p:nvPr>
            <p:ph type="title"/>
          </p:nvPr>
        </p:nvSpPr>
        <p:spPr/>
        <p:txBody>
          <a:bodyPr>
            <a:normAutofit/>
          </a:bodyPr>
          <a:lstStyle/>
          <a:p>
            <a:r>
              <a:rPr lang="en-US" dirty="0"/>
              <a:t>Azure OpenAI Image Generation</a:t>
            </a:r>
          </a:p>
        </p:txBody>
      </p:sp>
      <p:sp>
        <p:nvSpPr>
          <p:cNvPr id="3" name="Slide Number Placeholder 2">
            <a:extLst>
              <a:ext uri="{FF2B5EF4-FFF2-40B4-BE49-F238E27FC236}">
                <a16:creationId xmlns:a16="http://schemas.microsoft.com/office/drawing/2014/main" id="{71AF24BC-242F-4691-3B24-08C133822D13}"/>
              </a:ext>
            </a:extLst>
          </p:cNvPr>
          <p:cNvSpPr>
            <a:spLocks noGrp="1"/>
          </p:cNvSpPr>
          <p:nvPr>
            <p:ph type="sldNum" sz="quarter" idx="12"/>
          </p:nvPr>
        </p:nvSpPr>
        <p:spPr/>
        <p:txBody>
          <a:bodyPr>
            <a:normAutofit fontScale="85000" lnSpcReduction="20000"/>
          </a:bodyPr>
          <a:lstStyle/>
          <a:p>
            <a:fld id="{EBFB1032-EA64-7144-B003-9BCC9D94B503}" type="slidenum">
              <a:rPr lang="en-US" smtClean="0"/>
              <a:t>30</a:t>
            </a:fld>
            <a:endParaRPr lang="en-US" dirty="0"/>
          </a:p>
        </p:txBody>
      </p:sp>
      <p:sp>
        <p:nvSpPr>
          <p:cNvPr id="4" name="Content Placeholder 3">
            <a:extLst>
              <a:ext uri="{FF2B5EF4-FFF2-40B4-BE49-F238E27FC236}">
                <a16:creationId xmlns:a16="http://schemas.microsoft.com/office/drawing/2014/main" id="{0E459AEB-E9E4-24F6-68B2-AE68B4BFCA77}"/>
              </a:ext>
            </a:extLst>
          </p:cNvPr>
          <p:cNvSpPr>
            <a:spLocks noGrp="1"/>
          </p:cNvSpPr>
          <p:nvPr>
            <p:ph sz="quarter" idx="1"/>
          </p:nvPr>
        </p:nvSpPr>
        <p:spPr/>
        <p:txBody>
          <a:bodyPr>
            <a:noAutofit/>
          </a:bodyPr>
          <a:lstStyle/>
          <a:p>
            <a:r>
              <a:rPr lang="en-US" sz="2200" dirty="0"/>
              <a:t>Spring AI supports DALL-E, the Image generation model from Azure OpenAI.</a:t>
            </a:r>
          </a:p>
          <a:p>
            <a:r>
              <a:rPr lang="en-US" sz="2200" dirty="0"/>
              <a:t>Obtain your Azure OpenAI endpoint and </a:t>
            </a:r>
            <a:r>
              <a:rPr lang="en-US" sz="2200" dirty="0" err="1"/>
              <a:t>api</a:t>
            </a:r>
            <a:r>
              <a:rPr lang="en-US" sz="2200" dirty="0"/>
              <a:t>-key from the Azure OpenAI Service section on the Azure Portal.</a:t>
            </a:r>
          </a:p>
          <a:p>
            <a:r>
              <a:rPr lang="en-US" sz="2200" dirty="0"/>
              <a:t>Spring AI defines a configuration property named </a:t>
            </a:r>
            <a:r>
              <a:rPr lang="en-US" sz="2200" dirty="0" err="1"/>
              <a:t>spring.ai.azure.openai.api</a:t>
            </a:r>
            <a:r>
              <a:rPr lang="en-US" sz="2200" dirty="0"/>
              <a:t>-key that you should set to the value of the API Key obtained from Azure.</a:t>
            </a:r>
          </a:p>
          <a:p>
            <a:r>
              <a:rPr lang="en-US" sz="2200" dirty="0"/>
              <a:t>There is also a configuration property named </a:t>
            </a:r>
            <a:r>
              <a:rPr lang="en-US" sz="2200" dirty="0" err="1"/>
              <a:t>spring.ai.azure.openai.endpoint</a:t>
            </a:r>
            <a:r>
              <a:rPr lang="en-US" sz="2200" dirty="0"/>
              <a:t> that you should set to the endpoint URL obtained when provisioning your model in Azure.</a:t>
            </a:r>
          </a:p>
          <a:p>
            <a:r>
              <a:rPr lang="en-US" sz="2200" dirty="0"/>
              <a:t>Exporting environment variables is one way to set these configuration properties:</a:t>
            </a:r>
          </a:p>
          <a:p>
            <a:r>
              <a:rPr lang="en-US" sz="2100" dirty="0"/>
              <a:t>export SPRING_AI_AZURE_OPENAI_API_KEY=&lt;INSERT KEY HERE&gt;</a:t>
            </a:r>
          </a:p>
          <a:p>
            <a:r>
              <a:rPr lang="en-US" sz="2100" dirty="0"/>
              <a:t>export SPRING_AI_AZURE_OPENAI_ENDPOINT=&lt;INSERT ENDPOINT URL HERE&gt;</a:t>
            </a:r>
          </a:p>
        </p:txBody>
      </p:sp>
    </p:spTree>
    <p:extLst>
      <p:ext uri="{BB962C8B-B14F-4D97-AF65-F5344CB8AC3E}">
        <p14:creationId xmlns:p14="http://schemas.microsoft.com/office/powerpoint/2010/main" val="18544475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062E3B-2660-0879-FB6D-C63F9874F32E}"/>
              </a:ext>
            </a:extLst>
          </p:cNvPr>
          <p:cNvSpPr>
            <a:spLocks noGrp="1"/>
          </p:cNvSpPr>
          <p:nvPr>
            <p:ph type="sldNum" sz="quarter" idx="12"/>
          </p:nvPr>
        </p:nvSpPr>
        <p:spPr/>
        <p:txBody>
          <a:bodyPr/>
          <a:lstStyle/>
          <a:p>
            <a:fld id="{EBFB1032-EA64-7144-B003-9BCC9D94B503}" type="slidenum">
              <a:rPr lang="en-US" smtClean="0"/>
              <a:t>31</a:t>
            </a:fld>
            <a:endParaRPr lang="en-US" dirty="0"/>
          </a:p>
        </p:txBody>
      </p:sp>
      <p:pic>
        <p:nvPicPr>
          <p:cNvPr id="6" name="Picture 5">
            <a:extLst>
              <a:ext uri="{FF2B5EF4-FFF2-40B4-BE49-F238E27FC236}">
                <a16:creationId xmlns:a16="http://schemas.microsoft.com/office/drawing/2014/main" id="{591849C9-2810-CF45-9A65-999B48404001}"/>
              </a:ext>
            </a:extLst>
          </p:cNvPr>
          <p:cNvPicPr>
            <a:picLocks noChangeAspect="1"/>
          </p:cNvPicPr>
          <p:nvPr/>
        </p:nvPicPr>
        <p:blipFill>
          <a:blip r:embed="rId2"/>
          <a:stretch>
            <a:fillRect/>
          </a:stretch>
        </p:blipFill>
        <p:spPr>
          <a:xfrm>
            <a:off x="91440" y="785014"/>
            <a:ext cx="8961120" cy="5287971"/>
          </a:xfrm>
          <a:prstGeom prst="rect">
            <a:avLst/>
          </a:prstGeom>
          <a:ln>
            <a:solidFill>
              <a:schemeClr val="accent1"/>
            </a:solidFill>
          </a:ln>
        </p:spPr>
      </p:pic>
    </p:spTree>
    <p:extLst>
      <p:ext uri="{BB962C8B-B14F-4D97-AF65-F5344CB8AC3E}">
        <p14:creationId xmlns:p14="http://schemas.microsoft.com/office/powerpoint/2010/main" val="2293629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2FFE34-E824-E85D-8DBE-8E64E66B5B4A}"/>
              </a:ext>
            </a:extLst>
          </p:cNvPr>
          <p:cNvSpPr>
            <a:spLocks noGrp="1"/>
          </p:cNvSpPr>
          <p:nvPr>
            <p:ph type="title"/>
          </p:nvPr>
        </p:nvSpPr>
        <p:spPr/>
        <p:txBody>
          <a:bodyPr/>
          <a:lstStyle/>
          <a:p>
            <a:r>
              <a:rPr lang="en-US" dirty="0"/>
              <a:t>4. Audio Models</a:t>
            </a:r>
          </a:p>
        </p:txBody>
      </p:sp>
      <p:sp>
        <p:nvSpPr>
          <p:cNvPr id="2" name="Slide Number Placeholder 1">
            <a:extLst>
              <a:ext uri="{FF2B5EF4-FFF2-40B4-BE49-F238E27FC236}">
                <a16:creationId xmlns:a16="http://schemas.microsoft.com/office/drawing/2014/main" id="{BA94CE8A-24AB-EAF1-B6CA-A379732EB95A}"/>
              </a:ext>
            </a:extLst>
          </p:cNvPr>
          <p:cNvSpPr>
            <a:spLocks noGrp="1"/>
          </p:cNvSpPr>
          <p:nvPr>
            <p:ph type="sldNum" sz="quarter" idx="12"/>
          </p:nvPr>
        </p:nvSpPr>
        <p:spPr/>
        <p:txBody>
          <a:bodyPr>
            <a:normAutofit fontScale="85000" lnSpcReduction="20000"/>
          </a:bodyPr>
          <a:lstStyle/>
          <a:p>
            <a:fld id="{EBFB1032-EA64-7144-B003-9BCC9D94B503}" type="slidenum">
              <a:rPr lang="en-US" smtClean="0"/>
              <a:t>32</a:t>
            </a:fld>
            <a:endParaRPr lang="en-US" dirty="0"/>
          </a:p>
        </p:txBody>
      </p:sp>
      <p:sp>
        <p:nvSpPr>
          <p:cNvPr id="4" name="Content Placeholder 3">
            <a:extLst>
              <a:ext uri="{FF2B5EF4-FFF2-40B4-BE49-F238E27FC236}">
                <a16:creationId xmlns:a16="http://schemas.microsoft.com/office/drawing/2014/main" id="{3FFC6148-DC98-16AA-F117-124A639F6AB6}"/>
              </a:ext>
            </a:extLst>
          </p:cNvPr>
          <p:cNvSpPr>
            <a:spLocks noGrp="1"/>
          </p:cNvSpPr>
          <p:nvPr>
            <p:ph sz="quarter" idx="1"/>
          </p:nvPr>
        </p:nvSpPr>
        <p:spPr/>
        <p:txBody>
          <a:bodyPr/>
          <a:lstStyle/>
          <a:p>
            <a:r>
              <a:rPr lang="en-US" dirty="0"/>
              <a:t>Spring AI provides support for OpenAI’s Transcription API.</a:t>
            </a:r>
          </a:p>
          <a:p>
            <a:endParaRPr lang="en-US" dirty="0"/>
          </a:p>
          <a:p>
            <a:r>
              <a:rPr lang="en-US" dirty="0"/>
              <a:t>When additional providers for Transcription are implemented, a common </a:t>
            </a:r>
            <a:r>
              <a:rPr lang="en-US" dirty="0" err="1"/>
              <a:t>AudioTranscriptionModel</a:t>
            </a:r>
            <a:r>
              <a:rPr lang="en-US" dirty="0"/>
              <a:t> interface will be extracted.</a:t>
            </a:r>
          </a:p>
        </p:txBody>
      </p:sp>
    </p:spTree>
    <p:extLst>
      <p:ext uri="{BB962C8B-B14F-4D97-AF65-F5344CB8AC3E}">
        <p14:creationId xmlns:p14="http://schemas.microsoft.com/office/powerpoint/2010/main" val="498707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4774CDB-23D4-EEE5-F8E3-F0E51FD06916}"/>
              </a:ext>
            </a:extLst>
          </p:cNvPr>
          <p:cNvSpPr>
            <a:spLocks noGrp="1"/>
          </p:cNvSpPr>
          <p:nvPr>
            <p:ph type="sldNum" sz="quarter" idx="12"/>
          </p:nvPr>
        </p:nvSpPr>
        <p:spPr/>
        <p:txBody>
          <a:bodyPr/>
          <a:lstStyle/>
          <a:p>
            <a:fld id="{EBFB1032-EA64-7144-B003-9BCC9D94B503}" type="slidenum">
              <a:rPr lang="en-US" smtClean="0"/>
              <a:t>33</a:t>
            </a:fld>
            <a:endParaRPr lang="en-US" dirty="0"/>
          </a:p>
        </p:txBody>
      </p:sp>
      <p:pic>
        <p:nvPicPr>
          <p:cNvPr id="6" name="Picture 5">
            <a:extLst>
              <a:ext uri="{FF2B5EF4-FFF2-40B4-BE49-F238E27FC236}">
                <a16:creationId xmlns:a16="http://schemas.microsoft.com/office/drawing/2014/main" id="{DD090BA3-A33E-4D8F-8700-A755EDC8C45B}"/>
              </a:ext>
            </a:extLst>
          </p:cNvPr>
          <p:cNvPicPr>
            <a:picLocks noChangeAspect="1"/>
          </p:cNvPicPr>
          <p:nvPr/>
        </p:nvPicPr>
        <p:blipFill>
          <a:blip r:embed="rId2"/>
          <a:stretch>
            <a:fillRect/>
          </a:stretch>
        </p:blipFill>
        <p:spPr>
          <a:xfrm>
            <a:off x="91440" y="1320501"/>
            <a:ext cx="8961120" cy="4216998"/>
          </a:xfrm>
          <a:prstGeom prst="rect">
            <a:avLst/>
          </a:prstGeom>
          <a:ln>
            <a:solidFill>
              <a:schemeClr val="accent1"/>
            </a:solidFill>
          </a:ln>
        </p:spPr>
      </p:pic>
    </p:spTree>
    <p:extLst>
      <p:ext uri="{BB962C8B-B14F-4D97-AF65-F5344CB8AC3E}">
        <p14:creationId xmlns:p14="http://schemas.microsoft.com/office/powerpoint/2010/main" val="13855459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5E4652-B8EE-2170-641E-34E43D670B46}"/>
              </a:ext>
            </a:extLst>
          </p:cNvPr>
          <p:cNvSpPr>
            <a:spLocks noGrp="1"/>
          </p:cNvSpPr>
          <p:nvPr>
            <p:ph type="title"/>
          </p:nvPr>
        </p:nvSpPr>
        <p:spPr/>
        <p:txBody>
          <a:bodyPr>
            <a:normAutofit/>
          </a:bodyPr>
          <a:lstStyle/>
          <a:p>
            <a:r>
              <a:rPr lang="en-US" dirty="0"/>
              <a:t>Runtime Options</a:t>
            </a:r>
          </a:p>
        </p:txBody>
      </p:sp>
      <p:sp>
        <p:nvSpPr>
          <p:cNvPr id="2" name="Slide Number Placeholder 1">
            <a:extLst>
              <a:ext uri="{FF2B5EF4-FFF2-40B4-BE49-F238E27FC236}">
                <a16:creationId xmlns:a16="http://schemas.microsoft.com/office/drawing/2014/main" id="{4FB7D246-BDBE-CC8E-8B63-0D7E42D4A496}"/>
              </a:ext>
            </a:extLst>
          </p:cNvPr>
          <p:cNvSpPr>
            <a:spLocks noGrp="1"/>
          </p:cNvSpPr>
          <p:nvPr>
            <p:ph type="sldNum" sz="quarter" idx="12"/>
          </p:nvPr>
        </p:nvSpPr>
        <p:spPr/>
        <p:txBody>
          <a:bodyPr>
            <a:normAutofit fontScale="85000" lnSpcReduction="20000"/>
          </a:bodyPr>
          <a:lstStyle/>
          <a:p>
            <a:fld id="{EBFB1032-EA64-7144-B003-9BCC9D94B503}" type="slidenum">
              <a:rPr lang="en-US" smtClean="0"/>
              <a:t>34</a:t>
            </a:fld>
            <a:endParaRPr lang="en-US" dirty="0"/>
          </a:p>
        </p:txBody>
      </p:sp>
      <p:sp>
        <p:nvSpPr>
          <p:cNvPr id="4" name="Content Placeholder 3">
            <a:extLst>
              <a:ext uri="{FF2B5EF4-FFF2-40B4-BE49-F238E27FC236}">
                <a16:creationId xmlns:a16="http://schemas.microsoft.com/office/drawing/2014/main" id="{802A3DA6-4E8B-87C5-2CFA-F56B39D6585E}"/>
              </a:ext>
            </a:extLst>
          </p:cNvPr>
          <p:cNvSpPr>
            <a:spLocks noGrp="1"/>
          </p:cNvSpPr>
          <p:nvPr>
            <p:ph sz="quarter" idx="1"/>
          </p:nvPr>
        </p:nvSpPr>
        <p:spPr/>
        <p:txBody>
          <a:bodyPr/>
          <a:lstStyle/>
          <a:p>
            <a:r>
              <a:rPr lang="en-US" dirty="0"/>
              <a:t>The </a:t>
            </a:r>
            <a:r>
              <a:rPr lang="en-US" dirty="0" err="1"/>
              <a:t>AzureOpenAiAudioTranscriptionOptions</a:t>
            </a:r>
            <a:r>
              <a:rPr lang="en-US" dirty="0"/>
              <a:t> class provides the options to use when making a transcription. On start-up, the options specified by </a:t>
            </a:r>
            <a:r>
              <a:rPr lang="en-US" dirty="0" err="1"/>
              <a:t>spring.ai.azure.openai.audio.transcription</a:t>
            </a:r>
            <a:r>
              <a:rPr lang="en-US" dirty="0"/>
              <a:t> are used, but you can override these at runtime.</a:t>
            </a:r>
          </a:p>
          <a:p>
            <a:endParaRPr lang="en-US" dirty="0"/>
          </a:p>
        </p:txBody>
      </p:sp>
    </p:spTree>
    <p:extLst>
      <p:ext uri="{BB962C8B-B14F-4D97-AF65-F5344CB8AC3E}">
        <p14:creationId xmlns:p14="http://schemas.microsoft.com/office/powerpoint/2010/main" val="3366007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8EC688-5FF8-E183-D131-9B42340E5C98}"/>
              </a:ext>
            </a:extLst>
          </p:cNvPr>
          <p:cNvSpPr>
            <a:spLocks noGrp="1"/>
          </p:cNvSpPr>
          <p:nvPr>
            <p:ph type="sldNum" sz="quarter" idx="12"/>
          </p:nvPr>
        </p:nvSpPr>
        <p:spPr/>
        <p:txBody>
          <a:bodyPr/>
          <a:lstStyle/>
          <a:p>
            <a:fld id="{EBFB1032-EA64-7144-B003-9BCC9D94B503}" type="slidenum">
              <a:rPr lang="en-US" smtClean="0"/>
              <a:t>35</a:t>
            </a:fld>
            <a:endParaRPr lang="en-US" dirty="0"/>
          </a:p>
        </p:txBody>
      </p:sp>
      <p:sp>
        <p:nvSpPr>
          <p:cNvPr id="3" name="TextBox 2">
            <a:extLst>
              <a:ext uri="{FF2B5EF4-FFF2-40B4-BE49-F238E27FC236}">
                <a16:creationId xmlns:a16="http://schemas.microsoft.com/office/drawing/2014/main" id="{F681CCBC-BAF3-2F76-1DD2-A826D44F7521}"/>
              </a:ext>
            </a:extLst>
          </p:cNvPr>
          <p:cNvSpPr txBox="1"/>
          <p:nvPr/>
        </p:nvSpPr>
        <p:spPr>
          <a:xfrm>
            <a:off x="147485" y="246757"/>
            <a:ext cx="8819534" cy="5755422"/>
          </a:xfrm>
          <a:prstGeom prst="rect">
            <a:avLst/>
          </a:prstGeom>
          <a:noFill/>
        </p:spPr>
        <p:txBody>
          <a:bodyPr wrap="square" rtlCol="0">
            <a:spAutoFit/>
          </a:bodyPr>
          <a:lstStyle/>
          <a:p>
            <a:r>
              <a:rPr lang="en-US" sz="2300" dirty="0" err="1">
                <a:latin typeface="Arial Narrow" panose="020B0606020202030204" pitchFamily="34" charset="0"/>
              </a:rPr>
              <a:t>AzureOpenAiAudioTranscriptionOptions.TranscriptResponseFormat</a:t>
            </a:r>
            <a:r>
              <a:rPr lang="en-US" sz="2300" dirty="0">
                <a:latin typeface="Arial Narrow" panose="020B0606020202030204" pitchFamily="34" charset="0"/>
              </a:rPr>
              <a:t> </a:t>
            </a:r>
            <a:r>
              <a:rPr lang="en-US" sz="2300" dirty="0" err="1">
                <a:latin typeface="Arial Narrow" panose="020B0606020202030204" pitchFamily="34" charset="0"/>
              </a:rPr>
              <a:t>responseFormat</a:t>
            </a:r>
            <a:r>
              <a:rPr lang="en-US" sz="2300" dirty="0">
                <a:latin typeface="Arial Narrow" panose="020B0606020202030204" pitchFamily="34" charset="0"/>
              </a:rPr>
              <a:t> = AzureOpenAiAudioTranscriptionOptions.TranscriptResponseFormat.VTT;</a:t>
            </a:r>
          </a:p>
          <a:p>
            <a:endParaRPr lang="en-US" sz="2300" dirty="0">
              <a:latin typeface="Arial Narrow" panose="020B0606020202030204" pitchFamily="34" charset="0"/>
            </a:endParaRPr>
          </a:p>
          <a:p>
            <a:r>
              <a:rPr lang="en-US" sz="2300" dirty="0" err="1">
                <a:latin typeface="Arial Narrow" panose="020B0606020202030204" pitchFamily="34" charset="0"/>
              </a:rPr>
              <a:t>AzureOpenAiAudioTranscriptionOptions</a:t>
            </a:r>
            <a:r>
              <a:rPr lang="en-US" sz="2300" dirty="0">
                <a:latin typeface="Arial Narrow" panose="020B0606020202030204" pitchFamily="34" charset="0"/>
              </a:rPr>
              <a:t> </a:t>
            </a:r>
            <a:r>
              <a:rPr lang="en-US" sz="2300" dirty="0" err="1">
                <a:latin typeface="Arial Narrow" panose="020B0606020202030204" pitchFamily="34" charset="0"/>
              </a:rPr>
              <a:t>transcriptionOptions</a:t>
            </a:r>
            <a:r>
              <a:rPr lang="en-US" sz="2300" dirty="0">
                <a:latin typeface="Arial Narrow" panose="020B0606020202030204" pitchFamily="34" charset="0"/>
              </a:rPr>
              <a:t> = </a:t>
            </a:r>
            <a:r>
              <a:rPr lang="en-US" sz="2300" dirty="0" err="1">
                <a:latin typeface="Arial Narrow" panose="020B0606020202030204" pitchFamily="34" charset="0"/>
              </a:rPr>
              <a:t>AzureOpenAiAudioTranscriptionOptions.builder</a:t>
            </a:r>
            <a:r>
              <a:rPr lang="en-US" sz="2300" dirty="0">
                <a:latin typeface="Arial Narrow" panose="020B0606020202030204" pitchFamily="34" charset="0"/>
              </a:rPr>
              <a:t>().language("</a:t>
            </a:r>
            <a:r>
              <a:rPr lang="en-US" sz="2300" dirty="0" err="1">
                <a:latin typeface="Arial Narrow" panose="020B0606020202030204" pitchFamily="34" charset="0"/>
              </a:rPr>
              <a:t>en</a:t>
            </a:r>
            <a:r>
              <a:rPr lang="en-US" sz="2300" dirty="0">
                <a:latin typeface="Arial Narrow" panose="020B0606020202030204" pitchFamily="34" charset="0"/>
              </a:rPr>
              <a:t>")    .prompt("Ask not this, but ask that")</a:t>
            </a:r>
          </a:p>
          <a:p>
            <a:r>
              <a:rPr lang="en-US" sz="2300" dirty="0">
                <a:latin typeface="Arial Narrow" panose="020B0606020202030204" pitchFamily="34" charset="0"/>
              </a:rPr>
              <a:t>.temperature(0f) </a:t>
            </a:r>
          </a:p>
          <a:p>
            <a:r>
              <a:rPr lang="en-US" sz="2300" dirty="0">
                <a:latin typeface="Arial Narrow" panose="020B0606020202030204" pitchFamily="34" charset="0"/>
              </a:rPr>
              <a:t>.</a:t>
            </a:r>
            <a:r>
              <a:rPr lang="en-US" sz="2300" dirty="0" err="1">
                <a:latin typeface="Arial Narrow" panose="020B0606020202030204" pitchFamily="34" charset="0"/>
              </a:rPr>
              <a:t>responseFormat</a:t>
            </a:r>
            <a:r>
              <a:rPr lang="en-US" sz="2300" dirty="0">
                <a:latin typeface="Arial Narrow" panose="020B0606020202030204" pitchFamily="34" charset="0"/>
              </a:rPr>
              <a:t>(</a:t>
            </a:r>
            <a:r>
              <a:rPr lang="en-US" sz="2300" dirty="0" err="1">
                <a:latin typeface="Arial Narrow" panose="020B0606020202030204" pitchFamily="34" charset="0"/>
              </a:rPr>
              <a:t>this.responseFormat</a:t>
            </a:r>
            <a:r>
              <a:rPr lang="en-US" sz="2300" dirty="0">
                <a:latin typeface="Arial Narrow" panose="020B0606020202030204" pitchFamily="34" charset="0"/>
              </a:rPr>
              <a:t>)</a:t>
            </a:r>
          </a:p>
          <a:p>
            <a:r>
              <a:rPr lang="en-US" sz="2300" dirty="0">
                <a:latin typeface="Arial Narrow" panose="020B0606020202030204" pitchFamily="34" charset="0"/>
              </a:rPr>
              <a:t>.build();</a:t>
            </a:r>
          </a:p>
          <a:p>
            <a:endParaRPr lang="en-US" sz="2300" dirty="0">
              <a:latin typeface="Arial Narrow" panose="020B0606020202030204" pitchFamily="34" charset="0"/>
            </a:endParaRPr>
          </a:p>
          <a:p>
            <a:r>
              <a:rPr lang="en-US" sz="2300" dirty="0" err="1">
                <a:latin typeface="Arial Narrow" panose="020B0606020202030204" pitchFamily="34" charset="0"/>
              </a:rPr>
              <a:t>AudioTranscriptionPrompt</a:t>
            </a:r>
            <a:r>
              <a:rPr lang="en-US" sz="2300" dirty="0">
                <a:latin typeface="Arial Narrow" panose="020B0606020202030204" pitchFamily="34" charset="0"/>
              </a:rPr>
              <a:t> </a:t>
            </a:r>
            <a:r>
              <a:rPr lang="en-US" sz="2300" dirty="0" err="1">
                <a:latin typeface="Arial Narrow" panose="020B0606020202030204" pitchFamily="34" charset="0"/>
              </a:rPr>
              <a:t>transcriptionRequest</a:t>
            </a:r>
            <a:r>
              <a:rPr lang="en-US" sz="2300" dirty="0">
                <a:latin typeface="Arial Narrow" panose="020B0606020202030204" pitchFamily="34" charset="0"/>
              </a:rPr>
              <a:t> = new </a:t>
            </a:r>
            <a:r>
              <a:rPr lang="en-US" sz="2300" dirty="0" err="1">
                <a:latin typeface="Arial Narrow" panose="020B0606020202030204" pitchFamily="34" charset="0"/>
              </a:rPr>
              <a:t>AudioTranscriptionPrompt</a:t>
            </a:r>
            <a:r>
              <a:rPr lang="en-US" sz="2300" dirty="0">
                <a:latin typeface="Arial Narrow" panose="020B0606020202030204" pitchFamily="34" charset="0"/>
              </a:rPr>
              <a:t>(</a:t>
            </a:r>
            <a:r>
              <a:rPr lang="en-US" sz="2300" dirty="0" err="1">
                <a:latin typeface="Arial Narrow" panose="020B0606020202030204" pitchFamily="34" charset="0"/>
              </a:rPr>
              <a:t>audioFile</a:t>
            </a:r>
            <a:r>
              <a:rPr lang="en-US" sz="2300" dirty="0">
                <a:latin typeface="Arial Narrow" panose="020B0606020202030204" pitchFamily="34" charset="0"/>
              </a:rPr>
              <a:t>, </a:t>
            </a:r>
            <a:r>
              <a:rPr lang="en-US" sz="2300" dirty="0" err="1">
                <a:latin typeface="Arial Narrow" panose="020B0606020202030204" pitchFamily="34" charset="0"/>
              </a:rPr>
              <a:t>this.transcriptionOptions</a:t>
            </a:r>
            <a:r>
              <a:rPr lang="en-US" sz="2300" dirty="0">
                <a:latin typeface="Arial Narrow" panose="020B0606020202030204" pitchFamily="34" charset="0"/>
              </a:rPr>
              <a:t>);</a:t>
            </a:r>
          </a:p>
          <a:p>
            <a:endParaRPr lang="en-US" sz="2300" dirty="0">
              <a:latin typeface="Arial Narrow" panose="020B0606020202030204" pitchFamily="34" charset="0"/>
            </a:endParaRPr>
          </a:p>
          <a:p>
            <a:r>
              <a:rPr lang="en-US" sz="2300" dirty="0" err="1">
                <a:latin typeface="Arial Narrow" panose="020B0606020202030204" pitchFamily="34" charset="0"/>
              </a:rPr>
              <a:t>AudioTranscriptionResponse</a:t>
            </a:r>
            <a:r>
              <a:rPr lang="en-US" sz="2300" dirty="0">
                <a:latin typeface="Arial Narrow" panose="020B0606020202030204" pitchFamily="34" charset="0"/>
              </a:rPr>
              <a:t> response = </a:t>
            </a:r>
            <a:r>
              <a:rPr lang="en-US" sz="2300" dirty="0" err="1">
                <a:latin typeface="Arial Narrow" panose="020B0606020202030204" pitchFamily="34" charset="0"/>
              </a:rPr>
              <a:t>azureOpenAiTranscriptionModel.call</a:t>
            </a:r>
            <a:r>
              <a:rPr lang="en-US" sz="2300" dirty="0">
                <a:latin typeface="Arial Narrow" panose="020B0606020202030204" pitchFamily="34" charset="0"/>
              </a:rPr>
              <a:t>(</a:t>
            </a:r>
            <a:r>
              <a:rPr lang="en-US" sz="2300" dirty="0" err="1">
                <a:latin typeface="Arial Narrow" panose="020B0606020202030204" pitchFamily="34" charset="0"/>
              </a:rPr>
              <a:t>this.transcriptionRequest</a:t>
            </a:r>
            <a:r>
              <a:rPr lang="en-US" sz="2300" dirty="0">
                <a:latin typeface="Arial Narrow" panose="020B0606020202030204" pitchFamily="34" charset="0"/>
              </a:rPr>
              <a:t>);</a:t>
            </a:r>
          </a:p>
        </p:txBody>
      </p:sp>
    </p:spTree>
    <p:extLst>
      <p:ext uri="{BB962C8B-B14F-4D97-AF65-F5344CB8AC3E}">
        <p14:creationId xmlns:p14="http://schemas.microsoft.com/office/powerpoint/2010/main" val="3336407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D73B0B-AC13-74AE-130A-50AD537BFE8B}"/>
              </a:ext>
            </a:extLst>
          </p:cNvPr>
          <p:cNvSpPr>
            <a:spLocks noGrp="1"/>
          </p:cNvSpPr>
          <p:nvPr>
            <p:ph type="title"/>
          </p:nvPr>
        </p:nvSpPr>
        <p:spPr/>
        <p:txBody>
          <a:bodyPr>
            <a:normAutofit/>
          </a:bodyPr>
          <a:lstStyle/>
          <a:p>
            <a:r>
              <a:rPr lang="en-US" sz="3200" dirty="0"/>
              <a:t>Next, create a </a:t>
            </a:r>
            <a:r>
              <a:rPr lang="en-US" sz="3200" dirty="0" err="1"/>
              <a:t>AzureOpenAiAudioTranscriptionModel</a:t>
            </a:r>
            <a:endParaRPr lang="en-US" sz="3200" dirty="0"/>
          </a:p>
        </p:txBody>
      </p:sp>
      <p:sp>
        <p:nvSpPr>
          <p:cNvPr id="2" name="Slide Number Placeholder 1">
            <a:extLst>
              <a:ext uri="{FF2B5EF4-FFF2-40B4-BE49-F238E27FC236}">
                <a16:creationId xmlns:a16="http://schemas.microsoft.com/office/drawing/2014/main" id="{145B482A-854C-54D5-2946-F793ECD19448}"/>
              </a:ext>
            </a:extLst>
          </p:cNvPr>
          <p:cNvSpPr>
            <a:spLocks noGrp="1"/>
          </p:cNvSpPr>
          <p:nvPr>
            <p:ph type="sldNum" sz="quarter" idx="12"/>
          </p:nvPr>
        </p:nvSpPr>
        <p:spPr/>
        <p:txBody>
          <a:bodyPr>
            <a:normAutofit fontScale="85000" lnSpcReduction="20000"/>
          </a:bodyPr>
          <a:lstStyle/>
          <a:p>
            <a:fld id="{EBFB1032-EA64-7144-B003-9BCC9D94B503}" type="slidenum">
              <a:rPr lang="en-US" smtClean="0"/>
              <a:t>36</a:t>
            </a:fld>
            <a:endParaRPr lang="en-US" dirty="0"/>
          </a:p>
        </p:txBody>
      </p:sp>
      <p:sp>
        <p:nvSpPr>
          <p:cNvPr id="4" name="Content Placeholder 3">
            <a:extLst>
              <a:ext uri="{FF2B5EF4-FFF2-40B4-BE49-F238E27FC236}">
                <a16:creationId xmlns:a16="http://schemas.microsoft.com/office/drawing/2014/main" id="{F7B592B6-81BC-967A-6DD9-7B716D899C79}"/>
              </a:ext>
            </a:extLst>
          </p:cNvPr>
          <p:cNvSpPr>
            <a:spLocks noGrp="1"/>
          </p:cNvSpPr>
          <p:nvPr>
            <p:ph sz="quarter" idx="1"/>
          </p:nvPr>
        </p:nvSpPr>
        <p:spPr/>
        <p:txBody>
          <a:bodyPr>
            <a:normAutofit fontScale="92500" lnSpcReduction="20000"/>
          </a:bodyPr>
          <a:lstStyle/>
          <a:p>
            <a:pPr marL="0" indent="0">
              <a:buNone/>
            </a:pPr>
            <a:r>
              <a:rPr lang="en-US" sz="2300" dirty="0"/>
              <a:t>var </a:t>
            </a:r>
            <a:r>
              <a:rPr lang="en-US" sz="2300" dirty="0" err="1"/>
              <a:t>openAIClient</a:t>
            </a:r>
            <a:r>
              <a:rPr lang="en-US" sz="2300" dirty="0"/>
              <a:t> = new </a:t>
            </a:r>
            <a:r>
              <a:rPr lang="en-US" sz="2300" dirty="0" err="1"/>
              <a:t>OpenAIClientBuilder</a:t>
            </a:r>
            <a:r>
              <a:rPr lang="en-US" sz="2300" dirty="0"/>
              <a:t>().credential(new </a:t>
            </a:r>
            <a:r>
              <a:rPr lang="en-US" sz="2300" dirty="0" err="1"/>
              <a:t>AzureKeyCredential</a:t>
            </a:r>
            <a:r>
              <a:rPr lang="en-US" sz="2300" dirty="0"/>
              <a:t>(</a:t>
            </a:r>
            <a:r>
              <a:rPr lang="en-US" sz="2300" dirty="0" err="1"/>
              <a:t>System.getenv</a:t>
            </a:r>
            <a:r>
              <a:rPr lang="en-US" sz="2300" dirty="0"/>
              <a:t>("AZURE_OPENAI_API_KEY")))    .endpoint(</a:t>
            </a:r>
            <a:r>
              <a:rPr lang="en-US" sz="2300" dirty="0" err="1"/>
              <a:t>System.getenv</a:t>
            </a:r>
            <a:r>
              <a:rPr lang="en-US" sz="2300" dirty="0"/>
              <a:t>("AZURE_OPENAI_ENDPOINT")).</a:t>
            </a:r>
            <a:r>
              <a:rPr lang="en-US" sz="2300" dirty="0" err="1"/>
              <a:t>buildClient</a:t>
            </a:r>
            <a:r>
              <a:rPr lang="en-US" sz="2300" dirty="0"/>
              <a:t>();</a:t>
            </a:r>
          </a:p>
          <a:p>
            <a:pPr marL="0" indent="0">
              <a:buNone/>
            </a:pPr>
            <a:r>
              <a:rPr lang="en-US" sz="2300" dirty="0"/>
              <a:t>var </a:t>
            </a:r>
            <a:r>
              <a:rPr lang="en-US" sz="2300" dirty="0" err="1"/>
              <a:t>azureOpenAiAudioTranscriptionModel</a:t>
            </a:r>
            <a:r>
              <a:rPr lang="en-US" sz="2300" dirty="0"/>
              <a:t> = new </a:t>
            </a:r>
            <a:r>
              <a:rPr lang="en-US" sz="2300" dirty="0" err="1"/>
              <a:t>AzureOpenAiAudioTranscriptionModel</a:t>
            </a:r>
            <a:r>
              <a:rPr lang="en-US" sz="2300" dirty="0"/>
              <a:t>(</a:t>
            </a:r>
            <a:r>
              <a:rPr lang="en-US" sz="2300" dirty="0" err="1"/>
              <a:t>this.openAIClient</a:t>
            </a:r>
            <a:r>
              <a:rPr lang="en-US" sz="2300" dirty="0"/>
              <a:t>, null);</a:t>
            </a:r>
          </a:p>
          <a:p>
            <a:pPr marL="0" indent="0">
              <a:buNone/>
            </a:pPr>
            <a:endParaRPr lang="en-US" sz="2300" dirty="0"/>
          </a:p>
          <a:p>
            <a:pPr marL="0" indent="0">
              <a:buNone/>
            </a:pPr>
            <a:r>
              <a:rPr lang="en-US" sz="2300" dirty="0"/>
              <a:t>var </a:t>
            </a:r>
            <a:r>
              <a:rPr lang="en-US" sz="2300" dirty="0" err="1"/>
              <a:t>transcriptionOptions</a:t>
            </a:r>
            <a:r>
              <a:rPr lang="en-US" sz="2300" dirty="0"/>
              <a:t> = </a:t>
            </a:r>
            <a:r>
              <a:rPr lang="en-US" sz="2300" dirty="0" err="1"/>
              <a:t>AzureOpenAiAudioTranscriptionOptions.builder</a:t>
            </a:r>
            <a:r>
              <a:rPr lang="en-US" sz="2300" dirty="0"/>
              <a:t>()    .</a:t>
            </a:r>
            <a:r>
              <a:rPr lang="en-US" sz="2300" dirty="0" err="1"/>
              <a:t>responseFormat</a:t>
            </a:r>
            <a:r>
              <a:rPr lang="en-US" sz="2300" dirty="0"/>
              <a:t>(</a:t>
            </a:r>
            <a:r>
              <a:rPr lang="en-US" sz="2300" dirty="0" err="1"/>
              <a:t>TranscriptResponseFormat.TEXT</a:t>
            </a:r>
            <a:r>
              <a:rPr lang="en-US" sz="2300" dirty="0"/>
              <a:t>)</a:t>
            </a:r>
          </a:p>
          <a:p>
            <a:pPr marL="0" indent="0">
              <a:buNone/>
            </a:pPr>
            <a:r>
              <a:rPr lang="en-US" sz="2300" dirty="0"/>
              <a:t>.temperature(0f)</a:t>
            </a:r>
          </a:p>
          <a:p>
            <a:pPr marL="0" indent="0">
              <a:buNone/>
            </a:pPr>
            <a:r>
              <a:rPr lang="en-US" sz="2300" dirty="0"/>
              <a:t>.build();</a:t>
            </a:r>
          </a:p>
          <a:p>
            <a:pPr marL="0" indent="0">
              <a:buNone/>
            </a:pPr>
            <a:endParaRPr lang="en-US" sz="2300" dirty="0"/>
          </a:p>
          <a:p>
            <a:pPr marL="0" indent="0">
              <a:buNone/>
            </a:pPr>
            <a:r>
              <a:rPr lang="en-US" sz="2300" dirty="0"/>
              <a:t>var </a:t>
            </a:r>
            <a:r>
              <a:rPr lang="en-US" sz="2300" dirty="0" err="1"/>
              <a:t>audioFile</a:t>
            </a:r>
            <a:r>
              <a:rPr lang="en-US" sz="2300" dirty="0"/>
              <a:t> = new </a:t>
            </a:r>
            <a:r>
              <a:rPr lang="en-US" sz="2300" dirty="0" err="1"/>
              <a:t>FileSystemResource</a:t>
            </a:r>
            <a:r>
              <a:rPr lang="en-US" sz="2300" dirty="0"/>
              <a:t>("/path/to/your/resource/speech/</a:t>
            </a:r>
            <a:r>
              <a:rPr lang="en-US" sz="2300" dirty="0" err="1"/>
              <a:t>jfk.flac</a:t>
            </a:r>
            <a:r>
              <a:rPr lang="en-US" sz="2300" dirty="0"/>
              <a:t>");</a:t>
            </a:r>
          </a:p>
          <a:p>
            <a:pPr marL="0" indent="0">
              <a:buNone/>
            </a:pPr>
            <a:r>
              <a:rPr lang="en-US" sz="2300" dirty="0" err="1"/>
              <a:t>AudioTranscriptionPrompt</a:t>
            </a:r>
            <a:r>
              <a:rPr lang="en-US" sz="2300" dirty="0"/>
              <a:t> </a:t>
            </a:r>
            <a:r>
              <a:rPr lang="en-US" sz="2300" dirty="0" err="1"/>
              <a:t>transcriptionRequest</a:t>
            </a:r>
            <a:r>
              <a:rPr lang="en-US" sz="2300" dirty="0"/>
              <a:t> = new </a:t>
            </a:r>
            <a:r>
              <a:rPr lang="en-US" sz="2300" dirty="0" err="1"/>
              <a:t>AudioTranscriptionPrompt</a:t>
            </a:r>
            <a:r>
              <a:rPr lang="en-US" sz="2300" dirty="0"/>
              <a:t>(</a:t>
            </a:r>
            <a:r>
              <a:rPr lang="en-US" sz="2300" dirty="0" err="1"/>
              <a:t>this.audioFile</a:t>
            </a:r>
            <a:r>
              <a:rPr lang="en-US" sz="2300" dirty="0"/>
              <a:t>, </a:t>
            </a:r>
            <a:r>
              <a:rPr lang="en-US" sz="2300" dirty="0" err="1"/>
              <a:t>this.transcriptionOptions</a:t>
            </a:r>
            <a:r>
              <a:rPr lang="en-US" sz="2300" dirty="0"/>
              <a:t>);</a:t>
            </a:r>
          </a:p>
          <a:p>
            <a:pPr marL="0" indent="0">
              <a:buNone/>
            </a:pPr>
            <a:r>
              <a:rPr lang="en-US" sz="2300" dirty="0" err="1"/>
              <a:t>AudioTranscriptionResponse</a:t>
            </a:r>
            <a:r>
              <a:rPr lang="en-US" sz="2300" dirty="0"/>
              <a:t> response = </a:t>
            </a:r>
            <a:r>
              <a:rPr lang="en-US" sz="2300" dirty="0" err="1"/>
              <a:t>this.azureOpenAiAudioTranscriptionModel.call</a:t>
            </a:r>
            <a:r>
              <a:rPr lang="en-US" sz="2300" dirty="0"/>
              <a:t>(</a:t>
            </a:r>
            <a:r>
              <a:rPr lang="en-US" sz="2300" dirty="0" err="1"/>
              <a:t>this.transcriptionRequest</a:t>
            </a:r>
            <a:r>
              <a:rPr lang="en-US" sz="2300" dirty="0"/>
              <a:t>);</a:t>
            </a:r>
          </a:p>
        </p:txBody>
      </p:sp>
    </p:spTree>
    <p:extLst>
      <p:ext uri="{BB962C8B-B14F-4D97-AF65-F5344CB8AC3E}">
        <p14:creationId xmlns:p14="http://schemas.microsoft.com/office/powerpoint/2010/main" val="754782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328D9A-14B1-D050-5860-58C302ED2760}"/>
              </a:ext>
            </a:extLst>
          </p:cNvPr>
          <p:cNvSpPr>
            <a:spLocks noGrp="1"/>
          </p:cNvSpPr>
          <p:nvPr>
            <p:ph type="sldNum" sz="quarter" idx="12"/>
          </p:nvPr>
        </p:nvSpPr>
        <p:spPr/>
        <p:txBody>
          <a:bodyPr/>
          <a:lstStyle/>
          <a:p>
            <a:fld id="{EBFB1032-EA64-7144-B003-9BCC9D94B503}" type="slidenum">
              <a:rPr lang="en-US" smtClean="0"/>
              <a:t>37</a:t>
            </a:fld>
            <a:endParaRPr lang="en-US" dirty="0"/>
          </a:p>
        </p:txBody>
      </p:sp>
      <p:pic>
        <p:nvPicPr>
          <p:cNvPr id="6" name="Picture 5">
            <a:extLst>
              <a:ext uri="{FF2B5EF4-FFF2-40B4-BE49-F238E27FC236}">
                <a16:creationId xmlns:a16="http://schemas.microsoft.com/office/drawing/2014/main" id="{D3F67E3B-1200-048C-4E5A-23B03C155F49}"/>
              </a:ext>
            </a:extLst>
          </p:cNvPr>
          <p:cNvPicPr>
            <a:picLocks noChangeAspect="1"/>
          </p:cNvPicPr>
          <p:nvPr/>
        </p:nvPicPr>
        <p:blipFill>
          <a:blip r:embed="rId2"/>
          <a:stretch>
            <a:fillRect/>
          </a:stretch>
        </p:blipFill>
        <p:spPr>
          <a:xfrm>
            <a:off x="91440" y="1613945"/>
            <a:ext cx="8961120" cy="3630110"/>
          </a:xfrm>
          <a:prstGeom prst="rect">
            <a:avLst/>
          </a:prstGeom>
          <a:ln>
            <a:solidFill>
              <a:schemeClr val="accent1"/>
            </a:solidFill>
          </a:ln>
        </p:spPr>
      </p:pic>
    </p:spTree>
    <p:extLst>
      <p:ext uri="{BB962C8B-B14F-4D97-AF65-F5344CB8AC3E}">
        <p14:creationId xmlns:p14="http://schemas.microsoft.com/office/powerpoint/2010/main" val="2173492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B64139-A13B-D3D1-8C33-7B2D11461070}"/>
              </a:ext>
            </a:extLst>
          </p:cNvPr>
          <p:cNvSpPr>
            <a:spLocks noGrp="1"/>
          </p:cNvSpPr>
          <p:nvPr>
            <p:ph type="sldNum" sz="quarter" idx="12"/>
          </p:nvPr>
        </p:nvSpPr>
        <p:spPr/>
        <p:txBody>
          <a:bodyPr/>
          <a:lstStyle/>
          <a:p>
            <a:fld id="{EBFB1032-EA64-7144-B003-9BCC9D94B503}" type="slidenum">
              <a:rPr lang="en-US" smtClean="0"/>
              <a:t>38</a:t>
            </a:fld>
            <a:endParaRPr lang="en-US" dirty="0"/>
          </a:p>
        </p:txBody>
      </p:sp>
      <p:pic>
        <p:nvPicPr>
          <p:cNvPr id="4" name="Picture 3">
            <a:extLst>
              <a:ext uri="{FF2B5EF4-FFF2-40B4-BE49-F238E27FC236}">
                <a16:creationId xmlns:a16="http://schemas.microsoft.com/office/drawing/2014/main" id="{EA290C33-7CF7-E5EE-9E54-06C060C94D48}"/>
              </a:ext>
            </a:extLst>
          </p:cNvPr>
          <p:cNvPicPr>
            <a:picLocks noChangeAspect="1"/>
          </p:cNvPicPr>
          <p:nvPr/>
        </p:nvPicPr>
        <p:blipFill>
          <a:blip r:embed="rId2"/>
          <a:stretch>
            <a:fillRect/>
          </a:stretch>
        </p:blipFill>
        <p:spPr>
          <a:xfrm>
            <a:off x="91440" y="818190"/>
            <a:ext cx="8961120" cy="5221620"/>
          </a:xfrm>
          <a:prstGeom prst="rect">
            <a:avLst/>
          </a:prstGeom>
          <a:ln>
            <a:solidFill>
              <a:schemeClr val="accent1"/>
            </a:solidFill>
          </a:ln>
        </p:spPr>
      </p:pic>
    </p:spTree>
    <p:extLst>
      <p:ext uri="{BB962C8B-B14F-4D97-AF65-F5344CB8AC3E}">
        <p14:creationId xmlns:p14="http://schemas.microsoft.com/office/powerpoint/2010/main" val="2796270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98C841-1645-6FE3-D226-943FD584DFF8}"/>
              </a:ext>
            </a:extLst>
          </p:cNvPr>
          <p:cNvSpPr>
            <a:spLocks noGrp="1"/>
          </p:cNvSpPr>
          <p:nvPr>
            <p:ph type="sldNum" sz="quarter" idx="12"/>
          </p:nvPr>
        </p:nvSpPr>
        <p:spPr/>
        <p:txBody>
          <a:bodyPr/>
          <a:lstStyle/>
          <a:p>
            <a:fld id="{EBFB1032-EA64-7144-B003-9BCC9D94B503}" type="slidenum">
              <a:rPr lang="en-US" smtClean="0"/>
              <a:t>39</a:t>
            </a:fld>
            <a:endParaRPr lang="en-US" dirty="0"/>
          </a:p>
        </p:txBody>
      </p:sp>
      <p:pic>
        <p:nvPicPr>
          <p:cNvPr id="4" name="Picture 3">
            <a:extLst>
              <a:ext uri="{FF2B5EF4-FFF2-40B4-BE49-F238E27FC236}">
                <a16:creationId xmlns:a16="http://schemas.microsoft.com/office/drawing/2014/main" id="{50E354B0-1E88-F1CE-6C93-3A45C5FF8746}"/>
              </a:ext>
            </a:extLst>
          </p:cNvPr>
          <p:cNvPicPr>
            <a:picLocks noChangeAspect="1"/>
          </p:cNvPicPr>
          <p:nvPr/>
        </p:nvPicPr>
        <p:blipFill>
          <a:blip r:embed="rId2"/>
          <a:stretch>
            <a:fillRect/>
          </a:stretch>
        </p:blipFill>
        <p:spPr>
          <a:xfrm>
            <a:off x="91440" y="1282420"/>
            <a:ext cx="8961120" cy="4293160"/>
          </a:xfrm>
          <a:prstGeom prst="rect">
            <a:avLst/>
          </a:prstGeom>
          <a:ln>
            <a:solidFill>
              <a:schemeClr val="accent1"/>
            </a:solidFill>
          </a:ln>
        </p:spPr>
      </p:pic>
    </p:spTree>
    <p:extLst>
      <p:ext uri="{BB962C8B-B14F-4D97-AF65-F5344CB8AC3E}">
        <p14:creationId xmlns:p14="http://schemas.microsoft.com/office/powerpoint/2010/main" val="2961296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B9591D-DCA6-3585-0946-3DED11B0813B}"/>
              </a:ext>
            </a:extLst>
          </p:cNvPr>
          <p:cNvSpPr>
            <a:spLocks noGrp="1"/>
          </p:cNvSpPr>
          <p:nvPr>
            <p:ph type="title"/>
          </p:nvPr>
        </p:nvSpPr>
        <p:spPr/>
        <p:txBody>
          <a:bodyPr>
            <a:normAutofit/>
          </a:bodyPr>
          <a:lstStyle/>
          <a:p>
            <a:r>
              <a:rPr lang="en-US" dirty="0"/>
              <a:t>5. Text-To-Speech (TTS) API</a:t>
            </a:r>
          </a:p>
        </p:txBody>
      </p:sp>
      <p:sp>
        <p:nvSpPr>
          <p:cNvPr id="2" name="Slide Number Placeholder 1">
            <a:extLst>
              <a:ext uri="{FF2B5EF4-FFF2-40B4-BE49-F238E27FC236}">
                <a16:creationId xmlns:a16="http://schemas.microsoft.com/office/drawing/2014/main" id="{2DF39C29-6DC6-80A3-8F00-7BEBBFF804B2}"/>
              </a:ext>
            </a:extLst>
          </p:cNvPr>
          <p:cNvSpPr>
            <a:spLocks noGrp="1"/>
          </p:cNvSpPr>
          <p:nvPr>
            <p:ph type="sldNum" sz="quarter" idx="12"/>
          </p:nvPr>
        </p:nvSpPr>
        <p:spPr/>
        <p:txBody>
          <a:bodyPr>
            <a:normAutofit fontScale="85000" lnSpcReduction="20000"/>
          </a:bodyPr>
          <a:lstStyle/>
          <a:p>
            <a:fld id="{EBFB1032-EA64-7144-B003-9BCC9D94B503}" type="slidenum">
              <a:rPr lang="en-US" smtClean="0"/>
              <a:t>40</a:t>
            </a:fld>
            <a:endParaRPr lang="en-US" dirty="0"/>
          </a:p>
        </p:txBody>
      </p:sp>
      <p:sp>
        <p:nvSpPr>
          <p:cNvPr id="4" name="Content Placeholder 3">
            <a:extLst>
              <a:ext uri="{FF2B5EF4-FFF2-40B4-BE49-F238E27FC236}">
                <a16:creationId xmlns:a16="http://schemas.microsoft.com/office/drawing/2014/main" id="{52C39EB0-7296-B8AA-A2F2-D92947D8A9A0}"/>
              </a:ext>
            </a:extLst>
          </p:cNvPr>
          <p:cNvSpPr>
            <a:spLocks noGrp="1"/>
          </p:cNvSpPr>
          <p:nvPr>
            <p:ph sz="quarter" idx="1"/>
          </p:nvPr>
        </p:nvSpPr>
        <p:spPr/>
        <p:txBody>
          <a:bodyPr/>
          <a:lstStyle/>
          <a:p>
            <a:r>
              <a:rPr lang="en-US" dirty="0"/>
              <a:t>Spring AI provides support for OpenAI’s Speech API.</a:t>
            </a:r>
          </a:p>
          <a:p>
            <a:endParaRPr lang="en-US" dirty="0"/>
          </a:p>
          <a:p>
            <a:r>
              <a:rPr lang="en-US" dirty="0"/>
              <a:t>When additional providers for Speech are implemented, a common </a:t>
            </a:r>
            <a:r>
              <a:rPr lang="en-US" dirty="0" err="1"/>
              <a:t>SpeechModel</a:t>
            </a:r>
            <a:r>
              <a:rPr lang="en-US" dirty="0"/>
              <a:t> and </a:t>
            </a:r>
            <a:r>
              <a:rPr lang="en-US" dirty="0" err="1"/>
              <a:t>StreamingSpeechModel</a:t>
            </a:r>
            <a:r>
              <a:rPr lang="en-US" dirty="0"/>
              <a:t> interface will be extracted.</a:t>
            </a:r>
          </a:p>
          <a:p>
            <a:endParaRPr lang="en-US" dirty="0"/>
          </a:p>
        </p:txBody>
      </p:sp>
    </p:spTree>
    <p:extLst>
      <p:ext uri="{BB962C8B-B14F-4D97-AF65-F5344CB8AC3E}">
        <p14:creationId xmlns:p14="http://schemas.microsoft.com/office/powerpoint/2010/main" val="206517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DB8CF1-8DDF-9602-A50E-8A1E98E9C111}"/>
              </a:ext>
            </a:extLst>
          </p:cNvPr>
          <p:cNvSpPr>
            <a:spLocks noGrp="1"/>
          </p:cNvSpPr>
          <p:nvPr>
            <p:ph type="sldNum" sz="quarter" idx="12"/>
          </p:nvPr>
        </p:nvSpPr>
        <p:spPr/>
        <p:txBody>
          <a:bodyPr/>
          <a:lstStyle/>
          <a:p>
            <a:fld id="{EBFB1032-EA64-7144-B003-9BCC9D94B503}" type="slidenum">
              <a:rPr lang="en-US" smtClean="0"/>
              <a:t>41</a:t>
            </a:fld>
            <a:endParaRPr lang="en-US" dirty="0"/>
          </a:p>
        </p:txBody>
      </p:sp>
      <p:pic>
        <p:nvPicPr>
          <p:cNvPr id="6" name="Picture 5">
            <a:extLst>
              <a:ext uri="{FF2B5EF4-FFF2-40B4-BE49-F238E27FC236}">
                <a16:creationId xmlns:a16="http://schemas.microsoft.com/office/drawing/2014/main" id="{4C69568F-E07D-FA55-FE80-7744BA5F8070}"/>
              </a:ext>
            </a:extLst>
          </p:cNvPr>
          <p:cNvPicPr>
            <a:picLocks noChangeAspect="1"/>
          </p:cNvPicPr>
          <p:nvPr/>
        </p:nvPicPr>
        <p:blipFill>
          <a:blip r:embed="rId2"/>
          <a:stretch>
            <a:fillRect/>
          </a:stretch>
        </p:blipFill>
        <p:spPr>
          <a:xfrm>
            <a:off x="91440" y="625073"/>
            <a:ext cx="8961120" cy="5607853"/>
          </a:xfrm>
          <a:prstGeom prst="rect">
            <a:avLst/>
          </a:prstGeom>
          <a:ln>
            <a:solidFill>
              <a:schemeClr val="accent1"/>
            </a:solidFill>
          </a:ln>
        </p:spPr>
      </p:pic>
    </p:spTree>
    <p:extLst>
      <p:ext uri="{BB962C8B-B14F-4D97-AF65-F5344CB8AC3E}">
        <p14:creationId xmlns:p14="http://schemas.microsoft.com/office/powerpoint/2010/main" val="1943567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039FBC-9AA0-098F-76F6-D3909350FFE7}"/>
              </a:ext>
            </a:extLst>
          </p:cNvPr>
          <p:cNvSpPr>
            <a:spLocks noGrp="1"/>
          </p:cNvSpPr>
          <p:nvPr>
            <p:ph type="sldNum" sz="quarter" idx="12"/>
          </p:nvPr>
        </p:nvSpPr>
        <p:spPr/>
        <p:txBody>
          <a:bodyPr/>
          <a:lstStyle/>
          <a:p>
            <a:fld id="{EBFB1032-EA64-7144-B003-9BCC9D94B503}" type="slidenum">
              <a:rPr lang="en-US" smtClean="0"/>
              <a:t>42</a:t>
            </a:fld>
            <a:endParaRPr lang="en-US" dirty="0"/>
          </a:p>
        </p:txBody>
      </p:sp>
      <p:pic>
        <p:nvPicPr>
          <p:cNvPr id="4" name="Picture 3">
            <a:extLst>
              <a:ext uri="{FF2B5EF4-FFF2-40B4-BE49-F238E27FC236}">
                <a16:creationId xmlns:a16="http://schemas.microsoft.com/office/drawing/2014/main" id="{66F5CF0C-E24B-F040-17DC-38A425CE555A}"/>
              </a:ext>
            </a:extLst>
          </p:cNvPr>
          <p:cNvPicPr>
            <a:picLocks noChangeAspect="1"/>
          </p:cNvPicPr>
          <p:nvPr/>
        </p:nvPicPr>
        <p:blipFill>
          <a:blip r:embed="rId2"/>
          <a:stretch>
            <a:fillRect/>
          </a:stretch>
        </p:blipFill>
        <p:spPr>
          <a:xfrm>
            <a:off x="91440" y="954405"/>
            <a:ext cx="8961120" cy="4949190"/>
          </a:xfrm>
          <a:prstGeom prst="rect">
            <a:avLst/>
          </a:prstGeom>
          <a:ln>
            <a:solidFill>
              <a:schemeClr val="accent1"/>
            </a:solidFill>
          </a:ln>
        </p:spPr>
      </p:pic>
    </p:spTree>
    <p:extLst>
      <p:ext uri="{BB962C8B-B14F-4D97-AF65-F5344CB8AC3E}">
        <p14:creationId xmlns:p14="http://schemas.microsoft.com/office/powerpoint/2010/main" val="2261812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CDFFA6-CA87-3AFD-B9EF-45F309079451}"/>
              </a:ext>
            </a:extLst>
          </p:cNvPr>
          <p:cNvSpPr>
            <a:spLocks noGrp="1"/>
          </p:cNvSpPr>
          <p:nvPr>
            <p:ph type="sldNum" sz="quarter" idx="12"/>
          </p:nvPr>
        </p:nvSpPr>
        <p:spPr/>
        <p:txBody>
          <a:bodyPr/>
          <a:lstStyle/>
          <a:p>
            <a:fld id="{EBFB1032-EA64-7144-B003-9BCC9D94B503}" type="slidenum">
              <a:rPr lang="en-US" smtClean="0"/>
              <a:t>43</a:t>
            </a:fld>
            <a:endParaRPr lang="en-US" dirty="0"/>
          </a:p>
        </p:txBody>
      </p:sp>
      <p:pic>
        <p:nvPicPr>
          <p:cNvPr id="4" name="Picture 3">
            <a:extLst>
              <a:ext uri="{FF2B5EF4-FFF2-40B4-BE49-F238E27FC236}">
                <a16:creationId xmlns:a16="http://schemas.microsoft.com/office/drawing/2014/main" id="{9BBB12B3-989B-936A-9F92-97CFFEB78708}"/>
              </a:ext>
            </a:extLst>
          </p:cNvPr>
          <p:cNvPicPr>
            <a:picLocks noChangeAspect="1"/>
          </p:cNvPicPr>
          <p:nvPr/>
        </p:nvPicPr>
        <p:blipFill>
          <a:blip r:embed="rId2"/>
          <a:stretch>
            <a:fillRect/>
          </a:stretch>
        </p:blipFill>
        <p:spPr>
          <a:xfrm>
            <a:off x="91440" y="459061"/>
            <a:ext cx="8961120" cy="5939877"/>
          </a:xfrm>
          <a:prstGeom prst="rect">
            <a:avLst/>
          </a:prstGeom>
          <a:ln>
            <a:solidFill>
              <a:schemeClr val="accent1"/>
            </a:solidFill>
          </a:ln>
        </p:spPr>
      </p:pic>
    </p:spTree>
    <p:extLst>
      <p:ext uri="{BB962C8B-B14F-4D97-AF65-F5344CB8AC3E}">
        <p14:creationId xmlns:p14="http://schemas.microsoft.com/office/powerpoint/2010/main" val="283070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9A98A6-F95A-CD82-E7AC-A5D37798B025}"/>
              </a:ext>
            </a:extLst>
          </p:cNvPr>
          <p:cNvSpPr>
            <a:spLocks noGrp="1"/>
          </p:cNvSpPr>
          <p:nvPr>
            <p:ph type="sldNum" sz="quarter" idx="12"/>
          </p:nvPr>
        </p:nvSpPr>
        <p:spPr/>
        <p:txBody>
          <a:bodyPr/>
          <a:lstStyle/>
          <a:p>
            <a:fld id="{EBFB1032-EA64-7144-B003-9BCC9D94B503}" type="slidenum">
              <a:rPr lang="en-US" smtClean="0"/>
              <a:t>44</a:t>
            </a:fld>
            <a:endParaRPr lang="en-US" dirty="0"/>
          </a:p>
        </p:txBody>
      </p:sp>
      <p:pic>
        <p:nvPicPr>
          <p:cNvPr id="4" name="Picture 3">
            <a:extLst>
              <a:ext uri="{FF2B5EF4-FFF2-40B4-BE49-F238E27FC236}">
                <a16:creationId xmlns:a16="http://schemas.microsoft.com/office/drawing/2014/main" id="{2B6BCE86-2597-1946-4462-1BCF485E0295}"/>
              </a:ext>
            </a:extLst>
          </p:cNvPr>
          <p:cNvPicPr>
            <a:picLocks noChangeAspect="1"/>
          </p:cNvPicPr>
          <p:nvPr/>
        </p:nvPicPr>
        <p:blipFill>
          <a:blip r:embed="rId2"/>
          <a:stretch>
            <a:fillRect/>
          </a:stretch>
        </p:blipFill>
        <p:spPr>
          <a:xfrm>
            <a:off x="91440" y="432483"/>
            <a:ext cx="8961120" cy="5993033"/>
          </a:xfrm>
          <a:prstGeom prst="rect">
            <a:avLst/>
          </a:prstGeom>
          <a:ln>
            <a:solidFill>
              <a:schemeClr val="accent1"/>
            </a:solidFill>
          </a:ln>
        </p:spPr>
      </p:pic>
    </p:spTree>
    <p:extLst>
      <p:ext uri="{BB962C8B-B14F-4D97-AF65-F5344CB8AC3E}">
        <p14:creationId xmlns:p14="http://schemas.microsoft.com/office/powerpoint/2010/main" val="24078837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3F865D-323C-A360-6076-5C9D58181D77}"/>
              </a:ext>
            </a:extLst>
          </p:cNvPr>
          <p:cNvSpPr>
            <a:spLocks noGrp="1"/>
          </p:cNvSpPr>
          <p:nvPr>
            <p:ph type="title"/>
          </p:nvPr>
        </p:nvSpPr>
        <p:spPr/>
        <p:txBody>
          <a:bodyPr>
            <a:normAutofit/>
          </a:bodyPr>
          <a:lstStyle/>
          <a:p>
            <a:r>
              <a:rPr lang="en-US" dirty="0"/>
              <a:t>6. Moderation</a:t>
            </a:r>
          </a:p>
        </p:txBody>
      </p:sp>
      <p:sp>
        <p:nvSpPr>
          <p:cNvPr id="2" name="Slide Number Placeholder 1">
            <a:extLst>
              <a:ext uri="{FF2B5EF4-FFF2-40B4-BE49-F238E27FC236}">
                <a16:creationId xmlns:a16="http://schemas.microsoft.com/office/drawing/2014/main" id="{2EFE8167-F827-1F85-DFD5-8F2D8916BBA3}"/>
              </a:ext>
            </a:extLst>
          </p:cNvPr>
          <p:cNvSpPr>
            <a:spLocks noGrp="1"/>
          </p:cNvSpPr>
          <p:nvPr>
            <p:ph type="sldNum" sz="quarter" idx="12"/>
          </p:nvPr>
        </p:nvSpPr>
        <p:spPr/>
        <p:txBody>
          <a:bodyPr>
            <a:normAutofit fontScale="85000" lnSpcReduction="20000"/>
          </a:bodyPr>
          <a:lstStyle/>
          <a:p>
            <a:fld id="{EBFB1032-EA64-7144-B003-9BCC9D94B503}" type="slidenum">
              <a:rPr lang="en-US" smtClean="0"/>
              <a:t>45</a:t>
            </a:fld>
            <a:endParaRPr lang="en-US" dirty="0"/>
          </a:p>
        </p:txBody>
      </p:sp>
      <p:sp>
        <p:nvSpPr>
          <p:cNvPr id="4" name="Content Placeholder 3">
            <a:extLst>
              <a:ext uri="{FF2B5EF4-FFF2-40B4-BE49-F238E27FC236}">
                <a16:creationId xmlns:a16="http://schemas.microsoft.com/office/drawing/2014/main" id="{3356B300-FBFD-733A-D6F2-C49438BE95CD}"/>
              </a:ext>
            </a:extLst>
          </p:cNvPr>
          <p:cNvSpPr>
            <a:spLocks noGrp="1"/>
          </p:cNvSpPr>
          <p:nvPr>
            <p:ph sz="quarter" idx="1"/>
          </p:nvPr>
        </p:nvSpPr>
        <p:spPr/>
        <p:txBody>
          <a:bodyPr>
            <a:normAutofit/>
          </a:bodyPr>
          <a:lstStyle/>
          <a:p>
            <a:r>
              <a:rPr lang="en-US" dirty="0"/>
              <a:t>Spring AI supports OpenAI’s Moderation model, which allows you to detect potentially harmful or sensitive content in text.</a:t>
            </a:r>
          </a:p>
          <a:p>
            <a:endParaRPr lang="en-US" dirty="0"/>
          </a:p>
          <a:p>
            <a:r>
              <a:rPr lang="en-US" dirty="0"/>
              <a:t>Prerequisites</a:t>
            </a:r>
          </a:p>
          <a:p>
            <a:pPr lvl="1"/>
            <a:r>
              <a:rPr lang="en-US" dirty="0"/>
              <a:t>Create an OpenAI account and obtain an API key.</a:t>
            </a:r>
          </a:p>
          <a:p>
            <a:pPr lvl="1"/>
            <a:r>
              <a:rPr lang="en-US" dirty="0"/>
              <a:t>You can sign up at the OpenAI signup page and generate an API key on the API Keys page.</a:t>
            </a:r>
          </a:p>
          <a:p>
            <a:pPr lvl="1"/>
            <a:r>
              <a:rPr lang="en-US" dirty="0"/>
              <a:t>Add the spring-ai-</a:t>
            </a:r>
            <a:r>
              <a:rPr lang="en-US" dirty="0" err="1"/>
              <a:t>openai</a:t>
            </a:r>
            <a:r>
              <a:rPr lang="en-US" dirty="0"/>
              <a:t> dependency to your project’s build file. </a:t>
            </a:r>
          </a:p>
        </p:txBody>
      </p:sp>
    </p:spTree>
    <p:extLst>
      <p:ext uri="{BB962C8B-B14F-4D97-AF65-F5344CB8AC3E}">
        <p14:creationId xmlns:p14="http://schemas.microsoft.com/office/powerpoint/2010/main" val="33117625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3DC8E-79B1-9978-69D6-4D9AB2412E4E}"/>
              </a:ext>
            </a:extLst>
          </p:cNvPr>
          <p:cNvSpPr>
            <a:spLocks noGrp="1"/>
          </p:cNvSpPr>
          <p:nvPr>
            <p:ph type="title"/>
          </p:nvPr>
        </p:nvSpPr>
        <p:spPr/>
        <p:txBody>
          <a:bodyPr>
            <a:normAutofit/>
          </a:bodyPr>
          <a:lstStyle/>
          <a:p>
            <a:r>
              <a:rPr lang="en-US" dirty="0"/>
              <a:t>Runtime Options</a:t>
            </a:r>
          </a:p>
        </p:txBody>
      </p:sp>
      <p:sp>
        <p:nvSpPr>
          <p:cNvPr id="3" name="Slide Number Placeholder 2">
            <a:extLst>
              <a:ext uri="{FF2B5EF4-FFF2-40B4-BE49-F238E27FC236}">
                <a16:creationId xmlns:a16="http://schemas.microsoft.com/office/drawing/2014/main" id="{32CE2ED6-8199-1AFB-29CD-97F303625B81}"/>
              </a:ext>
            </a:extLst>
          </p:cNvPr>
          <p:cNvSpPr>
            <a:spLocks noGrp="1"/>
          </p:cNvSpPr>
          <p:nvPr>
            <p:ph type="sldNum" sz="quarter" idx="12"/>
          </p:nvPr>
        </p:nvSpPr>
        <p:spPr/>
        <p:txBody>
          <a:bodyPr>
            <a:normAutofit fontScale="85000" lnSpcReduction="20000"/>
          </a:bodyPr>
          <a:lstStyle/>
          <a:p>
            <a:fld id="{EBFB1032-EA64-7144-B003-9BCC9D94B503}" type="slidenum">
              <a:rPr lang="en-US" smtClean="0"/>
              <a:t>46</a:t>
            </a:fld>
            <a:endParaRPr lang="en-US" dirty="0"/>
          </a:p>
        </p:txBody>
      </p:sp>
      <p:sp>
        <p:nvSpPr>
          <p:cNvPr id="4" name="Content Placeholder 3">
            <a:extLst>
              <a:ext uri="{FF2B5EF4-FFF2-40B4-BE49-F238E27FC236}">
                <a16:creationId xmlns:a16="http://schemas.microsoft.com/office/drawing/2014/main" id="{C414E291-D908-0A7A-7E37-B6B840F21F4E}"/>
              </a:ext>
            </a:extLst>
          </p:cNvPr>
          <p:cNvSpPr>
            <a:spLocks noGrp="1"/>
          </p:cNvSpPr>
          <p:nvPr>
            <p:ph sz="quarter" idx="1"/>
          </p:nvPr>
        </p:nvSpPr>
        <p:spPr/>
        <p:txBody>
          <a:bodyPr/>
          <a:lstStyle/>
          <a:p>
            <a:r>
              <a:rPr lang="en-US" dirty="0"/>
              <a:t>The </a:t>
            </a:r>
            <a:r>
              <a:rPr lang="en-US" dirty="0" err="1"/>
              <a:t>OpenAiModerationOptions</a:t>
            </a:r>
            <a:r>
              <a:rPr lang="en-US" dirty="0"/>
              <a:t> class provides the options to use when making a moderation request.</a:t>
            </a:r>
          </a:p>
          <a:p>
            <a:endParaRPr lang="en-US" dirty="0"/>
          </a:p>
          <a:p>
            <a:r>
              <a:rPr lang="en-US" dirty="0"/>
              <a:t>On start-up, the options specified by </a:t>
            </a:r>
            <a:r>
              <a:rPr lang="en-US" dirty="0" err="1"/>
              <a:t>spring.ai.openai.moderation</a:t>
            </a:r>
            <a:r>
              <a:rPr lang="en-US" dirty="0"/>
              <a:t> are used, but you can override these at runtime.</a:t>
            </a:r>
          </a:p>
          <a:p>
            <a:endParaRPr lang="en-US" dirty="0"/>
          </a:p>
        </p:txBody>
      </p:sp>
    </p:spTree>
    <p:extLst>
      <p:ext uri="{BB962C8B-B14F-4D97-AF65-F5344CB8AC3E}">
        <p14:creationId xmlns:p14="http://schemas.microsoft.com/office/powerpoint/2010/main" val="30365157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7C659A-CFA0-4758-7F67-99D9F00FCE73}"/>
              </a:ext>
            </a:extLst>
          </p:cNvPr>
          <p:cNvSpPr>
            <a:spLocks noGrp="1"/>
          </p:cNvSpPr>
          <p:nvPr>
            <p:ph type="sldNum" sz="quarter" idx="12"/>
          </p:nvPr>
        </p:nvSpPr>
        <p:spPr/>
        <p:txBody>
          <a:bodyPr/>
          <a:lstStyle/>
          <a:p>
            <a:fld id="{EBFB1032-EA64-7144-B003-9BCC9D94B503}" type="slidenum">
              <a:rPr lang="en-US" smtClean="0"/>
              <a:t>47</a:t>
            </a:fld>
            <a:endParaRPr lang="en-US" dirty="0"/>
          </a:p>
        </p:txBody>
      </p:sp>
      <p:pic>
        <p:nvPicPr>
          <p:cNvPr id="6" name="Picture 5">
            <a:extLst>
              <a:ext uri="{FF2B5EF4-FFF2-40B4-BE49-F238E27FC236}">
                <a16:creationId xmlns:a16="http://schemas.microsoft.com/office/drawing/2014/main" id="{C40D0F86-9944-DB5C-7FAA-3C02C3EA0DCE}"/>
              </a:ext>
            </a:extLst>
          </p:cNvPr>
          <p:cNvPicPr>
            <a:picLocks noChangeAspect="1"/>
          </p:cNvPicPr>
          <p:nvPr/>
        </p:nvPicPr>
        <p:blipFill>
          <a:blip r:embed="rId2"/>
          <a:stretch>
            <a:fillRect/>
          </a:stretch>
        </p:blipFill>
        <p:spPr>
          <a:xfrm>
            <a:off x="578881" y="45720"/>
            <a:ext cx="7986238" cy="6766560"/>
          </a:xfrm>
          <a:prstGeom prst="rect">
            <a:avLst/>
          </a:prstGeom>
          <a:ln>
            <a:solidFill>
              <a:schemeClr val="accent1"/>
            </a:solidFill>
          </a:ln>
        </p:spPr>
      </p:pic>
    </p:spTree>
    <p:extLst>
      <p:ext uri="{BB962C8B-B14F-4D97-AF65-F5344CB8AC3E}">
        <p14:creationId xmlns:p14="http://schemas.microsoft.com/office/powerpoint/2010/main" val="15151326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48B97D-2C2E-A47D-16BE-38936C43082C}"/>
              </a:ext>
            </a:extLst>
          </p:cNvPr>
          <p:cNvSpPr>
            <a:spLocks noGrp="1"/>
          </p:cNvSpPr>
          <p:nvPr>
            <p:ph type="sldNum" sz="quarter" idx="12"/>
          </p:nvPr>
        </p:nvSpPr>
        <p:spPr/>
        <p:txBody>
          <a:bodyPr/>
          <a:lstStyle/>
          <a:p>
            <a:fld id="{EBFB1032-EA64-7144-B003-9BCC9D94B503}" type="slidenum">
              <a:rPr lang="en-US" smtClean="0"/>
              <a:t>48</a:t>
            </a:fld>
            <a:endParaRPr lang="en-US" dirty="0"/>
          </a:p>
        </p:txBody>
      </p:sp>
      <p:pic>
        <p:nvPicPr>
          <p:cNvPr id="4" name="Picture 3">
            <a:extLst>
              <a:ext uri="{FF2B5EF4-FFF2-40B4-BE49-F238E27FC236}">
                <a16:creationId xmlns:a16="http://schemas.microsoft.com/office/drawing/2014/main" id="{ABA76B86-58B8-59E5-8859-A0032C426CEC}"/>
              </a:ext>
            </a:extLst>
          </p:cNvPr>
          <p:cNvPicPr>
            <a:picLocks noChangeAspect="1"/>
          </p:cNvPicPr>
          <p:nvPr/>
        </p:nvPicPr>
        <p:blipFill>
          <a:blip r:embed="rId2"/>
          <a:stretch>
            <a:fillRect/>
          </a:stretch>
        </p:blipFill>
        <p:spPr>
          <a:xfrm>
            <a:off x="457200" y="1462750"/>
            <a:ext cx="8229600" cy="3932499"/>
          </a:xfrm>
          <a:prstGeom prst="rect">
            <a:avLst/>
          </a:prstGeom>
        </p:spPr>
      </p:pic>
    </p:spTree>
    <p:extLst>
      <p:ext uri="{BB962C8B-B14F-4D97-AF65-F5344CB8AC3E}">
        <p14:creationId xmlns:p14="http://schemas.microsoft.com/office/powerpoint/2010/main" val="3690000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5833A5-071D-2B49-F072-BD2DE11029E8}"/>
              </a:ext>
            </a:extLst>
          </p:cNvPr>
          <p:cNvSpPr>
            <a:spLocks noGrp="1"/>
          </p:cNvSpPr>
          <p:nvPr>
            <p:ph type="title"/>
          </p:nvPr>
        </p:nvSpPr>
        <p:spPr/>
        <p:txBody>
          <a:bodyPr/>
          <a:lstStyle/>
          <a:p>
            <a:r>
              <a:rPr lang="en-US" dirty="0"/>
              <a:t>Next, create an </a:t>
            </a:r>
            <a:r>
              <a:rPr lang="en-US" dirty="0" err="1"/>
              <a:t>OpenAiModerationModel</a:t>
            </a:r>
            <a:r>
              <a:rPr lang="en-US" dirty="0"/>
              <a:t>:</a:t>
            </a:r>
          </a:p>
        </p:txBody>
      </p:sp>
      <p:sp>
        <p:nvSpPr>
          <p:cNvPr id="2" name="Slide Number Placeholder 1">
            <a:extLst>
              <a:ext uri="{FF2B5EF4-FFF2-40B4-BE49-F238E27FC236}">
                <a16:creationId xmlns:a16="http://schemas.microsoft.com/office/drawing/2014/main" id="{9D4587DB-7E2C-288F-06EE-F7CA44B40277}"/>
              </a:ext>
            </a:extLst>
          </p:cNvPr>
          <p:cNvSpPr>
            <a:spLocks noGrp="1"/>
          </p:cNvSpPr>
          <p:nvPr>
            <p:ph type="sldNum" sz="quarter" idx="12"/>
          </p:nvPr>
        </p:nvSpPr>
        <p:spPr/>
        <p:txBody>
          <a:bodyPr>
            <a:normAutofit fontScale="85000" lnSpcReduction="20000"/>
          </a:bodyPr>
          <a:lstStyle/>
          <a:p>
            <a:fld id="{EBFB1032-EA64-7144-B003-9BCC9D94B503}" type="slidenum">
              <a:rPr lang="en-US" smtClean="0"/>
              <a:t>49</a:t>
            </a:fld>
            <a:endParaRPr lang="en-US" dirty="0"/>
          </a:p>
        </p:txBody>
      </p:sp>
      <p:pic>
        <p:nvPicPr>
          <p:cNvPr id="6" name="Picture 5">
            <a:extLst>
              <a:ext uri="{FF2B5EF4-FFF2-40B4-BE49-F238E27FC236}">
                <a16:creationId xmlns:a16="http://schemas.microsoft.com/office/drawing/2014/main" id="{922A0AD8-90B9-3041-95A4-5059C354CAC5}"/>
              </a:ext>
            </a:extLst>
          </p:cNvPr>
          <p:cNvPicPr>
            <a:picLocks noChangeAspect="1"/>
          </p:cNvPicPr>
          <p:nvPr/>
        </p:nvPicPr>
        <p:blipFill>
          <a:blip r:embed="rId2"/>
          <a:stretch>
            <a:fillRect/>
          </a:stretch>
        </p:blipFill>
        <p:spPr>
          <a:xfrm>
            <a:off x="102668" y="1848924"/>
            <a:ext cx="8961120" cy="2491168"/>
          </a:xfrm>
          <a:prstGeom prst="rect">
            <a:avLst/>
          </a:prstGeom>
        </p:spPr>
      </p:pic>
    </p:spTree>
    <p:extLst>
      <p:ext uri="{BB962C8B-B14F-4D97-AF65-F5344CB8AC3E}">
        <p14:creationId xmlns:p14="http://schemas.microsoft.com/office/powerpoint/2010/main" val="103990420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Facet</Template>
  <TotalTime>11197</TotalTime>
  <Words>1490</Words>
  <Application>Microsoft Office PowerPoint</Application>
  <PresentationFormat>On-screen Show (4:3)</PresentationFormat>
  <Paragraphs>185</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 Narrow</vt:lpstr>
      <vt:lpstr>Calibri</vt:lpstr>
      <vt:lpstr>Tw Cen MT</vt:lpstr>
      <vt:lpstr>Wingdings</vt:lpstr>
      <vt:lpstr>Wingdings 2</vt:lpstr>
      <vt:lpstr>Median</vt:lpstr>
      <vt:lpstr>Spring AI</vt:lpstr>
      <vt:lpstr>Spring AI provides the following features:</vt:lpstr>
      <vt:lpstr>1. Chat Model API</vt:lpstr>
      <vt:lpstr>The Spring AI Chat Model API</vt:lpstr>
      <vt:lpstr>ChatModel</vt:lpstr>
      <vt:lpstr>StreamingChatModel</vt:lpstr>
      <vt:lpstr>Prompt</vt:lpstr>
      <vt:lpstr>Message</vt:lpstr>
      <vt:lpstr>MediaContent</vt:lpstr>
      <vt:lpstr>PowerPoint Presentation</vt:lpstr>
      <vt:lpstr>Spring AI Message API</vt:lpstr>
      <vt:lpstr>ChatOptions</vt:lpstr>
      <vt:lpstr>Spring AI provides a sophisticated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Chat Models Comparison</vt:lpstr>
      <vt:lpstr>PowerPoint Presentation</vt:lpstr>
      <vt:lpstr>2. Embeddings Model API</vt:lpstr>
      <vt:lpstr>Primary Goals</vt:lpstr>
      <vt:lpstr>API Overview</vt:lpstr>
      <vt:lpstr>PowerPoint Presentation</vt:lpstr>
      <vt:lpstr>3. Image Model API</vt:lpstr>
      <vt:lpstr>PowerPoint Presentation</vt:lpstr>
      <vt:lpstr>Available Implementations</vt:lpstr>
      <vt:lpstr>Azure OpenAI Image Generation</vt:lpstr>
      <vt:lpstr>PowerPoint Presentation</vt:lpstr>
      <vt:lpstr>4. Audio Models</vt:lpstr>
      <vt:lpstr>PowerPoint Presentation</vt:lpstr>
      <vt:lpstr>Runtime Options</vt:lpstr>
      <vt:lpstr>PowerPoint Presentation</vt:lpstr>
      <vt:lpstr>Next, create a AzureOpenAiAudioTranscriptionModel</vt:lpstr>
      <vt:lpstr>PowerPoint Presentation</vt:lpstr>
      <vt:lpstr>PowerPoint Presentation</vt:lpstr>
      <vt:lpstr>PowerPoint Presentation</vt:lpstr>
      <vt:lpstr>5. Text-To-Speech (TTS) API</vt:lpstr>
      <vt:lpstr>PowerPoint Presentation</vt:lpstr>
      <vt:lpstr>PowerPoint Presentation</vt:lpstr>
      <vt:lpstr>PowerPoint Presentation</vt:lpstr>
      <vt:lpstr>PowerPoint Presentation</vt:lpstr>
      <vt:lpstr>6. Moderation</vt:lpstr>
      <vt:lpstr>Runtime Options</vt:lpstr>
      <vt:lpstr>PowerPoint Presentation</vt:lpstr>
      <vt:lpstr>PowerPoint Presentation</vt:lpstr>
      <vt:lpstr>Next, create an OpenAiModerationModel:</vt:lpstr>
    </vt:vector>
  </TitlesOfParts>
  <Company>WPI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 Eltabakh</dc:creator>
  <cp:lastModifiedBy>Ozbek, Yusuf</cp:lastModifiedBy>
  <cp:revision>1542</cp:revision>
  <dcterms:created xsi:type="dcterms:W3CDTF">2013-01-13T20:33:29Z</dcterms:created>
  <dcterms:modified xsi:type="dcterms:W3CDTF">2025-10-16T21:40:58Z</dcterms:modified>
</cp:coreProperties>
</file>