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7" r:id="rId1"/>
  </p:sldMasterIdLst>
  <p:notesMasterIdLst>
    <p:notesMasterId r:id="rId21"/>
  </p:notesMasterIdLst>
  <p:handoutMasterIdLst>
    <p:handoutMasterId r:id="rId22"/>
  </p:handoutMasterIdLst>
  <p:sldIdLst>
    <p:sldId id="349" r:id="rId2"/>
    <p:sldId id="367" r:id="rId3"/>
    <p:sldId id="350" r:id="rId4"/>
    <p:sldId id="351" r:id="rId5"/>
    <p:sldId id="352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366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FB9"/>
    <a:srgbClr val="FFF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28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D9761D-1F95-3B4C-BE9C-CDD1389A881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ADCD51-711A-044D-9B2C-C47F74A9A1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9552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5A596-FA52-0448-9C24-EA3FEFB30C0E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4C5791-7364-9E4F-986D-297FD347B6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19940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CF164A81-75B2-194C-A843-C64EC5C16B3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15" y="228600"/>
            <a:ext cx="8943473" cy="990600"/>
          </a:xfrm>
        </p:spPr>
        <p:txBody>
          <a:bodyPr>
            <a:normAutofit/>
          </a:bodyPr>
          <a:lstStyle>
            <a:lvl1pPr>
              <a:defRPr sz="3800" b="1">
                <a:latin typeface="Arial Narrow" panose="020B060602020203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0315" y="1600200"/>
            <a:ext cx="8943473" cy="5153526"/>
          </a:xfrm>
        </p:spPr>
        <p:txBody>
          <a:bodyPr>
            <a:normAutofit/>
          </a:bodyPr>
          <a:lstStyle>
            <a:lvl1pPr>
              <a:defRPr sz="2400">
                <a:latin typeface="Arial Narrow" panose="020B0606020202030204" pitchFamily="34" charset="0"/>
              </a:defRPr>
            </a:lvl1pPr>
            <a:lvl2pPr>
              <a:defRPr sz="2400">
                <a:latin typeface="Arial Narrow" panose="020B0606020202030204" pitchFamily="34" charset="0"/>
              </a:defRPr>
            </a:lvl2pPr>
            <a:lvl3pPr>
              <a:defRPr sz="2400">
                <a:latin typeface="Arial Narrow" panose="020B0606020202030204" pitchFamily="34" charset="0"/>
              </a:defRPr>
            </a:lvl3pPr>
            <a:lvl4pPr>
              <a:defRPr sz="2400">
                <a:latin typeface="Arial Narrow" panose="020B0606020202030204" pitchFamily="34" charset="0"/>
              </a:defRPr>
            </a:lvl4pPr>
            <a:lvl5pPr>
              <a:defRPr sz="2400">
                <a:latin typeface="Arial Narrow" panose="020B0606020202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00D79-2A23-4C40-804A-C01F394F0C72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0674B835-C713-9846-B110-24995DE671EF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0393BC9-E94F-5B47-BD76-EECA0CBE7CA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308A2-EBB5-744B-B5B4-7699A7EC7B98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9872E7-27FD-CA40-8E81-E7A5851A1F00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7C8EB-B6A2-A747-83AD-60E35A0235F5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A84A37A-AFC2-4A01-80A1-FC20F2C0D5B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CD6682E5-7E97-2F44-B961-B3631B15779F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DD67E5-F24F-664E-AC9C-26173D2CF6BA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E5DF139F-CB8F-D149-BA56-8B0C015E5021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F81F14-9AEC-394B-B8F6-AE69A194437D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EBFB1032-EA64-7144-B003-9BCC9D94B503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1B65F7-0113-7DE2-3991-A125F6F67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Function calling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37B734-908D-3509-4F4F-4206C8E7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027C4-4CBB-81FD-6CCB-3B08B2BD3E3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Give models access to new functionality and data they can use to follow instructions and respond to prompts.</a:t>
            </a:r>
          </a:p>
          <a:p>
            <a:endParaRPr lang="en-US" sz="2200" dirty="0"/>
          </a:p>
          <a:p>
            <a:r>
              <a:rPr lang="en-US" sz="2200" b="1" dirty="0"/>
              <a:t>Function calling</a:t>
            </a:r>
            <a:r>
              <a:rPr lang="en-US" sz="2200" dirty="0"/>
              <a:t> (also known as </a:t>
            </a:r>
            <a:r>
              <a:rPr lang="en-US" sz="2200" b="1" dirty="0"/>
              <a:t>tool calling</a:t>
            </a:r>
            <a:r>
              <a:rPr lang="en-US" sz="2200" dirty="0"/>
              <a:t>) provides a powerful and flexible way for OpenAI models to interface with external systems and access data outside their training data.</a:t>
            </a:r>
          </a:p>
          <a:p>
            <a:endParaRPr lang="en-US" sz="2200" dirty="0"/>
          </a:p>
          <a:p>
            <a:r>
              <a:rPr lang="en-US" sz="2200" dirty="0"/>
              <a:t>Tool calling (or function calling) enables LLMs to interact with external systems, APIs, and databases, allowing AI to perform actions rather than just generating text</a:t>
            </a:r>
          </a:p>
          <a:p>
            <a:endParaRPr lang="en-US" sz="2200" dirty="0"/>
          </a:p>
          <a:p>
            <a:r>
              <a:rPr lang="en-US" sz="2200" dirty="0"/>
              <a:t>The model intelligently analyzes user queries, determines if a tool (defined via JSON schema) is necessary, and outputs structured arguments for execution.</a:t>
            </a:r>
          </a:p>
        </p:txBody>
      </p:sp>
    </p:spTree>
    <p:extLst>
      <p:ext uri="{BB962C8B-B14F-4D97-AF65-F5344CB8AC3E}">
        <p14:creationId xmlns:p14="http://schemas.microsoft.com/office/powerpoint/2010/main" val="1389876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F6F7-EA20-259A-33BF-DCC84FE96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Aspects of Tool Calling: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F19C85-FB64-A8AA-D8BB-B929A62C3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309A59-20C9-54CB-E6EF-BB86641ABAC7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1800" b="1" dirty="0"/>
              <a:t>Workflow: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The user prompts the model, the model outputs a tool call request, the application executes the tool, and sends the results back to the model to generate the final response.</a:t>
            </a:r>
          </a:p>
          <a:p>
            <a:pPr>
              <a:spcBef>
                <a:spcPts val="0"/>
              </a:spcBef>
            </a:pPr>
            <a:r>
              <a:rPr lang="en-US" sz="1800" b="1" dirty="0"/>
              <a:t>Capabilities: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It expands LLM functionality to include fetching real-time data, performing complex calculations, and automating tasks like sending emails or updating databases.</a:t>
            </a:r>
          </a:p>
          <a:p>
            <a:pPr>
              <a:spcBef>
                <a:spcPts val="0"/>
              </a:spcBef>
            </a:pPr>
            <a:r>
              <a:rPr lang="en-US" sz="1800" b="1" dirty="0"/>
              <a:t>Types of Actions: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Common use cases include information retrieval (search, databases), code execution (Python/Math engines), and process automation (CRMs, IoT).</a:t>
            </a:r>
          </a:p>
          <a:p>
            <a:pPr>
              <a:spcBef>
                <a:spcPts val="0"/>
              </a:spcBef>
            </a:pPr>
            <a:r>
              <a:rPr lang="en-US" sz="1800" b="1" dirty="0"/>
              <a:t>Implementation: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Tools are defined in the context, often using JSON Schema to specify name, description, and required parameters.</a:t>
            </a:r>
          </a:p>
          <a:p>
            <a:pPr>
              <a:spcBef>
                <a:spcPts val="0"/>
              </a:spcBef>
            </a:pPr>
            <a:r>
              <a:rPr lang="en-US" sz="1800" b="1" dirty="0"/>
              <a:t>Frameworks:</a:t>
            </a:r>
          </a:p>
          <a:p>
            <a:pPr lvl="1">
              <a:spcBef>
                <a:spcPts val="0"/>
              </a:spcBef>
            </a:pPr>
            <a:r>
              <a:rPr lang="en-US" sz="1800" dirty="0"/>
              <a:t>Tools like </a:t>
            </a:r>
            <a:r>
              <a:rPr lang="en-US" sz="1800" dirty="0" err="1"/>
              <a:t>LangChain</a:t>
            </a:r>
            <a:r>
              <a:rPr lang="en-US" sz="1800" dirty="0"/>
              <a:t>, </a:t>
            </a:r>
            <a:r>
              <a:rPr lang="en-US" sz="1800" dirty="0" err="1"/>
              <a:t>LangGraph</a:t>
            </a:r>
            <a:r>
              <a:rPr lang="en-US" sz="1800" dirty="0"/>
              <a:t>, and Spring AI are commonly used to manage these interactions. </a:t>
            </a:r>
          </a:p>
          <a:p>
            <a:pPr>
              <a:spcBef>
                <a:spcPts val="0"/>
              </a:spcBef>
            </a:pPr>
            <a:endParaRPr lang="en-US" sz="1800" dirty="0"/>
          </a:p>
          <a:p>
            <a:pPr>
              <a:spcBef>
                <a:spcPts val="0"/>
              </a:spcBef>
            </a:pPr>
            <a:r>
              <a:rPr lang="en-US" sz="1800" dirty="0">
                <a:solidFill>
                  <a:srgbClr val="0070C0"/>
                </a:solidFill>
              </a:rPr>
              <a:t>This technology is crucial for building autonomous AI agents that require up-to-date, specialized knowledge beyond their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4273165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3599-3B7F-EAF0-F0A8-EB5CA7173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it 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318274-A306-657D-0E00-8CC17E83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55AEA1-F98F-6526-4C80-D1345678FB2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Let’s begin by understanding a few key terms about tool calling.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Tools - functionality we give the model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Tool calls - requests from the model to use tools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Tool call outputs - output we generate for the model</a:t>
            </a:r>
          </a:p>
          <a:p>
            <a:pPr marL="822960" lvl="1" indent="-457200">
              <a:buFont typeface="+mj-lt"/>
              <a:buAutoNum type="arabicPeriod"/>
            </a:pPr>
            <a:r>
              <a:rPr lang="en-US" dirty="0"/>
              <a:t>Functions versus tools</a:t>
            </a:r>
          </a:p>
        </p:txBody>
      </p:sp>
    </p:spTree>
    <p:extLst>
      <p:ext uri="{BB962C8B-B14F-4D97-AF65-F5344CB8AC3E}">
        <p14:creationId xmlns:p14="http://schemas.microsoft.com/office/powerpoint/2010/main" val="3654772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8640-B76D-3ED7-46F3-D530833C6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1. Tools - functionality we give the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00C1BB-DF05-F978-CE85-CB8FF58AC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C1ABA-A480-1802-2551-0574C02F9F0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r>
              <a:rPr lang="en-US" dirty="0"/>
              <a:t>A function or tool refers in the abstract to a piece of functionality that we tell the model it has access to.</a:t>
            </a:r>
          </a:p>
          <a:p>
            <a:endParaRPr lang="en-US" dirty="0"/>
          </a:p>
          <a:p>
            <a:r>
              <a:rPr lang="en-US" dirty="0"/>
              <a:t>As a model generates a response to a prompt, it may decide that it needs data or functionality provided by a tool to follow the prompt’s instructions.</a:t>
            </a:r>
          </a:p>
          <a:p>
            <a:endParaRPr lang="en-US" dirty="0"/>
          </a:p>
          <a:p>
            <a:r>
              <a:rPr lang="en-US" dirty="0"/>
              <a:t>You could give the model access to tools that:</a:t>
            </a:r>
          </a:p>
          <a:p>
            <a:r>
              <a:rPr lang="en-US" dirty="0"/>
              <a:t>    Get today’s weather for a location</a:t>
            </a:r>
          </a:p>
          <a:p>
            <a:r>
              <a:rPr lang="en-US" dirty="0"/>
              <a:t>    Access account details for a given user ID</a:t>
            </a:r>
          </a:p>
          <a:p>
            <a:r>
              <a:rPr lang="en-US" dirty="0"/>
              <a:t>    Issue refunds for a lost order</a:t>
            </a:r>
          </a:p>
        </p:txBody>
      </p:sp>
    </p:spTree>
    <p:extLst>
      <p:ext uri="{BB962C8B-B14F-4D97-AF65-F5344CB8AC3E}">
        <p14:creationId xmlns:p14="http://schemas.microsoft.com/office/powerpoint/2010/main" val="899606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DA2AC-4ABC-87FC-9F1F-56207969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Cont’d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5864CD-5F62-5A57-982B-68A9058B6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5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FE8AAD-455E-1743-C57E-BB7EF61F13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Or anything else you’d like the model to be able to know or do as it responds to a prompt.</a:t>
            </a:r>
          </a:p>
          <a:p>
            <a:endParaRPr lang="en-US" dirty="0"/>
          </a:p>
          <a:p>
            <a:r>
              <a:rPr lang="en-US" dirty="0"/>
              <a:t>When we make an API request to the model with a prompt, we can include a list of tools the model could consider using.</a:t>
            </a:r>
          </a:p>
          <a:p>
            <a:endParaRPr lang="en-US" dirty="0"/>
          </a:p>
          <a:p>
            <a:r>
              <a:rPr lang="en-US" dirty="0"/>
              <a:t>For example, if we wanted the model to be able to answer questions about the current weather somewhere in the world, we might give it access to a </a:t>
            </a:r>
            <a:r>
              <a:rPr lang="en-US" dirty="0" err="1"/>
              <a:t>get_weather</a:t>
            </a:r>
            <a:r>
              <a:rPr lang="en-US" dirty="0"/>
              <a:t> tool that takes location as an argument.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9482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BFC02-49E2-8CC1-A103-4AD1C343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2. Tool calls - requests from the model to use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50BDC9-6706-9375-E46E-E0435367B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DC1A0-F4C5-B356-F0B6-90896BC661E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function call</a:t>
            </a:r>
            <a:r>
              <a:rPr lang="en-US" dirty="0"/>
              <a:t> or </a:t>
            </a:r>
            <a:r>
              <a:rPr lang="en-US" b="1" dirty="0"/>
              <a:t>tool call</a:t>
            </a:r>
            <a:r>
              <a:rPr lang="en-US" dirty="0"/>
              <a:t> refers to a special kind of response we can get from the model if it examines a prompt, and then determines that in order to follow the instructions in the prompt, it needs to call one of the tools we made available to it.</a:t>
            </a:r>
          </a:p>
          <a:p>
            <a:endParaRPr lang="en-US" dirty="0"/>
          </a:p>
          <a:p>
            <a:r>
              <a:rPr lang="en-US" dirty="0"/>
              <a:t>If the model receives a prompt like “what is the weather in Paris?”</a:t>
            </a:r>
          </a:p>
          <a:p>
            <a:pPr lvl="1"/>
            <a:r>
              <a:rPr lang="en-US" dirty="0"/>
              <a:t>in an API request, it could respond to that prompt with a tool call for the </a:t>
            </a:r>
            <a:r>
              <a:rPr lang="en-US" dirty="0" err="1"/>
              <a:t>get_weather</a:t>
            </a:r>
            <a:r>
              <a:rPr lang="en-US" dirty="0"/>
              <a:t> tool, with Paris as the location argument.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9024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28E2A-47AD-5253-DA2E-5AF08D211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3. Tool call outputs - output we generate for the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09BDEC-08A1-8BED-FEE3-DCE617532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4B80C0-A9BA-7A93-EADF-9F5533B2E67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</a:t>
            </a:r>
            <a:r>
              <a:rPr lang="en-US" b="1" dirty="0"/>
              <a:t>function call output</a:t>
            </a:r>
            <a:r>
              <a:rPr lang="en-US" dirty="0"/>
              <a:t> or </a:t>
            </a:r>
            <a:r>
              <a:rPr lang="en-US" b="1" dirty="0"/>
              <a:t>tool call output</a:t>
            </a:r>
            <a:r>
              <a:rPr lang="en-US" dirty="0"/>
              <a:t> refers to the response a tool generates using the input from a model’s tool call.</a:t>
            </a:r>
          </a:p>
          <a:p>
            <a:r>
              <a:rPr lang="en-US" dirty="0"/>
              <a:t>The tool call output can either be structured JSON or plain text, and it should contain a reference to a specific model tool call (referenced by </a:t>
            </a:r>
            <a:r>
              <a:rPr lang="en-US" dirty="0" err="1"/>
              <a:t>call_id</a:t>
            </a:r>
            <a:r>
              <a:rPr lang="en-US" dirty="0"/>
              <a:t> in the examples to come).</a:t>
            </a:r>
          </a:p>
          <a:p>
            <a:r>
              <a:rPr lang="en-US" dirty="0"/>
              <a:t>To complete our weather example:</a:t>
            </a:r>
          </a:p>
          <a:p>
            <a:r>
              <a:rPr lang="en-US" dirty="0"/>
              <a:t>The model has access to a </a:t>
            </a:r>
            <a:r>
              <a:rPr lang="en-US" dirty="0" err="1"/>
              <a:t>get_weather</a:t>
            </a:r>
            <a:r>
              <a:rPr lang="en-US" dirty="0"/>
              <a:t> </a:t>
            </a:r>
            <a:r>
              <a:rPr lang="en-US" b="1" dirty="0"/>
              <a:t>tool</a:t>
            </a:r>
            <a:r>
              <a:rPr lang="en-US" dirty="0"/>
              <a:t> that takes location as an argument.</a:t>
            </a:r>
          </a:p>
          <a:p>
            <a:r>
              <a:rPr lang="en-US" dirty="0"/>
              <a:t>In response to a prompt like “what’s the weather in Paris?” the model returns a </a:t>
            </a:r>
            <a:r>
              <a:rPr lang="en-US" b="1" dirty="0"/>
              <a:t>tool call</a:t>
            </a:r>
            <a:r>
              <a:rPr lang="en-US" dirty="0"/>
              <a:t> that contains a location argument with a value of Paris</a:t>
            </a:r>
          </a:p>
          <a:p>
            <a:r>
              <a:rPr lang="en-US" dirty="0"/>
              <a:t>The </a:t>
            </a:r>
            <a:r>
              <a:rPr lang="en-US" b="1" dirty="0"/>
              <a:t>tool call output</a:t>
            </a:r>
            <a:r>
              <a:rPr lang="en-US" dirty="0"/>
              <a:t> might return a JSON object (e.g., {"temperature": "25", "unit": "C"}, indicating a current temperature of 25 degrees).</a:t>
            </a:r>
          </a:p>
          <a:p>
            <a:r>
              <a:rPr lang="en-US" dirty="0"/>
              <a:t>We then send all of the tool definition, the original prompt, the model’s tool call, and the tool call output back to the model to finally receive a text response like:</a:t>
            </a:r>
          </a:p>
          <a:p>
            <a:pPr lvl="1"/>
            <a:r>
              <a:rPr lang="en-US" dirty="0">
                <a:solidFill>
                  <a:srgbClr val="00B0F0"/>
                </a:solidFill>
              </a:rPr>
              <a:t>The weather in Paris today is 25C.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919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B441F-EF7B-B5A6-712E-80C4BA9D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Functions versus tools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23E491-8F6C-96B4-0D92-0FA70F350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0E53A-B272-A46F-9EFB-78E0A412611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function is a specific kind of tool, defined by a JSON schema.</a:t>
            </a:r>
          </a:p>
          <a:p>
            <a:endParaRPr lang="en-US" dirty="0"/>
          </a:p>
          <a:p>
            <a:r>
              <a:rPr lang="en-US" dirty="0"/>
              <a:t>A function definition allows the model to pass data to your application, where your code can access data or take actions suggested by the model.</a:t>
            </a:r>
          </a:p>
          <a:p>
            <a:endParaRPr lang="en-US" dirty="0"/>
          </a:p>
          <a:p>
            <a:r>
              <a:rPr lang="en-US" dirty="0"/>
              <a:t>In addition to function tools, there are custom tools that work with free text inputs and outputs.</a:t>
            </a:r>
          </a:p>
          <a:p>
            <a:endParaRPr lang="en-US" dirty="0"/>
          </a:p>
          <a:p>
            <a:r>
              <a:rPr lang="en-US" dirty="0"/>
              <a:t>There are also built-in tools that are part of the OpenAI platform.</a:t>
            </a:r>
          </a:p>
          <a:p>
            <a:endParaRPr lang="en-US" dirty="0"/>
          </a:p>
          <a:p>
            <a:r>
              <a:rPr lang="en-US" dirty="0"/>
              <a:t>These tools enable the model to search the web, execute code, access the functionality of an MCP server, and more.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92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3601B0-96AC-97EA-5F69-3B102759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86A6DB-CB67-E271-5A24-62C937F95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92" y="137160"/>
            <a:ext cx="7368016" cy="658368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347403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17FFC-F066-A195-647D-1F8D22A6A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tool calling flow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CF48AD-C461-E047-A889-43FA11AB3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DC12-381D-9D8B-EF63-685B3765CBC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Tool calling is a multi-step conversation between your application and a model via the OpenAI </a:t>
            </a:r>
            <a:r>
              <a:rPr lang="en-US"/>
              <a:t>API.</a:t>
            </a:r>
          </a:p>
          <a:p>
            <a:r>
              <a:rPr lang="en-US"/>
              <a:t>The </a:t>
            </a:r>
            <a:r>
              <a:rPr lang="en-US" dirty="0"/>
              <a:t>tool calling flow has five high level steps: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a request to the model with tools it could call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Receive a tool call from the model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Execute code on the application side with input from the tool call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Make a second request to the model with the tool output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Receive a final response from the model (or more tool calls)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393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4EACCD-2BA8-20E1-BEBF-E8A23E670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11</a:t>
            </a:fld>
            <a:endParaRPr lang="en-US" dirty="0"/>
          </a:p>
        </p:txBody>
      </p:sp>
      <p:pic>
        <p:nvPicPr>
          <p:cNvPr id="1026" name="Picture 2" descr="Function Calling Diagram Steps">
            <a:extLst>
              <a:ext uri="{FF2B5EF4-FFF2-40B4-BE49-F238E27FC236}">
                <a16:creationId xmlns:a16="http://schemas.microsoft.com/office/drawing/2014/main" id="{743DB414-B49F-CBC9-E845-FCB7BDACC4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34" y="45720"/>
            <a:ext cx="4702133" cy="676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745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4EAE79-101A-C878-68A9-39BC2328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EBFB1032-EA64-7144-B003-9BCC9D94B503}" type="slidenum">
              <a:rPr lang="en-US" smtClean="0"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2C1CF-33B1-7CC6-D259-F1CE1103B0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697" y="45720"/>
            <a:ext cx="6094607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120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D8F435-4DC5-3229-782E-A9F8B298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411A63-4533-B4D0-D1E4-C6C2FB91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26"/>
          <a:stretch>
            <a:fillRect/>
          </a:stretch>
        </p:blipFill>
        <p:spPr>
          <a:xfrm>
            <a:off x="1983774" y="45720"/>
            <a:ext cx="5176453" cy="6766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92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084A020-DCC9-AB0B-59A9-DA55E7E36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Defining functions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47EF3E-A597-D69D-AB3F-51461F55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3A3A08-3881-5D24-8D77-6749C7DB97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Functions can be set in the tools parameter of each API request.</a:t>
            </a:r>
          </a:p>
          <a:p>
            <a:r>
              <a:rPr lang="en-US" dirty="0"/>
              <a:t>A function is defined by its schema, which informs the model what it does and what input arguments it expects.</a:t>
            </a:r>
          </a:p>
          <a:p>
            <a:endParaRPr lang="en-US" dirty="0"/>
          </a:p>
          <a:p>
            <a:r>
              <a:rPr lang="en-US" dirty="0"/>
              <a:t>A function definition has the following properties: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049063-2EF4-0597-6688-BA0A3E9B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3877992"/>
            <a:ext cx="8778240" cy="226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0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1065C-FF39-B7E7-4AE8-31677E120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/>
              <a:t>Here is an example function definition for a </a:t>
            </a:r>
            <a:r>
              <a:rPr lang="en-US" sz="2800" b="0" dirty="0" err="1"/>
              <a:t>get_weather</a:t>
            </a:r>
            <a:r>
              <a:rPr lang="en-US" sz="2800" b="0" dirty="0"/>
              <a:t> function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49989C-30FA-5EAD-7822-383ACEDF9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EBFB1032-EA64-7144-B003-9BCC9D94B503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EDBC28-402A-31F1-36F6-F15B882EF3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09"/>
          <a:stretch>
            <a:fillRect/>
          </a:stretch>
        </p:blipFill>
        <p:spPr>
          <a:xfrm>
            <a:off x="1873111" y="1791978"/>
            <a:ext cx="5397777" cy="431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53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CE51D1-0837-5BBF-2FCD-BA5800EB8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9EAB40-457A-8096-067B-E951467AE6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82" y="110954"/>
            <a:ext cx="8484036" cy="663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979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7C26E1C-A2F7-244F-13C6-B51438FB9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17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8B192-9949-0229-4D60-6D1D9E85B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16" y="377668"/>
            <a:ext cx="8134768" cy="610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9359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4D7CB-928D-88B6-2AED-6A46CC76F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18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78055A-22BE-4D9E-34F3-23A2E56B4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35" y="711060"/>
            <a:ext cx="8344329" cy="543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09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01E5D1-ECCE-2E9B-D768-6458AC16C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B1032-EA64-7144-B003-9BCC9D94B503}" type="slidenum">
              <a:rPr lang="en-US" smtClean="0"/>
              <a:t>19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22C78A-CE32-9204-670F-495652674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31" y="257012"/>
            <a:ext cx="8496737" cy="634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32893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10682</TotalTime>
  <Words>1071</Words>
  <Application>Microsoft Office PowerPoint</Application>
  <PresentationFormat>On-screen Show (4:3)</PresentationFormat>
  <Paragraphs>100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Calibri</vt:lpstr>
      <vt:lpstr>Tw Cen MT</vt:lpstr>
      <vt:lpstr>Wingdings</vt:lpstr>
      <vt:lpstr>Wingdings 2</vt:lpstr>
      <vt:lpstr>Median</vt:lpstr>
      <vt:lpstr>Function calling</vt:lpstr>
      <vt:lpstr>Key Aspects of Tool Calling:</vt:lpstr>
      <vt:lpstr>How it works</vt:lpstr>
      <vt:lpstr>1. Tools - functionality we give the model</vt:lpstr>
      <vt:lpstr>Cont’d</vt:lpstr>
      <vt:lpstr>2. Tool calls - requests from the model to use tools</vt:lpstr>
      <vt:lpstr>3. Tool call outputs - output we generate for the model</vt:lpstr>
      <vt:lpstr>Functions versus tools</vt:lpstr>
      <vt:lpstr>PowerPoint Presentation</vt:lpstr>
      <vt:lpstr>The tool calling flow</vt:lpstr>
      <vt:lpstr>PowerPoint Presentation</vt:lpstr>
      <vt:lpstr>PowerPoint Presentation</vt:lpstr>
      <vt:lpstr>PowerPoint Presentation</vt:lpstr>
      <vt:lpstr>Defining functions</vt:lpstr>
      <vt:lpstr>Here is an example function definition for a get_weather function</vt:lpstr>
      <vt:lpstr>PowerPoint Presentation</vt:lpstr>
      <vt:lpstr>PowerPoint Presentation</vt:lpstr>
      <vt:lpstr>PowerPoint Presentation</vt:lpstr>
      <vt:lpstr>PowerPoint Presentation</vt:lpstr>
    </vt:vector>
  </TitlesOfParts>
  <Company>WPI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Mohamed Eltabakh</dc:creator>
  <cp:lastModifiedBy>Ozbek, Yusuf</cp:lastModifiedBy>
  <cp:revision>1487</cp:revision>
  <dcterms:created xsi:type="dcterms:W3CDTF">2013-01-13T20:33:29Z</dcterms:created>
  <dcterms:modified xsi:type="dcterms:W3CDTF">2026-02-19T23:03:33Z</dcterms:modified>
</cp:coreProperties>
</file>