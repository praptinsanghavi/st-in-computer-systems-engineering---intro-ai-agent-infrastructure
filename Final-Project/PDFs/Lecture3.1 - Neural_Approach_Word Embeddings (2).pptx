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7" r:id="rId1"/>
  </p:sldMasterIdLst>
  <p:notesMasterIdLst>
    <p:notesMasterId r:id="rId72"/>
  </p:notesMasterIdLst>
  <p:handoutMasterIdLst>
    <p:handoutMasterId r:id="rId73"/>
  </p:handoutMasterIdLst>
  <p:sldIdLst>
    <p:sldId id="349" r:id="rId2"/>
    <p:sldId id="350" r:id="rId3"/>
    <p:sldId id="351" r:id="rId4"/>
    <p:sldId id="352" r:id="rId5"/>
    <p:sldId id="353" r:id="rId6"/>
    <p:sldId id="354" r:id="rId7"/>
    <p:sldId id="355" r:id="rId8"/>
    <p:sldId id="367" r:id="rId9"/>
    <p:sldId id="368" r:id="rId10"/>
    <p:sldId id="369" r:id="rId11"/>
    <p:sldId id="370" r:id="rId12"/>
    <p:sldId id="372" r:id="rId13"/>
    <p:sldId id="373" r:id="rId14"/>
    <p:sldId id="374" r:id="rId15"/>
    <p:sldId id="375" r:id="rId16"/>
    <p:sldId id="412" r:id="rId17"/>
    <p:sldId id="413" r:id="rId18"/>
    <p:sldId id="414" r:id="rId19"/>
    <p:sldId id="415" r:id="rId20"/>
    <p:sldId id="416" r:id="rId21"/>
    <p:sldId id="417" r:id="rId22"/>
    <p:sldId id="418" r:id="rId23"/>
    <p:sldId id="419" r:id="rId24"/>
    <p:sldId id="376" r:id="rId25"/>
    <p:sldId id="385" r:id="rId26"/>
    <p:sldId id="377" r:id="rId27"/>
    <p:sldId id="378" r:id="rId28"/>
    <p:sldId id="386" r:id="rId29"/>
    <p:sldId id="387" r:id="rId30"/>
    <p:sldId id="388" r:id="rId31"/>
    <p:sldId id="389" r:id="rId32"/>
    <p:sldId id="390" r:id="rId33"/>
    <p:sldId id="391" r:id="rId34"/>
    <p:sldId id="379" r:id="rId35"/>
    <p:sldId id="380" r:id="rId36"/>
    <p:sldId id="382" r:id="rId37"/>
    <p:sldId id="410" r:id="rId38"/>
    <p:sldId id="383" r:id="rId39"/>
    <p:sldId id="392" r:id="rId40"/>
    <p:sldId id="384" r:id="rId41"/>
    <p:sldId id="381" r:id="rId42"/>
    <p:sldId id="393" r:id="rId43"/>
    <p:sldId id="394" r:id="rId44"/>
    <p:sldId id="395" r:id="rId45"/>
    <p:sldId id="396" r:id="rId46"/>
    <p:sldId id="397" r:id="rId47"/>
    <p:sldId id="398" r:id="rId48"/>
    <p:sldId id="356" r:id="rId49"/>
    <p:sldId id="399" r:id="rId50"/>
    <p:sldId id="400" r:id="rId51"/>
    <p:sldId id="401" r:id="rId52"/>
    <p:sldId id="403" r:id="rId53"/>
    <p:sldId id="404" r:id="rId54"/>
    <p:sldId id="402" r:id="rId55"/>
    <p:sldId id="405" r:id="rId56"/>
    <p:sldId id="406" r:id="rId57"/>
    <p:sldId id="407" r:id="rId58"/>
    <p:sldId id="408" r:id="rId59"/>
    <p:sldId id="409" r:id="rId60"/>
    <p:sldId id="357" r:id="rId61"/>
    <p:sldId id="358" r:id="rId62"/>
    <p:sldId id="359" r:id="rId63"/>
    <p:sldId id="360" r:id="rId64"/>
    <p:sldId id="361" r:id="rId65"/>
    <p:sldId id="362" r:id="rId66"/>
    <p:sldId id="363" r:id="rId67"/>
    <p:sldId id="364" r:id="rId68"/>
    <p:sldId id="365" r:id="rId69"/>
    <p:sldId id="366" r:id="rId70"/>
    <p:sldId id="411" r:id="rId7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FB9"/>
    <a:srgbClr val="FFFFE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5" d="100"/>
          <a:sy n="65" d="100"/>
        </p:scale>
        <p:origin x="15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D9761D-1F95-3B4C-BE9C-CDD1389A8812}" type="datetimeFigureOut">
              <a:rPr lang="en-US" smtClean="0"/>
              <a:t>5/28/2025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FADCD51-711A-044D-9B2C-C47F74A9A11F}" type="slidenum">
              <a:rPr lang="en-US" smtClean="0"/>
              <a:t>‹#›</a:t>
            </a:fld>
            <a:endParaRPr lang="en-US"/>
          </a:p>
        </p:txBody>
      </p:sp>
    </p:spTree>
    <p:extLst>
      <p:ext uri="{BB962C8B-B14F-4D97-AF65-F5344CB8AC3E}">
        <p14:creationId xmlns:p14="http://schemas.microsoft.com/office/powerpoint/2010/main" val="85489552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95A596-FA52-0448-9C24-EA3FEFB30C0E}" type="datetimeFigureOut">
              <a:rPr lang="en-US" smtClean="0"/>
              <a:t>5/28/2025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64C5791-7364-9E4F-986D-297FD347B6DE}" type="slidenum">
              <a:rPr lang="en-US" smtClean="0"/>
              <a:t>‹#›</a:t>
            </a:fld>
            <a:endParaRPr lang="en-US"/>
          </a:p>
        </p:txBody>
      </p:sp>
    </p:spTree>
    <p:extLst>
      <p:ext uri="{BB962C8B-B14F-4D97-AF65-F5344CB8AC3E}">
        <p14:creationId xmlns:p14="http://schemas.microsoft.com/office/powerpoint/2010/main" val="61519940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CF164A81-75B2-194C-A843-C64EC5C16B31}" type="datetime1">
              <a:rPr lang="en-US" smtClean="0"/>
              <a:t>5/28/2025</a:t>
            </a:fld>
            <a:endParaRPr lang="en-US" dirty="0"/>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dirty="0"/>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FA84A37A-AFC2-4A01-80A1-FC20F2C0D5BB}"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0315" y="228600"/>
            <a:ext cx="8943473" cy="990600"/>
          </a:xfrm>
        </p:spPr>
        <p:txBody>
          <a:bodyPr>
            <a:normAutofit/>
          </a:bodyPr>
          <a:lstStyle>
            <a:lvl1pPr>
              <a:defRPr sz="3800" b="1">
                <a:latin typeface="Arial Narrow" panose="020B0606020202030204" pitchFamily="34" charset="0"/>
              </a:defRPr>
            </a:lvl1pPr>
          </a:lstStyle>
          <a:p>
            <a:r>
              <a:rPr kumimoji="0" lang="en-US" dirty="0"/>
              <a:t>Click to edit Master title style</a:t>
            </a: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EBFB1032-EA64-7144-B003-9BCC9D94B503}" type="slidenum">
              <a:rPr lang="en-US" smtClean="0"/>
              <a:t>‹#›</a:t>
            </a:fld>
            <a:endParaRPr lang="en-US" dirty="0"/>
          </a:p>
        </p:txBody>
      </p:sp>
      <p:sp>
        <p:nvSpPr>
          <p:cNvPr id="8" name="Content Placeholder 7"/>
          <p:cNvSpPr>
            <a:spLocks noGrp="1"/>
          </p:cNvSpPr>
          <p:nvPr>
            <p:ph sz="quarter" idx="1"/>
          </p:nvPr>
        </p:nvSpPr>
        <p:spPr>
          <a:xfrm>
            <a:off x="120315" y="1600200"/>
            <a:ext cx="8943473" cy="5153526"/>
          </a:xfrm>
        </p:spPr>
        <p:txBody>
          <a:bodyPr>
            <a:normAutofit/>
          </a:bodyPr>
          <a:lstStyle>
            <a:lvl1pPr>
              <a:defRPr sz="2400">
                <a:latin typeface="Arial Narrow" panose="020B0606020202030204" pitchFamily="34" charset="0"/>
              </a:defRPr>
            </a:lvl1pPr>
            <a:lvl2pPr>
              <a:defRPr sz="2400">
                <a:latin typeface="Arial Narrow" panose="020B0606020202030204" pitchFamily="34" charset="0"/>
              </a:defRPr>
            </a:lvl2pPr>
            <a:lvl3pPr>
              <a:defRPr sz="2400">
                <a:latin typeface="Arial Narrow" panose="020B0606020202030204" pitchFamily="34" charset="0"/>
              </a:defRPr>
            </a:lvl3pPr>
            <a:lvl4pPr>
              <a:defRPr sz="2400">
                <a:latin typeface="Arial Narrow" panose="020B0606020202030204" pitchFamily="34" charset="0"/>
              </a:defRPr>
            </a:lvl4pPr>
            <a:lvl5pPr>
              <a:defRPr sz="2400">
                <a:latin typeface="Arial Narrow" panose="020B0606020202030204" pitchFamily="34"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EDF00D79-2A23-4C40-804A-C01F394F0C72}" type="datetime1">
              <a:rPr lang="en-US" smtClean="0"/>
              <a:t>5/28/2025</a:t>
            </a:fld>
            <a:endParaRPr lang="en-US" dirty="0"/>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EBFB1032-EA64-7144-B003-9BCC9D94B503}" type="slidenum">
              <a:rPr lang="en-US" smtClean="0"/>
              <a:t>‹#›</a:t>
            </a:fld>
            <a:endParaRPr lang="en-US" dirty="0"/>
          </a:p>
        </p:txBody>
      </p:sp>
      <p:sp>
        <p:nvSpPr>
          <p:cNvPr id="14" name="Footer Placeholder 13"/>
          <p:cNvSpPr>
            <a:spLocks noGrp="1"/>
          </p:cNvSpPr>
          <p:nvPr>
            <p:ph type="ftr" sz="quarter" idx="12"/>
          </p:nvPr>
        </p:nvSpPr>
        <p:spPr/>
        <p:txBody>
          <a:body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0674B835-C713-9846-B110-24995DE671EF}" type="datetime1">
              <a:rPr lang="en-US" smtClean="0"/>
              <a:t>5/28/2025</a:t>
            </a:fld>
            <a:endParaRPr lang="en-US" dirty="0"/>
          </a:p>
        </p:txBody>
      </p:sp>
      <p:sp>
        <p:nvSpPr>
          <p:cNvPr id="10" name="Slide Number Placeholder 9"/>
          <p:cNvSpPr>
            <a:spLocks noGrp="1"/>
          </p:cNvSpPr>
          <p:nvPr>
            <p:ph type="sldNum" sz="quarter" idx="16"/>
          </p:nvPr>
        </p:nvSpPr>
        <p:spPr/>
        <p:txBody>
          <a:bodyPr rtlCol="0"/>
          <a:lstStyle/>
          <a:p>
            <a:fld id="{EBFB1032-EA64-7144-B003-9BCC9D94B503}" type="slidenum">
              <a:rPr lang="en-US" smtClean="0"/>
              <a:t>‹#›</a:t>
            </a:fld>
            <a:endParaRPr lang="en-US" dirty="0"/>
          </a:p>
        </p:txBody>
      </p:sp>
      <p:sp>
        <p:nvSpPr>
          <p:cNvPr id="12" name="Footer Placeholder 11"/>
          <p:cNvSpPr>
            <a:spLocks noGrp="1"/>
          </p:cNvSpPr>
          <p:nvPr>
            <p:ph type="ftr" sz="quarter" idx="17"/>
          </p:nvPr>
        </p:nvSpPr>
        <p:spPr/>
        <p:txBody>
          <a:bodyPr rtlCol="0"/>
          <a:lstStyle/>
          <a:p>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D0393BC9-E94F-5B47-BD76-EECA0CBE7CA1}" type="datetime1">
              <a:rPr lang="en-US" smtClean="0"/>
              <a:t>5/28/2025</a:t>
            </a:fld>
            <a:endParaRPr lang="en-US" dirty="0"/>
          </a:p>
        </p:txBody>
      </p:sp>
      <p:sp>
        <p:nvSpPr>
          <p:cNvPr id="12" name="Slide Number Placeholder 11"/>
          <p:cNvSpPr>
            <a:spLocks noGrp="1"/>
          </p:cNvSpPr>
          <p:nvPr>
            <p:ph type="sldNum" sz="quarter" idx="16"/>
          </p:nvPr>
        </p:nvSpPr>
        <p:spPr/>
        <p:txBody>
          <a:bodyPr rtlCol="0"/>
          <a:lstStyle/>
          <a:p>
            <a:fld id="{EBFB1032-EA64-7144-B003-9BCC9D94B503}" type="slidenum">
              <a:rPr lang="en-US" smtClean="0"/>
              <a:t>‹#›</a:t>
            </a:fld>
            <a:endParaRPr lang="en-US" dirty="0"/>
          </a:p>
        </p:txBody>
      </p:sp>
      <p:sp>
        <p:nvSpPr>
          <p:cNvPr id="14" name="Footer Placeholder 13"/>
          <p:cNvSpPr>
            <a:spLocks noGrp="1"/>
          </p:cNvSpPr>
          <p:nvPr>
            <p:ph type="ftr" sz="quarter" idx="17"/>
          </p:nvPr>
        </p:nvSpPr>
        <p:spPr/>
        <p:txBody>
          <a:bodyPr rtlCol="0"/>
          <a:lstStyle/>
          <a:p>
            <a:endParaRPr lang="en-US" dirty="0"/>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F308A2-EBB5-744B-B5B4-7699A7EC7B98}" type="datetime1">
              <a:rPr lang="en-US" smtClean="0"/>
              <a:t>5/28/2025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BFB1032-EA64-7144-B003-9BCC9D94B503}"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9872E7-27FD-CA40-8E81-E7A5851A1F00}" type="datetime1">
              <a:rPr lang="en-US" smtClean="0"/>
              <a:t>5/28/2025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EBFB1032-EA64-7144-B003-9BCC9D94B503}"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0F37C8EB-B6A2-A747-83AD-60E35A0235F5}" type="datetime1">
              <a:rPr lang="en-US" smtClean="0"/>
              <a:t>5/28/2025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FA84A37A-AFC2-4A01-80A1-FC20F2C0D5BB}" type="slidenum">
              <a:rPr lang="en-US" smtClean="0"/>
              <a:pPr/>
              <a:t>‹#›</a:t>
            </a:fld>
            <a:endParaRPr lang="en-US" dirty="0"/>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CD6682E5-7E97-2F44-B961-B3631B15779F}" type="datetime1">
              <a:rPr lang="en-US" smtClean="0"/>
              <a:t>5/28/2025</a:t>
            </a:fld>
            <a:endParaRPr lang="en-US" dirty="0"/>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EBFB1032-EA64-7144-B003-9BCC9D94B503}" type="slidenum">
              <a:rPr lang="en-US" smtClean="0"/>
              <a:t>‹#›</a:t>
            </a:fld>
            <a:endParaRPr lang="en-US" dirty="0"/>
          </a:p>
        </p:txBody>
      </p:sp>
      <p:sp>
        <p:nvSpPr>
          <p:cNvPr id="14" name="Footer Placeholder 13"/>
          <p:cNvSpPr>
            <a:spLocks noGrp="1"/>
          </p:cNvSpPr>
          <p:nvPr>
            <p:ph type="ftr" sz="quarter" idx="12"/>
          </p:nvPr>
        </p:nvSpPr>
        <p:spPr>
          <a:xfrm>
            <a:off x="1600200" y="6248206"/>
            <a:ext cx="4572000" cy="365125"/>
          </a:xfrm>
        </p:spPr>
        <p:txBody>
          <a:bodyPr rtlCol="0"/>
          <a:lstStyle/>
          <a:p>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0DD67E5-F24F-664E-AC9C-26173D2CF6BA}" type="datetime1">
              <a:rPr lang="en-US" smtClean="0"/>
              <a:t>5/28/2025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BFB1032-EA64-7144-B003-9BCC9D94B503}"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E5DF139F-CB8F-D149-BA56-8B0C015E5021}" type="datetime1">
              <a:rPr lang="en-US" smtClean="0"/>
              <a:t>5/28/2025</a:t>
            </a:fld>
            <a:endParaRPr lang="en-US" dirty="0"/>
          </a:p>
        </p:txBody>
      </p:sp>
      <p:sp>
        <p:nvSpPr>
          <p:cNvPr id="5" name="Footer Placeholder 4"/>
          <p:cNvSpPr>
            <a:spLocks noGrp="1"/>
          </p:cNvSpPr>
          <p:nvPr>
            <p:ph type="ftr" sz="quarter" idx="11"/>
          </p:nvPr>
        </p:nvSpPr>
        <p:spPr>
          <a:xfrm>
            <a:off x="457201" y="6248207"/>
            <a:ext cx="5573483" cy="365125"/>
          </a:xfrm>
        </p:spPr>
        <p:txBody>
          <a:bodyPr/>
          <a:lstStyle/>
          <a:p>
            <a:endParaRPr 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EBFB1032-EA64-7144-B003-9BCC9D94B503}" type="slidenum">
              <a:rPr lang="en-US" smtClean="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F6F81F14-9AEC-394B-B8F6-AE69A194437D}" type="datetime1">
              <a:rPr lang="en-US" smtClean="0"/>
              <a:t>5/28/2025</a:t>
            </a:fld>
            <a:endParaRPr lang="en-US" dirty="0"/>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EBFB1032-EA64-7144-B003-9BCC9D94B503}"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hdr="0" ft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1B65F7-0113-7DE2-3991-A125F6F6787F}"/>
              </a:ext>
            </a:extLst>
          </p:cNvPr>
          <p:cNvSpPr>
            <a:spLocks noGrp="1"/>
          </p:cNvSpPr>
          <p:nvPr>
            <p:ph type="title"/>
          </p:nvPr>
        </p:nvSpPr>
        <p:spPr/>
        <p:txBody>
          <a:bodyPr/>
          <a:lstStyle/>
          <a:p>
            <a:r>
              <a:rPr lang="en-US" dirty="0"/>
              <a:t>Word Embeddings</a:t>
            </a:r>
          </a:p>
        </p:txBody>
      </p:sp>
      <p:sp>
        <p:nvSpPr>
          <p:cNvPr id="2" name="Slide Number Placeholder 1">
            <a:extLst>
              <a:ext uri="{FF2B5EF4-FFF2-40B4-BE49-F238E27FC236}">
                <a16:creationId xmlns:a16="http://schemas.microsoft.com/office/drawing/2014/main" id="{7137B734-908D-3509-4F4F-4206C8E7291B}"/>
              </a:ext>
            </a:extLst>
          </p:cNvPr>
          <p:cNvSpPr>
            <a:spLocks noGrp="1"/>
          </p:cNvSpPr>
          <p:nvPr>
            <p:ph type="sldNum" sz="quarter" idx="12"/>
          </p:nvPr>
        </p:nvSpPr>
        <p:spPr/>
        <p:txBody>
          <a:bodyPr>
            <a:normAutofit fontScale="85000" lnSpcReduction="20000"/>
          </a:bodyPr>
          <a:lstStyle/>
          <a:p>
            <a:fld id="{EBFB1032-EA64-7144-B003-9BCC9D94B503}" type="slidenum">
              <a:rPr lang="en-US" smtClean="0"/>
              <a:t>1</a:t>
            </a:fld>
            <a:endParaRPr lang="en-US" dirty="0"/>
          </a:p>
        </p:txBody>
      </p:sp>
      <p:sp>
        <p:nvSpPr>
          <p:cNvPr id="4" name="Content Placeholder 3">
            <a:extLst>
              <a:ext uri="{FF2B5EF4-FFF2-40B4-BE49-F238E27FC236}">
                <a16:creationId xmlns:a16="http://schemas.microsoft.com/office/drawing/2014/main" id="{D1E027C4-4CBB-81FD-6CCB-3B08B2BD3E39}"/>
              </a:ext>
            </a:extLst>
          </p:cNvPr>
          <p:cNvSpPr>
            <a:spLocks noGrp="1"/>
          </p:cNvSpPr>
          <p:nvPr>
            <p:ph sz="quarter" idx="1"/>
          </p:nvPr>
        </p:nvSpPr>
        <p:spPr/>
        <p:txBody>
          <a:bodyPr>
            <a:normAutofit/>
          </a:bodyPr>
          <a:lstStyle/>
          <a:p>
            <a:r>
              <a:rPr lang="en-US" sz="2300" dirty="0"/>
              <a:t>Word Embeddings are numeric representations of words in a lower-dimensional space, capturing semantic and syntactic information.</a:t>
            </a:r>
          </a:p>
          <a:p>
            <a:endParaRPr lang="en-US" sz="2300" dirty="0"/>
          </a:p>
          <a:p>
            <a:r>
              <a:rPr lang="en-US" sz="2300" dirty="0"/>
              <a:t>They play a vital role in Natural Language Processing (NLP) tasks.</a:t>
            </a:r>
          </a:p>
          <a:p>
            <a:endParaRPr lang="en-US" sz="2300" dirty="0"/>
          </a:p>
          <a:p>
            <a:r>
              <a:rPr lang="en-US" sz="2300" dirty="0"/>
              <a:t>In this lecture, we explore traditional and neural approaches, such as</a:t>
            </a:r>
          </a:p>
          <a:p>
            <a:pPr lvl="1"/>
            <a:r>
              <a:rPr lang="en-US" sz="2300" dirty="0"/>
              <a:t>TF-IDF</a:t>
            </a:r>
          </a:p>
          <a:p>
            <a:pPr lvl="1"/>
            <a:r>
              <a:rPr lang="en-US" sz="2300" dirty="0"/>
              <a:t>Word2Vec</a:t>
            </a:r>
          </a:p>
          <a:p>
            <a:pPr lvl="1"/>
            <a:r>
              <a:rPr lang="en-US" sz="2300" dirty="0" err="1"/>
              <a:t>GloVe</a:t>
            </a:r>
            <a:endParaRPr lang="en-US" sz="2300" dirty="0"/>
          </a:p>
          <a:p>
            <a:endParaRPr lang="en-US" sz="2300" dirty="0"/>
          </a:p>
          <a:p>
            <a:r>
              <a:rPr lang="en-US" sz="2300" dirty="0"/>
              <a:t>Understanding the importance of pre-trained word embeddings, providing a comprehensive understanding of their applications in various NLP scenarios.</a:t>
            </a:r>
          </a:p>
        </p:txBody>
      </p:sp>
    </p:spTree>
    <p:extLst>
      <p:ext uri="{BB962C8B-B14F-4D97-AF65-F5344CB8AC3E}">
        <p14:creationId xmlns:p14="http://schemas.microsoft.com/office/powerpoint/2010/main" val="1389876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5DB75-CC1B-621A-92F3-555B3C229732}"/>
              </a:ext>
            </a:extLst>
          </p:cNvPr>
          <p:cNvSpPr>
            <a:spLocks noGrp="1"/>
          </p:cNvSpPr>
          <p:nvPr>
            <p:ph type="title"/>
          </p:nvPr>
        </p:nvSpPr>
        <p:spPr/>
        <p:txBody>
          <a:bodyPr>
            <a:normAutofit/>
          </a:bodyPr>
          <a:lstStyle/>
          <a:p>
            <a:r>
              <a:rPr lang="en-US" dirty="0"/>
              <a:t>What is Word Embedding in NLP?</a:t>
            </a:r>
          </a:p>
        </p:txBody>
      </p:sp>
      <p:sp>
        <p:nvSpPr>
          <p:cNvPr id="3" name="Slide Number Placeholder 2">
            <a:extLst>
              <a:ext uri="{FF2B5EF4-FFF2-40B4-BE49-F238E27FC236}">
                <a16:creationId xmlns:a16="http://schemas.microsoft.com/office/drawing/2014/main" id="{6E7A9CBC-8A32-693B-22A1-0A22EF0631AE}"/>
              </a:ext>
            </a:extLst>
          </p:cNvPr>
          <p:cNvSpPr>
            <a:spLocks noGrp="1"/>
          </p:cNvSpPr>
          <p:nvPr>
            <p:ph type="sldNum" sz="quarter" idx="12"/>
          </p:nvPr>
        </p:nvSpPr>
        <p:spPr/>
        <p:txBody>
          <a:bodyPr>
            <a:normAutofit fontScale="85000" lnSpcReduction="20000"/>
          </a:bodyPr>
          <a:lstStyle/>
          <a:p>
            <a:fld id="{EBFB1032-EA64-7144-B003-9BCC9D94B503}" type="slidenum">
              <a:rPr lang="en-US" smtClean="0"/>
              <a:t>2</a:t>
            </a:fld>
            <a:endParaRPr lang="en-US" dirty="0"/>
          </a:p>
        </p:txBody>
      </p:sp>
      <p:sp>
        <p:nvSpPr>
          <p:cNvPr id="4" name="Content Placeholder 3">
            <a:extLst>
              <a:ext uri="{FF2B5EF4-FFF2-40B4-BE49-F238E27FC236}">
                <a16:creationId xmlns:a16="http://schemas.microsoft.com/office/drawing/2014/main" id="{389D9174-1BAE-5A0A-3A4F-6E7D348BF35B}"/>
              </a:ext>
            </a:extLst>
          </p:cNvPr>
          <p:cNvSpPr>
            <a:spLocks noGrp="1"/>
          </p:cNvSpPr>
          <p:nvPr>
            <p:ph sz="quarter" idx="1"/>
          </p:nvPr>
        </p:nvSpPr>
        <p:spPr/>
        <p:txBody>
          <a:bodyPr>
            <a:normAutofit/>
          </a:bodyPr>
          <a:lstStyle/>
          <a:p>
            <a:r>
              <a:rPr lang="en-US" dirty="0"/>
              <a:t>Word Embedding is an approach for representing words and documents.</a:t>
            </a:r>
          </a:p>
          <a:p>
            <a:endParaRPr lang="en-US" dirty="0"/>
          </a:p>
          <a:p>
            <a:r>
              <a:rPr lang="en-US" dirty="0"/>
              <a:t>Word Embedding or Word Vector is a numeric vector input that represents a word in a lower-dimensional space.</a:t>
            </a:r>
          </a:p>
          <a:p>
            <a:endParaRPr lang="en-US" dirty="0"/>
          </a:p>
          <a:p>
            <a:r>
              <a:rPr lang="en-US" dirty="0"/>
              <a:t>It allows words with similar meanings to have a similar representation.</a:t>
            </a:r>
          </a:p>
          <a:p>
            <a:endParaRPr lang="en-US" dirty="0"/>
          </a:p>
          <a:p>
            <a:r>
              <a:rPr lang="en-US" dirty="0"/>
              <a:t>Word Embeddings are a method of extracting features out of text so that we can input those features into an ML model to work with text data.</a:t>
            </a:r>
          </a:p>
          <a:p>
            <a:endParaRPr lang="en-US" dirty="0"/>
          </a:p>
          <a:p>
            <a:r>
              <a:rPr lang="en-US" dirty="0"/>
              <a:t>They try to preserve syntactical and semantic information.</a:t>
            </a:r>
          </a:p>
        </p:txBody>
      </p:sp>
    </p:spTree>
    <p:extLst>
      <p:ext uri="{BB962C8B-B14F-4D97-AF65-F5344CB8AC3E}">
        <p14:creationId xmlns:p14="http://schemas.microsoft.com/office/powerpoint/2010/main" val="1461490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C7BE8-AF2E-BCB9-1A0D-E6F00EF9303D}"/>
              </a:ext>
            </a:extLst>
          </p:cNvPr>
          <p:cNvSpPr>
            <a:spLocks noGrp="1"/>
          </p:cNvSpPr>
          <p:nvPr>
            <p:ph type="title"/>
          </p:nvPr>
        </p:nvSpPr>
        <p:spPr/>
        <p:txBody>
          <a:bodyPr/>
          <a:lstStyle/>
          <a:p>
            <a:r>
              <a:rPr lang="en-US" dirty="0"/>
              <a:t>Methods</a:t>
            </a:r>
          </a:p>
        </p:txBody>
      </p:sp>
      <p:sp>
        <p:nvSpPr>
          <p:cNvPr id="3" name="Slide Number Placeholder 2">
            <a:extLst>
              <a:ext uri="{FF2B5EF4-FFF2-40B4-BE49-F238E27FC236}">
                <a16:creationId xmlns:a16="http://schemas.microsoft.com/office/drawing/2014/main" id="{A5848BEA-3FF9-7B75-C080-97BD7DB0F3A7}"/>
              </a:ext>
            </a:extLst>
          </p:cNvPr>
          <p:cNvSpPr>
            <a:spLocks noGrp="1"/>
          </p:cNvSpPr>
          <p:nvPr>
            <p:ph type="sldNum" sz="quarter" idx="12"/>
          </p:nvPr>
        </p:nvSpPr>
        <p:spPr/>
        <p:txBody>
          <a:bodyPr>
            <a:normAutofit fontScale="85000" lnSpcReduction="20000"/>
          </a:bodyPr>
          <a:lstStyle/>
          <a:p>
            <a:fld id="{EBFB1032-EA64-7144-B003-9BCC9D94B503}" type="slidenum">
              <a:rPr lang="en-US" smtClean="0"/>
              <a:t>3</a:t>
            </a:fld>
            <a:endParaRPr lang="en-US" dirty="0"/>
          </a:p>
        </p:txBody>
      </p:sp>
      <p:sp>
        <p:nvSpPr>
          <p:cNvPr id="4" name="Content Placeholder 3">
            <a:extLst>
              <a:ext uri="{FF2B5EF4-FFF2-40B4-BE49-F238E27FC236}">
                <a16:creationId xmlns:a16="http://schemas.microsoft.com/office/drawing/2014/main" id="{4D63BFFA-827F-B4A8-09A4-8EB60916CD65}"/>
              </a:ext>
            </a:extLst>
          </p:cNvPr>
          <p:cNvSpPr>
            <a:spLocks noGrp="1"/>
          </p:cNvSpPr>
          <p:nvPr>
            <p:ph sz="quarter" idx="1"/>
          </p:nvPr>
        </p:nvSpPr>
        <p:spPr/>
        <p:txBody>
          <a:bodyPr>
            <a:noAutofit/>
          </a:bodyPr>
          <a:lstStyle/>
          <a:p>
            <a:pPr>
              <a:spcBef>
                <a:spcPts val="0"/>
              </a:spcBef>
            </a:pPr>
            <a:r>
              <a:rPr lang="en-US" dirty="0"/>
              <a:t>The methods such as</a:t>
            </a:r>
          </a:p>
          <a:p>
            <a:pPr lvl="2">
              <a:spcBef>
                <a:spcPts val="0"/>
              </a:spcBef>
            </a:pPr>
            <a:r>
              <a:rPr lang="en-US" dirty="0"/>
              <a:t>Bag of Words (BOW)</a:t>
            </a:r>
          </a:p>
          <a:p>
            <a:pPr lvl="2">
              <a:spcBef>
                <a:spcPts val="0"/>
              </a:spcBef>
            </a:pPr>
            <a:r>
              <a:rPr lang="en-US" dirty="0" err="1"/>
              <a:t>CountVectorizer</a:t>
            </a:r>
            <a:endParaRPr lang="en-US" dirty="0"/>
          </a:p>
          <a:p>
            <a:pPr lvl="2">
              <a:spcBef>
                <a:spcPts val="0"/>
              </a:spcBef>
            </a:pPr>
            <a:r>
              <a:rPr lang="en-US" dirty="0"/>
              <a:t>TFIDF</a:t>
            </a:r>
          </a:p>
          <a:p>
            <a:pPr marL="365760" lvl="1" indent="0">
              <a:spcBef>
                <a:spcPts val="0"/>
              </a:spcBef>
              <a:buNone/>
            </a:pPr>
            <a:r>
              <a:rPr lang="en-US" dirty="0"/>
              <a:t>rely on the word count in a sentence but do not save any syntactical or semantic information.</a:t>
            </a:r>
          </a:p>
          <a:p>
            <a:pPr marL="365760" lvl="1" indent="0">
              <a:spcBef>
                <a:spcPts val="0"/>
              </a:spcBef>
              <a:buNone/>
            </a:pPr>
            <a:endParaRPr lang="en-US" dirty="0"/>
          </a:p>
          <a:p>
            <a:pPr>
              <a:spcBef>
                <a:spcPts val="0"/>
              </a:spcBef>
            </a:pPr>
            <a:r>
              <a:rPr lang="en-US" dirty="0"/>
              <a:t>In these algorithms, the size of the vector is the number of elements in the vocabulary.</a:t>
            </a:r>
          </a:p>
          <a:p>
            <a:pPr>
              <a:spcBef>
                <a:spcPts val="0"/>
              </a:spcBef>
            </a:pPr>
            <a:r>
              <a:rPr lang="en-US" dirty="0"/>
              <a:t>We can get a sparse matrix if most of the elements are zero.</a:t>
            </a:r>
          </a:p>
          <a:p>
            <a:pPr>
              <a:spcBef>
                <a:spcPts val="0"/>
              </a:spcBef>
            </a:pPr>
            <a:r>
              <a:rPr lang="en-US" dirty="0">
                <a:solidFill>
                  <a:srgbClr val="FF0000"/>
                </a:solidFill>
              </a:rPr>
              <a:t>Large input vectors will mean a huge number of weights which will result in high computation required for training.</a:t>
            </a:r>
          </a:p>
          <a:p>
            <a:pPr>
              <a:spcBef>
                <a:spcPts val="0"/>
              </a:spcBef>
            </a:pPr>
            <a:endParaRPr lang="en-US" dirty="0">
              <a:solidFill>
                <a:srgbClr val="FF0000"/>
              </a:solidFill>
            </a:endParaRPr>
          </a:p>
          <a:p>
            <a:pPr>
              <a:spcBef>
                <a:spcPts val="0"/>
              </a:spcBef>
            </a:pPr>
            <a:r>
              <a:rPr lang="en-US" dirty="0">
                <a:solidFill>
                  <a:srgbClr val="0070C0"/>
                </a:solidFill>
              </a:rPr>
              <a:t>Word Embeddings give a solution to these problems.</a:t>
            </a:r>
          </a:p>
        </p:txBody>
      </p:sp>
    </p:spTree>
    <p:extLst>
      <p:ext uri="{BB962C8B-B14F-4D97-AF65-F5344CB8AC3E}">
        <p14:creationId xmlns:p14="http://schemas.microsoft.com/office/powerpoint/2010/main" val="2254961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D4127-5EA8-C78D-1547-C168D0F1C4D4}"/>
              </a:ext>
            </a:extLst>
          </p:cNvPr>
          <p:cNvSpPr>
            <a:spLocks noGrp="1"/>
          </p:cNvSpPr>
          <p:nvPr>
            <p:ph type="title"/>
          </p:nvPr>
        </p:nvSpPr>
        <p:spPr/>
        <p:txBody>
          <a:bodyPr>
            <a:normAutofit/>
          </a:bodyPr>
          <a:lstStyle/>
          <a:p>
            <a:r>
              <a:rPr lang="en-US" dirty="0"/>
              <a:t>Need for Word Embedding?</a:t>
            </a:r>
          </a:p>
        </p:txBody>
      </p:sp>
      <p:sp>
        <p:nvSpPr>
          <p:cNvPr id="3" name="Slide Number Placeholder 2">
            <a:extLst>
              <a:ext uri="{FF2B5EF4-FFF2-40B4-BE49-F238E27FC236}">
                <a16:creationId xmlns:a16="http://schemas.microsoft.com/office/drawing/2014/main" id="{DCF35096-41AB-7D60-46A5-21570C8D5AA2}"/>
              </a:ext>
            </a:extLst>
          </p:cNvPr>
          <p:cNvSpPr>
            <a:spLocks noGrp="1"/>
          </p:cNvSpPr>
          <p:nvPr>
            <p:ph type="sldNum" sz="quarter" idx="12"/>
          </p:nvPr>
        </p:nvSpPr>
        <p:spPr/>
        <p:txBody>
          <a:bodyPr>
            <a:normAutofit fontScale="85000" lnSpcReduction="20000"/>
          </a:bodyPr>
          <a:lstStyle/>
          <a:p>
            <a:fld id="{EBFB1032-EA64-7144-B003-9BCC9D94B503}" type="slidenum">
              <a:rPr lang="en-US" smtClean="0"/>
              <a:t>4</a:t>
            </a:fld>
            <a:endParaRPr lang="en-US" dirty="0"/>
          </a:p>
        </p:txBody>
      </p:sp>
      <p:sp>
        <p:nvSpPr>
          <p:cNvPr id="4" name="Content Placeholder 3">
            <a:extLst>
              <a:ext uri="{FF2B5EF4-FFF2-40B4-BE49-F238E27FC236}">
                <a16:creationId xmlns:a16="http://schemas.microsoft.com/office/drawing/2014/main" id="{942A9E14-6CCD-94C8-0448-82AD221025FE}"/>
              </a:ext>
            </a:extLst>
          </p:cNvPr>
          <p:cNvSpPr>
            <a:spLocks noGrp="1"/>
          </p:cNvSpPr>
          <p:nvPr>
            <p:ph sz="quarter" idx="1"/>
          </p:nvPr>
        </p:nvSpPr>
        <p:spPr/>
        <p:txBody>
          <a:bodyPr/>
          <a:lstStyle/>
          <a:p>
            <a:r>
              <a:rPr lang="en-US" dirty="0"/>
              <a:t>To reduce dimensionality</a:t>
            </a:r>
          </a:p>
          <a:p>
            <a:r>
              <a:rPr lang="en-US" dirty="0"/>
              <a:t>To use a word to predict the words around it.</a:t>
            </a:r>
          </a:p>
          <a:p>
            <a:r>
              <a:rPr lang="en-US" dirty="0"/>
              <a:t>Inter-word semantics must be captured.</a:t>
            </a:r>
          </a:p>
        </p:txBody>
      </p:sp>
    </p:spTree>
    <p:extLst>
      <p:ext uri="{BB962C8B-B14F-4D97-AF65-F5344CB8AC3E}">
        <p14:creationId xmlns:p14="http://schemas.microsoft.com/office/powerpoint/2010/main" val="1220234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2BAFA-74C9-292D-9DFA-9B170966B05C}"/>
              </a:ext>
            </a:extLst>
          </p:cNvPr>
          <p:cNvSpPr>
            <a:spLocks noGrp="1"/>
          </p:cNvSpPr>
          <p:nvPr>
            <p:ph type="title"/>
          </p:nvPr>
        </p:nvSpPr>
        <p:spPr/>
        <p:txBody>
          <a:bodyPr>
            <a:normAutofit/>
          </a:bodyPr>
          <a:lstStyle/>
          <a:p>
            <a:r>
              <a:rPr lang="en-US" dirty="0"/>
              <a:t>How are Word Embeddings used?</a:t>
            </a:r>
          </a:p>
        </p:txBody>
      </p:sp>
      <p:sp>
        <p:nvSpPr>
          <p:cNvPr id="3" name="Slide Number Placeholder 2">
            <a:extLst>
              <a:ext uri="{FF2B5EF4-FFF2-40B4-BE49-F238E27FC236}">
                <a16:creationId xmlns:a16="http://schemas.microsoft.com/office/drawing/2014/main" id="{C27726B2-2317-7886-4944-E6D0F157D13D}"/>
              </a:ext>
            </a:extLst>
          </p:cNvPr>
          <p:cNvSpPr>
            <a:spLocks noGrp="1"/>
          </p:cNvSpPr>
          <p:nvPr>
            <p:ph type="sldNum" sz="quarter" idx="12"/>
          </p:nvPr>
        </p:nvSpPr>
        <p:spPr/>
        <p:txBody>
          <a:bodyPr>
            <a:normAutofit fontScale="85000" lnSpcReduction="20000"/>
          </a:bodyPr>
          <a:lstStyle/>
          <a:p>
            <a:fld id="{EBFB1032-EA64-7144-B003-9BCC9D94B503}" type="slidenum">
              <a:rPr lang="en-US" smtClean="0"/>
              <a:t>5</a:t>
            </a:fld>
            <a:endParaRPr lang="en-US" dirty="0"/>
          </a:p>
        </p:txBody>
      </p:sp>
      <p:sp>
        <p:nvSpPr>
          <p:cNvPr id="4" name="Content Placeholder 3">
            <a:extLst>
              <a:ext uri="{FF2B5EF4-FFF2-40B4-BE49-F238E27FC236}">
                <a16:creationId xmlns:a16="http://schemas.microsoft.com/office/drawing/2014/main" id="{D8CDDEB4-B251-CC5C-FC56-492D7427BB24}"/>
              </a:ext>
            </a:extLst>
          </p:cNvPr>
          <p:cNvSpPr>
            <a:spLocks noGrp="1"/>
          </p:cNvSpPr>
          <p:nvPr>
            <p:ph sz="quarter" idx="1"/>
          </p:nvPr>
        </p:nvSpPr>
        <p:spPr/>
        <p:txBody>
          <a:bodyPr/>
          <a:lstStyle/>
          <a:p>
            <a:r>
              <a:rPr lang="en-US" dirty="0"/>
              <a:t>They are used as input to machine learning models.</a:t>
            </a:r>
          </a:p>
          <a:p>
            <a:endParaRPr lang="en-US" dirty="0"/>
          </a:p>
          <a:p>
            <a:pPr marL="0" indent="0">
              <a:buNone/>
            </a:pPr>
            <a:r>
              <a:rPr lang="en-US" dirty="0">
                <a:solidFill>
                  <a:srgbClr val="0070C0"/>
                </a:solidFill>
              </a:rPr>
              <a:t>Take the </a:t>
            </a:r>
            <a:r>
              <a:rPr lang="en-US" dirty="0" err="1">
                <a:solidFill>
                  <a:srgbClr val="0070C0"/>
                </a:solidFill>
              </a:rPr>
              <a:t>words</a:t>
            </a:r>
            <a:r>
              <a:rPr lang="en-US" dirty="0" err="1">
                <a:sym typeface="Wingdings" panose="05000000000000000000" pitchFamily="2" charset="2"/>
              </a:rPr>
              <a:t></a:t>
            </a:r>
            <a:r>
              <a:rPr lang="en-US" dirty="0" err="1">
                <a:solidFill>
                  <a:srgbClr val="0070C0"/>
                </a:solidFill>
              </a:rPr>
              <a:t>Give</a:t>
            </a:r>
            <a:r>
              <a:rPr lang="en-US" dirty="0">
                <a:solidFill>
                  <a:srgbClr val="0070C0"/>
                </a:solidFill>
              </a:rPr>
              <a:t> their numeric </a:t>
            </a:r>
            <a:r>
              <a:rPr lang="en-US" dirty="0" err="1">
                <a:solidFill>
                  <a:srgbClr val="0070C0"/>
                </a:solidFill>
              </a:rPr>
              <a:t>representation</a:t>
            </a:r>
            <a:r>
              <a:rPr lang="en-US" dirty="0" err="1">
                <a:sym typeface="Wingdings" panose="05000000000000000000" pitchFamily="2" charset="2"/>
              </a:rPr>
              <a:t></a:t>
            </a:r>
            <a:r>
              <a:rPr lang="en-US" dirty="0" err="1">
                <a:solidFill>
                  <a:srgbClr val="0070C0"/>
                </a:solidFill>
              </a:rPr>
              <a:t>Use</a:t>
            </a:r>
            <a:r>
              <a:rPr lang="en-US" dirty="0">
                <a:solidFill>
                  <a:srgbClr val="0070C0"/>
                </a:solidFill>
              </a:rPr>
              <a:t> in training/inference</a:t>
            </a:r>
          </a:p>
          <a:p>
            <a:endParaRPr lang="en-US" dirty="0"/>
          </a:p>
          <a:p>
            <a:r>
              <a:rPr lang="en-US" dirty="0"/>
              <a:t>To represent or visualize any underlying patterns of usage in the corpus that was used to train them.</a:t>
            </a:r>
          </a:p>
        </p:txBody>
      </p:sp>
    </p:spTree>
    <p:extLst>
      <p:ext uri="{BB962C8B-B14F-4D97-AF65-F5344CB8AC3E}">
        <p14:creationId xmlns:p14="http://schemas.microsoft.com/office/powerpoint/2010/main" val="69564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401B003-46DB-D126-80A7-3EF21A7899DC}"/>
              </a:ext>
            </a:extLst>
          </p:cNvPr>
          <p:cNvSpPr>
            <a:spLocks noGrp="1"/>
          </p:cNvSpPr>
          <p:nvPr>
            <p:ph type="sldNum" sz="quarter" idx="12"/>
          </p:nvPr>
        </p:nvSpPr>
        <p:spPr/>
        <p:txBody>
          <a:bodyPr/>
          <a:lstStyle/>
          <a:p>
            <a:fld id="{EBFB1032-EA64-7144-B003-9BCC9D94B503}" type="slidenum">
              <a:rPr lang="en-US" smtClean="0"/>
              <a:t>6</a:t>
            </a:fld>
            <a:endParaRPr lang="en-US" dirty="0"/>
          </a:p>
        </p:txBody>
      </p:sp>
      <p:pic>
        <p:nvPicPr>
          <p:cNvPr id="6" name="Picture 5">
            <a:extLst>
              <a:ext uri="{FF2B5EF4-FFF2-40B4-BE49-F238E27FC236}">
                <a16:creationId xmlns:a16="http://schemas.microsoft.com/office/drawing/2014/main" id="{DF2F2819-C35D-6DC1-ECEF-CE28C0E507A8}"/>
              </a:ext>
            </a:extLst>
          </p:cNvPr>
          <p:cNvPicPr>
            <a:picLocks noChangeAspect="1"/>
          </p:cNvPicPr>
          <p:nvPr/>
        </p:nvPicPr>
        <p:blipFill>
          <a:blip r:embed="rId2"/>
          <a:stretch>
            <a:fillRect/>
          </a:stretch>
        </p:blipFill>
        <p:spPr>
          <a:xfrm>
            <a:off x="182880" y="826008"/>
            <a:ext cx="8778240" cy="5205984"/>
          </a:xfrm>
          <a:prstGeom prst="rect">
            <a:avLst/>
          </a:prstGeom>
          <a:ln>
            <a:solidFill>
              <a:schemeClr val="accent1"/>
            </a:solidFill>
          </a:ln>
        </p:spPr>
      </p:pic>
    </p:spTree>
    <p:extLst>
      <p:ext uri="{BB962C8B-B14F-4D97-AF65-F5344CB8AC3E}">
        <p14:creationId xmlns:p14="http://schemas.microsoft.com/office/powerpoint/2010/main" val="3804522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0B7962A-C4F1-D75D-554C-95010D6F58B7}"/>
              </a:ext>
            </a:extLst>
          </p:cNvPr>
          <p:cNvSpPr>
            <a:spLocks noGrp="1"/>
          </p:cNvSpPr>
          <p:nvPr>
            <p:ph type="title"/>
          </p:nvPr>
        </p:nvSpPr>
        <p:spPr/>
        <p:txBody>
          <a:bodyPr>
            <a:normAutofit/>
          </a:bodyPr>
          <a:lstStyle/>
          <a:p>
            <a:r>
              <a:rPr lang="en-US" dirty="0"/>
              <a:t>Approaches for Text Representation</a:t>
            </a:r>
          </a:p>
        </p:txBody>
      </p:sp>
      <p:sp>
        <p:nvSpPr>
          <p:cNvPr id="2" name="Slide Number Placeholder 1">
            <a:extLst>
              <a:ext uri="{FF2B5EF4-FFF2-40B4-BE49-F238E27FC236}">
                <a16:creationId xmlns:a16="http://schemas.microsoft.com/office/drawing/2014/main" id="{FBEEC56B-146C-FDC0-1A55-095CFB53A0B4}"/>
              </a:ext>
            </a:extLst>
          </p:cNvPr>
          <p:cNvSpPr>
            <a:spLocks noGrp="1"/>
          </p:cNvSpPr>
          <p:nvPr>
            <p:ph type="sldNum" sz="quarter" idx="12"/>
          </p:nvPr>
        </p:nvSpPr>
        <p:spPr/>
        <p:txBody>
          <a:bodyPr>
            <a:normAutofit fontScale="85000" lnSpcReduction="20000"/>
          </a:bodyPr>
          <a:lstStyle/>
          <a:p>
            <a:fld id="{EBFB1032-EA64-7144-B003-9BCC9D94B503}" type="slidenum">
              <a:rPr lang="en-US" smtClean="0"/>
              <a:t>7</a:t>
            </a:fld>
            <a:endParaRPr lang="en-US" dirty="0"/>
          </a:p>
        </p:txBody>
      </p:sp>
      <p:sp>
        <p:nvSpPr>
          <p:cNvPr id="4" name="Content Placeholder 3">
            <a:extLst>
              <a:ext uri="{FF2B5EF4-FFF2-40B4-BE49-F238E27FC236}">
                <a16:creationId xmlns:a16="http://schemas.microsoft.com/office/drawing/2014/main" id="{0C75761F-A369-D0D2-2C85-1B6F47B45EB3}"/>
              </a:ext>
            </a:extLst>
          </p:cNvPr>
          <p:cNvSpPr>
            <a:spLocks noGrp="1"/>
          </p:cNvSpPr>
          <p:nvPr>
            <p:ph sz="quarter" idx="1"/>
          </p:nvPr>
        </p:nvSpPr>
        <p:spPr/>
        <p:txBody>
          <a:bodyPr/>
          <a:lstStyle/>
          <a:p>
            <a:pPr marL="0" indent="0">
              <a:lnSpc>
                <a:spcPct val="90000"/>
              </a:lnSpc>
              <a:spcBef>
                <a:spcPts val="0"/>
              </a:spcBef>
              <a:buNone/>
            </a:pPr>
            <a:r>
              <a:rPr lang="en-US" dirty="0">
                <a:solidFill>
                  <a:srgbClr val="0070C0"/>
                </a:solidFill>
              </a:rPr>
              <a:t>1. Traditional Approach</a:t>
            </a:r>
          </a:p>
          <a:p>
            <a:pPr marL="0" indent="0">
              <a:lnSpc>
                <a:spcPct val="90000"/>
              </a:lnSpc>
              <a:spcBef>
                <a:spcPts val="0"/>
              </a:spcBef>
              <a:buNone/>
            </a:pPr>
            <a:r>
              <a:rPr lang="en-US" dirty="0"/>
              <a:t>The conventional method involves compiling a list of distinct terms and giving each one a unique integer value, or id. and after that, insert each word’s distinct id into the sentence.</a:t>
            </a:r>
          </a:p>
          <a:p>
            <a:pPr marL="0" indent="0">
              <a:lnSpc>
                <a:spcPct val="90000"/>
              </a:lnSpc>
              <a:spcBef>
                <a:spcPts val="0"/>
              </a:spcBef>
              <a:buNone/>
            </a:pPr>
            <a:r>
              <a:rPr lang="en-US" dirty="0"/>
              <a:t>Every vocabulary word is handled as a feature in this instance.</a:t>
            </a:r>
          </a:p>
          <a:p>
            <a:pPr marL="0" indent="0">
              <a:lnSpc>
                <a:spcPct val="90000"/>
              </a:lnSpc>
              <a:spcBef>
                <a:spcPts val="0"/>
              </a:spcBef>
              <a:buNone/>
            </a:pPr>
            <a:r>
              <a:rPr lang="en-US" dirty="0"/>
              <a:t>Thus, a large vocabulary will result in an extremely large feature size. </a:t>
            </a:r>
          </a:p>
          <a:p>
            <a:pPr marL="320040" lvl="1" indent="0">
              <a:lnSpc>
                <a:spcPct val="90000"/>
              </a:lnSpc>
              <a:spcBef>
                <a:spcPts val="0"/>
              </a:spcBef>
              <a:buNone/>
            </a:pPr>
            <a:r>
              <a:rPr lang="en-US" dirty="0"/>
              <a:t>1.1. One-Hot Encoding</a:t>
            </a:r>
          </a:p>
          <a:p>
            <a:pPr marL="320040" lvl="1" indent="0">
              <a:lnSpc>
                <a:spcPct val="90000"/>
              </a:lnSpc>
              <a:spcBef>
                <a:spcPts val="0"/>
              </a:spcBef>
              <a:buNone/>
            </a:pPr>
            <a:r>
              <a:rPr lang="en-US" dirty="0"/>
              <a:t>1.2. Bag of Word (Bow)</a:t>
            </a:r>
          </a:p>
          <a:p>
            <a:pPr marL="320040" lvl="1" indent="0">
              <a:lnSpc>
                <a:spcPct val="90000"/>
              </a:lnSpc>
              <a:spcBef>
                <a:spcPts val="0"/>
              </a:spcBef>
              <a:buNone/>
            </a:pPr>
            <a:r>
              <a:rPr lang="en-US" dirty="0"/>
              <a:t>1.3. Term frequency-inverse document frequency (TF-IDF)</a:t>
            </a:r>
          </a:p>
          <a:p>
            <a:pPr marL="0" indent="0">
              <a:lnSpc>
                <a:spcPct val="90000"/>
              </a:lnSpc>
              <a:spcBef>
                <a:spcPts val="0"/>
              </a:spcBef>
              <a:buNone/>
            </a:pPr>
            <a:endParaRPr lang="en-US" dirty="0"/>
          </a:p>
          <a:p>
            <a:pPr marL="0" indent="0">
              <a:lnSpc>
                <a:spcPct val="90000"/>
              </a:lnSpc>
              <a:spcBef>
                <a:spcPts val="0"/>
              </a:spcBef>
              <a:buNone/>
            </a:pPr>
            <a:r>
              <a:rPr lang="en-US" dirty="0">
                <a:solidFill>
                  <a:srgbClr val="00B050"/>
                </a:solidFill>
              </a:rPr>
              <a:t>2. Neural Approach</a:t>
            </a:r>
          </a:p>
          <a:p>
            <a:pPr marL="320040" lvl="1" indent="0">
              <a:lnSpc>
                <a:spcPct val="90000"/>
              </a:lnSpc>
              <a:spcBef>
                <a:spcPts val="0"/>
              </a:spcBef>
              <a:buNone/>
            </a:pPr>
            <a:r>
              <a:rPr lang="en-US" dirty="0"/>
              <a:t>2.1. Word2Vec</a:t>
            </a:r>
          </a:p>
          <a:p>
            <a:pPr marL="320040" lvl="1" indent="0">
              <a:lnSpc>
                <a:spcPct val="90000"/>
              </a:lnSpc>
              <a:spcBef>
                <a:spcPts val="0"/>
              </a:spcBef>
              <a:buNone/>
            </a:pPr>
            <a:r>
              <a:rPr lang="en-US" dirty="0"/>
              <a:t>2.2. Continuous Bag of Words(CBOW)</a:t>
            </a:r>
          </a:p>
          <a:p>
            <a:pPr marL="320040" lvl="1" indent="0">
              <a:lnSpc>
                <a:spcPct val="90000"/>
              </a:lnSpc>
              <a:spcBef>
                <a:spcPts val="0"/>
              </a:spcBef>
              <a:buNone/>
            </a:pPr>
            <a:r>
              <a:rPr lang="en-US" dirty="0"/>
              <a:t>2.3. Skip-Gram</a:t>
            </a:r>
          </a:p>
        </p:txBody>
      </p:sp>
    </p:spTree>
    <p:extLst>
      <p:ext uri="{BB962C8B-B14F-4D97-AF65-F5344CB8AC3E}">
        <p14:creationId xmlns:p14="http://schemas.microsoft.com/office/powerpoint/2010/main" val="2740290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F690A-6452-4CD6-3D2E-21708255128E}"/>
              </a:ext>
            </a:extLst>
          </p:cNvPr>
          <p:cNvSpPr>
            <a:spLocks noGrp="1"/>
          </p:cNvSpPr>
          <p:nvPr>
            <p:ph type="title"/>
          </p:nvPr>
        </p:nvSpPr>
        <p:spPr/>
        <p:txBody>
          <a:bodyPr>
            <a:normAutofit/>
          </a:bodyPr>
          <a:lstStyle/>
          <a:p>
            <a:r>
              <a:rPr lang="en-US" dirty="0"/>
              <a:t>1.1. One-Hot Encoding</a:t>
            </a:r>
          </a:p>
        </p:txBody>
      </p:sp>
      <p:sp>
        <p:nvSpPr>
          <p:cNvPr id="3" name="Slide Number Placeholder 2">
            <a:extLst>
              <a:ext uri="{FF2B5EF4-FFF2-40B4-BE49-F238E27FC236}">
                <a16:creationId xmlns:a16="http://schemas.microsoft.com/office/drawing/2014/main" id="{AE3277EB-71A2-39E1-7A85-559DB2213226}"/>
              </a:ext>
            </a:extLst>
          </p:cNvPr>
          <p:cNvSpPr>
            <a:spLocks noGrp="1"/>
          </p:cNvSpPr>
          <p:nvPr>
            <p:ph type="sldNum" sz="quarter" idx="12"/>
          </p:nvPr>
        </p:nvSpPr>
        <p:spPr/>
        <p:txBody>
          <a:bodyPr>
            <a:normAutofit fontScale="85000" lnSpcReduction="20000"/>
          </a:bodyPr>
          <a:lstStyle/>
          <a:p>
            <a:fld id="{EBFB1032-EA64-7144-B003-9BCC9D94B503}" type="slidenum">
              <a:rPr lang="en-US" smtClean="0"/>
              <a:t>8</a:t>
            </a:fld>
            <a:endParaRPr lang="en-US" dirty="0"/>
          </a:p>
        </p:txBody>
      </p:sp>
      <p:sp>
        <p:nvSpPr>
          <p:cNvPr id="4" name="Content Placeholder 3">
            <a:extLst>
              <a:ext uri="{FF2B5EF4-FFF2-40B4-BE49-F238E27FC236}">
                <a16:creationId xmlns:a16="http://schemas.microsoft.com/office/drawing/2014/main" id="{3D82870C-17FD-B88F-953D-B8A98C8EA26A}"/>
              </a:ext>
            </a:extLst>
          </p:cNvPr>
          <p:cNvSpPr>
            <a:spLocks noGrp="1"/>
          </p:cNvSpPr>
          <p:nvPr>
            <p:ph sz="quarter" idx="1"/>
          </p:nvPr>
        </p:nvSpPr>
        <p:spPr/>
        <p:txBody>
          <a:bodyPr/>
          <a:lstStyle/>
          <a:p>
            <a:r>
              <a:rPr lang="en-US" dirty="0"/>
              <a:t>One-hot encoding is a simple method for representing words in natural language processing (NLP).</a:t>
            </a:r>
          </a:p>
          <a:p>
            <a:endParaRPr lang="en-US" dirty="0"/>
          </a:p>
          <a:p>
            <a:r>
              <a:rPr lang="en-US" dirty="0">
                <a:solidFill>
                  <a:srgbClr val="0070C0"/>
                </a:solidFill>
              </a:rPr>
              <a:t>In this encoding scheme, each word in the vocabulary is represented as a unique vector, where the dimensionality of the vector is equal to the size of the vocabulary.</a:t>
            </a:r>
          </a:p>
          <a:p>
            <a:endParaRPr lang="en-US" dirty="0">
              <a:solidFill>
                <a:schemeClr val="accent2">
                  <a:lumMod val="75000"/>
                </a:schemeClr>
              </a:solidFill>
            </a:endParaRPr>
          </a:p>
          <a:p>
            <a:r>
              <a:rPr lang="en-US" dirty="0">
                <a:solidFill>
                  <a:schemeClr val="accent2">
                    <a:lumMod val="75000"/>
                  </a:schemeClr>
                </a:solidFill>
              </a:rPr>
              <a:t>The vector has all elements set to 0, except for the element corresponding to the index of the word in the vocabulary, which is set to 1.</a:t>
            </a:r>
          </a:p>
        </p:txBody>
      </p:sp>
    </p:spTree>
    <p:extLst>
      <p:ext uri="{BB962C8B-B14F-4D97-AF65-F5344CB8AC3E}">
        <p14:creationId xmlns:p14="http://schemas.microsoft.com/office/powerpoint/2010/main" val="254470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44591E4-19C2-C1C2-8F90-10808C0B98F3}"/>
              </a:ext>
            </a:extLst>
          </p:cNvPr>
          <p:cNvSpPr>
            <a:spLocks noGrp="1"/>
          </p:cNvSpPr>
          <p:nvPr>
            <p:ph type="sldNum" sz="quarter" idx="12"/>
          </p:nvPr>
        </p:nvSpPr>
        <p:spPr/>
        <p:txBody>
          <a:bodyPr/>
          <a:lstStyle/>
          <a:p>
            <a:fld id="{EBFB1032-EA64-7144-B003-9BCC9D94B503}" type="slidenum">
              <a:rPr lang="en-US" smtClean="0"/>
              <a:t>9</a:t>
            </a:fld>
            <a:endParaRPr lang="en-US" dirty="0"/>
          </a:p>
        </p:txBody>
      </p:sp>
      <p:pic>
        <p:nvPicPr>
          <p:cNvPr id="6" name="Picture 5">
            <a:extLst>
              <a:ext uri="{FF2B5EF4-FFF2-40B4-BE49-F238E27FC236}">
                <a16:creationId xmlns:a16="http://schemas.microsoft.com/office/drawing/2014/main" id="{FD9B5B35-747F-9A82-9825-74A7EAFEF84C}"/>
              </a:ext>
            </a:extLst>
          </p:cNvPr>
          <p:cNvPicPr>
            <a:picLocks noChangeAspect="1"/>
          </p:cNvPicPr>
          <p:nvPr/>
        </p:nvPicPr>
        <p:blipFill>
          <a:blip r:embed="rId2"/>
          <a:stretch>
            <a:fillRect/>
          </a:stretch>
        </p:blipFill>
        <p:spPr>
          <a:xfrm>
            <a:off x="251110" y="228600"/>
            <a:ext cx="8641780" cy="6400800"/>
          </a:xfrm>
          <a:prstGeom prst="rect">
            <a:avLst/>
          </a:prstGeom>
          <a:ln>
            <a:solidFill>
              <a:schemeClr val="accent1"/>
            </a:solidFill>
          </a:ln>
        </p:spPr>
      </p:pic>
    </p:spTree>
    <p:extLst>
      <p:ext uri="{BB962C8B-B14F-4D97-AF65-F5344CB8AC3E}">
        <p14:creationId xmlns:p14="http://schemas.microsoft.com/office/powerpoint/2010/main" val="736409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6F8D67-06FC-4743-81DB-8E501EB7484A}"/>
              </a:ext>
            </a:extLst>
          </p:cNvPr>
          <p:cNvSpPr>
            <a:spLocks noGrp="1"/>
          </p:cNvSpPr>
          <p:nvPr>
            <p:ph type="sldNum" sz="quarter" idx="12"/>
          </p:nvPr>
        </p:nvSpPr>
        <p:spPr/>
        <p:txBody>
          <a:bodyPr/>
          <a:lstStyle/>
          <a:p>
            <a:fld id="{EBFB1032-EA64-7144-B003-9BCC9D94B503}" type="slidenum">
              <a:rPr lang="en-US" smtClean="0"/>
              <a:t>10</a:t>
            </a:fld>
            <a:endParaRPr lang="en-US" dirty="0"/>
          </a:p>
        </p:txBody>
      </p:sp>
      <p:pic>
        <p:nvPicPr>
          <p:cNvPr id="6" name="Picture 5">
            <a:extLst>
              <a:ext uri="{FF2B5EF4-FFF2-40B4-BE49-F238E27FC236}">
                <a16:creationId xmlns:a16="http://schemas.microsoft.com/office/drawing/2014/main" id="{A03352FD-4774-69F6-36E9-0FE3B955A73B}"/>
              </a:ext>
            </a:extLst>
          </p:cNvPr>
          <p:cNvPicPr>
            <a:picLocks noChangeAspect="1"/>
          </p:cNvPicPr>
          <p:nvPr/>
        </p:nvPicPr>
        <p:blipFill>
          <a:blip r:embed="rId2"/>
          <a:stretch>
            <a:fillRect/>
          </a:stretch>
        </p:blipFill>
        <p:spPr>
          <a:xfrm>
            <a:off x="274320" y="811663"/>
            <a:ext cx="8595360" cy="5234674"/>
          </a:xfrm>
          <a:prstGeom prst="rect">
            <a:avLst/>
          </a:prstGeom>
          <a:ln>
            <a:solidFill>
              <a:schemeClr val="accent1"/>
            </a:solidFill>
          </a:ln>
        </p:spPr>
      </p:pic>
    </p:spTree>
    <p:extLst>
      <p:ext uri="{BB962C8B-B14F-4D97-AF65-F5344CB8AC3E}">
        <p14:creationId xmlns:p14="http://schemas.microsoft.com/office/powerpoint/2010/main" val="3961993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C13C44B-A18A-1713-2470-079910637D4D}"/>
              </a:ext>
            </a:extLst>
          </p:cNvPr>
          <p:cNvSpPr>
            <a:spLocks noGrp="1"/>
          </p:cNvSpPr>
          <p:nvPr>
            <p:ph type="title"/>
          </p:nvPr>
        </p:nvSpPr>
        <p:spPr/>
        <p:txBody>
          <a:bodyPr/>
          <a:lstStyle/>
          <a:p>
            <a:r>
              <a:rPr lang="en-US" dirty="0"/>
              <a:t>Disadvantages of one-hot encoding</a:t>
            </a:r>
          </a:p>
        </p:txBody>
      </p:sp>
      <p:sp>
        <p:nvSpPr>
          <p:cNvPr id="2" name="Slide Number Placeholder 1">
            <a:extLst>
              <a:ext uri="{FF2B5EF4-FFF2-40B4-BE49-F238E27FC236}">
                <a16:creationId xmlns:a16="http://schemas.microsoft.com/office/drawing/2014/main" id="{1661B012-9703-8D3A-CC6E-31E710D2A565}"/>
              </a:ext>
            </a:extLst>
          </p:cNvPr>
          <p:cNvSpPr>
            <a:spLocks noGrp="1"/>
          </p:cNvSpPr>
          <p:nvPr>
            <p:ph type="sldNum" sz="quarter" idx="12"/>
          </p:nvPr>
        </p:nvSpPr>
        <p:spPr/>
        <p:txBody>
          <a:bodyPr>
            <a:normAutofit fontScale="85000" lnSpcReduction="20000"/>
          </a:bodyPr>
          <a:lstStyle/>
          <a:p>
            <a:fld id="{EBFB1032-EA64-7144-B003-9BCC9D94B503}" type="slidenum">
              <a:rPr lang="en-US" smtClean="0"/>
              <a:t>11</a:t>
            </a:fld>
            <a:endParaRPr lang="en-US" dirty="0"/>
          </a:p>
        </p:txBody>
      </p:sp>
      <p:sp>
        <p:nvSpPr>
          <p:cNvPr id="4" name="Content Placeholder 3">
            <a:extLst>
              <a:ext uri="{FF2B5EF4-FFF2-40B4-BE49-F238E27FC236}">
                <a16:creationId xmlns:a16="http://schemas.microsoft.com/office/drawing/2014/main" id="{BE780C2E-0A42-9B39-971B-11F649D7BB48}"/>
              </a:ext>
            </a:extLst>
          </p:cNvPr>
          <p:cNvSpPr>
            <a:spLocks noGrp="1"/>
          </p:cNvSpPr>
          <p:nvPr>
            <p:ph sz="quarter" idx="1"/>
          </p:nvPr>
        </p:nvSpPr>
        <p:spPr/>
        <p:txBody>
          <a:bodyPr/>
          <a:lstStyle/>
          <a:p>
            <a:pPr algn="just"/>
            <a:r>
              <a:rPr lang="en-US" b="1" dirty="0"/>
              <a:t>While one-hot encoding is a simple and intuitive method for representing words in NLP, it has several disadvantages, which may limit its effectiveness in certain applications.</a:t>
            </a:r>
          </a:p>
          <a:p>
            <a:pPr lvl="1" algn="just"/>
            <a:r>
              <a:rPr lang="en-US" dirty="0">
                <a:solidFill>
                  <a:srgbClr val="0070C0"/>
                </a:solidFill>
              </a:rPr>
              <a:t>It results in high-dimensional vectors, making it computationally expensive and memory-intensive, especially with large vocabularies.</a:t>
            </a:r>
          </a:p>
          <a:p>
            <a:pPr lvl="1" algn="just"/>
            <a:r>
              <a:rPr lang="en-US" dirty="0">
                <a:solidFill>
                  <a:schemeClr val="accent2">
                    <a:lumMod val="75000"/>
                  </a:schemeClr>
                </a:solidFill>
              </a:rPr>
              <a:t>It does not capture semantic relationships between words; each word is treated as an isolated entity without considering its meaning or context.</a:t>
            </a:r>
          </a:p>
          <a:p>
            <a:pPr lvl="1" algn="just"/>
            <a:r>
              <a:rPr lang="en-US" dirty="0">
                <a:solidFill>
                  <a:srgbClr val="00B050"/>
                </a:solidFill>
              </a:rPr>
              <a:t>It is restricted to the vocabulary seen during training, making it unsuitable for handling out-of-vocabulary words.</a:t>
            </a:r>
          </a:p>
        </p:txBody>
      </p:sp>
    </p:spTree>
    <p:extLst>
      <p:ext uri="{BB962C8B-B14F-4D97-AF65-F5344CB8AC3E}">
        <p14:creationId xmlns:p14="http://schemas.microsoft.com/office/powerpoint/2010/main" val="582516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34945-AFE0-F507-3A49-D44197816F9A}"/>
              </a:ext>
            </a:extLst>
          </p:cNvPr>
          <p:cNvSpPr>
            <a:spLocks noGrp="1"/>
          </p:cNvSpPr>
          <p:nvPr>
            <p:ph type="title"/>
          </p:nvPr>
        </p:nvSpPr>
        <p:spPr/>
        <p:txBody>
          <a:bodyPr>
            <a:normAutofit/>
          </a:bodyPr>
          <a:lstStyle/>
          <a:p>
            <a:r>
              <a:rPr lang="en-US" dirty="0"/>
              <a:t>1.2. Bag of Word (Bow)</a:t>
            </a:r>
          </a:p>
        </p:txBody>
      </p:sp>
      <p:sp>
        <p:nvSpPr>
          <p:cNvPr id="3" name="Slide Number Placeholder 2">
            <a:extLst>
              <a:ext uri="{FF2B5EF4-FFF2-40B4-BE49-F238E27FC236}">
                <a16:creationId xmlns:a16="http://schemas.microsoft.com/office/drawing/2014/main" id="{80B9DC9E-318E-A4D5-2D0C-542B1C2B55E4}"/>
              </a:ext>
            </a:extLst>
          </p:cNvPr>
          <p:cNvSpPr>
            <a:spLocks noGrp="1"/>
          </p:cNvSpPr>
          <p:nvPr>
            <p:ph type="sldNum" sz="quarter" idx="12"/>
          </p:nvPr>
        </p:nvSpPr>
        <p:spPr/>
        <p:txBody>
          <a:bodyPr>
            <a:normAutofit fontScale="85000" lnSpcReduction="20000"/>
          </a:bodyPr>
          <a:lstStyle/>
          <a:p>
            <a:fld id="{EBFB1032-EA64-7144-B003-9BCC9D94B503}" type="slidenum">
              <a:rPr lang="en-US" smtClean="0"/>
              <a:t>12</a:t>
            </a:fld>
            <a:endParaRPr lang="en-US" dirty="0"/>
          </a:p>
        </p:txBody>
      </p:sp>
      <p:sp>
        <p:nvSpPr>
          <p:cNvPr id="4" name="Content Placeholder 3">
            <a:extLst>
              <a:ext uri="{FF2B5EF4-FFF2-40B4-BE49-F238E27FC236}">
                <a16:creationId xmlns:a16="http://schemas.microsoft.com/office/drawing/2014/main" id="{64D0B213-9593-3700-DD47-D88857F5D8C2}"/>
              </a:ext>
            </a:extLst>
          </p:cNvPr>
          <p:cNvSpPr>
            <a:spLocks noGrp="1"/>
          </p:cNvSpPr>
          <p:nvPr>
            <p:ph sz="quarter" idx="1"/>
          </p:nvPr>
        </p:nvSpPr>
        <p:spPr/>
        <p:txBody>
          <a:bodyPr/>
          <a:lstStyle/>
          <a:p>
            <a:r>
              <a:rPr lang="en-US" dirty="0"/>
              <a:t>Bag-of-Words (</a:t>
            </a:r>
            <a:r>
              <a:rPr lang="en-US" dirty="0" err="1"/>
              <a:t>BoW</a:t>
            </a:r>
            <a:r>
              <a:rPr lang="en-US" dirty="0"/>
              <a:t>) is a text representation technique that represents a document as an unordered set of words and their respective frequencies.</a:t>
            </a:r>
          </a:p>
          <a:p>
            <a:endParaRPr lang="en-US" dirty="0"/>
          </a:p>
          <a:p>
            <a:r>
              <a:rPr lang="en-US" dirty="0"/>
              <a:t>It discards the word order and captures the frequency of each word in the document, creating a vector representation.</a:t>
            </a:r>
          </a:p>
        </p:txBody>
      </p:sp>
    </p:spTree>
    <p:extLst>
      <p:ext uri="{BB962C8B-B14F-4D97-AF65-F5344CB8AC3E}">
        <p14:creationId xmlns:p14="http://schemas.microsoft.com/office/powerpoint/2010/main" val="829490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975BE-4CCB-3BD2-78B0-4BCEAFBFB80B}"/>
              </a:ext>
            </a:extLst>
          </p:cNvPr>
          <p:cNvSpPr>
            <a:spLocks noGrp="1"/>
          </p:cNvSpPr>
          <p:nvPr>
            <p:ph type="title"/>
          </p:nvPr>
        </p:nvSpPr>
        <p:spPr/>
        <p:txBody>
          <a:bodyPr/>
          <a:lstStyle/>
          <a:p>
            <a:r>
              <a:rPr lang="en-US" dirty="0"/>
              <a:t>Sample Program</a:t>
            </a:r>
          </a:p>
        </p:txBody>
      </p:sp>
      <p:sp>
        <p:nvSpPr>
          <p:cNvPr id="3" name="Slide Number Placeholder 2">
            <a:extLst>
              <a:ext uri="{FF2B5EF4-FFF2-40B4-BE49-F238E27FC236}">
                <a16:creationId xmlns:a16="http://schemas.microsoft.com/office/drawing/2014/main" id="{19408306-AB97-AC61-C158-D7B31D0E7751}"/>
              </a:ext>
            </a:extLst>
          </p:cNvPr>
          <p:cNvSpPr>
            <a:spLocks noGrp="1"/>
          </p:cNvSpPr>
          <p:nvPr>
            <p:ph type="sldNum" sz="quarter" idx="12"/>
          </p:nvPr>
        </p:nvSpPr>
        <p:spPr/>
        <p:txBody>
          <a:bodyPr>
            <a:normAutofit fontScale="85000" lnSpcReduction="20000"/>
          </a:bodyPr>
          <a:lstStyle/>
          <a:p>
            <a:fld id="{EBFB1032-EA64-7144-B003-9BCC9D94B503}" type="slidenum">
              <a:rPr lang="en-US" smtClean="0"/>
              <a:t>13</a:t>
            </a:fld>
            <a:endParaRPr lang="en-US" dirty="0"/>
          </a:p>
        </p:txBody>
      </p:sp>
      <p:pic>
        <p:nvPicPr>
          <p:cNvPr id="6" name="Picture 5">
            <a:extLst>
              <a:ext uri="{FF2B5EF4-FFF2-40B4-BE49-F238E27FC236}">
                <a16:creationId xmlns:a16="http://schemas.microsoft.com/office/drawing/2014/main" id="{A04CF59B-C0D7-5964-F739-AAA568071C7F}"/>
              </a:ext>
            </a:extLst>
          </p:cNvPr>
          <p:cNvPicPr>
            <a:picLocks noChangeAspect="1"/>
          </p:cNvPicPr>
          <p:nvPr/>
        </p:nvPicPr>
        <p:blipFill>
          <a:blip r:embed="rId2"/>
          <a:stretch>
            <a:fillRect/>
          </a:stretch>
        </p:blipFill>
        <p:spPr>
          <a:xfrm>
            <a:off x="294371" y="1727251"/>
            <a:ext cx="8595360" cy="4835957"/>
          </a:xfrm>
          <a:prstGeom prst="rect">
            <a:avLst/>
          </a:prstGeom>
        </p:spPr>
      </p:pic>
    </p:spTree>
    <p:extLst>
      <p:ext uri="{BB962C8B-B14F-4D97-AF65-F5344CB8AC3E}">
        <p14:creationId xmlns:p14="http://schemas.microsoft.com/office/powerpoint/2010/main" val="3655526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C8D9F-D379-57FD-F22D-AB5E8FE1C378}"/>
              </a:ext>
            </a:extLst>
          </p:cNvPr>
          <p:cNvSpPr>
            <a:spLocks noGrp="1"/>
          </p:cNvSpPr>
          <p:nvPr>
            <p:ph type="title"/>
          </p:nvPr>
        </p:nvSpPr>
        <p:spPr/>
        <p:txBody>
          <a:bodyPr/>
          <a:lstStyle/>
          <a:p>
            <a:r>
              <a:rPr lang="en-US" dirty="0"/>
              <a:t>Sample Output</a:t>
            </a:r>
          </a:p>
        </p:txBody>
      </p:sp>
      <p:sp>
        <p:nvSpPr>
          <p:cNvPr id="3" name="Slide Number Placeholder 2">
            <a:extLst>
              <a:ext uri="{FF2B5EF4-FFF2-40B4-BE49-F238E27FC236}">
                <a16:creationId xmlns:a16="http://schemas.microsoft.com/office/drawing/2014/main" id="{972DAB08-705E-AF57-B0A2-42A70EBCA86D}"/>
              </a:ext>
            </a:extLst>
          </p:cNvPr>
          <p:cNvSpPr>
            <a:spLocks noGrp="1"/>
          </p:cNvSpPr>
          <p:nvPr>
            <p:ph type="sldNum" sz="quarter" idx="12"/>
          </p:nvPr>
        </p:nvSpPr>
        <p:spPr/>
        <p:txBody>
          <a:bodyPr>
            <a:normAutofit fontScale="85000" lnSpcReduction="20000"/>
          </a:bodyPr>
          <a:lstStyle/>
          <a:p>
            <a:fld id="{EBFB1032-EA64-7144-B003-9BCC9D94B503}" type="slidenum">
              <a:rPr lang="en-US" smtClean="0"/>
              <a:t>14</a:t>
            </a:fld>
            <a:endParaRPr lang="en-US" dirty="0"/>
          </a:p>
        </p:txBody>
      </p:sp>
      <p:pic>
        <p:nvPicPr>
          <p:cNvPr id="6" name="Picture 5">
            <a:extLst>
              <a:ext uri="{FF2B5EF4-FFF2-40B4-BE49-F238E27FC236}">
                <a16:creationId xmlns:a16="http://schemas.microsoft.com/office/drawing/2014/main" id="{E889C186-9B9A-682D-CB01-F6B18C1EE9BE}"/>
              </a:ext>
            </a:extLst>
          </p:cNvPr>
          <p:cNvPicPr>
            <a:picLocks noChangeAspect="1"/>
          </p:cNvPicPr>
          <p:nvPr/>
        </p:nvPicPr>
        <p:blipFill>
          <a:blip r:embed="rId2"/>
          <a:stretch>
            <a:fillRect/>
          </a:stretch>
        </p:blipFill>
        <p:spPr>
          <a:xfrm>
            <a:off x="91440" y="1683006"/>
            <a:ext cx="8961120" cy="2486247"/>
          </a:xfrm>
          <a:prstGeom prst="rect">
            <a:avLst/>
          </a:prstGeom>
        </p:spPr>
      </p:pic>
    </p:spTree>
    <p:extLst>
      <p:ext uri="{BB962C8B-B14F-4D97-AF65-F5344CB8AC3E}">
        <p14:creationId xmlns:p14="http://schemas.microsoft.com/office/powerpoint/2010/main" val="2273765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F9547-96CC-A8CA-9190-8BF44FD020AC}"/>
              </a:ext>
            </a:extLst>
          </p:cNvPr>
          <p:cNvSpPr>
            <a:spLocks noGrp="1"/>
          </p:cNvSpPr>
          <p:nvPr>
            <p:ph type="title"/>
          </p:nvPr>
        </p:nvSpPr>
        <p:spPr/>
        <p:txBody>
          <a:bodyPr/>
          <a:lstStyle/>
          <a:p>
            <a:r>
              <a:rPr lang="en-US" dirty="0"/>
              <a:t>Disadvantages of </a:t>
            </a:r>
            <a:r>
              <a:rPr lang="en-US" dirty="0" err="1"/>
              <a:t>BoW</a:t>
            </a:r>
            <a:endParaRPr lang="en-US" dirty="0"/>
          </a:p>
        </p:txBody>
      </p:sp>
      <p:sp>
        <p:nvSpPr>
          <p:cNvPr id="3" name="Slide Number Placeholder 2">
            <a:extLst>
              <a:ext uri="{FF2B5EF4-FFF2-40B4-BE49-F238E27FC236}">
                <a16:creationId xmlns:a16="http://schemas.microsoft.com/office/drawing/2014/main" id="{5C76F1BA-7ABC-3D2F-2376-205EFE0F5B71}"/>
              </a:ext>
            </a:extLst>
          </p:cNvPr>
          <p:cNvSpPr>
            <a:spLocks noGrp="1"/>
          </p:cNvSpPr>
          <p:nvPr>
            <p:ph type="sldNum" sz="quarter" idx="12"/>
          </p:nvPr>
        </p:nvSpPr>
        <p:spPr/>
        <p:txBody>
          <a:bodyPr>
            <a:normAutofit fontScale="85000" lnSpcReduction="20000"/>
          </a:bodyPr>
          <a:lstStyle/>
          <a:p>
            <a:fld id="{EBFB1032-EA64-7144-B003-9BCC9D94B503}" type="slidenum">
              <a:rPr lang="en-US" smtClean="0"/>
              <a:t>15</a:t>
            </a:fld>
            <a:endParaRPr lang="en-US" dirty="0"/>
          </a:p>
        </p:txBody>
      </p:sp>
      <p:sp>
        <p:nvSpPr>
          <p:cNvPr id="4" name="Content Placeholder 3">
            <a:extLst>
              <a:ext uri="{FF2B5EF4-FFF2-40B4-BE49-F238E27FC236}">
                <a16:creationId xmlns:a16="http://schemas.microsoft.com/office/drawing/2014/main" id="{CDB3E571-23DC-AC20-5099-A90397EE55A4}"/>
              </a:ext>
            </a:extLst>
          </p:cNvPr>
          <p:cNvSpPr>
            <a:spLocks noGrp="1"/>
          </p:cNvSpPr>
          <p:nvPr>
            <p:ph sz="quarter" idx="1"/>
          </p:nvPr>
        </p:nvSpPr>
        <p:spPr/>
        <p:txBody>
          <a:bodyPr/>
          <a:lstStyle/>
          <a:p>
            <a:pPr algn="just"/>
            <a:r>
              <a:rPr lang="en-US" dirty="0"/>
              <a:t>While </a:t>
            </a:r>
            <a:r>
              <a:rPr lang="en-US" dirty="0" err="1"/>
              <a:t>BoW</a:t>
            </a:r>
            <a:r>
              <a:rPr lang="en-US" dirty="0"/>
              <a:t> is a simple &amp; interpretable representation, below disadvantages highlight its limitations in capturing certain aspects of language structure and semantics:</a:t>
            </a:r>
          </a:p>
          <a:p>
            <a:pPr lvl="1" algn="just"/>
            <a:endParaRPr lang="en-US" dirty="0"/>
          </a:p>
          <a:p>
            <a:pPr lvl="1" algn="just"/>
            <a:r>
              <a:rPr lang="en-US" dirty="0" err="1"/>
              <a:t>BoW</a:t>
            </a:r>
            <a:r>
              <a:rPr lang="en-US" dirty="0"/>
              <a:t> ignores the order of words in the document, leading to a loss of sequential information and context making it less effective for tasks where word order is crucial, such as in natural language understanding.</a:t>
            </a:r>
          </a:p>
          <a:p>
            <a:pPr lvl="1" algn="just"/>
            <a:endParaRPr lang="en-US" dirty="0"/>
          </a:p>
          <a:p>
            <a:pPr lvl="1" algn="just"/>
            <a:r>
              <a:rPr lang="en-US" dirty="0" err="1"/>
              <a:t>BoW</a:t>
            </a:r>
            <a:r>
              <a:rPr lang="en-US" dirty="0"/>
              <a:t> representations are often sparse, with many elements being zero resulting in increased memory requirements and computational inefficiency, especially when dealing with large datasets.</a:t>
            </a:r>
          </a:p>
        </p:txBody>
      </p:sp>
    </p:spTree>
    <p:extLst>
      <p:ext uri="{BB962C8B-B14F-4D97-AF65-F5344CB8AC3E}">
        <p14:creationId xmlns:p14="http://schemas.microsoft.com/office/powerpoint/2010/main" val="12134530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ADFB8-3B49-68E4-F7FD-DE73C20AC2C4}"/>
              </a:ext>
            </a:extLst>
          </p:cNvPr>
          <p:cNvSpPr>
            <a:spLocks noGrp="1"/>
          </p:cNvSpPr>
          <p:nvPr>
            <p:ph type="title"/>
          </p:nvPr>
        </p:nvSpPr>
        <p:spPr/>
        <p:txBody>
          <a:bodyPr/>
          <a:lstStyle/>
          <a:p>
            <a:r>
              <a:rPr lang="en-US" dirty="0"/>
              <a:t>Example: Sample paragraph for </a:t>
            </a:r>
            <a:r>
              <a:rPr lang="en-US" dirty="0" err="1"/>
              <a:t>BoW</a:t>
            </a:r>
            <a:endParaRPr lang="en-US" dirty="0"/>
          </a:p>
        </p:txBody>
      </p:sp>
      <p:sp>
        <p:nvSpPr>
          <p:cNvPr id="3" name="Slide Number Placeholder 2">
            <a:extLst>
              <a:ext uri="{FF2B5EF4-FFF2-40B4-BE49-F238E27FC236}">
                <a16:creationId xmlns:a16="http://schemas.microsoft.com/office/drawing/2014/main" id="{2C73E687-58D3-C4AB-532B-DE0F75C30B01}"/>
              </a:ext>
            </a:extLst>
          </p:cNvPr>
          <p:cNvSpPr>
            <a:spLocks noGrp="1"/>
          </p:cNvSpPr>
          <p:nvPr>
            <p:ph type="sldNum" sz="quarter" idx="12"/>
          </p:nvPr>
        </p:nvSpPr>
        <p:spPr/>
        <p:txBody>
          <a:bodyPr>
            <a:normAutofit fontScale="85000" lnSpcReduction="20000"/>
          </a:bodyPr>
          <a:lstStyle/>
          <a:p>
            <a:fld id="{EBFB1032-EA64-7144-B003-9BCC9D94B503}" type="slidenum">
              <a:rPr lang="en-US" smtClean="0"/>
              <a:t>16</a:t>
            </a:fld>
            <a:endParaRPr lang="en-US" dirty="0"/>
          </a:p>
        </p:txBody>
      </p:sp>
      <p:sp>
        <p:nvSpPr>
          <p:cNvPr id="4" name="Content Placeholder 3">
            <a:extLst>
              <a:ext uri="{FF2B5EF4-FFF2-40B4-BE49-F238E27FC236}">
                <a16:creationId xmlns:a16="http://schemas.microsoft.com/office/drawing/2014/main" id="{B2B40879-9E43-2982-FE9A-4E23F7F97D40}"/>
              </a:ext>
            </a:extLst>
          </p:cNvPr>
          <p:cNvSpPr>
            <a:spLocks noGrp="1"/>
          </p:cNvSpPr>
          <p:nvPr>
            <p:ph sz="quarter" idx="1"/>
          </p:nvPr>
        </p:nvSpPr>
        <p:spPr/>
        <p:txBody>
          <a:bodyPr>
            <a:noAutofit/>
          </a:bodyPr>
          <a:lstStyle/>
          <a:p>
            <a:pPr marL="0" indent="0" algn="just">
              <a:buNone/>
            </a:pPr>
            <a:r>
              <a:rPr lang="en-US" dirty="0">
                <a:solidFill>
                  <a:srgbClr val="002060"/>
                </a:solidFill>
                <a:cs typeface="Courier New" panose="02070309020205020404" pitchFamily="49" charset="0"/>
              </a:rPr>
              <a:t>Beans. I was trying to explain to somebody as we were flying in, that's corn.  That's beans. And they were very impressed at my agricultural knowledge. Please give it up for Amaury once again for that outstanding introduction. I have a bunch of good friends here today, including somebody who I served with, who is one of the finest senators in the country, and we're lucky to have him, your Senator, Dick Durbin is here. I also noticed, by the way, former Governor Edgar here, who I haven't seen in a long time, and somehow he has not aged and I have. And it's great to see you, Governor. I want to thank President Killeen and everybody at the U of I System for making it possible for me to be here today. And I am deeply honored at the Paul Douglas Award that is being given to me. He is somebody who set the path for so much outstanding public service here in Illinois. Now, I want to start by addressing the elephant in the room. I know people are still wondering why I didn't speak at the commencement.</a:t>
            </a:r>
          </a:p>
        </p:txBody>
      </p:sp>
    </p:spTree>
    <p:extLst>
      <p:ext uri="{BB962C8B-B14F-4D97-AF65-F5344CB8AC3E}">
        <p14:creationId xmlns:p14="http://schemas.microsoft.com/office/powerpoint/2010/main" val="1454749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D64A7-D001-3436-A32F-40B97A4B6E28}"/>
              </a:ext>
            </a:extLst>
          </p:cNvPr>
          <p:cNvSpPr>
            <a:spLocks noGrp="1"/>
          </p:cNvSpPr>
          <p:nvPr>
            <p:ph type="title"/>
          </p:nvPr>
        </p:nvSpPr>
        <p:spPr/>
        <p:txBody>
          <a:bodyPr/>
          <a:lstStyle/>
          <a:p>
            <a:r>
              <a:rPr lang="en-US" b="1" dirty="0"/>
              <a:t>Step #1 :</a:t>
            </a:r>
            <a:r>
              <a:rPr lang="en-US" dirty="0"/>
              <a:t> We will first preprocess the data</a:t>
            </a:r>
          </a:p>
        </p:txBody>
      </p:sp>
      <p:sp>
        <p:nvSpPr>
          <p:cNvPr id="3" name="Slide Number Placeholder 2">
            <a:extLst>
              <a:ext uri="{FF2B5EF4-FFF2-40B4-BE49-F238E27FC236}">
                <a16:creationId xmlns:a16="http://schemas.microsoft.com/office/drawing/2014/main" id="{DA44A043-ED68-9D4F-E832-55140202DDCE}"/>
              </a:ext>
            </a:extLst>
          </p:cNvPr>
          <p:cNvSpPr>
            <a:spLocks noGrp="1"/>
          </p:cNvSpPr>
          <p:nvPr>
            <p:ph type="sldNum" sz="quarter" idx="12"/>
          </p:nvPr>
        </p:nvSpPr>
        <p:spPr/>
        <p:txBody>
          <a:bodyPr>
            <a:normAutofit fontScale="85000" lnSpcReduction="20000"/>
          </a:bodyPr>
          <a:lstStyle/>
          <a:p>
            <a:fld id="{EBFB1032-EA64-7144-B003-9BCC9D94B503}" type="slidenum">
              <a:rPr lang="en-US" smtClean="0"/>
              <a:t>17</a:t>
            </a:fld>
            <a:endParaRPr lang="en-US" dirty="0"/>
          </a:p>
        </p:txBody>
      </p:sp>
      <p:sp>
        <p:nvSpPr>
          <p:cNvPr id="4" name="Content Placeholder 3">
            <a:extLst>
              <a:ext uri="{FF2B5EF4-FFF2-40B4-BE49-F238E27FC236}">
                <a16:creationId xmlns:a16="http://schemas.microsoft.com/office/drawing/2014/main" id="{420F6378-C577-146E-78CF-D9791E0A99F4}"/>
              </a:ext>
            </a:extLst>
          </p:cNvPr>
          <p:cNvSpPr>
            <a:spLocks noGrp="1"/>
          </p:cNvSpPr>
          <p:nvPr>
            <p:ph sz="quarter" idx="1"/>
          </p:nvPr>
        </p:nvSpPr>
        <p:spPr/>
        <p:txBody>
          <a:bodyPr/>
          <a:lstStyle/>
          <a:p>
            <a:r>
              <a:rPr lang="en-US" dirty="0"/>
              <a:t>In order to:</a:t>
            </a:r>
          </a:p>
          <a:p>
            <a:pPr lvl="1"/>
            <a:r>
              <a:rPr lang="en-US" dirty="0"/>
              <a:t>Convert text to lower case.</a:t>
            </a:r>
          </a:p>
          <a:p>
            <a:pPr lvl="1"/>
            <a:r>
              <a:rPr lang="en-US" dirty="0"/>
              <a:t>Remove all non-word characters.</a:t>
            </a:r>
          </a:p>
          <a:p>
            <a:pPr lvl="1"/>
            <a:r>
              <a:rPr lang="en-US" dirty="0"/>
              <a:t>Remove all punctuations. </a:t>
            </a:r>
          </a:p>
        </p:txBody>
      </p:sp>
      <p:pic>
        <p:nvPicPr>
          <p:cNvPr id="6" name="Picture 5">
            <a:extLst>
              <a:ext uri="{FF2B5EF4-FFF2-40B4-BE49-F238E27FC236}">
                <a16:creationId xmlns:a16="http://schemas.microsoft.com/office/drawing/2014/main" id="{5166BB22-6B8F-D77D-DE3F-823A84E43277}"/>
              </a:ext>
            </a:extLst>
          </p:cNvPr>
          <p:cNvPicPr>
            <a:picLocks noChangeAspect="1"/>
          </p:cNvPicPr>
          <p:nvPr/>
        </p:nvPicPr>
        <p:blipFill>
          <a:blip r:embed="rId2"/>
          <a:stretch>
            <a:fillRect/>
          </a:stretch>
        </p:blipFill>
        <p:spPr>
          <a:xfrm>
            <a:off x="1671346" y="3429000"/>
            <a:ext cx="5801307" cy="3291840"/>
          </a:xfrm>
          <a:prstGeom prst="rect">
            <a:avLst/>
          </a:prstGeom>
        </p:spPr>
      </p:pic>
    </p:spTree>
    <p:extLst>
      <p:ext uri="{BB962C8B-B14F-4D97-AF65-F5344CB8AC3E}">
        <p14:creationId xmlns:p14="http://schemas.microsoft.com/office/powerpoint/2010/main" val="23682353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E2B8A-79B0-5CA4-FDC9-881B30CBDBD2}"/>
              </a:ext>
            </a:extLst>
          </p:cNvPr>
          <p:cNvSpPr>
            <a:spLocks noGrp="1"/>
          </p:cNvSpPr>
          <p:nvPr>
            <p:ph type="title"/>
          </p:nvPr>
        </p:nvSpPr>
        <p:spPr/>
        <p:txBody>
          <a:bodyPr/>
          <a:lstStyle/>
          <a:p>
            <a:r>
              <a:rPr lang="en-US" dirty="0"/>
              <a:t>Output: Preprocessed text</a:t>
            </a:r>
          </a:p>
        </p:txBody>
      </p:sp>
      <p:sp>
        <p:nvSpPr>
          <p:cNvPr id="3" name="Slide Number Placeholder 2">
            <a:extLst>
              <a:ext uri="{FF2B5EF4-FFF2-40B4-BE49-F238E27FC236}">
                <a16:creationId xmlns:a16="http://schemas.microsoft.com/office/drawing/2014/main" id="{5F557A90-52CF-D979-AAF5-F4D8120A109C}"/>
              </a:ext>
            </a:extLst>
          </p:cNvPr>
          <p:cNvSpPr>
            <a:spLocks noGrp="1"/>
          </p:cNvSpPr>
          <p:nvPr>
            <p:ph type="sldNum" sz="quarter" idx="12"/>
          </p:nvPr>
        </p:nvSpPr>
        <p:spPr/>
        <p:txBody>
          <a:bodyPr>
            <a:normAutofit fontScale="85000" lnSpcReduction="20000"/>
          </a:bodyPr>
          <a:lstStyle/>
          <a:p>
            <a:fld id="{EBFB1032-EA64-7144-B003-9BCC9D94B503}" type="slidenum">
              <a:rPr lang="en-US" smtClean="0"/>
              <a:t>18</a:t>
            </a:fld>
            <a:endParaRPr lang="en-US" dirty="0"/>
          </a:p>
        </p:txBody>
      </p:sp>
      <p:pic>
        <p:nvPicPr>
          <p:cNvPr id="8" name="Picture 7">
            <a:extLst>
              <a:ext uri="{FF2B5EF4-FFF2-40B4-BE49-F238E27FC236}">
                <a16:creationId xmlns:a16="http://schemas.microsoft.com/office/drawing/2014/main" id="{E1B4AB7F-9E78-8930-988B-7B4B4E0596C3}"/>
              </a:ext>
            </a:extLst>
          </p:cNvPr>
          <p:cNvPicPr>
            <a:picLocks noChangeAspect="1"/>
          </p:cNvPicPr>
          <p:nvPr/>
        </p:nvPicPr>
        <p:blipFill>
          <a:blip r:embed="rId2"/>
          <a:stretch>
            <a:fillRect/>
          </a:stretch>
        </p:blipFill>
        <p:spPr>
          <a:xfrm>
            <a:off x="640080" y="1516698"/>
            <a:ext cx="7863840" cy="5218294"/>
          </a:xfrm>
          <a:prstGeom prst="rect">
            <a:avLst/>
          </a:prstGeom>
        </p:spPr>
      </p:pic>
    </p:spTree>
    <p:extLst>
      <p:ext uri="{BB962C8B-B14F-4D97-AF65-F5344CB8AC3E}">
        <p14:creationId xmlns:p14="http://schemas.microsoft.com/office/powerpoint/2010/main" val="1463641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B58BC-183E-8E3E-A2CA-375048B98D3E}"/>
              </a:ext>
            </a:extLst>
          </p:cNvPr>
          <p:cNvSpPr>
            <a:spLocks noGrp="1"/>
          </p:cNvSpPr>
          <p:nvPr>
            <p:ph type="title"/>
          </p:nvPr>
        </p:nvSpPr>
        <p:spPr/>
        <p:txBody>
          <a:bodyPr>
            <a:normAutofit fontScale="90000"/>
          </a:bodyPr>
          <a:lstStyle/>
          <a:p>
            <a:r>
              <a:rPr lang="en-US" dirty="0"/>
              <a:t>Step #2 : Obtaining most frequent words in our text</a:t>
            </a:r>
          </a:p>
        </p:txBody>
      </p:sp>
      <p:sp>
        <p:nvSpPr>
          <p:cNvPr id="3" name="Slide Number Placeholder 2">
            <a:extLst>
              <a:ext uri="{FF2B5EF4-FFF2-40B4-BE49-F238E27FC236}">
                <a16:creationId xmlns:a16="http://schemas.microsoft.com/office/drawing/2014/main" id="{4B302D0A-C907-7D8D-110F-497119A74A2D}"/>
              </a:ext>
            </a:extLst>
          </p:cNvPr>
          <p:cNvSpPr>
            <a:spLocks noGrp="1"/>
          </p:cNvSpPr>
          <p:nvPr>
            <p:ph type="sldNum" sz="quarter" idx="12"/>
          </p:nvPr>
        </p:nvSpPr>
        <p:spPr/>
        <p:txBody>
          <a:bodyPr>
            <a:normAutofit fontScale="85000" lnSpcReduction="20000"/>
          </a:bodyPr>
          <a:lstStyle/>
          <a:p>
            <a:fld id="{EBFB1032-EA64-7144-B003-9BCC9D94B503}" type="slidenum">
              <a:rPr lang="en-US" smtClean="0"/>
              <a:t>19</a:t>
            </a:fld>
            <a:endParaRPr lang="en-US" dirty="0"/>
          </a:p>
        </p:txBody>
      </p:sp>
      <p:sp>
        <p:nvSpPr>
          <p:cNvPr id="4" name="Content Placeholder 3">
            <a:extLst>
              <a:ext uri="{FF2B5EF4-FFF2-40B4-BE49-F238E27FC236}">
                <a16:creationId xmlns:a16="http://schemas.microsoft.com/office/drawing/2014/main" id="{15BB277B-A147-B66E-149A-38BF9AE2BE5C}"/>
              </a:ext>
            </a:extLst>
          </p:cNvPr>
          <p:cNvSpPr>
            <a:spLocks noGrp="1"/>
          </p:cNvSpPr>
          <p:nvPr>
            <p:ph sz="quarter" idx="1"/>
          </p:nvPr>
        </p:nvSpPr>
        <p:spPr/>
        <p:txBody>
          <a:bodyPr/>
          <a:lstStyle/>
          <a:p>
            <a:pPr>
              <a:lnSpc>
                <a:spcPct val="95000"/>
              </a:lnSpc>
              <a:spcBef>
                <a:spcPts val="0"/>
              </a:spcBef>
            </a:pPr>
            <a:r>
              <a:rPr lang="en-US" dirty="0"/>
              <a:t>We will apply the following steps to generate our model.</a:t>
            </a:r>
          </a:p>
          <a:p>
            <a:pPr lvl="1">
              <a:lnSpc>
                <a:spcPct val="95000"/>
              </a:lnSpc>
              <a:spcBef>
                <a:spcPts val="0"/>
              </a:spcBef>
            </a:pPr>
            <a:r>
              <a:rPr lang="en-US" sz="2300" dirty="0"/>
              <a:t>We declare a dictionary to hold our bag of words.</a:t>
            </a:r>
          </a:p>
          <a:p>
            <a:pPr lvl="1">
              <a:lnSpc>
                <a:spcPct val="95000"/>
              </a:lnSpc>
              <a:spcBef>
                <a:spcPts val="0"/>
              </a:spcBef>
            </a:pPr>
            <a:r>
              <a:rPr lang="en-US" sz="2300" dirty="0"/>
              <a:t>Next we tokenize each sentence to words.</a:t>
            </a:r>
          </a:p>
          <a:p>
            <a:pPr lvl="1">
              <a:lnSpc>
                <a:spcPct val="95000"/>
              </a:lnSpc>
              <a:spcBef>
                <a:spcPts val="0"/>
              </a:spcBef>
            </a:pPr>
            <a:r>
              <a:rPr lang="en-US" sz="2300" dirty="0"/>
              <a:t>Now for each word in sentence, we check if the word exists in our dictionary.</a:t>
            </a:r>
          </a:p>
          <a:p>
            <a:pPr lvl="2">
              <a:lnSpc>
                <a:spcPct val="95000"/>
              </a:lnSpc>
              <a:spcBef>
                <a:spcPts val="0"/>
              </a:spcBef>
            </a:pPr>
            <a:r>
              <a:rPr lang="en-US" sz="2300" dirty="0"/>
              <a:t>If it does, then we increment its count by 1.</a:t>
            </a:r>
          </a:p>
          <a:p>
            <a:pPr lvl="2">
              <a:lnSpc>
                <a:spcPct val="95000"/>
              </a:lnSpc>
              <a:spcBef>
                <a:spcPts val="0"/>
              </a:spcBef>
            </a:pPr>
            <a:r>
              <a:rPr lang="en-US" sz="2300" dirty="0"/>
              <a:t>If it doesn't, we add it to our dictionary and set its count as 1. </a:t>
            </a:r>
          </a:p>
        </p:txBody>
      </p:sp>
      <p:pic>
        <p:nvPicPr>
          <p:cNvPr id="6" name="Picture 5">
            <a:extLst>
              <a:ext uri="{FF2B5EF4-FFF2-40B4-BE49-F238E27FC236}">
                <a16:creationId xmlns:a16="http://schemas.microsoft.com/office/drawing/2014/main" id="{07F13152-F1D8-52A3-3300-9FA8B06BDFC5}"/>
              </a:ext>
            </a:extLst>
          </p:cNvPr>
          <p:cNvPicPr>
            <a:picLocks noChangeAspect="1"/>
          </p:cNvPicPr>
          <p:nvPr/>
        </p:nvPicPr>
        <p:blipFill>
          <a:blip r:embed="rId2"/>
          <a:stretch>
            <a:fillRect/>
          </a:stretch>
        </p:blipFill>
        <p:spPr>
          <a:xfrm>
            <a:off x="1565509" y="3749040"/>
            <a:ext cx="6053084" cy="3017520"/>
          </a:xfrm>
          <a:prstGeom prst="rect">
            <a:avLst/>
          </a:prstGeom>
        </p:spPr>
      </p:pic>
    </p:spTree>
    <p:extLst>
      <p:ext uri="{BB962C8B-B14F-4D97-AF65-F5344CB8AC3E}">
        <p14:creationId xmlns:p14="http://schemas.microsoft.com/office/powerpoint/2010/main" val="3778766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E807B-2074-0753-3AA4-61760DD5C7CE}"/>
              </a:ext>
            </a:extLst>
          </p:cNvPr>
          <p:cNvSpPr>
            <a:spLocks noGrp="1"/>
          </p:cNvSpPr>
          <p:nvPr>
            <p:ph type="title"/>
          </p:nvPr>
        </p:nvSpPr>
        <p:spPr/>
        <p:txBody>
          <a:bodyPr/>
          <a:lstStyle/>
          <a:p>
            <a:r>
              <a:rPr lang="en-US" b="1" dirty="0"/>
              <a:t>Output: Bag of Words dictionary</a:t>
            </a:r>
            <a:endParaRPr lang="en-US" dirty="0"/>
          </a:p>
        </p:txBody>
      </p:sp>
      <p:sp>
        <p:nvSpPr>
          <p:cNvPr id="3" name="Slide Number Placeholder 2">
            <a:extLst>
              <a:ext uri="{FF2B5EF4-FFF2-40B4-BE49-F238E27FC236}">
                <a16:creationId xmlns:a16="http://schemas.microsoft.com/office/drawing/2014/main" id="{35A9EC59-3ADB-4D5F-E7EF-B36089E0ABA4}"/>
              </a:ext>
            </a:extLst>
          </p:cNvPr>
          <p:cNvSpPr>
            <a:spLocks noGrp="1"/>
          </p:cNvSpPr>
          <p:nvPr>
            <p:ph type="sldNum" sz="quarter" idx="12"/>
          </p:nvPr>
        </p:nvSpPr>
        <p:spPr/>
        <p:txBody>
          <a:bodyPr>
            <a:normAutofit fontScale="85000" lnSpcReduction="20000"/>
          </a:bodyPr>
          <a:lstStyle/>
          <a:p>
            <a:fld id="{EBFB1032-EA64-7144-B003-9BCC9D94B503}" type="slidenum">
              <a:rPr lang="en-US" smtClean="0"/>
              <a:t>20</a:t>
            </a:fld>
            <a:endParaRPr lang="en-US" dirty="0"/>
          </a:p>
        </p:txBody>
      </p:sp>
      <p:pic>
        <p:nvPicPr>
          <p:cNvPr id="6" name="Picture 5">
            <a:extLst>
              <a:ext uri="{FF2B5EF4-FFF2-40B4-BE49-F238E27FC236}">
                <a16:creationId xmlns:a16="http://schemas.microsoft.com/office/drawing/2014/main" id="{4643EC80-E87F-1C40-4FDB-93FC458E4803}"/>
              </a:ext>
            </a:extLst>
          </p:cNvPr>
          <p:cNvPicPr>
            <a:picLocks noChangeAspect="1"/>
          </p:cNvPicPr>
          <p:nvPr/>
        </p:nvPicPr>
        <p:blipFill>
          <a:blip r:embed="rId2"/>
          <a:stretch>
            <a:fillRect/>
          </a:stretch>
        </p:blipFill>
        <p:spPr>
          <a:xfrm>
            <a:off x="707076" y="1681316"/>
            <a:ext cx="7729848" cy="5029200"/>
          </a:xfrm>
          <a:prstGeom prst="rect">
            <a:avLst/>
          </a:prstGeom>
        </p:spPr>
      </p:pic>
    </p:spTree>
    <p:extLst>
      <p:ext uri="{BB962C8B-B14F-4D97-AF65-F5344CB8AC3E}">
        <p14:creationId xmlns:p14="http://schemas.microsoft.com/office/powerpoint/2010/main" val="2655328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84C88-71E4-179A-9981-B0E2DFD12B2E}"/>
              </a:ext>
            </a:extLst>
          </p:cNvPr>
          <p:cNvSpPr>
            <a:spLocks noGrp="1"/>
          </p:cNvSpPr>
          <p:nvPr>
            <p:ph type="title"/>
          </p:nvPr>
        </p:nvSpPr>
        <p:spPr/>
        <p:txBody>
          <a:bodyPr>
            <a:normAutofit fontScale="90000"/>
          </a:bodyPr>
          <a:lstStyle/>
          <a:p>
            <a:r>
              <a:rPr lang="en-US" dirty="0"/>
              <a:t>Step #2.5: select the most frequently used words</a:t>
            </a:r>
          </a:p>
        </p:txBody>
      </p:sp>
      <p:sp>
        <p:nvSpPr>
          <p:cNvPr id="3" name="Slide Number Placeholder 2">
            <a:extLst>
              <a:ext uri="{FF2B5EF4-FFF2-40B4-BE49-F238E27FC236}">
                <a16:creationId xmlns:a16="http://schemas.microsoft.com/office/drawing/2014/main" id="{3C5EEB8B-92AB-87B9-621B-885A3ED396C6}"/>
              </a:ext>
            </a:extLst>
          </p:cNvPr>
          <p:cNvSpPr>
            <a:spLocks noGrp="1"/>
          </p:cNvSpPr>
          <p:nvPr>
            <p:ph type="sldNum" sz="quarter" idx="12"/>
          </p:nvPr>
        </p:nvSpPr>
        <p:spPr/>
        <p:txBody>
          <a:bodyPr>
            <a:normAutofit fontScale="85000" lnSpcReduction="20000"/>
          </a:bodyPr>
          <a:lstStyle/>
          <a:p>
            <a:fld id="{EBFB1032-EA64-7144-B003-9BCC9D94B503}" type="slidenum">
              <a:rPr lang="en-US" smtClean="0"/>
              <a:t>21</a:t>
            </a:fld>
            <a:endParaRPr lang="en-US" dirty="0"/>
          </a:p>
        </p:txBody>
      </p:sp>
      <p:sp>
        <p:nvSpPr>
          <p:cNvPr id="4" name="Content Placeholder 3">
            <a:extLst>
              <a:ext uri="{FF2B5EF4-FFF2-40B4-BE49-F238E27FC236}">
                <a16:creationId xmlns:a16="http://schemas.microsoft.com/office/drawing/2014/main" id="{E9086DED-8E22-8CA8-679A-F225888AB447}"/>
              </a:ext>
            </a:extLst>
          </p:cNvPr>
          <p:cNvSpPr>
            <a:spLocks noGrp="1"/>
          </p:cNvSpPr>
          <p:nvPr>
            <p:ph sz="quarter" idx="1"/>
          </p:nvPr>
        </p:nvSpPr>
        <p:spPr/>
        <p:txBody>
          <a:bodyPr>
            <a:normAutofit/>
          </a:bodyPr>
          <a:lstStyle/>
          <a:p>
            <a:pPr>
              <a:lnSpc>
                <a:spcPct val="95000"/>
              </a:lnSpc>
              <a:spcBef>
                <a:spcPts val="0"/>
              </a:spcBef>
            </a:pPr>
            <a:r>
              <a:rPr lang="en-US" sz="2300" dirty="0"/>
              <a:t>In our model, we have a total of 118 words.</a:t>
            </a:r>
          </a:p>
          <a:p>
            <a:pPr>
              <a:lnSpc>
                <a:spcPct val="95000"/>
              </a:lnSpc>
              <a:spcBef>
                <a:spcPts val="0"/>
              </a:spcBef>
            </a:pPr>
            <a:r>
              <a:rPr lang="en-US" sz="2300" dirty="0"/>
              <a:t>However when processing large texts the number of words could reach millions</a:t>
            </a:r>
          </a:p>
          <a:p>
            <a:pPr>
              <a:lnSpc>
                <a:spcPct val="95000"/>
              </a:lnSpc>
              <a:spcBef>
                <a:spcPts val="0"/>
              </a:spcBef>
            </a:pPr>
            <a:r>
              <a:rPr lang="en-US" sz="2300" dirty="0"/>
              <a:t>We do not need to use all those words.</a:t>
            </a:r>
          </a:p>
          <a:p>
            <a:pPr>
              <a:lnSpc>
                <a:spcPct val="95000"/>
              </a:lnSpc>
              <a:spcBef>
                <a:spcPts val="0"/>
              </a:spcBef>
            </a:pPr>
            <a:r>
              <a:rPr lang="en-US" sz="2300" dirty="0"/>
              <a:t>Hence, we select a particular number of most frequently used words.</a:t>
            </a:r>
          </a:p>
          <a:p>
            <a:pPr>
              <a:lnSpc>
                <a:spcPct val="95000"/>
              </a:lnSpc>
              <a:spcBef>
                <a:spcPts val="0"/>
              </a:spcBef>
            </a:pPr>
            <a:r>
              <a:rPr lang="en-US" sz="2300" dirty="0"/>
              <a:t>To implement this we use: </a:t>
            </a:r>
          </a:p>
          <a:p>
            <a:pPr>
              <a:lnSpc>
                <a:spcPct val="95000"/>
              </a:lnSpc>
              <a:spcBef>
                <a:spcPts val="0"/>
              </a:spcBef>
            </a:pPr>
            <a:endParaRPr lang="en-US" sz="2300" dirty="0"/>
          </a:p>
          <a:p>
            <a:pPr>
              <a:lnSpc>
                <a:spcPct val="95000"/>
              </a:lnSpc>
              <a:spcBef>
                <a:spcPts val="0"/>
              </a:spcBef>
            </a:pPr>
            <a:endParaRPr lang="en-US" sz="2300" dirty="0"/>
          </a:p>
        </p:txBody>
      </p:sp>
      <p:pic>
        <p:nvPicPr>
          <p:cNvPr id="6" name="Picture 5">
            <a:extLst>
              <a:ext uri="{FF2B5EF4-FFF2-40B4-BE49-F238E27FC236}">
                <a16:creationId xmlns:a16="http://schemas.microsoft.com/office/drawing/2014/main" id="{DC84E404-5349-AEF7-59B7-B56BBF458929}"/>
              </a:ext>
            </a:extLst>
          </p:cNvPr>
          <p:cNvPicPr>
            <a:picLocks noChangeAspect="1"/>
          </p:cNvPicPr>
          <p:nvPr/>
        </p:nvPicPr>
        <p:blipFill>
          <a:blip r:embed="rId2"/>
          <a:stretch>
            <a:fillRect/>
          </a:stretch>
        </p:blipFill>
        <p:spPr>
          <a:xfrm>
            <a:off x="182880" y="3429000"/>
            <a:ext cx="8778240" cy="1704762"/>
          </a:xfrm>
          <a:prstGeom prst="rect">
            <a:avLst/>
          </a:prstGeom>
        </p:spPr>
      </p:pic>
    </p:spTree>
    <p:extLst>
      <p:ext uri="{BB962C8B-B14F-4D97-AF65-F5344CB8AC3E}">
        <p14:creationId xmlns:p14="http://schemas.microsoft.com/office/powerpoint/2010/main" val="26641164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A3BE7-DA32-E2A2-F928-DDA0C9CA296B}"/>
              </a:ext>
            </a:extLst>
          </p:cNvPr>
          <p:cNvSpPr>
            <a:spLocks noGrp="1"/>
          </p:cNvSpPr>
          <p:nvPr>
            <p:ph type="title"/>
          </p:nvPr>
        </p:nvSpPr>
        <p:spPr/>
        <p:txBody>
          <a:bodyPr/>
          <a:lstStyle/>
          <a:p>
            <a:r>
              <a:rPr lang="en-US" dirty="0"/>
              <a:t>Step #3 : Building the Bag of Words model</a:t>
            </a:r>
          </a:p>
        </p:txBody>
      </p:sp>
      <p:sp>
        <p:nvSpPr>
          <p:cNvPr id="3" name="Slide Number Placeholder 2">
            <a:extLst>
              <a:ext uri="{FF2B5EF4-FFF2-40B4-BE49-F238E27FC236}">
                <a16:creationId xmlns:a16="http://schemas.microsoft.com/office/drawing/2014/main" id="{7484FE99-E327-98E7-0686-3F30D6B9272A}"/>
              </a:ext>
            </a:extLst>
          </p:cNvPr>
          <p:cNvSpPr>
            <a:spLocks noGrp="1"/>
          </p:cNvSpPr>
          <p:nvPr>
            <p:ph type="sldNum" sz="quarter" idx="12"/>
          </p:nvPr>
        </p:nvSpPr>
        <p:spPr/>
        <p:txBody>
          <a:bodyPr>
            <a:normAutofit fontScale="85000" lnSpcReduction="20000"/>
          </a:bodyPr>
          <a:lstStyle/>
          <a:p>
            <a:fld id="{EBFB1032-EA64-7144-B003-9BCC9D94B503}" type="slidenum">
              <a:rPr lang="en-US" smtClean="0"/>
              <a:t>22</a:t>
            </a:fld>
            <a:endParaRPr lang="en-US" dirty="0"/>
          </a:p>
        </p:txBody>
      </p:sp>
      <p:sp>
        <p:nvSpPr>
          <p:cNvPr id="4" name="Content Placeholder 3">
            <a:extLst>
              <a:ext uri="{FF2B5EF4-FFF2-40B4-BE49-F238E27FC236}">
                <a16:creationId xmlns:a16="http://schemas.microsoft.com/office/drawing/2014/main" id="{EB4F626C-6C3B-987F-872B-820ED59121AC}"/>
              </a:ext>
            </a:extLst>
          </p:cNvPr>
          <p:cNvSpPr>
            <a:spLocks noGrp="1"/>
          </p:cNvSpPr>
          <p:nvPr>
            <p:ph sz="quarter" idx="1"/>
          </p:nvPr>
        </p:nvSpPr>
        <p:spPr/>
        <p:txBody>
          <a:bodyPr/>
          <a:lstStyle/>
          <a:p>
            <a:r>
              <a:rPr lang="en-US" dirty="0"/>
              <a:t>In this step we construct a vector, which would tell us whether a word in each sentence is a frequent word or not.</a:t>
            </a:r>
          </a:p>
          <a:p>
            <a:r>
              <a:rPr lang="en-US" dirty="0"/>
              <a:t>If a word in a sentence is a frequent word, we set it as 1, else we set it as 0. </a:t>
            </a:r>
          </a:p>
          <a:p>
            <a:r>
              <a:rPr lang="en-US" dirty="0"/>
              <a:t>This can be implemented with the help of following code: </a:t>
            </a:r>
          </a:p>
        </p:txBody>
      </p:sp>
      <p:pic>
        <p:nvPicPr>
          <p:cNvPr id="6" name="Picture 5">
            <a:extLst>
              <a:ext uri="{FF2B5EF4-FFF2-40B4-BE49-F238E27FC236}">
                <a16:creationId xmlns:a16="http://schemas.microsoft.com/office/drawing/2014/main" id="{4974D52C-911C-9FF1-E316-8B160B22370C}"/>
              </a:ext>
            </a:extLst>
          </p:cNvPr>
          <p:cNvPicPr>
            <a:picLocks noChangeAspect="1"/>
          </p:cNvPicPr>
          <p:nvPr/>
        </p:nvPicPr>
        <p:blipFill>
          <a:blip r:embed="rId2"/>
          <a:stretch>
            <a:fillRect/>
          </a:stretch>
        </p:blipFill>
        <p:spPr>
          <a:xfrm>
            <a:off x="1325880" y="3429000"/>
            <a:ext cx="6492240" cy="3255064"/>
          </a:xfrm>
          <a:prstGeom prst="rect">
            <a:avLst/>
          </a:prstGeom>
        </p:spPr>
      </p:pic>
    </p:spTree>
    <p:extLst>
      <p:ext uri="{BB962C8B-B14F-4D97-AF65-F5344CB8AC3E}">
        <p14:creationId xmlns:p14="http://schemas.microsoft.com/office/powerpoint/2010/main" val="13658531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A0095-6444-BC64-A103-9C84FDD51867}"/>
              </a:ext>
            </a:extLst>
          </p:cNvPr>
          <p:cNvSpPr>
            <a:spLocks noGrp="1"/>
          </p:cNvSpPr>
          <p:nvPr>
            <p:ph type="title"/>
          </p:nvPr>
        </p:nvSpPr>
        <p:spPr/>
        <p:txBody>
          <a:bodyPr/>
          <a:lstStyle/>
          <a:p>
            <a:r>
              <a:rPr lang="en-US" b="1" dirty="0"/>
              <a:t>Output: </a:t>
            </a:r>
            <a:r>
              <a:rPr lang="en-US" b="1" dirty="0" err="1"/>
              <a:t>BoW</a:t>
            </a:r>
            <a:r>
              <a:rPr lang="en-US" b="1" dirty="0"/>
              <a:t> model</a:t>
            </a:r>
            <a:endParaRPr lang="en-US" dirty="0"/>
          </a:p>
        </p:txBody>
      </p:sp>
      <p:sp>
        <p:nvSpPr>
          <p:cNvPr id="3" name="Slide Number Placeholder 2">
            <a:extLst>
              <a:ext uri="{FF2B5EF4-FFF2-40B4-BE49-F238E27FC236}">
                <a16:creationId xmlns:a16="http://schemas.microsoft.com/office/drawing/2014/main" id="{B640E30A-5321-68FE-82AF-EAA6FD0889D5}"/>
              </a:ext>
            </a:extLst>
          </p:cNvPr>
          <p:cNvSpPr>
            <a:spLocks noGrp="1"/>
          </p:cNvSpPr>
          <p:nvPr>
            <p:ph type="sldNum" sz="quarter" idx="12"/>
          </p:nvPr>
        </p:nvSpPr>
        <p:spPr/>
        <p:txBody>
          <a:bodyPr>
            <a:normAutofit fontScale="85000" lnSpcReduction="20000"/>
          </a:bodyPr>
          <a:lstStyle/>
          <a:p>
            <a:fld id="{EBFB1032-EA64-7144-B003-9BCC9D94B503}" type="slidenum">
              <a:rPr lang="en-US" smtClean="0"/>
              <a:t>23</a:t>
            </a:fld>
            <a:endParaRPr lang="en-US" dirty="0"/>
          </a:p>
        </p:txBody>
      </p:sp>
      <p:pic>
        <p:nvPicPr>
          <p:cNvPr id="6" name="Picture 5" descr="A screenshot of a computer&#10;&#10;AI-generated content may be incorrect.">
            <a:extLst>
              <a:ext uri="{FF2B5EF4-FFF2-40B4-BE49-F238E27FC236}">
                <a16:creationId xmlns:a16="http://schemas.microsoft.com/office/drawing/2014/main" id="{B524345F-8528-6E1B-6AB3-6F6A0FDA45FD}"/>
              </a:ext>
            </a:extLst>
          </p:cNvPr>
          <p:cNvPicPr>
            <a:picLocks noChangeAspect="1"/>
          </p:cNvPicPr>
          <p:nvPr/>
        </p:nvPicPr>
        <p:blipFill>
          <a:blip r:embed="rId2"/>
          <a:stretch>
            <a:fillRect/>
          </a:stretch>
        </p:blipFill>
        <p:spPr>
          <a:xfrm>
            <a:off x="91440" y="1821981"/>
            <a:ext cx="8961120" cy="2802876"/>
          </a:xfrm>
          <a:prstGeom prst="rect">
            <a:avLst/>
          </a:prstGeom>
        </p:spPr>
      </p:pic>
    </p:spTree>
    <p:extLst>
      <p:ext uri="{BB962C8B-B14F-4D97-AF65-F5344CB8AC3E}">
        <p14:creationId xmlns:p14="http://schemas.microsoft.com/office/powerpoint/2010/main" val="3533206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E83EC-66D5-8886-BCC9-8DDBF64EB42A}"/>
              </a:ext>
            </a:extLst>
          </p:cNvPr>
          <p:cNvSpPr>
            <a:spLocks noGrp="1"/>
          </p:cNvSpPr>
          <p:nvPr>
            <p:ph type="title"/>
          </p:nvPr>
        </p:nvSpPr>
        <p:spPr/>
        <p:txBody>
          <a:bodyPr>
            <a:noAutofit/>
          </a:bodyPr>
          <a:lstStyle/>
          <a:p>
            <a:r>
              <a:rPr lang="en-US" sz="3200" b="0" dirty="0"/>
              <a:t>1.3. Term frequency-inverse document frequency (TF-IDF)</a:t>
            </a:r>
          </a:p>
        </p:txBody>
      </p:sp>
      <p:sp>
        <p:nvSpPr>
          <p:cNvPr id="3" name="Slide Number Placeholder 2">
            <a:extLst>
              <a:ext uri="{FF2B5EF4-FFF2-40B4-BE49-F238E27FC236}">
                <a16:creationId xmlns:a16="http://schemas.microsoft.com/office/drawing/2014/main" id="{28EDED6A-D83A-1F7D-FD3C-23B3B080FD80}"/>
              </a:ext>
            </a:extLst>
          </p:cNvPr>
          <p:cNvSpPr>
            <a:spLocks noGrp="1"/>
          </p:cNvSpPr>
          <p:nvPr>
            <p:ph type="sldNum" sz="quarter" idx="12"/>
          </p:nvPr>
        </p:nvSpPr>
        <p:spPr/>
        <p:txBody>
          <a:bodyPr>
            <a:normAutofit fontScale="85000" lnSpcReduction="20000"/>
          </a:bodyPr>
          <a:lstStyle/>
          <a:p>
            <a:fld id="{EBFB1032-EA64-7144-B003-9BCC9D94B503}" type="slidenum">
              <a:rPr lang="en-US" smtClean="0"/>
              <a:t>24</a:t>
            </a:fld>
            <a:endParaRPr lang="en-US" dirty="0"/>
          </a:p>
        </p:txBody>
      </p:sp>
      <p:sp>
        <p:nvSpPr>
          <p:cNvPr id="4" name="Content Placeholder 3">
            <a:extLst>
              <a:ext uri="{FF2B5EF4-FFF2-40B4-BE49-F238E27FC236}">
                <a16:creationId xmlns:a16="http://schemas.microsoft.com/office/drawing/2014/main" id="{49E23F3D-61FC-6FFD-A9B8-DE71FE1B1389}"/>
              </a:ext>
            </a:extLst>
          </p:cNvPr>
          <p:cNvSpPr>
            <a:spLocks noGrp="1"/>
          </p:cNvSpPr>
          <p:nvPr>
            <p:ph sz="quarter" idx="1"/>
          </p:nvPr>
        </p:nvSpPr>
        <p:spPr/>
        <p:txBody>
          <a:bodyPr/>
          <a:lstStyle/>
          <a:p>
            <a:r>
              <a:rPr lang="en-US" dirty="0"/>
              <a:t>Term Frequency-Inverse Document Frequency, commonly known as TF-IDF, is a numerical statistic that reflects the importance of a word in a document relative to a collection of documents (corpus).</a:t>
            </a:r>
          </a:p>
          <a:p>
            <a:endParaRPr lang="en-US" dirty="0"/>
          </a:p>
          <a:p>
            <a:r>
              <a:rPr lang="en-US" dirty="0"/>
              <a:t>It is widely used in natural language processing and information retrieval to evaluate the significance of a term within a specific document in a larger corpus.</a:t>
            </a:r>
          </a:p>
        </p:txBody>
      </p:sp>
    </p:spTree>
    <p:extLst>
      <p:ext uri="{BB962C8B-B14F-4D97-AF65-F5344CB8AC3E}">
        <p14:creationId xmlns:p14="http://schemas.microsoft.com/office/powerpoint/2010/main" val="42295398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EE428-12DD-6BB8-4AF0-53F363E5BC89}"/>
              </a:ext>
            </a:extLst>
          </p:cNvPr>
          <p:cNvSpPr>
            <a:spLocks noGrp="1"/>
          </p:cNvSpPr>
          <p:nvPr>
            <p:ph type="title"/>
          </p:nvPr>
        </p:nvSpPr>
        <p:spPr/>
        <p:txBody>
          <a:bodyPr>
            <a:normAutofit/>
          </a:bodyPr>
          <a:lstStyle/>
          <a:p>
            <a:r>
              <a:rPr lang="en-US" dirty="0"/>
              <a:t>Where is it used?</a:t>
            </a:r>
          </a:p>
        </p:txBody>
      </p:sp>
      <p:sp>
        <p:nvSpPr>
          <p:cNvPr id="3" name="Slide Number Placeholder 2">
            <a:extLst>
              <a:ext uri="{FF2B5EF4-FFF2-40B4-BE49-F238E27FC236}">
                <a16:creationId xmlns:a16="http://schemas.microsoft.com/office/drawing/2014/main" id="{19CC071F-9C86-1006-939A-EAF15AF34763}"/>
              </a:ext>
            </a:extLst>
          </p:cNvPr>
          <p:cNvSpPr>
            <a:spLocks noGrp="1"/>
          </p:cNvSpPr>
          <p:nvPr>
            <p:ph type="sldNum" sz="quarter" idx="12"/>
          </p:nvPr>
        </p:nvSpPr>
        <p:spPr/>
        <p:txBody>
          <a:bodyPr>
            <a:normAutofit fontScale="85000" lnSpcReduction="20000"/>
          </a:bodyPr>
          <a:lstStyle/>
          <a:p>
            <a:fld id="{EBFB1032-EA64-7144-B003-9BCC9D94B503}" type="slidenum">
              <a:rPr lang="en-US" smtClean="0"/>
              <a:t>25</a:t>
            </a:fld>
            <a:endParaRPr lang="en-US" dirty="0"/>
          </a:p>
        </p:txBody>
      </p:sp>
      <p:sp>
        <p:nvSpPr>
          <p:cNvPr id="4" name="Content Placeholder 3">
            <a:extLst>
              <a:ext uri="{FF2B5EF4-FFF2-40B4-BE49-F238E27FC236}">
                <a16:creationId xmlns:a16="http://schemas.microsoft.com/office/drawing/2014/main" id="{0EBCBAFC-62E3-B204-E9F7-11A502820C12}"/>
              </a:ext>
            </a:extLst>
          </p:cNvPr>
          <p:cNvSpPr>
            <a:spLocks noGrp="1"/>
          </p:cNvSpPr>
          <p:nvPr>
            <p:ph sz="quarter" idx="1"/>
          </p:nvPr>
        </p:nvSpPr>
        <p:spPr/>
        <p:txBody>
          <a:bodyPr/>
          <a:lstStyle/>
          <a:p>
            <a:r>
              <a:rPr lang="en-US" dirty="0"/>
              <a:t>TFIDF is widely used in text retrieval, web search engines for classification of documents.</a:t>
            </a:r>
          </a:p>
          <a:p>
            <a:endParaRPr lang="en-US" dirty="0"/>
          </a:p>
          <a:p>
            <a:r>
              <a:rPr lang="en-US" dirty="0"/>
              <a:t>Have you ever looked at articles on internet and wondered if it is possible to generate the tags automatically for them?</a:t>
            </a:r>
          </a:p>
          <a:p>
            <a:endParaRPr lang="en-US" dirty="0"/>
          </a:p>
          <a:p>
            <a:r>
              <a:rPr lang="en-US" dirty="0"/>
              <a:t>Well, that’s exactly the kind of problem TF-IDF is used to solve.</a:t>
            </a:r>
          </a:p>
          <a:p>
            <a:endParaRPr lang="en-US" dirty="0"/>
          </a:p>
          <a:p>
            <a:r>
              <a:rPr lang="en-US" dirty="0"/>
              <a:t>Search engines like Google use TF-IDF as one of the factors to determine the rank of a particular website in search results.</a:t>
            </a:r>
          </a:p>
        </p:txBody>
      </p:sp>
    </p:spTree>
    <p:extLst>
      <p:ext uri="{BB962C8B-B14F-4D97-AF65-F5344CB8AC3E}">
        <p14:creationId xmlns:p14="http://schemas.microsoft.com/office/powerpoint/2010/main" val="22645197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B87C-AB6D-6689-382F-0E6982D6D48F}"/>
              </a:ext>
            </a:extLst>
          </p:cNvPr>
          <p:cNvSpPr>
            <a:spLocks noGrp="1"/>
          </p:cNvSpPr>
          <p:nvPr>
            <p:ph type="title"/>
          </p:nvPr>
        </p:nvSpPr>
        <p:spPr/>
        <p:txBody>
          <a:bodyPr>
            <a:normAutofit/>
          </a:bodyPr>
          <a:lstStyle/>
          <a:p>
            <a:r>
              <a:rPr lang="en-US" dirty="0"/>
              <a:t>TF-IDF consists of two components:</a:t>
            </a:r>
          </a:p>
        </p:txBody>
      </p:sp>
      <p:sp>
        <p:nvSpPr>
          <p:cNvPr id="3" name="Slide Number Placeholder 2">
            <a:extLst>
              <a:ext uri="{FF2B5EF4-FFF2-40B4-BE49-F238E27FC236}">
                <a16:creationId xmlns:a16="http://schemas.microsoft.com/office/drawing/2014/main" id="{3C64E0DC-1EDA-B60A-3967-8CE7F6BDCBC0}"/>
              </a:ext>
            </a:extLst>
          </p:cNvPr>
          <p:cNvSpPr>
            <a:spLocks noGrp="1"/>
          </p:cNvSpPr>
          <p:nvPr>
            <p:ph type="sldNum" sz="quarter" idx="12"/>
          </p:nvPr>
        </p:nvSpPr>
        <p:spPr/>
        <p:txBody>
          <a:bodyPr>
            <a:normAutofit fontScale="85000" lnSpcReduction="20000"/>
          </a:bodyPr>
          <a:lstStyle/>
          <a:p>
            <a:fld id="{EBFB1032-EA64-7144-B003-9BCC9D94B503}" type="slidenum">
              <a:rPr lang="en-US" smtClean="0"/>
              <a:t>26</a:t>
            </a:fld>
            <a:endParaRPr lang="en-US" dirty="0"/>
          </a:p>
        </p:txBody>
      </p:sp>
      <p:pic>
        <p:nvPicPr>
          <p:cNvPr id="6" name="Picture 5">
            <a:extLst>
              <a:ext uri="{FF2B5EF4-FFF2-40B4-BE49-F238E27FC236}">
                <a16:creationId xmlns:a16="http://schemas.microsoft.com/office/drawing/2014/main" id="{FB3F4C97-AA9F-7682-3CA6-BAB3973DE66C}"/>
              </a:ext>
            </a:extLst>
          </p:cNvPr>
          <p:cNvPicPr>
            <a:picLocks noChangeAspect="1"/>
          </p:cNvPicPr>
          <p:nvPr/>
        </p:nvPicPr>
        <p:blipFill>
          <a:blip r:embed="rId2"/>
          <a:stretch>
            <a:fillRect/>
          </a:stretch>
        </p:blipFill>
        <p:spPr>
          <a:xfrm>
            <a:off x="182880" y="1662109"/>
            <a:ext cx="8778240" cy="4606401"/>
          </a:xfrm>
          <a:prstGeom prst="rect">
            <a:avLst/>
          </a:prstGeom>
        </p:spPr>
      </p:pic>
    </p:spTree>
    <p:extLst>
      <p:ext uri="{BB962C8B-B14F-4D97-AF65-F5344CB8AC3E}">
        <p14:creationId xmlns:p14="http://schemas.microsoft.com/office/powerpoint/2010/main" val="1523652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BFDA8-EE68-CDED-2A75-6FFDACF04043}"/>
              </a:ext>
            </a:extLst>
          </p:cNvPr>
          <p:cNvSpPr>
            <a:spLocks noGrp="1"/>
          </p:cNvSpPr>
          <p:nvPr>
            <p:ph type="title"/>
          </p:nvPr>
        </p:nvSpPr>
        <p:spPr/>
        <p:txBody>
          <a:bodyPr/>
          <a:lstStyle/>
          <a:p>
            <a:r>
              <a:rPr lang="en-US" dirty="0"/>
              <a:t>weighting scheme</a:t>
            </a:r>
          </a:p>
        </p:txBody>
      </p:sp>
      <p:sp>
        <p:nvSpPr>
          <p:cNvPr id="3" name="Slide Number Placeholder 2">
            <a:extLst>
              <a:ext uri="{FF2B5EF4-FFF2-40B4-BE49-F238E27FC236}">
                <a16:creationId xmlns:a16="http://schemas.microsoft.com/office/drawing/2014/main" id="{F6EE5838-A2EF-7C0D-F00F-A67E1D431503}"/>
              </a:ext>
            </a:extLst>
          </p:cNvPr>
          <p:cNvSpPr>
            <a:spLocks noGrp="1"/>
          </p:cNvSpPr>
          <p:nvPr>
            <p:ph type="sldNum" sz="quarter" idx="12"/>
          </p:nvPr>
        </p:nvSpPr>
        <p:spPr/>
        <p:txBody>
          <a:bodyPr>
            <a:normAutofit fontScale="85000" lnSpcReduction="20000"/>
          </a:bodyPr>
          <a:lstStyle/>
          <a:p>
            <a:fld id="{EBFB1032-EA64-7144-B003-9BCC9D94B503}" type="slidenum">
              <a:rPr lang="en-US" smtClean="0"/>
              <a:t>27</a:t>
            </a:fld>
            <a:endParaRPr lang="en-US" dirty="0"/>
          </a:p>
        </p:txBody>
      </p:sp>
      <p:sp>
        <p:nvSpPr>
          <p:cNvPr id="4" name="Content Placeholder 3">
            <a:extLst>
              <a:ext uri="{FF2B5EF4-FFF2-40B4-BE49-F238E27FC236}">
                <a16:creationId xmlns:a16="http://schemas.microsoft.com/office/drawing/2014/main" id="{3A3FF3CD-000C-4DE9-7B7B-3DAD5A6EAB01}"/>
              </a:ext>
            </a:extLst>
          </p:cNvPr>
          <p:cNvSpPr>
            <a:spLocks noGrp="1"/>
          </p:cNvSpPr>
          <p:nvPr>
            <p:ph sz="quarter" idx="1"/>
          </p:nvPr>
        </p:nvSpPr>
        <p:spPr/>
        <p:txBody>
          <a:bodyPr>
            <a:noAutofit/>
          </a:bodyPr>
          <a:lstStyle/>
          <a:p>
            <a:pPr>
              <a:spcBef>
                <a:spcPts val="0"/>
              </a:spcBef>
            </a:pPr>
            <a:r>
              <a:rPr lang="en-US" dirty="0"/>
              <a:t>The higher the TF-IDF score for a term in a document, the more important that term is to that document within the context of the entire corpus.</a:t>
            </a:r>
          </a:p>
          <a:p>
            <a:pPr>
              <a:spcBef>
                <a:spcPts val="0"/>
              </a:spcBef>
            </a:pPr>
            <a:endParaRPr lang="en-US" dirty="0"/>
          </a:p>
          <a:p>
            <a:pPr>
              <a:spcBef>
                <a:spcPts val="0"/>
              </a:spcBef>
            </a:pPr>
            <a:r>
              <a:rPr lang="en-US" dirty="0"/>
              <a:t>This weighting scheme helps in identifying and extracting relevant information from a large collection of documents, and it is commonly used in text mining, information retrieval, and document clustering.</a:t>
            </a:r>
          </a:p>
        </p:txBody>
      </p:sp>
    </p:spTree>
    <p:extLst>
      <p:ext uri="{BB962C8B-B14F-4D97-AF65-F5344CB8AC3E}">
        <p14:creationId xmlns:p14="http://schemas.microsoft.com/office/powerpoint/2010/main" val="23508108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4FC1A-3863-041A-8FBF-06B77E24A9B8}"/>
              </a:ext>
            </a:extLst>
          </p:cNvPr>
          <p:cNvSpPr>
            <a:spLocks noGrp="1"/>
          </p:cNvSpPr>
          <p:nvPr>
            <p:ph type="title"/>
          </p:nvPr>
        </p:nvSpPr>
        <p:spPr/>
        <p:txBody>
          <a:bodyPr/>
          <a:lstStyle/>
          <a:p>
            <a:r>
              <a:rPr lang="en-US" dirty="0"/>
              <a:t>Formula</a:t>
            </a:r>
          </a:p>
        </p:txBody>
      </p:sp>
      <p:sp>
        <p:nvSpPr>
          <p:cNvPr id="3" name="Slide Number Placeholder 2">
            <a:extLst>
              <a:ext uri="{FF2B5EF4-FFF2-40B4-BE49-F238E27FC236}">
                <a16:creationId xmlns:a16="http://schemas.microsoft.com/office/drawing/2014/main" id="{93A5BDE8-9CCB-63C4-BB96-667A90BA9612}"/>
              </a:ext>
            </a:extLst>
          </p:cNvPr>
          <p:cNvSpPr>
            <a:spLocks noGrp="1"/>
          </p:cNvSpPr>
          <p:nvPr>
            <p:ph type="sldNum" sz="quarter" idx="12"/>
          </p:nvPr>
        </p:nvSpPr>
        <p:spPr/>
        <p:txBody>
          <a:bodyPr>
            <a:normAutofit fontScale="85000" lnSpcReduction="20000"/>
          </a:bodyPr>
          <a:lstStyle/>
          <a:p>
            <a:fld id="{EBFB1032-EA64-7144-B003-9BCC9D94B503}" type="slidenum">
              <a:rPr lang="en-US" smtClean="0"/>
              <a:t>28</a:t>
            </a:fld>
            <a:endParaRPr lang="en-US" dirty="0"/>
          </a:p>
        </p:txBody>
      </p:sp>
      <p:sp>
        <p:nvSpPr>
          <p:cNvPr id="4" name="Content Placeholder 3">
            <a:extLst>
              <a:ext uri="{FF2B5EF4-FFF2-40B4-BE49-F238E27FC236}">
                <a16:creationId xmlns:a16="http://schemas.microsoft.com/office/drawing/2014/main" id="{84976C23-51A5-AB1A-48D0-94B016D19533}"/>
              </a:ext>
            </a:extLst>
          </p:cNvPr>
          <p:cNvSpPr>
            <a:spLocks noGrp="1"/>
          </p:cNvSpPr>
          <p:nvPr>
            <p:ph sz="quarter" idx="1"/>
          </p:nvPr>
        </p:nvSpPr>
        <p:spPr/>
        <p:txBody>
          <a:bodyPr/>
          <a:lstStyle/>
          <a:p>
            <a:r>
              <a:rPr lang="en-US" dirty="0"/>
              <a:t>We can calculate TF-IDF for a term in a data set using the below formula.</a:t>
            </a:r>
          </a:p>
          <a:p>
            <a:pPr marL="0" indent="0">
              <a:buNone/>
            </a:pPr>
            <a:r>
              <a:rPr lang="en-US" dirty="0"/>
              <a:t>	</a:t>
            </a:r>
            <a:r>
              <a:rPr lang="en-US" dirty="0">
                <a:solidFill>
                  <a:srgbClr val="0070C0"/>
                </a:solidFill>
                <a:latin typeface="Courier New" panose="02070309020205020404" pitchFamily="49" charset="0"/>
                <a:cs typeface="Courier New" panose="02070309020205020404" pitchFamily="49" charset="0"/>
              </a:rPr>
              <a:t>TFIDF(</a:t>
            </a:r>
            <a:r>
              <a:rPr lang="en-US" dirty="0" err="1">
                <a:solidFill>
                  <a:srgbClr val="0070C0"/>
                </a:solidFill>
                <a:latin typeface="Courier New" panose="02070309020205020404" pitchFamily="49" charset="0"/>
                <a:cs typeface="Courier New" panose="02070309020205020404" pitchFamily="49" charset="0"/>
              </a:rPr>
              <a:t>t,d,D</a:t>
            </a:r>
            <a:r>
              <a:rPr lang="en-US" dirty="0">
                <a:solidFill>
                  <a:srgbClr val="0070C0"/>
                </a:solidFill>
                <a:latin typeface="Courier New" panose="02070309020205020404" pitchFamily="49" charset="0"/>
                <a:cs typeface="Courier New" panose="02070309020205020404" pitchFamily="49" charset="0"/>
              </a:rPr>
              <a:t>) = </a:t>
            </a:r>
            <a:r>
              <a:rPr lang="en-US" dirty="0" err="1">
                <a:solidFill>
                  <a:srgbClr val="0070C0"/>
                </a:solidFill>
                <a:latin typeface="Courier New" panose="02070309020205020404" pitchFamily="49" charset="0"/>
                <a:cs typeface="Courier New" panose="02070309020205020404" pitchFamily="49" charset="0"/>
              </a:rPr>
              <a:t>tf</a:t>
            </a:r>
            <a:r>
              <a:rPr lang="en-US" dirty="0">
                <a:solidFill>
                  <a:srgbClr val="0070C0"/>
                </a:solidFill>
                <a:latin typeface="Courier New" panose="02070309020205020404" pitchFamily="49" charset="0"/>
                <a:cs typeface="Courier New" panose="02070309020205020404" pitchFamily="49" charset="0"/>
              </a:rPr>
              <a:t>(</a:t>
            </a:r>
            <a:r>
              <a:rPr lang="en-US" dirty="0" err="1">
                <a:solidFill>
                  <a:srgbClr val="0070C0"/>
                </a:solidFill>
                <a:latin typeface="Courier New" panose="02070309020205020404" pitchFamily="49" charset="0"/>
                <a:cs typeface="Courier New" panose="02070309020205020404" pitchFamily="49" charset="0"/>
              </a:rPr>
              <a:t>t,d</a:t>
            </a:r>
            <a:r>
              <a:rPr lang="en-US" dirty="0">
                <a:solidFill>
                  <a:srgbClr val="0070C0"/>
                </a:solidFill>
                <a:latin typeface="Courier New" panose="02070309020205020404" pitchFamily="49" charset="0"/>
                <a:cs typeface="Courier New" panose="02070309020205020404" pitchFamily="49" charset="0"/>
              </a:rPr>
              <a:t>) * </a:t>
            </a:r>
            <a:r>
              <a:rPr lang="en-US" dirty="0" err="1">
                <a:solidFill>
                  <a:srgbClr val="0070C0"/>
                </a:solidFill>
                <a:latin typeface="Courier New" panose="02070309020205020404" pitchFamily="49" charset="0"/>
                <a:cs typeface="Courier New" panose="02070309020205020404" pitchFamily="49" charset="0"/>
              </a:rPr>
              <a:t>idf</a:t>
            </a:r>
            <a:r>
              <a:rPr lang="en-US" dirty="0">
                <a:solidFill>
                  <a:srgbClr val="0070C0"/>
                </a:solidFill>
                <a:latin typeface="Courier New" panose="02070309020205020404" pitchFamily="49" charset="0"/>
                <a:cs typeface="Courier New" panose="02070309020205020404" pitchFamily="49" charset="0"/>
              </a:rPr>
              <a:t>(</a:t>
            </a:r>
            <a:r>
              <a:rPr lang="en-US" dirty="0" err="1">
                <a:solidFill>
                  <a:srgbClr val="0070C0"/>
                </a:solidFill>
                <a:latin typeface="Courier New" panose="02070309020205020404" pitchFamily="49" charset="0"/>
                <a:cs typeface="Courier New" panose="02070309020205020404" pitchFamily="49" charset="0"/>
              </a:rPr>
              <a:t>t,D</a:t>
            </a:r>
            <a:r>
              <a:rPr lang="en-US" dirty="0">
                <a:solidFill>
                  <a:srgbClr val="0070C0"/>
                </a:solidFill>
                <a:latin typeface="Courier New" panose="02070309020205020404" pitchFamily="49" charset="0"/>
                <a:cs typeface="Courier New" panose="02070309020205020404" pitchFamily="49" charset="0"/>
              </a:rPr>
              <a:t>)</a:t>
            </a:r>
          </a:p>
          <a:p>
            <a:r>
              <a:rPr lang="en-US" dirty="0"/>
              <a:t>Where</a:t>
            </a:r>
          </a:p>
          <a:p>
            <a:pPr marL="0" indent="0">
              <a:buNone/>
            </a:pPr>
            <a:r>
              <a:rPr lang="en-US" dirty="0"/>
              <a:t>	</a:t>
            </a:r>
            <a:r>
              <a:rPr lang="en-US" dirty="0" err="1">
                <a:solidFill>
                  <a:srgbClr val="002060"/>
                </a:solidFill>
                <a:latin typeface="Courier New" panose="02070309020205020404" pitchFamily="49" charset="0"/>
                <a:cs typeface="Courier New" panose="02070309020205020404" pitchFamily="49" charset="0"/>
              </a:rPr>
              <a:t>tf</a:t>
            </a:r>
            <a:r>
              <a:rPr lang="en-US" dirty="0">
                <a:solidFill>
                  <a:srgbClr val="002060"/>
                </a:solidFill>
                <a:latin typeface="Courier New" panose="02070309020205020404" pitchFamily="49" charset="0"/>
                <a:cs typeface="Courier New" panose="02070309020205020404" pitchFamily="49" charset="0"/>
              </a:rPr>
              <a:t>(</a:t>
            </a:r>
            <a:r>
              <a:rPr lang="en-US" dirty="0" err="1">
                <a:solidFill>
                  <a:srgbClr val="002060"/>
                </a:solidFill>
                <a:latin typeface="Courier New" panose="02070309020205020404" pitchFamily="49" charset="0"/>
                <a:cs typeface="Courier New" panose="02070309020205020404" pitchFamily="49" charset="0"/>
              </a:rPr>
              <a:t>t,d</a:t>
            </a:r>
            <a:r>
              <a:rPr lang="en-US" dirty="0">
                <a:solidFill>
                  <a:srgbClr val="002060"/>
                </a:solidFill>
                <a:latin typeface="Courier New" panose="02070309020205020404" pitchFamily="49" charset="0"/>
                <a:cs typeface="Courier New" panose="02070309020205020404" pitchFamily="49" charset="0"/>
              </a:rPr>
              <a:t>) </a:t>
            </a:r>
            <a:r>
              <a:rPr lang="en-US" dirty="0">
                <a:solidFill>
                  <a:srgbClr val="002060"/>
                </a:solidFill>
              </a:rPr>
              <a:t>is the Term frequency</a:t>
            </a:r>
          </a:p>
          <a:p>
            <a:pPr marL="0" indent="0">
              <a:buNone/>
            </a:pPr>
            <a:r>
              <a:rPr lang="en-US" dirty="0">
                <a:solidFill>
                  <a:srgbClr val="002060"/>
                </a:solidFill>
              </a:rPr>
              <a:t>	</a:t>
            </a:r>
            <a:r>
              <a:rPr lang="en-US" dirty="0" err="1">
                <a:solidFill>
                  <a:srgbClr val="002060"/>
                </a:solidFill>
                <a:latin typeface="Courier New" panose="02070309020205020404" pitchFamily="49" charset="0"/>
                <a:cs typeface="Courier New" panose="02070309020205020404" pitchFamily="49" charset="0"/>
              </a:rPr>
              <a:t>idf</a:t>
            </a:r>
            <a:r>
              <a:rPr lang="en-US" dirty="0">
                <a:solidFill>
                  <a:srgbClr val="002060"/>
                </a:solidFill>
                <a:latin typeface="Courier New" panose="02070309020205020404" pitchFamily="49" charset="0"/>
                <a:cs typeface="Courier New" panose="02070309020205020404" pitchFamily="49" charset="0"/>
              </a:rPr>
              <a:t>(</a:t>
            </a:r>
            <a:r>
              <a:rPr lang="en-US" dirty="0" err="1">
                <a:solidFill>
                  <a:srgbClr val="002060"/>
                </a:solidFill>
                <a:latin typeface="Courier New" panose="02070309020205020404" pitchFamily="49" charset="0"/>
                <a:cs typeface="Courier New" panose="02070309020205020404" pitchFamily="49" charset="0"/>
              </a:rPr>
              <a:t>t,D</a:t>
            </a:r>
            <a:r>
              <a:rPr lang="en-US" dirty="0">
                <a:solidFill>
                  <a:srgbClr val="002060"/>
                </a:solidFill>
                <a:latin typeface="Courier New" panose="02070309020205020404" pitchFamily="49" charset="0"/>
                <a:cs typeface="Courier New" panose="02070309020205020404" pitchFamily="49" charset="0"/>
              </a:rPr>
              <a:t>) </a:t>
            </a:r>
            <a:r>
              <a:rPr lang="en-US" dirty="0">
                <a:solidFill>
                  <a:srgbClr val="002060"/>
                </a:solidFill>
              </a:rPr>
              <a:t>is the Inverse document frequency.</a:t>
            </a:r>
          </a:p>
        </p:txBody>
      </p:sp>
    </p:spTree>
    <p:extLst>
      <p:ext uri="{BB962C8B-B14F-4D97-AF65-F5344CB8AC3E}">
        <p14:creationId xmlns:p14="http://schemas.microsoft.com/office/powerpoint/2010/main" val="32933226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2314A-3FB6-E9DF-F31F-460B9714A76C}"/>
              </a:ext>
            </a:extLst>
          </p:cNvPr>
          <p:cNvSpPr>
            <a:spLocks noGrp="1"/>
          </p:cNvSpPr>
          <p:nvPr>
            <p:ph type="title"/>
          </p:nvPr>
        </p:nvSpPr>
        <p:spPr/>
        <p:txBody>
          <a:bodyPr>
            <a:normAutofit/>
          </a:bodyPr>
          <a:lstStyle/>
          <a:p>
            <a:r>
              <a:rPr lang="en-US" dirty="0"/>
              <a:t>Term Frequency</a:t>
            </a:r>
          </a:p>
        </p:txBody>
      </p:sp>
      <p:sp>
        <p:nvSpPr>
          <p:cNvPr id="3" name="Slide Number Placeholder 2">
            <a:extLst>
              <a:ext uri="{FF2B5EF4-FFF2-40B4-BE49-F238E27FC236}">
                <a16:creationId xmlns:a16="http://schemas.microsoft.com/office/drawing/2014/main" id="{C18C9851-87ED-70A4-E09A-8E3A8CA6ADF7}"/>
              </a:ext>
            </a:extLst>
          </p:cNvPr>
          <p:cNvSpPr>
            <a:spLocks noGrp="1"/>
          </p:cNvSpPr>
          <p:nvPr>
            <p:ph type="sldNum" sz="quarter" idx="12"/>
          </p:nvPr>
        </p:nvSpPr>
        <p:spPr/>
        <p:txBody>
          <a:bodyPr>
            <a:normAutofit fontScale="85000" lnSpcReduction="20000"/>
          </a:bodyPr>
          <a:lstStyle/>
          <a:p>
            <a:fld id="{EBFB1032-EA64-7144-B003-9BCC9D94B503}" type="slidenum">
              <a:rPr lang="en-US" smtClean="0"/>
              <a:t>29</a:t>
            </a:fld>
            <a:endParaRPr lang="en-US" dirty="0"/>
          </a:p>
        </p:txBody>
      </p:sp>
      <p:sp>
        <p:nvSpPr>
          <p:cNvPr id="4" name="Content Placeholder 3">
            <a:extLst>
              <a:ext uri="{FF2B5EF4-FFF2-40B4-BE49-F238E27FC236}">
                <a16:creationId xmlns:a16="http://schemas.microsoft.com/office/drawing/2014/main" id="{66AE1A5C-6B7F-6E32-A5D0-084588359136}"/>
              </a:ext>
            </a:extLst>
          </p:cNvPr>
          <p:cNvSpPr>
            <a:spLocks noGrp="1"/>
          </p:cNvSpPr>
          <p:nvPr>
            <p:ph sz="quarter" idx="1"/>
          </p:nvPr>
        </p:nvSpPr>
        <p:spPr/>
        <p:txBody>
          <a:bodyPr/>
          <a:lstStyle/>
          <a:p>
            <a:r>
              <a:rPr lang="en-US" dirty="0"/>
              <a:t>In simple terms, Term Frequency for a term can be calculated as (n) number of times a term t appears in a document d to the (N) total number of terms in the document.</a:t>
            </a:r>
          </a:p>
          <a:p>
            <a:endParaRPr lang="en-US" dirty="0"/>
          </a:p>
          <a:p>
            <a:r>
              <a:rPr lang="en-US" b="1" dirty="0" err="1">
                <a:latin typeface="Courier New" panose="02070309020205020404" pitchFamily="49" charset="0"/>
                <a:cs typeface="Courier New" panose="02070309020205020404" pitchFamily="49" charset="0"/>
              </a:rPr>
              <a:t>tf</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t,d</a:t>
            </a:r>
            <a:r>
              <a:rPr lang="en-US" b="1" dirty="0">
                <a:latin typeface="Courier New" panose="02070309020205020404" pitchFamily="49" charset="0"/>
                <a:cs typeface="Courier New" panose="02070309020205020404" pitchFamily="49" charset="0"/>
              </a:rPr>
              <a:t>) = n/N</a:t>
            </a:r>
          </a:p>
          <a:p>
            <a:pPr lvl="1"/>
            <a:r>
              <a:rPr lang="en-US" dirty="0"/>
              <a:t>n is the number of times term t appears in the document d.</a:t>
            </a:r>
          </a:p>
          <a:p>
            <a:pPr lvl="1"/>
            <a:r>
              <a:rPr lang="en-US" dirty="0"/>
              <a:t>N is the total number of terms in the document d.</a:t>
            </a:r>
          </a:p>
        </p:txBody>
      </p:sp>
    </p:spTree>
    <p:extLst>
      <p:ext uri="{BB962C8B-B14F-4D97-AF65-F5344CB8AC3E}">
        <p14:creationId xmlns:p14="http://schemas.microsoft.com/office/powerpoint/2010/main" val="3170678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273E4-4DE8-3D1D-18AA-C97E54BB0C7C}"/>
              </a:ext>
            </a:extLst>
          </p:cNvPr>
          <p:cNvSpPr>
            <a:spLocks noGrp="1"/>
          </p:cNvSpPr>
          <p:nvPr>
            <p:ph type="title"/>
          </p:nvPr>
        </p:nvSpPr>
        <p:spPr/>
        <p:txBody>
          <a:bodyPr>
            <a:normAutofit/>
          </a:bodyPr>
          <a:lstStyle/>
          <a:p>
            <a:r>
              <a:rPr lang="en-US" dirty="0"/>
              <a:t>Inverse document Frequency</a:t>
            </a:r>
          </a:p>
        </p:txBody>
      </p:sp>
      <p:sp>
        <p:nvSpPr>
          <p:cNvPr id="3" name="Slide Number Placeholder 2">
            <a:extLst>
              <a:ext uri="{FF2B5EF4-FFF2-40B4-BE49-F238E27FC236}">
                <a16:creationId xmlns:a16="http://schemas.microsoft.com/office/drawing/2014/main" id="{08B2EAE8-27A8-B51E-4EA7-620E29A490D6}"/>
              </a:ext>
            </a:extLst>
          </p:cNvPr>
          <p:cNvSpPr>
            <a:spLocks noGrp="1"/>
          </p:cNvSpPr>
          <p:nvPr>
            <p:ph type="sldNum" sz="quarter" idx="12"/>
          </p:nvPr>
        </p:nvSpPr>
        <p:spPr/>
        <p:txBody>
          <a:bodyPr>
            <a:normAutofit fontScale="85000" lnSpcReduction="20000"/>
          </a:bodyPr>
          <a:lstStyle/>
          <a:p>
            <a:fld id="{EBFB1032-EA64-7144-B003-9BCC9D94B503}" type="slidenum">
              <a:rPr lang="en-US" smtClean="0"/>
              <a:t>30</a:t>
            </a:fld>
            <a:endParaRPr lang="en-US" dirty="0"/>
          </a:p>
        </p:txBody>
      </p:sp>
      <p:sp>
        <p:nvSpPr>
          <p:cNvPr id="4" name="Content Placeholder 3">
            <a:extLst>
              <a:ext uri="{FF2B5EF4-FFF2-40B4-BE49-F238E27FC236}">
                <a16:creationId xmlns:a16="http://schemas.microsoft.com/office/drawing/2014/main" id="{388B0AED-5008-9931-D657-E8E9C864CBF3}"/>
              </a:ext>
            </a:extLst>
          </p:cNvPr>
          <p:cNvSpPr>
            <a:spLocks noGrp="1"/>
          </p:cNvSpPr>
          <p:nvPr>
            <p:ph sz="quarter" idx="1"/>
          </p:nvPr>
        </p:nvSpPr>
        <p:spPr/>
        <p:txBody>
          <a:bodyPr/>
          <a:lstStyle/>
          <a:p>
            <a:r>
              <a:rPr lang="en-US" dirty="0"/>
              <a:t>Inverse document frequency can be calculated as mathematically as the logarithm of ratio of number of documents present in the data set to the number of documents that contain the term t.</a:t>
            </a:r>
          </a:p>
          <a:p>
            <a:r>
              <a:rPr lang="en-US" dirty="0"/>
              <a:t>This measure is essentially used to remove out the most commonly used terms in the document .</a:t>
            </a:r>
          </a:p>
          <a:p>
            <a:endParaRPr lang="en-US" dirty="0"/>
          </a:p>
          <a:p>
            <a:r>
              <a:rPr lang="en-US" b="1" dirty="0" err="1">
                <a:latin typeface="Courier New" panose="02070309020205020404" pitchFamily="49" charset="0"/>
                <a:cs typeface="Courier New" panose="02070309020205020404" pitchFamily="49" charset="0"/>
              </a:rPr>
              <a:t>idf</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t,D</a:t>
            </a:r>
            <a:r>
              <a:rPr lang="en-US" b="1" dirty="0">
                <a:latin typeface="Courier New" panose="02070309020205020404" pitchFamily="49" charset="0"/>
                <a:cs typeface="Courier New" panose="02070309020205020404" pitchFamily="49" charset="0"/>
              </a:rPr>
              <a:t>) = log (N/( n))</a:t>
            </a:r>
          </a:p>
          <a:p>
            <a:pPr lvl="1"/>
            <a:r>
              <a:rPr lang="en-US" dirty="0"/>
              <a:t>N is the number of documents in the data set.</a:t>
            </a:r>
          </a:p>
          <a:p>
            <a:pPr lvl="1"/>
            <a:r>
              <a:rPr lang="en-US" dirty="0"/>
              <a:t>n is the number of documents that contain the term t among the data set.</a:t>
            </a:r>
          </a:p>
          <a:p>
            <a:pPr lvl="1"/>
            <a:endParaRPr lang="en-US" dirty="0"/>
          </a:p>
          <a:p>
            <a:endParaRPr lang="en-US" dirty="0"/>
          </a:p>
        </p:txBody>
      </p:sp>
    </p:spTree>
    <p:extLst>
      <p:ext uri="{BB962C8B-B14F-4D97-AF65-F5344CB8AC3E}">
        <p14:creationId xmlns:p14="http://schemas.microsoft.com/office/powerpoint/2010/main" val="33770670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23C56-EB1B-4669-83DD-409219179ED8}"/>
              </a:ext>
            </a:extLst>
          </p:cNvPr>
          <p:cNvSpPr>
            <a:spLocks noGrp="1"/>
          </p:cNvSpPr>
          <p:nvPr>
            <p:ph type="title"/>
          </p:nvPr>
        </p:nvSpPr>
        <p:spPr/>
        <p:txBody>
          <a:bodyPr/>
          <a:lstStyle/>
          <a:p>
            <a:r>
              <a:rPr lang="en-US" dirty="0"/>
              <a:t>TFIDF Calculation</a:t>
            </a:r>
          </a:p>
        </p:txBody>
      </p:sp>
      <p:sp>
        <p:nvSpPr>
          <p:cNvPr id="3" name="Slide Number Placeholder 2">
            <a:extLst>
              <a:ext uri="{FF2B5EF4-FFF2-40B4-BE49-F238E27FC236}">
                <a16:creationId xmlns:a16="http://schemas.microsoft.com/office/drawing/2014/main" id="{080E976C-F49F-2057-645E-08BC4BBCD199}"/>
              </a:ext>
            </a:extLst>
          </p:cNvPr>
          <p:cNvSpPr>
            <a:spLocks noGrp="1"/>
          </p:cNvSpPr>
          <p:nvPr>
            <p:ph type="sldNum" sz="quarter" idx="12"/>
          </p:nvPr>
        </p:nvSpPr>
        <p:spPr/>
        <p:txBody>
          <a:bodyPr>
            <a:normAutofit fontScale="85000" lnSpcReduction="20000"/>
          </a:bodyPr>
          <a:lstStyle/>
          <a:p>
            <a:fld id="{EBFB1032-EA64-7144-B003-9BCC9D94B503}" type="slidenum">
              <a:rPr lang="en-US" smtClean="0"/>
              <a:t>31</a:t>
            </a:fld>
            <a:endParaRPr lang="en-US" dirty="0"/>
          </a:p>
        </p:txBody>
      </p:sp>
      <p:sp>
        <p:nvSpPr>
          <p:cNvPr id="4" name="Content Placeholder 3">
            <a:extLst>
              <a:ext uri="{FF2B5EF4-FFF2-40B4-BE49-F238E27FC236}">
                <a16:creationId xmlns:a16="http://schemas.microsoft.com/office/drawing/2014/main" id="{D31188CC-B138-04A2-FD95-87C166DC7CDB}"/>
              </a:ext>
            </a:extLst>
          </p:cNvPr>
          <p:cNvSpPr>
            <a:spLocks noGrp="1"/>
          </p:cNvSpPr>
          <p:nvPr>
            <p:ph sz="quarter" idx="1"/>
          </p:nvPr>
        </p:nvSpPr>
        <p:spPr/>
        <p:txBody>
          <a:bodyPr/>
          <a:lstStyle/>
          <a:p>
            <a:r>
              <a:rPr lang="en-US" dirty="0"/>
              <a:t>Finally TFIDF is calculated as the product of the above two values.</a:t>
            </a:r>
          </a:p>
          <a:p>
            <a:pPr marL="0" indent="0">
              <a:buNone/>
            </a:pPr>
            <a:r>
              <a:rPr lang="en-US" dirty="0"/>
              <a:t>	</a:t>
            </a:r>
            <a:r>
              <a:rPr lang="en-US" b="1" dirty="0">
                <a:solidFill>
                  <a:srgbClr val="0070C0"/>
                </a:solidFill>
                <a:latin typeface="Courier New" panose="02070309020205020404" pitchFamily="49" charset="0"/>
                <a:cs typeface="Courier New" panose="02070309020205020404" pitchFamily="49" charset="0"/>
              </a:rPr>
              <a:t>TFIDF(</a:t>
            </a:r>
            <a:r>
              <a:rPr lang="en-US" b="1" dirty="0" err="1">
                <a:solidFill>
                  <a:srgbClr val="0070C0"/>
                </a:solidFill>
                <a:latin typeface="Courier New" panose="02070309020205020404" pitchFamily="49" charset="0"/>
                <a:cs typeface="Courier New" panose="02070309020205020404" pitchFamily="49" charset="0"/>
              </a:rPr>
              <a:t>t,d,D</a:t>
            </a:r>
            <a:r>
              <a:rPr lang="en-US" b="1" dirty="0">
                <a:solidFill>
                  <a:srgbClr val="0070C0"/>
                </a:solidFill>
                <a:latin typeface="Courier New" panose="02070309020205020404" pitchFamily="49" charset="0"/>
                <a:cs typeface="Courier New" panose="02070309020205020404" pitchFamily="49" charset="0"/>
              </a:rPr>
              <a:t>) = </a:t>
            </a:r>
            <a:r>
              <a:rPr lang="en-US" b="1" dirty="0" err="1">
                <a:solidFill>
                  <a:srgbClr val="0070C0"/>
                </a:solidFill>
                <a:latin typeface="Courier New" panose="02070309020205020404" pitchFamily="49" charset="0"/>
                <a:cs typeface="Courier New" panose="02070309020205020404" pitchFamily="49" charset="0"/>
              </a:rPr>
              <a:t>tf</a:t>
            </a:r>
            <a:r>
              <a:rPr lang="en-US" b="1" dirty="0">
                <a:solidFill>
                  <a:srgbClr val="0070C0"/>
                </a:solidFill>
                <a:latin typeface="Courier New" panose="02070309020205020404" pitchFamily="49" charset="0"/>
                <a:cs typeface="Courier New" panose="02070309020205020404" pitchFamily="49" charset="0"/>
              </a:rPr>
              <a:t>(</a:t>
            </a:r>
            <a:r>
              <a:rPr lang="en-US" b="1" dirty="0" err="1">
                <a:solidFill>
                  <a:srgbClr val="0070C0"/>
                </a:solidFill>
                <a:latin typeface="Courier New" panose="02070309020205020404" pitchFamily="49" charset="0"/>
                <a:cs typeface="Courier New" panose="02070309020205020404" pitchFamily="49" charset="0"/>
              </a:rPr>
              <a:t>t,d</a:t>
            </a:r>
            <a:r>
              <a:rPr lang="en-US" b="1" dirty="0">
                <a:solidFill>
                  <a:srgbClr val="0070C0"/>
                </a:solidFill>
                <a:latin typeface="Courier New" panose="02070309020205020404" pitchFamily="49" charset="0"/>
                <a:cs typeface="Courier New" panose="02070309020205020404" pitchFamily="49" charset="0"/>
              </a:rPr>
              <a:t>) * </a:t>
            </a:r>
            <a:r>
              <a:rPr lang="en-US" b="1" dirty="0" err="1">
                <a:solidFill>
                  <a:srgbClr val="0070C0"/>
                </a:solidFill>
                <a:latin typeface="Courier New" panose="02070309020205020404" pitchFamily="49" charset="0"/>
                <a:cs typeface="Courier New" panose="02070309020205020404" pitchFamily="49" charset="0"/>
              </a:rPr>
              <a:t>idf</a:t>
            </a:r>
            <a:r>
              <a:rPr lang="en-US" b="1" dirty="0">
                <a:solidFill>
                  <a:srgbClr val="0070C0"/>
                </a:solidFill>
                <a:latin typeface="Courier New" panose="02070309020205020404" pitchFamily="49" charset="0"/>
                <a:cs typeface="Courier New" panose="02070309020205020404" pitchFamily="49" charset="0"/>
              </a:rPr>
              <a:t>(</a:t>
            </a:r>
            <a:r>
              <a:rPr lang="en-US" b="1" dirty="0" err="1">
                <a:solidFill>
                  <a:srgbClr val="0070C0"/>
                </a:solidFill>
                <a:latin typeface="Courier New" panose="02070309020205020404" pitchFamily="49" charset="0"/>
                <a:cs typeface="Courier New" panose="02070309020205020404" pitchFamily="49" charset="0"/>
              </a:rPr>
              <a:t>t,D</a:t>
            </a:r>
            <a:r>
              <a:rPr lang="en-US" b="1" dirty="0">
                <a:solidFill>
                  <a:srgbClr val="0070C0"/>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2405168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938BA-469A-B4A2-1B31-DFCB79B629B8}"/>
              </a:ext>
            </a:extLst>
          </p:cNvPr>
          <p:cNvSpPr>
            <a:spLocks noGrp="1"/>
          </p:cNvSpPr>
          <p:nvPr>
            <p:ph type="title"/>
          </p:nvPr>
        </p:nvSpPr>
        <p:spPr/>
        <p:txBody>
          <a:bodyPr>
            <a:normAutofit/>
          </a:bodyPr>
          <a:lstStyle/>
          <a:p>
            <a:r>
              <a:rPr lang="en-US" dirty="0"/>
              <a:t>Example</a:t>
            </a:r>
          </a:p>
        </p:txBody>
      </p:sp>
      <p:sp>
        <p:nvSpPr>
          <p:cNvPr id="3" name="Slide Number Placeholder 2">
            <a:extLst>
              <a:ext uri="{FF2B5EF4-FFF2-40B4-BE49-F238E27FC236}">
                <a16:creationId xmlns:a16="http://schemas.microsoft.com/office/drawing/2014/main" id="{7A122254-C4CF-AA63-8819-DCE1F489B74C}"/>
              </a:ext>
            </a:extLst>
          </p:cNvPr>
          <p:cNvSpPr>
            <a:spLocks noGrp="1"/>
          </p:cNvSpPr>
          <p:nvPr>
            <p:ph type="sldNum" sz="quarter" idx="12"/>
          </p:nvPr>
        </p:nvSpPr>
        <p:spPr/>
        <p:txBody>
          <a:bodyPr>
            <a:normAutofit fontScale="85000" lnSpcReduction="20000"/>
          </a:bodyPr>
          <a:lstStyle/>
          <a:p>
            <a:fld id="{EBFB1032-EA64-7144-B003-9BCC9D94B503}" type="slidenum">
              <a:rPr lang="en-US" smtClean="0"/>
              <a:t>32</a:t>
            </a:fld>
            <a:endParaRPr lang="en-US" dirty="0"/>
          </a:p>
        </p:txBody>
      </p:sp>
      <p:sp>
        <p:nvSpPr>
          <p:cNvPr id="4" name="Content Placeholder 3">
            <a:extLst>
              <a:ext uri="{FF2B5EF4-FFF2-40B4-BE49-F238E27FC236}">
                <a16:creationId xmlns:a16="http://schemas.microsoft.com/office/drawing/2014/main" id="{245F875C-8044-2C34-CF6C-3AC25A70626F}"/>
              </a:ext>
            </a:extLst>
          </p:cNvPr>
          <p:cNvSpPr>
            <a:spLocks noGrp="1"/>
          </p:cNvSpPr>
          <p:nvPr>
            <p:ph sz="quarter" idx="1"/>
          </p:nvPr>
        </p:nvSpPr>
        <p:spPr/>
        <p:txBody>
          <a:bodyPr>
            <a:normAutofit/>
          </a:bodyPr>
          <a:lstStyle/>
          <a:p>
            <a:r>
              <a:rPr lang="en-US" dirty="0"/>
              <a:t>Let us assume we have two documents.</a:t>
            </a:r>
          </a:p>
          <a:p>
            <a:r>
              <a:rPr lang="en-US" dirty="0"/>
              <a:t>Let the term counts be as follows:</a:t>
            </a:r>
          </a:p>
          <a:p>
            <a:pPr lvl="1"/>
            <a:r>
              <a:rPr lang="en-US" dirty="0">
                <a:solidFill>
                  <a:srgbClr val="0070C0"/>
                </a:solidFill>
              </a:rPr>
              <a:t>Document 1 :(This, 1 ),(Is, 1 ),(a, 3 ),(sentence,5)</a:t>
            </a:r>
          </a:p>
          <a:p>
            <a:pPr lvl="1"/>
            <a:r>
              <a:rPr lang="en-US" dirty="0">
                <a:solidFill>
                  <a:srgbClr val="0070C0"/>
                </a:solidFill>
              </a:rPr>
              <a:t>Document 2: (This, 1),( Is, 2), (another, 2), (sentence,1)</a:t>
            </a:r>
          </a:p>
          <a:p>
            <a:endParaRPr lang="en-US" dirty="0"/>
          </a:p>
          <a:p>
            <a:r>
              <a:rPr lang="en-US" dirty="0"/>
              <a:t>We can calculate TF-IDF as follows:</a:t>
            </a:r>
          </a:p>
          <a:p>
            <a:r>
              <a:rPr lang="en-US" dirty="0"/>
              <a:t>Term frequency for document 1 and Document 2 would be as follows:</a:t>
            </a:r>
          </a:p>
          <a:p>
            <a:pPr marL="0" indent="0">
              <a:buNone/>
            </a:pPr>
            <a:r>
              <a:rPr lang="en-US" dirty="0"/>
              <a:t>	</a:t>
            </a:r>
            <a:r>
              <a:rPr lang="en-US" b="1" dirty="0" err="1">
                <a:latin typeface="Courier New" panose="02070309020205020404" pitchFamily="49" charset="0"/>
                <a:cs typeface="Courier New" panose="02070309020205020404" pitchFamily="49" charset="0"/>
              </a:rPr>
              <a:t>tf</a:t>
            </a:r>
            <a:r>
              <a:rPr lang="en-US" b="1" dirty="0">
                <a:latin typeface="Courier New" panose="02070309020205020404" pitchFamily="49" charset="0"/>
                <a:cs typeface="Courier New" panose="02070309020205020404" pitchFamily="49" charset="0"/>
              </a:rPr>
              <a:t>(“is”, Document1) = 1/10</a:t>
            </a:r>
          </a:p>
          <a:p>
            <a:pPr marL="0" indent="0">
              <a:buNone/>
            </a:pP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tf</a:t>
            </a:r>
            <a:r>
              <a:rPr lang="en-US" b="1" dirty="0">
                <a:latin typeface="Courier New" panose="02070309020205020404" pitchFamily="49" charset="0"/>
                <a:cs typeface="Courier New" panose="02070309020205020404" pitchFamily="49" charset="0"/>
              </a:rPr>
              <a:t>(“is”,Document2) = 2/6</a:t>
            </a:r>
          </a:p>
        </p:txBody>
      </p:sp>
    </p:spTree>
    <p:extLst>
      <p:ext uri="{BB962C8B-B14F-4D97-AF65-F5344CB8AC3E}">
        <p14:creationId xmlns:p14="http://schemas.microsoft.com/office/powerpoint/2010/main" val="37310090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15ECB-44C9-45D8-F08B-E8A510A7847D}"/>
              </a:ext>
            </a:extLst>
          </p:cNvPr>
          <p:cNvSpPr>
            <a:spLocks noGrp="1"/>
          </p:cNvSpPr>
          <p:nvPr>
            <p:ph type="title"/>
          </p:nvPr>
        </p:nvSpPr>
        <p:spPr/>
        <p:txBody>
          <a:bodyPr/>
          <a:lstStyle/>
          <a:p>
            <a:r>
              <a:rPr lang="en-US" dirty="0"/>
              <a:t>Calculation</a:t>
            </a:r>
          </a:p>
        </p:txBody>
      </p:sp>
      <p:sp>
        <p:nvSpPr>
          <p:cNvPr id="3" name="Slide Number Placeholder 2">
            <a:extLst>
              <a:ext uri="{FF2B5EF4-FFF2-40B4-BE49-F238E27FC236}">
                <a16:creationId xmlns:a16="http://schemas.microsoft.com/office/drawing/2014/main" id="{BD9D4B04-D0C0-8E13-D21E-39E02E767F28}"/>
              </a:ext>
            </a:extLst>
          </p:cNvPr>
          <p:cNvSpPr>
            <a:spLocks noGrp="1"/>
          </p:cNvSpPr>
          <p:nvPr>
            <p:ph type="sldNum" sz="quarter" idx="12"/>
          </p:nvPr>
        </p:nvSpPr>
        <p:spPr/>
        <p:txBody>
          <a:bodyPr>
            <a:normAutofit fontScale="85000" lnSpcReduction="20000"/>
          </a:bodyPr>
          <a:lstStyle/>
          <a:p>
            <a:fld id="{EBFB1032-EA64-7144-B003-9BCC9D94B503}" type="slidenum">
              <a:rPr lang="en-US" smtClean="0"/>
              <a:t>33</a:t>
            </a:fld>
            <a:endParaRPr lang="en-US" dirty="0"/>
          </a:p>
        </p:txBody>
      </p:sp>
      <p:sp>
        <p:nvSpPr>
          <p:cNvPr id="4" name="Content Placeholder 3">
            <a:extLst>
              <a:ext uri="{FF2B5EF4-FFF2-40B4-BE49-F238E27FC236}">
                <a16:creationId xmlns:a16="http://schemas.microsoft.com/office/drawing/2014/main" id="{347534D5-4BFD-B8E6-7AF2-4864DD771D77}"/>
              </a:ext>
            </a:extLst>
          </p:cNvPr>
          <p:cNvSpPr>
            <a:spLocks noGrp="1"/>
          </p:cNvSpPr>
          <p:nvPr>
            <p:ph sz="quarter" idx="1"/>
          </p:nvPr>
        </p:nvSpPr>
        <p:spPr/>
        <p:txBody>
          <a:bodyPr/>
          <a:lstStyle/>
          <a:p>
            <a:r>
              <a:rPr lang="en-US" dirty="0"/>
              <a:t>Inverse Document Frequency for the data set can be calculated as follows:</a:t>
            </a:r>
          </a:p>
          <a:p>
            <a:pPr marL="0" indent="0">
              <a:buNone/>
            </a:pPr>
            <a:r>
              <a:rPr lang="en-US" dirty="0"/>
              <a:t>	</a:t>
            </a:r>
            <a:r>
              <a:rPr lang="en-US" dirty="0" err="1">
                <a:solidFill>
                  <a:srgbClr val="0070C0"/>
                </a:solidFill>
                <a:latin typeface="Courier New" panose="02070309020205020404" pitchFamily="49" charset="0"/>
                <a:cs typeface="Courier New" panose="02070309020205020404" pitchFamily="49" charset="0"/>
              </a:rPr>
              <a:t>idf</a:t>
            </a:r>
            <a:r>
              <a:rPr lang="en-US" dirty="0">
                <a:solidFill>
                  <a:srgbClr val="0070C0"/>
                </a:solidFill>
                <a:latin typeface="Courier New" panose="02070309020205020404" pitchFamily="49" charset="0"/>
                <a:cs typeface="Courier New" panose="02070309020205020404" pitchFamily="49" charset="0"/>
              </a:rPr>
              <a:t>(“</a:t>
            </a:r>
            <a:r>
              <a:rPr lang="en-US" dirty="0" err="1">
                <a:solidFill>
                  <a:srgbClr val="0070C0"/>
                </a:solidFill>
                <a:latin typeface="Courier New" panose="02070309020205020404" pitchFamily="49" charset="0"/>
                <a:cs typeface="Courier New" panose="02070309020205020404" pitchFamily="49" charset="0"/>
              </a:rPr>
              <a:t>this”,D</a:t>
            </a:r>
            <a:r>
              <a:rPr lang="en-US" dirty="0">
                <a:solidFill>
                  <a:srgbClr val="0070C0"/>
                </a:solidFill>
                <a:latin typeface="Courier New" panose="02070309020205020404" pitchFamily="49" charset="0"/>
                <a:cs typeface="Courier New" panose="02070309020205020404" pitchFamily="49" charset="0"/>
              </a:rPr>
              <a:t>) = log(2/2) = log(1) = 0</a:t>
            </a:r>
          </a:p>
          <a:p>
            <a:pPr marL="0" indent="0">
              <a:buNone/>
            </a:pPr>
            <a:r>
              <a:rPr lang="en-US" dirty="0">
                <a:solidFill>
                  <a:srgbClr val="0070C0"/>
                </a:solidFill>
                <a:latin typeface="Courier New" panose="02070309020205020404" pitchFamily="49" charset="0"/>
                <a:cs typeface="Courier New" panose="02070309020205020404" pitchFamily="49" charset="0"/>
              </a:rPr>
              <a:t>	</a:t>
            </a:r>
            <a:r>
              <a:rPr lang="en-US" dirty="0" err="1">
                <a:solidFill>
                  <a:srgbClr val="0070C0"/>
                </a:solidFill>
                <a:latin typeface="Courier New" panose="02070309020205020404" pitchFamily="49" charset="0"/>
                <a:cs typeface="Courier New" panose="02070309020205020404" pitchFamily="49" charset="0"/>
              </a:rPr>
              <a:t>idf</a:t>
            </a:r>
            <a:r>
              <a:rPr lang="en-US" dirty="0">
                <a:solidFill>
                  <a:srgbClr val="0070C0"/>
                </a:solidFill>
                <a:latin typeface="Courier New" panose="02070309020205020404" pitchFamily="49" charset="0"/>
                <a:cs typeface="Courier New" panose="02070309020205020404" pitchFamily="49" charset="0"/>
              </a:rPr>
              <a:t>(“</a:t>
            </a:r>
            <a:r>
              <a:rPr lang="en-US" dirty="0" err="1">
                <a:solidFill>
                  <a:srgbClr val="0070C0"/>
                </a:solidFill>
                <a:latin typeface="Courier New" panose="02070309020205020404" pitchFamily="49" charset="0"/>
                <a:cs typeface="Courier New" panose="02070309020205020404" pitchFamily="49" charset="0"/>
              </a:rPr>
              <a:t>is”,D</a:t>
            </a:r>
            <a:r>
              <a:rPr lang="en-US" dirty="0">
                <a:solidFill>
                  <a:srgbClr val="0070C0"/>
                </a:solidFill>
                <a:latin typeface="Courier New" panose="02070309020205020404" pitchFamily="49" charset="0"/>
                <a:cs typeface="Courier New" panose="02070309020205020404" pitchFamily="49" charset="0"/>
              </a:rPr>
              <a:t>) = log(2/2) = 0</a:t>
            </a:r>
          </a:p>
          <a:p>
            <a:endParaRPr lang="en-US" dirty="0"/>
          </a:p>
          <a:p>
            <a:r>
              <a:rPr lang="en-US" dirty="0"/>
              <a:t>Finally TF-IDF would be :</a:t>
            </a:r>
          </a:p>
          <a:p>
            <a:pPr marL="0" indent="0">
              <a:buNone/>
            </a:pPr>
            <a:r>
              <a:rPr lang="en-US" dirty="0"/>
              <a:t>	</a:t>
            </a:r>
            <a:r>
              <a:rPr lang="en-US" b="1" dirty="0">
                <a:solidFill>
                  <a:srgbClr val="0070C0"/>
                </a:solidFill>
                <a:latin typeface="Courier New" panose="02070309020205020404" pitchFamily="49" charset="0"/>
                <a:cs typeface="Courier New" panose="02070309020205020404" pitchFamily="49" charset="0"/>
              </a:rPr>
              <a:t>TF-IDF(“is”,document1,D) = (1/10)*0 = 0.</a:t>
            </a:r>
          </a:p>
        </p:txBody>
      </p:sp>
    </p:spTree>
    <p:extLst>
      <p:ext uri="{BB962C8B-B14F-4D97-AF65-F5344CB8AC3E}">
        <p14:creationId xmlns:p14="http://schemas.microsoft.com/office/powerpoint/2010/main" val="23250262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F7E04-468E-35CB-774D-BF09F9C1099D}"/>
              </a:ext>
            </a:extLst>
          </p:cNvPr>
          <p:cNvSpPr>
            <a:spLocks noGrp="1"/>
          </p:cNvSpPr>
          <p:nvPr>
            <p:ph type="title"/>
          </p:nvPr>
        </p:nvSpPr>
        <p:spPr/>
        <p:txBody>
          <a:bodyPr/>
          <a:lstStyle/>
          <a:p>
            <a:r>
              <a:rPr lang="en-US" dirty="0"/>
              <a:t>Sample Implementation</a:t>
            </a:r>
          </a:p>
        </p:txBody>
      </p:sp>
      <p:sp>
        <p:nvSpPr>
          <p:cNvPr id="3" name="Slide Number Placeholder 2">
            <a:extLst>
              <a:ext uri="{FF2B5EF4-FFF2-40B4-BE49-F238E27FC236}">
                <a16:creationId xmlns:a16="http://schemas.microsoft.com/office/drawing/2014/main" id="{01AFF9D7-DE70-21E1-24E2-8AA1B664E606}"/>
              </a:ext>
            </a:extLst>
          </p:cNvPr>
          <p:cNvSpPr>
            <a:spLocks noGrp="1"/>
          </p:cNvSpPr>
          <p:nvPr>
            <p:ph type="sldNum" sz="quarter" idx="12"/>
          </p:nvPr>
        </p:nvSpPr>
        <p:spPr/>
        <p:txBody>
          <a:bodyPr>
            <a:normAutofit fontScale="85000" lnSpcReduction="20000"/>
          </a:bodyPr>
          <a:lstStyle/>
          <a:p>
            <a:fld id="{EBFB1032-EA64-7144-B003-9BCC9D94B503}" type="slidenum">
              <a:rPr lang="en-US" smtClean="0"/>
              <a:t>34</a:t>
            </a:fld>
            <a:endParaRPr lang="en-US" dirty="0"/>
          </a:p>
        </p:txBody>
      </p:sp>
      <p:sp>
        <p:nvSpPr>
          <p:cNvPr id="4" name="Content Placeholder 3">
            <a:extLst>
              <a:ext uri="{FF2B5EF4-FFF2-40B4-BE49-F238E27FC236}">
                <a16:creationId xmlns:a16="http://schemas.microsoft.com/office/drawing/2014/main" id="{7DB31654-77C1-FA27-49B6-B77AA4A9DD6B}"/>
              </a:ext>
            </a:extLst>
          </p:cNvPr>
          <p:cNvSpPr>
            <a:spLocks noGrp="1"/>
          </p:cNvSpPr>
          <p:nvPr>
            <p:ph sz="quarter" idx="1"/>
          </p:nvPr>
        </p:nvSpPr>
        <p:spPr/>
        <p:txBody>
          <a:bodyPr>
            <a:normAutofit lnSpcReduction="10000"/>
          </a:bodyPr>
          <a:lstStyle/>
          <a:p>
            <a:pPr>
              <a:spcBef>
                <a:spcPts val="0"/>
              </a:spcBef>
            </a:pPr>
            <a:r>
              <a:rPr lang="en-US" dirty="0"/>
              <a:t>Sample implementation of Term Frequency-Inverse Document Frequency (TF-IDF) using python with the scikit-learn library.</a:t>
            </a:r>
          </a:p>
          <a:p>
            <a:pPr>
              <a:spcBef>
                <a:spcPts val="0"/>
              </a:spcBef>
            </a:pPr>
            <a:endParaRPr lang="en-US" dirty="0"/>
          </a:p>
          <a:p>
            <a:pPr>
              <a:spcBef>
                <a:spcPts val="0"/>
              </a:spcBef>
            </a:pPr>
            <a:r>
              <a:rPr lang="en-US" dirty="0"/>
              <a:t>It begins by defining a set of sample documents.</a:t>
            </a:r>
          </a:p>
          <a:p>
            <a:pPr>
              <a:spcBef>
                <a:spcPts val="0"/>
              </a:spcBef>
            </a:pPr>
            <a:endParaRPr lang="en-US" dirty="0"/>
          </a:p>
          <a:p>
            <a:pPr>
              <a:spcBef>
                <a:spcPts val="0"/>
              </a:spcBef>
            </a:pPr>
            <a:r>
              <a:rPr lang="en-US" dirty="0"/>
              <a:t>The </a:t>
            </a:r>
            <a:r>
              <a:rPr lang="en-US" dirty="0" err="1"/>
              <a:t>TfidfVectorizer</a:t>
            </a:r>
            <a:r>
              <a:rPr lang="en-US" dirty="0"/>
              <a:t> is employed to transform these documents into a TF-IDF matrix.</a:t>
            </a:r>
          </a:p>
          <a:p>
            <a:pPr>
              <a:spcBef>
                <a:spcPts val="0"/>
              </a:spcBef>
            </a:pPr>
            <a:endParaRPr lang="en-US" dirty="0"/>
          </a:p>
          <a:p>
            <a:pPr>
              <a:spcBef>
                <a:spcPts val="0"/>
              </a:spcBef>
            </a:pPr>
            <a:r>
              <a:rPr lang="en-US" dirty="0"/>
              <a:t>The code then extracts and prints the TF-IDF values for each word in each document.</a:t>
            </a:r>
          </a:p>
          <a:p>
            <a:pPr>
              <a:spcBef>
                <a:spcPts val="0"/>
              </a:spcBef>
            </a:pPr>
            <a:endParaRPr lang="en-US" dirty="0"/>
          </a:p>
          <a:p>
            <a:pPr>
              <a:spcBef>
                <a:spcPts val="0"/>
              </a:spcBef>
            </a:pPr>
            <a:r>
              <a:rPr lang="en-US" dirty="0"/>
              <a:t>This statistical measure helps assess the importance of words in a document relative to their frequency across a collection of documents, aiding in information retrieval and text analysis tasks.</a:t>
            </a:r>
          </a:p>
          <a:p>
            <a:pPr>
              <a:spcBef>
                <a:spcPts val="0"/>
              </a:spcBef>
            </a:pPr>
            <a:endParaRPr lang="en-US" dirty="0"/>
          </a:p>
        </p:txBody>
      </p:sp>
    </p:spTree>
    <p:extLst>
      <p:ext uri="{BB962C8B-B14F-4D97-AF65-F5344CB8AC3E}">
        <p14:creationId xmlns:p14="http://schemas.microsoft.com/office/powerpoint/2010/main" val="24921355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3E13F06-9654-9912-C064-6A8883673541}"/>
              </a:ext>
            </a:extLst>
          </p:cNvPr>
          <p:cNvSpPr>
            <a:spLocks noGrp="1"/>
          </p:cNvSpPr>
          <p:nvPr>
            <p:ph type="sldNum" sz="quarter" idx="12"/>
          </p:nvPr>
        </p:nvSpPr>
        <p:spPr/>
        <p:txBody>
          <a:bodyPr/>
          <a:lstStyle/>
          <a:p>
            <a:fld id="{EBFB1032-EA64-7144-B003-9BCC9D94B503}" type="slidenum">
              <a:rPr lang="en-US" smtClean="0"/>
              <a:t>35</a:t>
            </a:fld>
            <a:endParaRPr lang="en-US" dirty="0"/>
          </a:p>
        </p:txBody>
      </p:sp>
      <p:pic>
        <p:nvPicPr>
          <p:cNvPr id="8" name="Picture 7">
            <a:extLst>
              <a:ext uri="{FF2B5EF4-FFF2-40B4-BE49-F238E27FC236}">
                <a16:creationId xmlns:a16="http://schemas.microsoft.com/office/drawing/2014/main" id="{7F48CD90-142C-35A8-D7CE-9A53E6DD472B}"/>
              </a:ext>
            </a:extLst>
          </p:cNvPr>
          <p:cNvPicPr>
            <a:picLocks noChangeAspect="1"/>
          </p:cNvPicPr>
          <p:nvPr/>
        </p:nvPicPr>
        <p:blipFill>
          <a:blip r:embed="rId2"/>
          <a:stretch>
            <a:fillRect/>
          </a:stretch>
        </p:blipFill>
        <p:spPr>
          <a:xfrm>
            <a:off x="182880" y="773082"/>
            <a:ext cx="8778240" cy="5311835"/>
          </a:xfrm>
          <a:prstGeom prst="rect">
            <a:avLst/>
          </a:prstGeom>
          <a:ln>
            <a:solidFill>
              <a:schemeClr val="accent1"/>
            </a:solidFill>
          </a:ln>
        </p:spPr>
      </p:pic>
    </p:spTree>
    <p:extLst>
      <p:ext uri="{BB962C8B-B14F-4D97-AF65-F5344CB8AC3E}">
        <p14:creationId xmlns:p14="http://schemas.microsoft.com/office/powerpoint/2010/main" val="5288458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A3F1C8-4151-33AB-BC4D-F7A78CCB9F39}"/>
              </a:ext>
            </a:extLst>
          </p:cNvPr>
          <p:cNvSpPr>
            <a:spLocks noGrp="1"/>
          </p:cNvSpPr>
          <p:nvPr>
            <p:ph type="title"/>
          </p:nvPr>
        </p:nvSpPr>
        <p:spPr/>
        <p:txBody>
          <a:bodyPr/>
          <a:lstStyle/>
          <a:p>
            <a:r>
              <a:rPr lang="en-US" dirty="0"/>
              <a:t>Output</a:t>
            </a:r>
          </a:p>
        </p:txBody>
      </p:sp>
      <p:sp>
        <p:nvSpPr>
          <p:cNvPr id="2" name="Slide Number Placeholder 1">
            <a:extLst>
              <a:ext uri="{FF2B5EF4-FFF2-40B4-BE49-F238E27FC236}">
                <a16:creationId xmlns:a16="http://schemas.microsoft.com/office/drawing/2014/main" id="{F1B37F82-9E7C-B28B-78B4-D44EFA82C2AB}"/>
              </a:ext>
            </a:extLst>
          </p:cNvPr>
          <p:cNvSpPr>
            <a:spLocks noGrp="1"/>
          </p:cNvSpPr>
          <p:nvPr>
            <p:ph type="sldNum" sz="quarter" idx="12"/>
          </p:nvPr>
        </p:nvSpPr>
        <p:spPr/>
        <p:txBody>
          <a:bodyPr>
            <a:normAutofit fontScale="85000" lnSpcReduction="20000"/>
          </a:bodyPr>
          <a:lstStyle/>
          <a:p>
            <a:fld id="{EBFB1032-EA64-7144-B003-9BCC9D94B503}" type="slidenum">
              <a:rPr lang="en-US" smtClean="0"/>
              <a:t>36</a:t>
            </a:fld>
            <a:endParaRPr lang="en-US" dirty="0"/>
          </a:p>
        </p:txBody>
      </p:sp>
      <p:sp>
        <p:nvSpPr>
          <p:cNvPr id="4" name="Content Placeholder 3">
            <a:extLst>
              <a:ext uri="{FF2B5EF4-FFF2-40B4-BE49-F238E27FC236}">
                <a16:creationId xmlns:a16="http://schemas.microsoft.com/office/drawing/2014/main" id="{05747A74-7C62-D675-3FEB-842C6B61AA44}"/>
              </a:ext>
            </a:extLst>
          </p:cNvPr>
          <p:cNvSpPr>
            <a:spLocks noGrp="1"/>
          </p:cNvSpPr>
          <p:nvPr>
            <p:ph sz="quarter" idx="1"/>
          </p:nvPr>
        </p:nvSpPr>
        <p:spPr/>
        <p:txBody>
          <a:bodyPr>
            <a:noAutofit/>
          </a:bodyPr>
          <a:lstStyle/>
          <a:p>
            <a:pPr marL="0" indent="0">
              <a:lnSpc>
                <a:spcPct val="90000"/>
              </a:lnSpc>
              <a:spcBef>
                <a:spcPts val="0"/>
              </a:spcBef>
              <a:buNone/>
            </a:pPr>
            <a:r>
              <a:rPr lang="en-US" sz="1800" dirty="0">
                <a:latin typeface="Courier New" panose="02070309020205020404" pitchFamily="49" charset="0"/>
                <a:cs typeface="Courier New" panose="02070309020205020404" pitchFamily="49" charset="0"/>
              </a:rPr>
              <a:t>Document 1:</a:t>
            </a:r>
          </a:p>
          <a:p>
            <a:pPr marL="0" indent="0">
              <a:lnSpc>
                <a:spcPct val="90000"/>
              </a:lnSpc>
              <a:spcBef>
                <a:spcPts val="0"/>
              </a:spcBef>
              <a:buNone/>
            </a:pPr>
            <a:r>
              <a:rPr lang="en-US" sz="1800" dirty="0">
                <a:latin typeface="Courier New" panose="02070309020205020404" pitchFamily="49" charset="0"/>
                <a:cs typeface="Courier New" panose="02070309020205020404" pitchFamily="49" charset="0"/>
              </a:rPr>
              <a:t>dog: 0.3404110310756642</a:t>
            </a:r>
          </a:p>
          <a:p>
            <a:pPr marL="0" indent="0">
              <a:lnSpc>
                <a:spcPct val="90000"/>
              </a:lnSpc>
              <a:spcBef>
                <a:spcPts val="0"/>
              </a:spcBef>
              <a:buNone/>
            </a:pPr>
            <a:r>
              <a:rPr lang="en-US" sz="1800" dirty="0">
                <a:latin typeface="Courier New" panose="02070309020205020404" pitchFamily="49" charset="0"/>
                <a:cs typeface="Courier New" panose="02070309020205020404" pitchFamily="49" charset="0"/>
              </a:rPr>
              <a:t>lazy: 0.3404110310756642</a:t>
            </a:r>
          </a:p>
          <a:p>
            <a:pPr marL="0" indent="0">
              <a:lnSpc>
                <a:spcPct val="90000"/>
              </a:lnSpc>
              <a:spcBef>
                <a:spcPts val="0"/>
              </a:spcBef>
              <a:buNone/>
            </a:pPr>
            <a:r>
              <a:rPr lang="en-US" sz="1800" dirty="0">
                <a:latin typeface="Courier New" panose="02070309020205020404" pitchFamily="49" charset="0"/>
                <a:cs typeface="Courier New" panose="02070309020205020404" pitchFamily="49" charset="0"/>
              </a:rPr>
              <a:t>over: 0.3404110310756642</a:t>
            </a:r>
          </a:p>
          <a:p>
            <a:pPr marL="0" indent="0">
              <a:lnSpc>
                <a:spcPct val="90000"/>
              </a:lnSpc>
              <a:spcBef>
                <a:spcPts val="0"/>
              </a:spcBef>
              <a:buNone/>
            </a:pPr>
            <a:r>
              <a:rPr lang="en-US" sz="1800" dirty="0">
                <a:latin typeface="Courier New" panose="02070309020205020404" pitchFamily="49" charset="0"/>
                <a:cs typeface="Courier New" panose="02070309020205020404" pitchFamily="49" charset="0"/>
              </a:rPr>
              <a:t>jumps: 0.3404110310756642</a:t>
            </a:r>
          </a:p>
          <a:p>
            <a:pPr marL="0" indent="0">
              <a:lnSpc>
                <a:spcPct val="90000"/>
              </a:lnSpc>
              <a:spcBef>
                <a:spcPts val="0"/>
              </a:spcBef>
              <a:buNone/>
            </a:pPr>
            <a:r>
              <a:rPr lang="en-US" sz="1800" dirty="0">
                <a:latin typeface="Courier New" panose="02070309020205020404" pitchFamily="49" charset="0"/>
                <a:cs typeface="Courier New" panose="02070309020205020404" pitchFamily="49" charset="0"/>
              </a:rPr>
              <a:t>fox: 0.3404110310756642</a:t>
            </a:r>
          </a:p>
          <a:p>
            <a:pPr marL="0" indent="0">
              <a:lnSpc>
                <a:spcPct val="90000"/>
              </a:lnSpc>
              <a:spcBef>
                <a:spcPts val="0"/>
              </a:spcBef>
              <a:buNone/>
            </a:pPr>
            <a:r>
              <a:rPr lang="en-US" sz="1800" dirty="0">
                <a:latin typeface="Courier New" panose="02070309020205020404" pitchFamily="49" charset="0"/>
                <a:cs typeface="Courier New" panose="02070309020205020404" pitchFamily="49" charset="0"/>
              </a:rPr>
              <a:t>brown: 0.3404110310756642</a:t>
            </a:r>
          </a:p>
          <a:p>
            <a:pPr marL="0" indent="0">
              <a:lnSpc>
                <a:spcPct val="90000"/>
              </a:lnSpc>
              <a:spcBef>
                <a:spcPts val="0"/>
              </a:spcBef>
              <a:buNone/>
            </a:pPr>
            <a:r>
              <a:rPr lang="en-US" sz="1800" dirty="0">
                <a:latin typeface="Courier New" panose="02070309020205020404" pitchFamily="49" charset="0"/>
                <a:cs typeface="Courier New" panose="02070309020205020404" pitchFamily="49" charset="0"/>
              </a:rPr>
              <a:t>quick: 0.3404110310756642</a:t>
            </a:r>
          </a:p>
          <a:p>
            <a:pPr marL="0" indent="0">
              <a:lnSpc>
                <a:spcPct val="90000"/>
              </a:lnSpc>
              <a:spcBef>
                <a:spcPts val="0"/>
              </a:spcBef>
              <a:buNone/>
            </a:pPr>
            <a:r>
              <a:rPr lang="en-US" sz="1800" dirty="0">
                <a:latin typeface="Courier New" panose="02070309020205020404" pitchFamily="49" charset="0"/>
                <a:cs typeface="Courier New" panose="02070309020205020404" pitchFamily="49" charset="0"/>
              </a:rPr>
              <a:t>the: 0.43455990318254417</a:t>
            </a:r>
          </a:p>
          <a:p>
            <a:pPr marL="0" indent="0">
              <a:lnSpc>
                <a:spcPct val="90000"/>
              </a:lnSpc>
              <a:spcBef>
                <a:spcPts val="0"/>
              </a:spcBef>
              <a:buNone/>
            </a:pPr>
            <a:endParaRPr lang="en-US" sz="1800" dirty="0">
              <a:latin typeface="Courier New" panose="02070309020205020404" pitchFamily="49" charset="0"/>
              <a:cs typeface="Courier New" panose="02070309020205020404" pitchFamily="49" charset="0"/>
            </a:endParaRPr>
          </a:p>
          <a:p>
            <a:pPr marL="0" indent="0">
              <a:lnSpc>
                <a:spcPct val="90000"/>
              </a:lnSpc>
              <a:spcBef>
                <a:spcPts val="0"/>
              </a:spcBef>
              <a:buNone/>
            </a:pPr>
            <a:r>
              <a:rPr lang="en-US" sz="1800" dirty="0">
                <a:latin typeface="Courier New" panose="02070309020205020404" pitchFamily="49" charset="0"/>
                <a:cs typeface="Courier New" panose="02070309020205020404" pitchFamily="49" charset="0"/>
              </a:rPr>
              <a:t>Document 2:</a:t>
            </a:r>
          </a:p>
          <a:p>
            <a:pPr marL="0" indent="0">
              <a:lnSpc>
                <a:spcPct val="90000"/>
              </a:lnSpc>
              <a:spcBef>
                <a:spcPts val="0"/>
              </a:spcBef>
              <a:buNone/>
            </a:pPr>
            <a:r>
              <a:rPr lang="en-US" sz="1800" dirty="0">
                <a:latin typeface="Courier New" panose="02070309020205020404" pitchFamily="49" charset="0"/>
                <a:cs typeface="Courier New" panose="02070309020205020404" pitchFamily="49" charset="0"/>
              </a:rPr>
              <a:t>step: 0.3535533905932738</a:t>
            </a:r>
          </a:p>
          <a:p>
            <a:pPr marL="0" indent="0">
              <a:lnSpc>
                <a:spcPct val="90000"/>
              </a:lnSpc>
              <a:spcBef>
                <a:spcPts val="0"/>
              </a:spcBef>
              <a:buNone/>
            </a:pPr>
            <a:r>
              <a:rPr lang="en-US" sz="1800" dirty="0">
                <a:latin typeface="Courier New" panose="02070309020205020404" pitchFamily="49" charset="0"/>
                <a:cs typeface="Courier New" panose="02070309020205020404" pitchFamily="49" charset="0"/>
              </a:rPr>
              <a:t>single: 0.3535533905932738</a:t>
            </a:r>
          </a:p>
          <a:p>
            <a:pPr marL="0" indent="0">
              <a:lnSpc>
                <a:spcPct val="90000"/>
              </a:lnSpc>
              <a:spcBef>
                <a:spcPts val="0"/>
              </a:spcBef>
              <a:buNone/>
            </a:pPr>
            <a:r>
              <a:rPr lang="en-US" sz="1800" dirty="0">
                <a:latin typeface="Courier New" panose="02070309020205020404" pitchFamily="49" charset="0"/>
                <a:cs typeface="Courier New" panose="02070309020205020404" pitchFamily="49" charset="0"/>
              </a:rPr>
              <a:t>with: 0.3535533905932738</a:t>
            </a:r>
          </a:p>
          <a:p>
            <a:pPr marL="0" indent="0">
              <a:lnSpc>
                <a:spcPct val="90000"/>
              </a:lnSpc>
              <a:spcBef>
                <a:spcPts val="0"/>
              </a:spcBef>
              <a:buNone/>
            </a:pPr>
            <a:r>
              <a:rPr lang="en-US" sz="1800" dirty="0">
                <a:latin typeface="Courier New" panose="02070309020205020404" pitchFamily="49" charset="0"/>
                <a:cs typeface="Courier New" panose="02070309020205020404" pitchFamily="49" charset="0"/>
              </a:rPr>
              <a:t>begins: 0.3535533905932738</a:t>
            </a:r>
          </a:p>
          <a:p>
            <a:pPr marL="0" indent="0">
              <a:lnSpc>
                <a:spcPct val="90000"/>
              </a:lnSpc>
              <a:spcBef>
                <a:spcPts val="0"/>
              </a:spcBef>
              <a:buNone/>
            </a:pPr>
            <a:r>
              <a:rPr lang="en-US" sz="1800" dirty="0">
                <a:latin typeface="Courier New" panose="02070309020205020404" pitchFamily="49" charset="0"/>
                <a:cs typeface="Courier New" panose="02070309020205020404" pitchFamily="49" charset="0"/>
              </a:rPr>
              <a:t>miles: 0.3535533905932738</a:t>
            </a:r>
          </a:p>
          <a:p>
            <a:pPr marL="0" indent="0">
              <a:lnSpc>
                <a:spcPct val="90000"/>
              </a:lnSpc>
              <a:spcBef>
                <a:spcPts val="0"/>
              </a:spcBef>
              <a:buNone/>
            </a:pPr>
            <a:r>
              <a:rPr lang="en-US" sz="1800" dirty="0">
                <a:latin typeface="Courier New" panose="02070309020205020404" pitchFamily="49" charset="0"/>
                <a:cs typeface="Courier New" panose="02070309020205020404" pitchFamily="49" charset="0"/>
              </a:rPr>
              <a:t>thousand: 0.3535533905932738</a:t>
            </a:r>
          </a:p>
          <a:p>
            <a:pPr marL="0" indent="0">
              <a:lnSpc>
                <a:spcPct val="90000"/>
              </a:lnSpc>
              <a:spcBef>
                <a:spcPts val="0"/>
              </a:spcBef>
              <a:buNone/>
            </a:pPr>
            <a:r>
              <a:rPr lang="en-US" sz="1800" dirty="0">
                <a:latin typeface="Courier New" panose="02070309020205020404" pitchFamily="49" charset="0"/>
                <a:cs typeface="Courier New" panose="02070309020205020404" pitchFamily="49" charset="0"/>
              </a:rPr>
              <a:t>of: 0.3535533905932738</a:t>
            </a:r>
          </a:p>
          <a:p>
            <a:pPr marL="0" indent="0">
              <a:lnSpc>
                <a:spcPct val="90000"/>
              </a:lnSpc>
              <a:spcBef>
                <a:spcPts val="0"/>
              </a:spcBef>
              <a:buNone/>
            </a:pPr>
            <a:r>
              <a:rPr lang="en-US" sz="1800" dirty="0">
                <a:latin typeface="Courier New" panose="02070309020205020404" pitchFamily="49" charset="0"/>
                <a:cs typeface="Courier New" panose="02070309020205020404" pitchFamily="49" charset="0"/>
              </a:rPr>
              <a:t>journey: 0.3535533905932738</a:t>
            </a:r>
          </a:p>
        </p:txBody>
      </p:sp>
    </p:spTree>
    <p:extLst>
      <p:ext uri="{BB962C8B-B14F-4D97-AF65-F5344CB8AC3E}">
        <p14:creationId xmlns:p14="http://schemas.microsoft.com/office/powerpoint/2010/main" val="36474363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EE743-32E7-AED3-3ABE-BCA197ECF143}"/>
              </a:ext>
            </a:extLst>
          </p:cNvPr>
          <p:cNvSpPr>
            <a:spLocks noGrp="1"/>
          </p:cNvSpPr>
          <p:nvPr>
            <p:ph type="title"/>
          </p:nvPr>
        </p:nvSpPr>
        <p:spPr/>
        <p:txBody>
          <a:bodyPr>
            <a:normAutofit/>
          </a:bodyPr>
          <a:lstStyle/>
          <a:p>
            <a:r>
              <a:rPr lang="en-US" dirty="0"/>
              <a:t>Why is TF-IDF Useful in this Example?</a:t>
            </a:r>
          </a:p>
        </p:txBody>
      </p:sp>
      <p:sp>
        <p:nvSpPr>
          <p:cNvPr id="3" name="Slide Number Placeholder 2">
            <a:extLst>
              <a:ext uri="{FF2B5EF4-FFF2-40B4-BE49-F238E27FC236}">
                <a16:creationId xmlns:a16="http://schemas.microsoft.com/office/drawing/2014/main" id="{944E9F31-45AB-A107-923F-2315482C9CFF}"/>
              </a:ext>
            </a:extLst>
          </p:cNvPr>
          <p:cNvSpPr>
            <a:spLocks noGrp="1"/>
          </p:cNvSpPr>
          <p:nvPr>
            <p:ph type="sldNum" sz="quarter" idx="12"/>
          </p:nvPr>
        </p:nvSpPr>
        <p:spPr/>
        <p:txBody>
          <a:bodyPr>
            <a:normAutofit fontScale="85000" lnSpcReduction="20000"/>
          </a:bodyPr>
          <a:lstStyle/>
          <a:p>
            <a:fld id="{EBFB1032-EA64-7144-B003-9BCC9D94B503}" type="slidenum">
              <a:rPr lang="en-US" smtClean="0"/>
              <a:t>37</a:t>
            </a:fld>
            <a:endParaRPr lang="en-US" dirty="0"/>
          </a:p>
        </p:txBody>
      </p:sp>
      <p:sp>
        <p:nvSpPr>
          <p:cNvPr id="4" name="Content Placeholder 3">
            <a:extLst>
              <a:ext uri="{FF2B5EF4-FFF2-40B4-BE49-F238E27FC236}">
                <a16:creationId xmlns:a16="http://schemas.microsoft.com/office/drawing/2014/main" id="{E2C8D009-F81A-D077-E17D-40AD8DB952A7}"/>
              </a:ext>
            </a:extLst>
          </p:cNvPr>
          <p:cNvSpPr>
            <a:spLocks noGrp="1"/>
          </p:cNvSpPr>
          <p:nvPr>
            <p:ph sz="quarter" idx="1"/>
          </p:nvPr>
        </p:nvSpPr>
        <p:spPr/>
        <p:txBody>
          <a:bodyPr>
            <a:normAutofit fontScale="92500" lnSpcReduction="10000"/>
          </a:bodyPr>
          <a:lstStyle/>
          <a:p>
            <a:r>
              <a:rPr lang="en-US" dirty="0"/>
              <a:t>1. Identifying Important Terms:</a:t>
            </a:r>
          </a:p>
          <a:p>
            <a:pPr lvl="1"/>
            <a:r>
              <a:rPr lang="en-US" dirty="0"/>
              <a:t>TF-IDF helps us understand that “dog” is somewhat important in Document 1, but irrelevant in Document 2.</a:t>
            </a:r>
          </a:p>
          <a:p>
            <a:pPr lvl="1"/>
            <a:r>
              <a:rPr lang="en-US" dirty="0"/>
              <a:t>If we were building a search engine, this score would help rank Document 1 higher for a query like “dog”.</a:t>
            </a:r>
          </a:p>
          <a:p>
            <a:endParaRPr lang="en-US" dirty="0"/>
          </a:p>
          <a:p>
            <a:r>
              <a:rPr lang="en-US" dirty="0"/>
              <a:t>2. Filtering Common Words:</a:t>
            </a:r>
          </a:p>
          <a:p>
            <a:pPr lvl="1"/>
            <a:r>
              <a:rPr lang="en-US" dirty="0"/>
              <a:t>Words like “the” or “and” would have high TF scores but very low IDF scores because they appear in almost all documents.</a:t>
            </a:r>
          </a:p>
          <a:p>
            <a:pPr lvl="1"/>
            <a:r>
              <a:rPr lang="en-US" dirty="0"/>
              <a:t>Their TF-IDF scores would be close to 0, indicating they are not meaningful.</a:t>
            </a:r>
          </a:p>
          <a:p>
            <a:endParaRPr lang="en-US" dirty="0"/>
          </a:p>
          <a:p>
            <a:r>
              <a:rPr lang="en-US" dirty="0"/>
              <a:t>3. Highlighting Unique Terms:</a:t>
            </a:r>
          </a:p>
          <a:p>
            <a:pPr lvl="1"/>
            <a:r>
              <a:rPr lang="en-US" dirty="0"/>
              <a:t>If a term like “mat” appeared only in Document 1, it would have a higher IDF score, making its TF-IDF score more significant in that document.</a:t>
            </a:r>
          </a:p>
        </p:txBody>
      </p:sp>
    </p:spTree>
    <p:extLst>
      <p:ext uri="{BB962C8B-B14F-4D97-AF65-F5344CB8AC3E}">
        <p14:creationId xmlns:p14="http://schemas.microsoft.com/office/powerpoint/2010/main" val="22564498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97E12-6B49-518D-563B-A722957DBD24}"/>
              </a:ext>
            </a:extLst>
          </p:cNvPr>
          <p:cNvSpPr>
            <a:spLocks noGrp="1"/>
          </p:cNvSpPr>
          <p:nvPr>
            <p:ph type="title"/>
          </p:nvPr>
        </p:nvSpPr>
        <p:spPr/>
        <p:txBody>
          <a:bodyPr/>
          <a:lstStyle/>
          <a:p>
            <a:r>
              <a:rPr lang="en-US" dirty="0"/>
              <a:t>Disadvantages of TF-IDF</a:t>
            </a:r>
          </a:p>
        </p:txBody>
      </p:sp>
      <p:sp>
        <p:nvSpPr>
          <p:cNvPr id="3" name="Slide Number Placeholder 2">
            <a:extLst>
              <a:ext uri="{FF2B5EF4-FFF2-40B4-BE49-F238E27FC236}">
                <a16:creationId xmlns:a16="http://schemas.microsoft.com/office/drawing/2014/main" id="{78E105C3-0CC3-D862-5FC6-685B9F002AB2}"/>
              </a:ext>
            </a:extLst>
          </p:cNvPr>
          <p:cNvSpPr>
            <a:spLocks noGrp="1"/>
          </p:cNvSpPr>
          <p:nvPr>
            <p:ph type="sldNum" sz="quarter" idx="12"/>
          </p:nvPr>
        </p:nvSpPr>
        <p:spPr/>
        <p:txBody>
          <a:bodyPr>
            <a:normAutofit fontScale="85000" lnSpcReduction="20000"/>
          </a:bodyPr>
          <a:lstStyle/>
          <a:p>
            <a:fld id="{EBFB1032-EA64-7144-B003-9BCC9D94B503}" type="slidenum">
              <a:rPr lang="en-US" smtClean="0"/>
              <a:t>38</a:t>
            </a:fld>
            <a:endParaRPr lang="en-US" dirty="0"/>
          </a:p>
        </p:txBody>
      </p:sp>
      <p:sp>
        <p:nvSpPr>
          <p:cNvPr id="4" name="Content Placeholder 3">
            <a:extLst>
              <a:ext uri="{FF2B5EF4-FFF2-40B4-BE49-F238E27FC236}">
                <a16:creationId xmlns:a16="http://schemas.microsoft.com/office/drawing/2014/main" id="{5AFC969C-770E-905D-9116-052913D2CE85}"/>
              </a:ext>
            </a:extLst>
          </p:cNvPr>
          <p:cNvSpPr>
            <a:spLocks noGrp="1"/>
          </p:cNvSpPr>
          <p:nvPr>
            <p:ph sz="quarter" idx="1"/>
          </p:nvPr>
        </p:nvSpPr>
        <p:spPr/>
        <p:txBody>
          <a:bodyPr/>
          <a:lstStyle/>
          <a:p>
            <a:r>
              <a:rPr lang="en-US" dirty="0"/>
              <a:t>TF-IDF is a widely used technique in information retrieval and text mining, but its limitations should be considered, especially when dealing with tasks that require a deeper understanding of language semantics.</a:t>
            </a:r>
          </a:p>
          <a:p>
            <a:r>
              <a:rPr lang="en-US" dirty="0"/>
              <a:t>For example:</a:t>
            </a:r>
          </a:p>
          <a:p>
            <a:pPr lvl="1"/>
            <a:r>
              <a:rPr lang="en-US" dirty="0"/>
              <a:t>TF-IDF treats words as independent entities and doesn’t consider semantic relationships between them.</a:t>
            </a:r>
          </a:p>
          <a:p>
            <a:pPr lvl="2"/>
            <a:r>
              <a:rPr lang="en-US" dirty="0"/>
              <a:t>This limitation hinders its ability to capture contextual information and word meanings.</a:t>
            </a:r>
          </a:p>
          <a:p>
            <a:pPr lvl="1"/>
            <a:r>
              <a:rPr lang="en-US" dirty="0"/>
              <a:t>Sensitivity to Document Length:</a:t>
            </a:r>
          </a:p>
          <a:p>
            <a:pPr lvl="2"/>
            <a:r>
              <a:rPr lang="en-US" dirty="0"/>
              <a:t>Longer documents tend to have higher overall term frequencies, potentially biasing TF-IDF towards longer documents. </a:t>
            </a:r>
          </a:p>
        </p:txBody>
      </p:sp>
    </p:spTree>
    <p:extLst>
      <p:ext uri="{BB962C8B-B14F-4D97-AF65-F5344CB8AC3E}">
        <p14:creationId xmlns:p14="http://schemas.microsoft.com/office/powerpoint/2010/main" val="9771591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5C2DA64-AAE3-014E-8709-8371658C1BF7}"/>
              </a:ext>
            </a:extLst>
          </p:cNvPr>
          <p:cNvSpPr>
            <a:spLocks noGrp="1"/>
          </p:cNvSpPr>
          <p:nvPr>
            <p:ph type="title"/>
          </p:nvPr>
        </p:nvSpPr>
        <p:spPr/>
        <p:txBody>
          <a:bodyPr/>
          <a:lstStyle/>
          <a:p>
            <a:r>
              <a:rPr lang="en-US" dirty="0"/>
              <a:t>Neural Approach</a:t>
            </a:r>
          </a:p>
        </p:txBody>
      </p:sp>
      <p:sp>
        <p:nvSpPr>
          <p:cNvPr id="3" name="Slide Number Placeholder 2">
            <a:extLst>
              <a:ext uri="{FF2B5EF4-FFF2-40B4-BE49-F238E27FC236}">
                <a16:creationId xmlns:a16="http://schemas.microsoft.com/office/drawing/2014/main" id="{488E3B32-28A1-284E-B690-1294E070B52E}"/>
              </a:ext>
            </a:extLst>
          </p:cNvPr>
          <p:cNvSpPr>
            <a:spLocks noGrp="1"/>
          </p:cNvSpPr>
          <p:nvPr>
            <p:ph type="sldNum" sz="quarter" idx="12"/>
          </p:nvPr>
        </p:nvSpPr>
        <p:spPr/>
        <p:txBody>
          <a:bodyPr>
            <a:normAutofit fontScale="85000" lnSpcReduction="20000"/>
          </a:bodyPr>
          <a:lstStyle/>
          <a:p>
            <a:fld id="{EBFB1032-EA64-7144-B003-9BCC9D94B503}" type="slidenum">
              <a:rPr lang="en-US" smtClean="0"/>
              <a:t>39</a:t>
            </a:fld>
            <a:endParaRPr lang="en-US" dirty="0"/>
          </a:p>
        </p:txBody>
      </p:sp>
      <p:sp>
        <p:nvSpPr>
          <p:cNvPr id="6" name="Text Placeholder 5">
            <a:extLst>
              <a:ext uri="{FF2B5EF4-FFF2-40B4-BE49-F238E27FC236}">
                <a16:creationId xmlns:a16="http://schemas.microsoft.com/office/drawing/2014/main" id="{7540AE1A-96D9-C09D-FC77-C75FD559112E}"/>
              </a:ext>
            </a:extLst>
          </p:cNvPr>
          <p:cNvSpPr>
            <a:spLocks noGrp="1"/>
          </p:cNvSpPr>
          <p:nvPr>
            <p:ph sz="quarter" idx="1"/>
          </p:nvPr>
        </p:nvSpPr>
        <p:spPr/>
        <p:txBody>
          <a:bodyPr/>
          <a:lstStyle/>
          <a:p>
            <a:r>
              <a:rPr lang="en-US" dirty="0"/>
              <a:t>2.1. Word2Vec</a:t>
            </a:r>
          </a:p>
          <a:p>
            <a:r>
              <a:rPr lang="en-US" dirty="0"/>
              <a:t>2.2. Continuous Bag of Words(CBOW)</a:t>
            </a:r>
          </a:p>
          <a:p>
            <a:r>
              <a:rPr lang="en-US" dirty="0"/>
              <a:t>2.3. Skip-Gram</a:t>
            </a:r>
          </a:p>
          <a:p>
            <a:endParaRPr lang="en-US" dirty="0"/>
          </a:p>
        </p:txBody>
      </p:sp>
    </p:spTree>
    <p:extLst>
      <p:ext uri="{BB962C8B-B14F-4D97-AF65-F5344CB8AC3E}">
        <p14:creationId xmlns:p14="http://schemas.microsoft.com/office/powerpoint/2010/main" val="29506727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D68D3-365D-C964-DDFF-774542747441}"/>
              </a:ext>
            </a:extLst>
          </p:cNvPr>
          <p:cNvSpPr>
            <a:spLocks noGrp="1"/>
          </p:cNvSpPr>
          <p:nvPr>
            <p:ph type="title"/>
          </p:nvPr>
        </p:nvSpPr>
        <p:spPr/>
        <p:txBody>
          <a:bodyPr>
            <a:normAutofit/>
          </a:bodyPr>
          <a:lstStyle/>
          <a:p>
            <a:r>
              <a:rPr lang="en-US" dirty="0"/>
              <a:t>2.1. Word2Vec</a:t>
            </a:r>
          </a:p>
        </p:txBody>
      </p:sp>
      <p:sp>
        <p:nvSpPr>
          <p:cNvPr id="3" name="Slide Number Placeholder 2">
            <a:extLst>
              <a:ext uri="{FF2B5EF4-FFF2-40B4-BE49-F238E27FC236}">
                <a16:creationId xmlns:a16="http://schemas.microsoft.com/office/drawing/2014/main" id="{2C136707-9583-E11F-7593-C652DE6A3AB2}"/>
              </a:ext>
            </a:extLst>
          </p:cNvPr>
          <p:cNvSpPr>
            <a:spLocks noGrp="1"/>
          </p:cNvSpPr>
          <p:nvPr>
            <p:ph type="sldNum" sz="quarter" idx="12"/>
          </p:nvPr>
        </p:nvSpPr>
        <p:spPr/>
        <p:txBody>
          <a:bodyPr>
            <a:normAutofit fontScale="85000" lnSpcReduction="20000"/>
          </a:bodyPr>
          <a:lstStyle/>
          <a:p>
            <a:fld id="{EBFB1032-EA64-7144-B003-9BCC9D94B503}" type="slidenum">
              <a:rPr lang="en-US" smtClean="0"/>
              <a:t>40</a:t>
            </a:fld>
            <a:endParaRPr lang="en-US" dirty="0"/>
          </a:p>
        </p:txBody>
      </p:sp>
      <p:sp>
        <p:nvSpPr>
          <p:cNvPr id="4" name="Content Placeholder 3">
            <a:extLst>
              <a:ext uri="{FF2B5EF4-FFF2-40B4-BE49-F238E27FC236}">
                <a16:creationId xmlns:a16="http://schemas.microsoft.com/office/drawing/2014/main" id="{0A460588-8815-6FBD-1B12-2F75E928B8D4}"/>
              </a:ext>
            </a:extLst>
          </p:cNvPr>
          <p:cNvSpPr>
            <a:spLocks noGrp="1"/>
          </p:cNvSpPr>
          <p:nvPr>
            <p:ph sz="quarter" idx="1"/>
          </p:nvPr>
        </p:nvSpPr>
        <p:spPr/>
        <p:txBody>
          <a:bodyPr>
            <a:normAutofit/>
          </a:bodyPr>
          <a:lstStyle/>
          <a:p>
            <a:r>
              <a:rPr lang="en-US" dirty="0"/>
              <a:t>Word2Vec is a neural approach for generating word embeddings.</a:t>
            </a:r>
          </a:p>
          <a:p>
            <a:r>
              <a:rPr lang="en-US" dirty="0"/>
              <a:t>It belongs to the family of neural word embedding techniques and specifically falls under the category of distributed representation models.</a:t>
            </a:r>
          </a:p>
          <a:p>
            <a:r>
              <a:rPr lang="en-US" dirty="0"/>
              <a:t>It is a popular technique in natural language processing (NLP) that is used to represent words as continuous vector spaces.</a:t>
            </a:r>
          </a:p>
          <a:p>
            <a:r>
              <a:rPr lang="en-US" dirty="0"/>
              <a:t>Developed by a team at Google, Word2Vec aims to capture the semantic relationships between words by mapping them to high-dimensional vectors. </a:t>
            </a:r>
          </a:p>
          <a:p>
            <a:r>
              <a:rPr lang="en-US" dirty="0"/>
              <a:t>The underlying idea is that words with similar meanings should have similar vector representations.</a:t>
            </a:r>
          </a:p>
          <a:p>
            <a:r>
              <a:rPr lang="en-US" dirty="0"/>
              <a:t>In Word2Vec every word is assigned a vector.</a:t>
            </a:r>
          </a:p>
          <a:p>
            <a:r>
              <a:rPr lang="en-US" dirty="0"/>
              <a:t>We start with either a random vector or one-hot vector.</a:t>
            </a:r>
          </a:p>
        </p:txBody>
      </p:sp>
    </p:spTree>
    <p:extLst>
      <p:ext uri="{BB962C8B-B14F-4D97-AF65-F5344CB8AC3E}">
        <p14:creationId xmlns:p14="http://schemas.microsoft.com/office/powerpoint/2010/main" val="25300135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2BC429-48EF-0A54-6D97-A6BF27526844}"/>
              </a:ext>
            </a:extLst>
          </p:cNvPr>
          <p:cNvSpPr>
            <a:spLocks noGrp="1"/>
          </p:cNvSpPr>
          <p:nvPr>
            <p:ph type="title"/>
          </p:nvPr>
        </p:nvSpPr>
        <p:spPr/>
        <p:txBody>
          <a:bodyPr>
            <a:normAutofit/>
          </a:bodyPr>
          <a:lstStyle/>
          <a:p>
            <a:r>
              <a:rPr lang="en-US" sz="3200" dirty="0"/>
              <a:t>There are 2 neural embedding methods for Word2Vec</a:t>
            </a:r>
          </a:p>
        </p:txBody>
      </p:sp>
      <p:sp>
        <p:nvSpPr>
          <p:cNvPr id="2" name="Slide Number Placeholder 1">
            <a:extLst>
              <a:ext uri="{FF2B5EF4-FFF2-40B4-BE49-F238E27FC236}">
                <a16:creationId xmlns:a16="http://schemas.microsoft.com/office/drawing/2014/main" id="{24E64FA7-FECD-9150-73EE-59F011AAD6E5}"/>
              </a:ext>
            </a:extLst>
          </p:cNvPr>
          <p:cNvSpPr>
            <a:spLocks noGrp="1"/>
          </p:cNvSpPr>
          <p:nvPr>
            <p:ph type="sldNum" sz="quarter" idx="12"/>
          </p:nvPr>
        </p:nvSpPr>
        <p:spPr/>
        <p:txBody>
          <a:bodyPr>
            <a:normAutofit fontScale="85000" lnSpcReduction="20000"/>
          </a:bodyPr>
          <a:lstStyle/>
          <a:p>
            <a:fld id="{EBFB1032-EA64-7144-B003-9BCC9D94B503}" type="slidenum">
              <a:rPr lang="en-US" smtClean="0"/>
              <a:t>41</a:t>
            </a:fld>
            <a:endParaRPr lang="en-US" dirty="0"/>
          </a:p>
        </p:txBody>
      </p:sp>
      <p:sp>
        <p:nvSpPr>
          <p:cNvPr id="4" name="Content Placeholder 3">
            <a:extLst>
              <a:ext uri="{FF2B5EF4-FFF2-40B4-BE49-F238E27FC236}">
                <a16:creationId xmlns:a16="http://schemas.microsoft.com/office/drawing/2014/main" id="{4961742A-41B0-1789-99F4-B9851FB7E9E5}"/>
              </a:ext>
            </a:extLst>
          </p:cNvPr>
          <p:cNvSpPr>
            <a:spLocks noGrp="1"/>
          </p:cNvSpPr>
          <p:nvPr>
            <p:ph sz="quarter" idx="1"/>
          </p:nvPr>
        </p:nvSpPr>
        <p:spPr/>
        <p:txBody>
          <a:bodyPr/>
          <a:lstStyle/>
          <a:p>
            <a:r>
              <a:rPr lang="en-US" dirty="0"/>
              <a:t>Continuous Bag of Words (CBOW)</a:t>
            </a:r>
          </a:p>
          <a:p>
            <a:r>
              <a:rPr lang="en-US" dirty="0"/>
              <a:t>Skip-gram</a:t>
            </a:r>
          </a:p>
          <a:p>
            <a:endParaRPr lang="en-US" dirty="0"/>
          </a:p>
        </p:txBody>
      </p:sp>
    </p:spTree>
    <p:extLst>
      <p:ext uri="{BB962C8B-B14F-4D97-AF65-F5344CB8AC3E}">
        <p14:creationId xmlns:p14="http://schemas.microsoft.com/office/powerpoint/2010/main" val="41211501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1634-82FF-381C-3805-F2CE4EDB254A}"/>
              </a:ext>
            </a:extLst>
          </p:cNvPr>
          <p:cNvSpPr>
            <a:spLocks noGrp="1"/>
          </p:cNvSpPr>
          <p:nvPr>
            <p:ph type="title"/>
          </p:nvPr>
        </p:nvSpPr>
        <p:spPr/>
        <p:txBody>
          <a:bodyPr>
            <a:normAutofit/>
          </a:bodyPr>
          <a:lstStyle/>
          <a:p>
            <a:r>
              <a:rPr lang="en-US" dirty="0"/>
              <a:t>2.2. Continuous Bag of Words(CBOW)</a:t>
            </a:r>
          </a:p>
        </p:txBody>
      </p:sp>
      <p:sp>
        <p:nvSpPr>
          <p:cNvPr id="3" name="Slide Number Placeholder 2">
            <a:extLst>
              <a:ext uri="{FF2B5EF4-FFF2-40B4-BE49-F238E27FC236}">
                <a16:creationId xmlns:a16="http://schemas.microsoft.com/office/drawing/2014/main" id="{0DAA87EA-7835-BCBC-FA58-AA28522BFA0D}"/>
              </a:ext>
            </a:extLst>
          </p:cNvPr>
          <p:cNvSpPr>
            <a:spLocks noGrp="1"/>
          </p:cNvSpPr>
          <p:nvPr>
            <p:ph type="sldNum" sz="quarter" idx="12"/>
          </p:nvPr>
        </p:nvSpPr>
        <p:spPr/>
        <p:txBody>
          <a:bodyPr>
            <a:normAutofit fontScale="85000" lnSpcReduction="20000"/>
          </a:bodyPr>
          <a:lstStyle/>
          <a:p>
            <a:fld id="{EBFB1032-EA64-7144-B003-9BCC9D94B503}" type="slidenum">
              <a:rPr lang="en-US" smtClean="0"/>
              <a:t>42</a:t>
            </a:fld>
            <a:endParaRPr lang="en-US" dirty="0"/>
          </a:p>
        </p:txBody>
      </p:sp>
      <p:sp>
        <p:nvSpPr>
          <p:cNvPr id="4" name="Content Placeholder 3">
            <a:extLst>
              <a:ext uri="{FF2B5EF4-FFF2-40B4-BE49-F238E27FC236}">
                <a16:creationId xmlns:a16="http://schemas.microsoft.com/office/drawing/2014/main" id="{92ACA9FE-29D1-6891-384F-E694FF001A96}"/>
              </a:ext>
            </a:extLst>
          </p:cNvPr>
          <p:cNvSpPr>
            <a:spLocks noGrp="1"/>
          </p:cNvSpPr>
          <p:nvPr>
            <p:ph sz="quarter" idx="1"/>
          </p:nvPr>
        </p:nvSpPr>
        <p:spPr/>
        <p:txBody>
          <a:bodyPr/>
          <a:lstStyle/>
          <a:p>
            <a:r>
              <a:rPr lang="en-US" dirty="0"/>
              <a:t>Continuous Bag of Words (CBOW) is a type of neural network architecture used in the Word2Vec model.</a:t>
            </a:r>
          </a:p>
          <a:p>
            <a:endParaRPr lang="en-US" dirty="0"/>
          </a:p>
          <a:p>
            <a:r>
              <a:rPr lang="en-US" dirty="0"/>
              <a:t>The primary objective of CBOW is to predict a target word based on its context, which consists of the surrounding words in a given window.</a:t>
            </a:r>
          </a:p>
          <a:p>
            <a:endParaRPr lang="en-US" dirty="0"/>
          </a:p>
          <a:p>
            <a:r>
              <a:rPr lang="en-US" dirty="0"/>
              <a:t>Given a sequence of words in a context window, the model is trained to predict the target word at the center of the window.</a:t>
            </a:r>
          </a:p>
        </p:txBody>
      </p:sp>
    </p:spTree>
    <p:extLst>
      <p:ext uri="{BB962C8B-B14F-4D97-AF65-F5344CB8AC3E}">
        <p14:creationId xmlns:p14="http://schemas.microsoft.com/office/powerpoint/2010/main" val="41250023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035F2-7035-D7E9-D001-9AF48FC032A4}"/>
              </a:ext>
            </a:extLst>
          </p:cNvPr>
          <p:cNvSpPr>
            <a:spLocks noGrp="1"/>
          </p:cNvSpPr>
          <p:nvPr>
            <p:ph type="title"/>
          </p:nvPr>
        </p:nvSpPr>
        <p:spPr/>
        <p:txBody>
          <a:bodyPr>
            <a:noAutofit/>
          </a:bodyPr>
          <a:lstStyle/>
          <a:p>
            <a:r>
              <a:rPr lang="en-US" sz="2900" b="0" dirty="0"/>
              <a:t>CBOW is a feedforward neural network with a single hidden layer</a:t>
            </a:r>
          </a:p>
        </p:txBody>
      </p:sp>
      <p:sp>
        <p:nvSpPr>
          <p:cNvPr id="3" name="Slide Number Placeholder 2">
            <a:extLst>
              <a:ext uri="{FF2B5EF4-FFF2-40B4-BE49-F238E27FC236}">
                <a16:creationId xmlns:a16="http://schemas.microsoft.com/office/drawing/2014/main" id="{D01DA7A6-E3CE-25C3-E831-75B7FEB164F7}"/>
              </a:ext>
            </a:extLst>
          </p:cNvPr>
          <p:cNvSpPr>
            <a:spLocks noGrp="1"/>
          </p:cNvSpPr>
          <p:nvPr>
            <p:ph type="sldNum" sz="quarter" idx="12"/>
          </p:nvPr>
        </p:nvSpPr>
        <p:spPr/>
        <p:txBody>
          <a:bodyPr>
            <a:normAutofit fontScale="85000" lnSpcReduction="20000"/>
          </a:bodyPr>
          <a:lstStyle/>
          <a:p>
            <a:fld id="{EBFB1032-EA64-7144-B003-9BCC9D94B503}" type="slidenum">
              <a:rPr lang="en-US" smtClean="0"/>
              <a:t>43</a:t>
            </a:fld>
            <a:endParaRPr lang="en-US" dirty="0"/>
          </a:p>
        </p:txBody>
      </p:sp>
      <p:sp>
        <p:nvSpPr>
          <p:cNvPr id="4" name="Content Placeholder 3">
            <a:extLst>
              <a:ext uri="{FF2B5EF4-FFF2-40B4-BE49-F238E27FC236}">
                <a16:creationId xmlns:a16="http://schemas.microsoft.com/office/drawing/2014/main" id="{A0083F8C-7B09-04B1-91B4-9EA756DF06FA}"/>
              </a:ext>
            </a:extLst>
          </p:cNvPr>
          <p:cNvSpPr>
            <a:spLocks noGrp="1"/>
          </p:cNvSpPr>
          <p:nvPr>
            <p:ph sz="quarter" idx="1"/>
          </p:nvPr>
        </p:nvSpPr>
        <p:spPr/>
        <p:txBody>
          <a:bodyPr/>
          <a:lstStyle/>
          <a:p>
            <a:r>
              <a:rPr lang="en-US" dirty="0"/>
              <a:t>The input layer represents the context words, and the output layer represents the target word.</a:t>
            </a:r>
          </a:p>
          <a:p>
            <a:endParaRPr lang="en-US" dirty="0"/>
          </a:p>
          <a:p>
            <a:r>
              <a:rPr lang="en-US" dirty="0"/>
              <a:t>The hidden layer contains the learned continuous vector representations (word embeddings) of the input words.</a:t>
            </a:r>
          </a:p>
          <a:p>
            <a:endParaRPr lang="en-US" dirty="0"/>
          </a:p>
        </p:txBody>
      </p:sp>
    </p:spTree>
    <p:extLst>
      <p:ext uri="{BB962C8B-B14F-4D97-AF65-F5344CB8AC3E}">
        <p14:creationId xmlns:p14="http://schemas.microsoft.com/office/powerpoint/2010/main" val="219958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ECBBC7C-6724-D4E2-434F-3A9D24066630}"/>
              </a:ext>
            </a:extLst>
          </p:cNvPr>
          <p:cNvSpPr>
            <a:spLocks noGrp="1"/>
          </p:cNvSpPr>
          <p:nvPr>
            <p:ph type="sldNum" sz="quarter" idx="12"/>
          </p:nvPr>
        </p:nvSpPr>
        <p:spPr/>
        <p:txBody>
          <a:bodyPr/>
          <a:lstStyle/>
          <a:p>
            <a:fld id="{EBFB1032-EA64-7144-B003-9BCC9D94B503}" type="slidenum">
              <a:rPr lang="en-US" smtClean="0"/>
              <a:t>44</a:t>
            </a:fld>
            <a:endParaRPr lang="en-US" dirty="0"/>
          </a:p>
        </p:txBody>
      </p:sp>
      <p:pic>
        <p:nvPicPr>
          <p:cNvPr id="6" name="Picture 5">
            <a:extLst>
              <a:ext uri="{FF2B5EF4-FFF2-40B4-BE49-F238E27FC236}">
                <a16:creationId xmlns:a16="http://schemas.microsoft.com/office/drawing/2014/main" id="{27A63D78-6D7C-97DE-EE64-83A3690DD52F}"/>
              </a:ext>
            </a:extLst>
          </p:cNvPr>
          <p:cNvPicPr>
            <a:picLocks noChangeAspect="1"/>
          </p:cNvPicPr>
          <p:nvPr/>
        </p:nvPicPr>
        <p:blipFill>
          <a:blip r:embed="rId2"/>
          <a:stretch>
            <a:fillRect/>
          </a:stretch>
        </p:blipFill>
        <p:spPr>
          <a:xfrm>
            <a:off x="91440" y="925669"/>
            <a:ext cx="8961120" cy="5006661"/>
          </a:xfrm>
          <a:prstGeom prst="rect">
            <a:avLst/>
          </a:prstGeom>
          <a:ln>
            <a:solidFill>
              <a:schemeClr val="accent1"/>
            </a:solidFill>
          </a:ln>
        </p:spPr>
      </p:pic>
    </p:spTree>
    <p:extLst>
      <p:ext uri="{BB962C8B-B14F-4D97-AF65-F5344CB8AC3E}">
        <p14:creationId xmlns:p14="http://schemas.microsoft.com/office/powerpoint/2010/main" val="25210915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59023A-F4D9-525B-A667-F1BA607D01A0}"/>
              </a:ext>
            </a:extLst>
          </p:cNvPr>
          <p:cNvSpPr>
            <a:spLocks noGrp="1"/>
          </p:cNvSpPr>
          <p:nvPr>
            <p:ph type="title"/>
          </p:nvPr>
        </p:nvSpPr>
        <p:spPr/>
        <p:txBody>
          <a:bodyPr>
            <a:normAutofit/>
          </a:bodyPr>
          <a:lstStyle/>
          <a:p>
            <a:r>
              <a:rPr lang="en-US" dirty="0"/>
              <a:t>2.3. Skip-Gram</a:t>
            </a:r>
          </a:p>
        </p:txBody>
      </p:sp>
      <p:sp>
        <p:nvSpPr>
          <p:cNvPr id="2" name="Slide Number Placeholder 1">
            <a:extLst>
              <a:ext uri="{FF2B5EF4-FFF2-40B4-BE49-F238E27FC236}">
                <a16:creationId xmlns:a16="http://schemas.microsoft.com/office/drawing/2014/main" id="{DBC5390A-9976-15A3-BEBE-99BAAD14E347}"/>
              </a:ext>
            </a:extLst>
          </p:cNvPr>
          <p:cNvSpPr>
            <a:spLocks noGrp="1"/>
          </p:cNvSpPr>
          <p:nvPr>
            <p:ph type="sldNum" sz="quarter" idx="12"/>
          </p:nvPr>
        </p:nvSpPr>
        <p:spPr/>
        <p:txBody>
          <a:bodyPr>
            <a:normAutofit fontScale="85000" lnSpcReduction="20000"/>
          </a:bodyPr>
          <a:lstStyle/>
          <a:p>
            <a:fld id="{EBFB1032-EA64-7144-B003-9BCC9D94B503}" type="slidenum">
              <a:rPr lang="en-US" smtClean="0"/>
              <a:t>45</a:t>
            </a:fld>
            <a:endParaRPr lang="en-US" dirty="0"/>
          </a:p>
        </p:txBody>
      </p:sp>
      <p:sp>
        <p:nvSpPr>
          <p:cNvPr id="4" name="Content Placeholder 3">
            <a:extLst>
              <a:ext uri="{FF2B5EF4-FFF2-40B4-BE49-F238E27FC236}">
                <a16:creationId xmlns:a16="http://schemas.microsoft.com/office/drawing/2014/main" id="{0FC20979-3DD3-AFAD-135F-751471A17A7A}"/>
              </a:ext>
            </a:extLst>
          </p:cNvPr>
          <p:cNvSpPr>
            <a:spLocks noGrp="1"/>
          </p:cNvSpPr>
          <p:nvPr>
            <p:ph sz="quarter" idx="1"/>
          </p:nvPr>
        </p:nvSpPr>
        <p:spPr/>
        <p:txBody>
          <a:bodyPr/>
          <a:lstStyle/>
          <a:p>
            <a:r>
              <a:rPr lang="en-US" dirty="0"/>
              <a:t>The Skip-Gram model learns distributed representations of words in a continuous vector space.</a:t>
            </a:r>
          </a:p>
          <a:p>
            <a:endParaRPr lang="en-US" dirty="0"/>
          </a:p>
          <a:p>
            <a:r>
              <a:rPr lang="en-US" dirty="0"/>
              <a:t>The main objective of Skip-Gram is to predict context words (words surrounding a target word) given a target word.</a:t>
            </a:r>
          </a:p>
          <a:p>
            <a:endParaRPr lang="en-US" dirty="0"/>
          </a:p>
          <a:p>
            <a:r>
              <a:rPr lang="en-US" dirty="0"/>
              <a:t>This is the opposite of the Continuous Bag of Words (CBOW) model, where the objective is to predict the target word based on its context.</a:t>
            </a:r>
          </a:p>
          <a:p>
            <a:endParaRPr lang="en-US" dirty="0"/>
          </a:p>
          <a:p>
            <a:r>
              <a:rPr lang="en-US" dirty="0"/>
              <a:t>It is shown that this method produces more meaningful embeddings.</a:t>
            </a:r>
          </a:p>
        </p:txBody>
      </p:sp>
    </p:spTree>
    <p:extLst>
      <p:ext uri="{BB962C8B-B14F-4D97-AF65-F5344CB8AC3E}">
        <p14:creationId xmlns:p14="http://schemas.microsoft.com/office/powerpoint/2010/main" val="20367697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057C7C-9B61-2BC9-4CEE-9393C31B2AED}"/>
              </a:ext>
            </a:extLst>
          </p:cNvPr>
          <p:cNvSpPr>
            <a:spLocks noGrp="1"/>
          </p:cNvSpPr>
          <p:nvPr>
            <p:ph type="sldNum" sz="quarter" idx="12"/>
          </p:nvPr>
        </p:nvSpPr>
        <p:spPr/>
        <p:txBody>
          <a:bodyPr/>
          <a:lstStyle/>
          <a:p>
            <a:fld id="{EBFB1032-EA64-7144-B003-9BCC9D94B503}" type="slidenum">
              <a:rPr lang="en-US" smtClean="0"/>
              <a:t>46</a:t>
            </a:fld>
            <a:endParaRPr lang="en-US" dirty="0"/>
          </a:p>
        </p:txBody>
      </p:sp>
      <p:pic>
        <p:nvPicPr>
          <p:cNvPr id="6" name="Picture 5">
            <a:extLst>
              <a:ext uri="{FF2B5EF4-FFF2-40B4-BE49-F238E27FC236}">
                <a16:creationId xmlns:a16="http://schemas.microsoft.com/office/drawing/2014/main" id="{0B76DB5A-5E46-9933-1D79-531277DA1C59}"/>
              </a:ext>
            </a:extLst>
          </p:cNvPr>
          <p:cNvPicPr>
            <a:picLocks noChangeAspect="1"/>
          </p:cNvPicPr>
          <p:nvPr/>
        </p:nvPicPr>
        <p:blipFill>
          <a:blip r:embed="rId2"/>
          <a:stretch>
            <a:fillRect/>
          </a:stretch>
        </p:blipFill>
        <p:spPr>
          <a:xfrm>
            <a:off x="91440" y="1084312"/>
            <a:ext cx="8961120" cy="4689375"/>
          </a:xfrm>
          <a:prstGeom prst="rect">
            <a:avLst/>
          </a:prstGeom>
          <a:ln>
            <a:solidFill>
              <a:schemeClr val="accent1"/>
            </a:solidFill>
          </a:ln>
        </p:spPr>
      </p:pic>
    </p:spTree>
    <p:extLst>
      <p:ext uri="{BB962C8B-B14F-4D97-AF65-F5344CB8AC3E}">
        <p14:creationId xmlns:p14="http://schemas.microsoft.com/office/powerpoint/2010/main" val="42037783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58D691E-0414-D2F9-BF0C-F8064E0F3703}"/>
              </a:ext>
            </a:extLst>
          </p:cNvPr>
          <p:cNvSpPr>
            <a:spLocks noGrp="1"/>
          </p:cNvSpPr>
          <p:nvPr>
            <p:ph type="title"/>
          </p:nvPr>
        </p:nvSpPr>
        <p:spPr/>
        <p:txBody>
          <a:bodyPr/>
          <a:lstStyle/>
          <a:p>
            <a:r>
              <a:rPr lang="en-US" dirty="0"/>
              <a:t>CBOW or Skip-gram?</a:t>
            </a:r>
          </a:p>
        </p:txBody>
      </p:sp>
      <p:sp>
        <p:nvSpPr>
          <p:cNvPr id="2" name="Slide Number Placeholder 1">
            <a:extLst>
              <a:ext uri="{FF2B5EF4-FFF2-40B4-BE49-F238E27FC236}">
                <a16:creationId xmlns:a16="http://schemas.microsoft.com/office/drawing/2014/main" id="{1DAF0454-65D9-ADF1-191D-6FB44608B2BD}"/>
              </a:ext>
            </a:extLst>
          </p:cNvPr>
          <p:cNvSpPr>
            <a:spLocks noGrp="1"/>
          </p:cNvSpPr>
          <p:nvPr>
            <p:ph type="sldNum" sz="quarter" idx="12"/>
          </p:nvPr>
        </p:nvSpPr>
        <p:spPr/>
        <p:txBody>
          <a:bodyPr>
            <a:normAutofit fontScale="85000" lnSpcReduction="20000"/>
          </a:bodyPr>
          <a:lstStyle/>
          <a:p>
            <a:fld id="{EBFB1032-EA64-7144-B003-9BCC9D94B503}" type="slidenum">
              <a:rPr lang="en-US" smtClean="0"/>
              <a:t>47</a:t>
            </a:fld>
            <a:endParaRPr lang="en-US" dirty="0"/>
          </a:p>
        </p:txBody>
      </p:sp>
      <p:sp>
        <p:nvSpPr>
          <p:cNvPr id="4" name="Content Placeholder 3">
            <a:extLst>
              <a:ext uri="{FF2B5EF4-FFF2-40B4-BE49-F238E27FC236}">
                <a16:creationId xmlns:a16="http://schemas.microsoft.com/office/drawing/2014/main" id="{CA1F53A7-2A81-0DAB-24D7-A3CDB81E625A}"/>
              </a:ext>
            </a:extLst>
          </p:cNvPr>
          <p:cNvSpPr>
            <a:spLocks noGrp="1"/>
          </p:cNvSpPr>
          <p:nvPr>
            <p:ph sz="quarter" idx="1"/>
          </p:nvPr>
        </p:nvSpPr>
        <p:spPr/>
        <p:txBody>
          <a:bodyPr>
            <a:normAutofit/>
          </a:bodyPr>
          <a:lstStyle/>
          <a:p>
            <a:r>
              <a:rPr lang="en-US" sz="2300" dirty="0"/>
              <a:t>In practice, the choice between CBOW and Skip-gram often depends on the specific characteristics of the data and the task at hand.</a:t>
            </a:r>
          </a:p>
          <a:p>
            <a:endParaRPr lang="en-US" sz="2300" dirty="0"/>
          </a:p>
          <a:p>
            <a:r>
              <a:rPr lang="en-US" sz="2300" dirty="0"/>
              <a:t>CBOW might be preferred when training resources are limited, and capturing syntactic information is important.</a:t>
            </a:r>
          </a:p>
          <a:p>
            <a:endParaRPr lang="en-US" sz="2300" dirty="0"/>
          </a:p>
          <a:p>
            <a:r>
              <a:rPr lang="en-US" sz="2300" dirty="0"/>
              <a:t>Skip-gram, on the other hand, might be chosen when semantic relationships and the representation of rare words are crucial.</a:t>
            </a:r>
          </a:p>
        </p:txBody>
      </p:sp>
    </p:spTree>
    <p:extLst>
      <p:ext uri="{BB962C8B-B14F-4D97-AF65-F5344CB8AC3E}">
        <p14:creationId xmlns:p14="http://schemas.microsoft.com/office/powerpoint/2010/main" val="36521992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9C050-29A5-6C65-E33C-DC49542C7908}"/>
              </a:ext>
            </a:extLst>
          </p:cNvPr>
          <p:cNvSpPr>
            <a:spLocks noGrp="1"/>
          </p:cNvSpPr>
          <p:nvPr>
            <p:ph type="title"/>
          </p:nvPr>
        </p:nvSpPr>
        <p:spPr/>
        <p:txBody>
          <a:bodyPr>
            <a:normAutofit/>
          </a:bodyPr>
          <a:lstStyle/>
          <a:p>
            <a:r>
              <a:rPr lang="en-US" dirty="0"/>
              <a:t>Pretrained Word-Embedding</a:t>
            </a:r>
          </a:p>
        </p:txBody>
      </p:sp>
      <p:sp>
        <p:nvSpPr>
          <p:cNvPr id="3" name="Slide Number Placeholder 2">
            <a:extLst>
              <a:ext uri="{FF2B5EF4-FFF2-40B4-BE49-F238E27FC236}">
                <a16:creationId xmlns:a16="http://schemas.microsoft.com/office/drawing/2014/main" id="{CB1C0455-6360-5875-DB52-8826DFC7DC4A}"/>
              </a:ext>
            </a:extLst>
          </p:cNvPr>
          <p:cNvSpPr>
            <a:spLocks noGrp="1"/>
          </p:cNvSpPr>
          <p:nvPr>
            <p:ph type="sldNum" sz="quarter" idx="12"/>
          </p:nvPr>
        </p:nvSpPr>
        <p:spPr/>
        <p:txBody>
          <a:bodyPr>
            <a:normAutofit fontScale="85000" lnSpcReduction="20000"/>
          </a:bodyPr>
          <a:lstStyle/>
          <a:p>
            <a:fld id="{EBFB1032-EA64-7144-B003-9BCC9D94B503}" type="slidenum">
              <a:rPr lang="en-US" smtClean="0"/>
              <a:t>48</a:t>
            </a:fld>
            <a:endParaRPr lang="en-US" dirty="0"/>
          </a:p>
        </p:txBody>
      </p:sp>
      <p:sp>
        <p:nvSpPr>
          <p:cNvPr id="4" name="Content Placeholder 3">
            <a:extLst>
              <a:ext uri="{FF2B5EF4-FFF2-40B4-BE49-F238E27FC236}">
                <a16:creationId xmlns:a16="http://schemas.microsoft.com/office/drawing/2014/main" id="{121D23E8-A976-C1CB-E4E0-D75ACDBFCB8D}"/>
              </a:ext>
            </a:extLst>
          </p:cNvPr>
          <p:cNvSpPr>
            <a:spLocks noGrp="1"/>
          </p:cNvSpPr>
          <p:nvPr>
            <p:ph sz="quarter" idx="1"/>
          </p:nvPr>
        </p:nvSpPr>
        <p:spPr/>
        <p:txBody>
          <a:bodyPr/>
          <a:lstStyle/>
          <a:p>
            <a:r>
              <a:rPr lang="en-US" dirty="0"/>
              <a:t>Pre-trained word embeddings are representations of words that are learned from large corpora and are made available for reuse in various natural language processing (NLP) tasks.</a:t>
            </a:r>
          </a:p>
          <a:p>
            <a:r>
              <a:rPr lang="en-US" dirty="0"/>
              <a:t>These embeddings capture semantic relationships between words, allowing the model to understand similarities and relationships between different words in a meaningful way.</a:t>
            </a:r>
          </a:p>
          <a:p>
            <a:pPr marL="0" indent="0">
              <a:buNone/>
            </a:pPr>
            <a:endParaRPr lang="en-US" dirty="0"/>
          </a:p>
          <a:p>
            <a:pPr marL="457200" indent="-457200">
              <a:buFont typeface="+mj-lt"/>
              <a:buAutoNum type="arabicParenR"/>
            </a:pPr>
            <a:r>
              <a:rPr lang="en-US" dirty="0" err="1"/>
              <a:t>GloVe</a:t>
            </a:r>
            <a:endParaRPr lang="en-US" dirty="0"/>
          </a:p>
          <a:p>
            <a:pPr marL="457200" indent="-457200">
              <a:buFont typeface="+mj-lt"/>
              <a:buAutoNum type="arabicParenR"/>
            </a:pPr>
            <a:r>
              <a:rPr lang="en-US" dirty="0" err="1"/>
              <a:t>Fasttext</a:t>
            </a:r>
            <a:endParaRPr lang="en-US" dirty="0"/>
          </a:p>
          <a:p>
            <a:pPr marL="457200" indent="-457200">
              <a:buFont typeface="+mj-lt"/>
              <a:buAutoNum type="arabicParenR"/>
            </a:pPr>
            <a:r>
              <a:rPr lang="en-US" dirty="0"/>
              <a:t>BERT (Bidirectional Encoder Representations from Transformers)</a:t>
            </a:r>
          </a:p>
          <a:p>
            <a:pPr marL="457200" indent="-457200">
              <a:buFont typeface="+mj-lt"/>
              <a:buAutoNum type="arabicParenR"/>
            </a:pPr>
            <a:endParaRPr lang="en-US" dirty="0"/>
          </a:p>
          <a:p>
            <a:endParaRPr lang="en-US" dirty="0"/>
          </a:p>
        </p:txBody>
      </p:sp>
    </p:spTree>
    <p:extLst>
      <p:ext uri="{BB962C8B-B14F-4D97-AF65-F5344CB8AC3E}">
        <p14:creationId xmlns:p14="http://schemas.microsoft.com/office/powerpoint/2010/main" val="7292387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55A47-F92A-E1D8-22CE-834AF91009F8}"/>
              </a:ext>
            </a:extLst>
          </p:cNvPr>
          <p:cNvSpPr>
            <a:spLocks noGrp="1"/>
          </p:cNvSpPr>
          <p:nvPr>
            <p:ph type="title"/>
          </p:nvPr>
        </p:nvSpPr>
        <p:spPr/>
        <p:txBody>
          <a:bodyPr>
            <a:normAutofit/>
          </a:bodyPr>
          <a:lstStyle/>
          <a:p>
            <a:r>
              <a:rPr lang="en-US" dirty="0"/>
              <a:t>3.1. </a:t>
            </a:r>
            <a:r>
              <a:rPr lang="en-US" dirty="0" err="1"/>
              <a:t>GloVe</a:t>
            </a:r>
            <a:endParaRPr lang="en-US" dirty="0"/>
          </a:p>
        </p:txBody>
      </p:sp>
      <p:sp>
        <p:nvSpPr>
          <p:cNvPr id="3" name="Slide Number Placeholder 2">
            <a:extLst>
              <a:ext uri="{FF2B5EF4-FFF2-40B4-BE49-F238E27FC236}">
                <a16:creationId xmlns:a16="http://schemas.microsoft.com/office/drawing/2014/main" id="{9BB95B5B-1FC7-8A60-A96A-C205E7262483}"/>
              </a:ext>
            </a:extLst>
          </p:cNvPr>
          <p:cNvSpPr>
            <a:spLocks noGrp="1"/>
          </p:cNvSpPr>
          <p:nvPr>
            <p:ph type="sldNum" sz="quarter" idx="12"/>
          </p:nvPr>
        </p:nvSpPr>
        <p:spPr/>
        <p:txBody>
          <a:bodyPr>
            <a:normAutofit fontScale="85000" lnSpcReduction="20000"/>
          </a:bodyPr>
          <a:lstStyle/>
          <a:p>
            <a:fld id="{EBFB1032-EA64-7144-B003-9BCC9D94B503}" type="slidenum">
              <a:rPr lang="en-US" smtClean="0"/>
              <a:t>49</a:t>
            </a:fld>
            <a:endParaRPr lang="en-US" dirty="0"/>
          </a:p>
        </p:txBody>
      </p:sp>
      <p:sp>
        <p:nvSpPr>
          <p:cNvPr id="4" name="Content Placeholder 3">
            <a:extLst>
              <a:ext uri="{FF2B5EF4-FFF2-40B4-BE49-F238E27FC236}">
                <a16:creationId xmlns:a16="http://schemas.microsoft.com/office/drawing/2014/main" id="{D5F997BE-19A4-1762-886B-65EA84718F7A}"/>
              </a:ext>
            </a:extLst>
          </p:cNvPr>
          <p:cNvSpPr>
            <a:spLocks noGrp="1"/>
          </p:cNvSpPr>
          <p:nvPr>
            <p:ph sz="quarter" idx="1"/>
          </p:nvPr>
        </p:nvSpPr>
        <p:spPr/>
        <p:txBody>
          <a:bodyPr>
            <a:normAutofit/>
          </a:bodyPr>
          <a:lstStyle/>
          <a:p>
            <a:pPr>
              <a:spcBef>
                <a:spcPts val="0"/>
              </a:spcBef>
            </a:pPr>
            <a:r>
              <a:rPr lang="en-US" dirty="0" err="1"/>
              <a:t>GloVe</a:t>
            </a:r>
            <a:r>
              <a:rPr lang="en-US" dirty="0"/>
              <a:t> is trained on global word co-occurrence statistics.</a:t>
            </a:r>
          </a:p>
          <a:p>
            <a:pPr>
              <a:spcBef>
                <a:spcPts val="0"/>
              </a:spcBef>
            </a:pPr>
            <a:endParaRPr lang="en-US" dirty="0"/>
          </a:p>
          <a:p>
            <a:pPr>
              <a:spcBef>
                <a:spcPts val="0"/>
              </a:spcBef>
            </a:pPr>
            <a:r>
              <a:rPr lang="en-US" dirty="0"/>
              <a:t>It leverages the global context to create word embeddings that reflect the overall meaning of words based on their co-occurrence probabilities.</a:t>
            </a:r>
          </a:p>
          <a:p>
            <a:pPr>
              <a:spcBef>
                <a:spcPts val="0"/>
              </a:spcBef>
            </a:pPr>
            <a:endParaRPr lang="en-US" dirty="0"/>
          </a:p>
          <a:p>
            <a:pPr>
              <a:spcBef>
                <a:spcPts val="0"/>
              </a:spcBef>
            </a:pPr>
            <a:r>
              <a:rPr lang="en-US" dirty="0"/>
              <a:t>This method, we take the corpus and iterate through it and get the co-occurrence of each word with other words in the corpus.</a:t>
            </a:r>
          </a:p>
          <a:p>
            <a:pPr>
              <a:spcBef>
                <a:spcPts val="0"/>
              </a:spcBef>
            </a:pPr>
            <a:endParaRPr lang="en-US" dirty="0"/>
          </a:p>
          <a:p>
            <a:pPr>
              <a:spcBef>
                <a:spcPts val="0"/>
              </a:spcBef>
            </a:pPr>
            <a:r>
              <a:rPr lang="en-US" dirty="0"/>
              <a:t>We get a co-occurrence matrix through this.</a:t>
            </a:r>
          </a:p>
          <a:p>
            <a:pPr>
              <a:spcBef>
                <a:spcPts val="0"/>
              </a:spcBef>
            </a:pPr>
            <a:endParaRPr lang="en-US" dirty="0"/>
          </a:p>
          <a:p>
            <a:pPr>
              <a:spcBef>
                <a:spcPts val="0"/>
              </a:spcBef>
            </a:pPr>
            <a:r>
              <a:rPr lang="en-US" dirty="0"/>
              <a:t>The words which occur next to each other get a value of 1, if they are one word apart then 1/2, if two words apart then 1/3 and so on.</a:t>
            </a:r>
          </a:p>
        </p:txBody>
      </p:sp>
    </p:spTree>
    <p:extLst>
      <p:ext uri="{BB962C8B-B14F-4D97-AF65-F5344CB8AC3E}">
        <p14:creationId xmlns:p14="http://schemas.microsoft.com/office/powerpoint/2010/main" val="33866135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A071C-748E-F6FB-FF6C-23D3CB418C16}"/>
              </a:ext>
            </a:extLst>
          </p:cNvPr>
          <p:cNvSpPr>
            <a:spLocks noGrp="1"/>
          </p:cNvSpPr>
          <p:nvPr>
            <p:ph type="title"/>
          </p:nvPr>
        </p:nvSpPr>
        <p:spPr/>
        <p:txBody>
          <a:bodyPr/>
          <a:lstStyle/>
          <a:p>
            <a:r>
              <a:rPr lang="en-US" dirty="0"/>
              <a:t>Example:</a:t>
            </a:r>
          </a:p>
        </p:txBody>
      </p:sp>
      <p:sp>
        <p:nvSpPr>
          <p:cNvPr id="3" name="Slide Number Placeholder 2">
            <a:extLst>
              <a:ext uri="{FF2B5EF4-FFF2-40B4-BE49-F238E27FC236}">
                <a16:creationId xmlns:a16="http://schemas.microsoft.com/office/drawing/2014/main" id="{3BCC6BF5-00E8-E90C-FBBD-CCA8F0B4EE92}"/>
              </a:ext>
            </a:extLst>
          </p:cNvPr>
          <p:cNvSpPr>
            <a:spLocks noGrp="1"/>
          </p:cNvSpPr>
          <p:nvPr>
            <p:ph type="sldNum" sz="quarter" idx="12"/>
          </p:nvPr>
        </p:nvSpPr>
        <p:spPr/>
        <p:txBody>
          <a:bodyPr>
            <a:normAutofit fontScale="85000" lnSpcReduction="20000"/>
          </a:bodyPr>
          <a:lstStyle/>
          <a:p>
            <a:fld id="{EBFB1032-EA64-7144-B003-9BCC9D94B503}" type="slidenum">
              <a:rPr lang="en-US" smtClean="0"/>
              <a:t>50</a:t>
            </a:fld>
            <a:endParaRPr lang="en-US" dirty="0"/>
          </a:p>
        </p:txBody>
      </p:sp>
      <p:sp>
        <p:nvSpPr>
          <p:cNvPr id="4" name="Content Placeholder 3">
            <a:extLst>
              <a:ext uri="{FF2B5EF4-FFF2-40B4-BE49-F238E27FC236}">
                <a16:creationId xmlns:a16="http://schemas.microsoft.com/office/drawing/2014/main" id="{0ED4E849-FDE1-5D4A-9197-10A764867D23}"/>
              </a:ext>
            </a:extLst>
          </p:cNvPr>
          <p:cNvSpPr>
            <a:spLocks noGrp="1"/>
          </p:cNvSpPr>
          <p:nvPr>
            <p:ph sz="quarter" idx="1"/>
          </p:nvPr>
        </p:nvSpPr>
        <p:spPr/>
        <p:txBody>
          <a:bodyPr/>
          <a:lstStyle/>
          <a:p>
            <a:r>
              <a:rPr lang="en-US" dirty="0"/>
              <a:t>Let us take an example to understand how the matrix is created.</a:t>
            </a:r>
          </a:p>
          <a:p>
            <a:endParaRPr lang="en-US" dirty="0"/>
          </a:p>
          <a:p>
            <a:r>
              <a:rPr lang="en-US" dirty="0"/>
              <a:t>We have a small corpus:</a:t>
            </a:r>
          </a:p>
          <a:p>
            <a:pPr marL="594360" lvl="2" indent="0">
              <a:buNone/>
            </a:pPr>
            <a:r>
              <a:rPr lang="en-US" b="1" dirty="0">
                <a:solidFill>
                  <a:srgbClr val="0070C0"/>
                </a:solidFill>
                <a:latin typeface="Courier New" panose="02070309020205020404" pitchFamily="49" charset="0"/>
                <a:cs typeface="Courier New" panose="02070309020205020404" pitchFamily="49" charset="0"/>
              </a:rPr>
              <a:t>Corpus:</a:t>
            </a:r>
          </a:p>
          <a:p>
            <a:pPr marL="1051560" lvl="3" indent="0">
              <a:buNone/>
            </a:pPr>
            <a:r>
              <a:rPr lang="en-US" b="1" dirty="0">
                <a:solidFill>
                  <a:srgbClr val="0070C0"/>
                </a:solidFill>
                <a:latin typeface="Courier New" panose="02070309020205020404" pitchFamily="49" charset="0"/>
                <a:cs typeface="Courier New" panose="02070309020205020404" pitchFamily="49" charset="0"/>
              </a:rPr>
              <a:t>It is a nice evening.</a:t>
            </a:r>
          </a:p>
          <a:p>
            <a:pPr marL="1051560" lvl="3" indent="0">
              <a:buNone/>
            </a:pPr>
            <a:r>
              <a:rPr lang="en-US" b="1" dirty="0">
                <a:solidFill>
                  <a:srgbClr val="0070C0"/>
                </a:solidFill>
                <a:latin typeface="Courier New" panose="02070309020205020404" pitchFamily="49" charset="0"/>
                <a:cs typeface="Courier New" panose="02070309020205020404" pitchFamily="49" charset="0"/>
              </a:rPr>
              <a:t>Good Evening!</a:t>
            </a:r>
          </a:p>
          <a:p>
            <a:pPr marL="1051560" lvl="3" indent="0">
              <a:buNone/>
            </a:pPr>
            <a:r>
              <a:rPr lang="en-US" b="1" dirty="0">
                <a:solidFill>
                  <a:srgbClr val="0070C0"/>
                </a:solidFill>
                <a:latin typeface="Courier New" panose="02070309020205020404" pitchFamily="49" charset="0"/>
                <a:cs typeface="Courier New" panose="02070309020205020404" pitchFamily="49" charset="0"/>
              </a:rPr>
              <a:t>Is it a nice evening?</a:t>
            </a:r>
          </a:p>
        </p:txBody>
      </p:sp>
    </p:spTree>
    <p:extLst>
      <p:ext uri="{BB962C8B-B14F-4D97-AF65-F5344CB8AC3E}">
        <p14:creationId xmlns:p14="http://schemas.microsoft.com/office/powerpoint/2010/main" val="39979617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283B37E-E747-C62C-C711-2132ADAA06D7}"/>
              </a:ext>
            </a:extLst>
          </p:cNvPr>
          <p:cNvSpPr>
            <a:spLocks noGrp="1"/>
          </p:cNvSpPr>
          <p:nvPr>
            <p:ph type="sldNum" sz="quarter" idx="12"/>
          </p:nvPr>
        </p:nvSpPr>
        <p:spPr/>
        <p:txBody>
          <a:bodyPr/>
          <a:lstStyle/>
          <a:p>
            <a:fld id="{EBFB1032-EA64-7144-B003-9BCC9D94B503}" type="slidenum">
              <a:rPr lang="en-US" smtClean="0"/>
              <a:t>51</a:t>
            </a:fld>
            <a:endParaRPr lang="en-US" dirty="0"/>
          </a:p>
        </p:txBody>
      </p:sp>
      <p:pic>
        <p:nvPicPr>
          <p:cNvPr id="6" name="Picture 5">
            <a:extLst>
              <a:ext uri="{FF2B5EF4-FFF2-40B4-BE49-F238E27FC236}">
                <a16:creationId xmlns:a16="http://schemas.microsoft.com/office/drawing/2014/main" id="{7834CF0F-948B-5BB6-427D-FEA09267C3DC}"/>
              </a:ext>
            </a:extLst>
          </p:cNvPr>
          <p:cNvPicPr>
            <a:picLocks noChangeAspect="1"/>
          </p:cNvPicPr>
          <p:nvPr/>
        </p:nvPicPr>
        <p:blipFill>
          <a:blip r:embed="rId2"/>
          <a:stretch>
            <a:fillRect/>
          </a:stretch>
        </p:blipFill>
        <p:spPr>
          <a:xfrm>
            <a:off x="91440" y="374414"/>
            <a:ext cx="8961120" cy="6109172"/>
          </a:xfrm>
          <a:prstGeom prst="rect">
            <a:avLst/>
          </a:prstGeom>
        </p:spPr>
      </p:pic>
    </p:spTree>
    <p:extLst>
      <p:ext uri="{BB962C8B-B14F-4D97-AF65-F5344CB8AC3E}">
        <p14:creationId xmlns:p14="http://schemas.microsoft.com/office/powerpoint/2010/main" val="17123471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132245-325B-0BF6-3D80-0A5C3EEA65BD}"/>
              </a:ext>
            </a:extLst>
          </p:cNvPr>
          <p:cNvSpPr>
            <a:spLocks noGrp="1"/>
          </p:cNvSpPr>
          <p:nvPr>
            <p:ph type="title"/>
          </p:nvPr>
        </p:nvSpPr>
        <p:spPr/>
        <p:txBody>
          <a:bodyPr>
            <a:normAutofit fontScale="90000"/>
          </a:bodyPr>
          <a:lstStyle/>
          <a:p>
            <a:r>
              <a:rPr lang="en-US" b="0" dirty="0"/>
              <a:t>Initially, the vectors for each word is assigned randomly</a:t>
            </a:r>
          </a:p>
        </p:txBody>
      </p:sp>
      <p:sp>
        <p:nvSpPr>
          <p:cNvPr id="2" name="Slide Number Placeholder 1">
            <a:extLst>
              <a:ext uri="{FF2B5EF4-FFF2-40B4-BE49-F238E27FC236}">
                <a16:creationId xmlns:a16="http://schemas.microsoft.com/office/drawing/2014/main" id="{D5AF2C6C-A76B-827B-1383-4E534F8AA25A}"/>
              </a:ext>
            </a:extLst>
          </p:cNvPr>
          <p:cNvSpPr>
            <a:spLocks noGrp="1"/>
          </p:cNvSpPr>
          <p:nvPr>
            <p:ph type="sldNum" sz="quarter" idx="12"/>
          </p:nvPr>
        </p:nvSpPr>
        <p:spPr/>
        <p:txBody>
          <a:bodyPr>
            <a:normAutofit fontScale="85000" lnSpcReduction="20000"/>
          </a:bodyPr>
          <a:lstStyle/>
          <a:p>
            <a:fld id="{EBFB1032-EA64-7144-B003-9BCC9D94B503}" type="slidenum">
              <a:rPr lang="en-US" smtClean="0"/>
              <a:t>52</a:t>
            </a:fld>
            <a:endParaRPr lang="en-US" dirty="0"/>
          </a:p>
        </p:txBody>
      </p:sp>
      <p:sp>
        <p:nvSpPr>
          <p:cNvPr id="4" name="Content Placeholder 3">
            <a:extLst>
              <a:ext uri="{FF2B5EF4-FFF2-40B4-BE49-F238E27FC236}">
                <a16:creationId xmlns:a16="http://schemas.microsoft.com/office/drawing/2014/main" id="{94E3EE81-BBD4-D279-29FF-4765ED38FCF2}"/>
              </a:ext>
            </a:extLst>
          </p:cNvPr>
          <p:cNvSpPr>
            <a:spLocks noGrp="1"/>
          </p:cNvSpPr>
          <p:nvPr>
            <p:ph sz="quarter" idx="1"/>
          </p:nvPr>
        </p:nvSpPr>
        <p:spPr/>
        <p:txBody>
          <a:bodyPr>
            <a:normAutofit/>
          </a:bodyPr>
          <a:lstStyle/>
          <a:p>
            <a:r>
              <a:rPr lang="en-US" sz="2300" dirty="0"/>
              <a:t>Then we take two pairs of vectors and see how close they are to each other in space.</a:t>
            </a:r>
          </a:p>
          <a:p>
            <a:endParaRPr lang="en-US" sz="2300" dirty="0"/>
          </a:p>
          <a:p>
            <a:r>
              <a:rPr lang="en-US" sz="2300" dirty="0"/>
              <a:t>If they occur together more often or have a higher value in the co-occurrence matrix and are far apart in space then they are brought close to each other.</a:t>
            </a:r>
          </a:p>
          <a:p>
            <a:endParaRPr lang="en-US" sz="2300" dirty="0"/>
          </a:p>
          <a:p>
            <a:r>
              <a:rPr lang="en-US" sz="2300" dirty="0"/>
              <a:t>If they are close to each other but are rarely or not frequently used together then they are moved further apart in space.</a:t>
            </a:r>
          </a:p>
        </p:txBody>
      </p:sp>
    </p:spTree>
    <p:extLst>
      <p:ext uri="{BB962C8B-B14F-4D97-AF65-F5344CB8AC3E}">
        <p14:creationId xmlns:p14="http://schemas.microsoft.com/office/powerpoint/2010/main" val="17174627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199B4-FCD5-A033-EA63-16E936BE2666}"/>
              </a:ext>
            </a:extLst>
          </p:cNvPr>
          <p:cNvSpPr>
            <a:spLocks noGrp="1"/>
          </p:cNvSpPr>
          <p:nvPr>
            <p:ph type="title"/>
          </p:nvPr>
        </p:nvSpPr>
        <p:spPr/>
        <p:txBody>
          <a:bodyPr/>
          <a:lstStyle/>
          <a:p>
            <a:r>
              <a:rPr lang="en-US" dirty="0"/>
              <a:t>Vector Space</a:t>
            </a:r>
          </a:p>
        </p:txBody>
      </p:sp>
      <p:sp>
        <p:nvSpPr>
          <p:cNvPr id="3" name="Slide Number Placeholder 2">
            <a:extLst>
              <a:ext uri="{FF2B5EF4-FFF2-40B4-BE49-F238E27FC236}">
                <a16:creationId xmlns:a16="http://schemas.microsoft.com/office/drawing/2014/main" id="{78D8A614-25DF-BA9F-D008-6A40C2351766}"/>
              </a:ext>
            </a:extLst>
          </p:cNvPr>
          <p:cNvSpPr>
            <a:spLocks noGrp="1"/>
          </p:cNvSpPr>
          <p:nvPr>
            <p:ph type="sldNum" sz="quarter" idx="12"/>
          </p:nvPr>
        </p:nvSpPr>
        <p:spPr/>
        <p:txBody>
          <a:bodyPr>
            <a:normAutofit fontScale="85000" lnSpcReduction="20000"/>
          </a:bodyPr>
          <a:lstStyle/>
          <a:p>
            <a:fld id="{EBFB1032-EA64-7144-B003-9BCC9D94B503}" type="slidenum">
              <a:rPr lang="en-US" smtClean="0"/>
              <a:t>53</a:t>
            </a:fld>
            <a:endParaRPr lang="en-US" dirty="0"/>
          </a:p>
        </p:txBody>
      </p:sp>
      <p:sp>
        <p:nvSpPr>
          <p:cNvPr id="4" name="Content Placeholder 3">
            <a:extLst>
              <a:ext uri="{FF2B5EF4-FFF2-40B4-BE49-F238E27FC236}">
                <a16:creationId xmlns:a16="http://schemas.microsoft.com/office/drawing/2014/main" id="{8F94FB72-5CC7-408B-FFB6-F5D707CFBC72}"/>
              </a:ext>
            </a:extLst>
          </p:cNvPr>
          <p:cNvSpPr>
            <a:spLocks noGrp="1"/>
          </p:cNvSpPr>
          <p:nvPr>
            <p:ph sz="quarter" idx="1"/>
          </p:nvPr>
        </p:nvSpPr>
        <p:spPr/>
        <p:txBody>
          <a:bodyPr/>
          <a:lstStyle/>
          <a:p>
            <a:r>
              <a:rPr lang="en-US" dirty="0"/>
              <a:t>After many iterations of the above process, we’ll get a vector space representation that approximates the information from the co-occurrence matrix.</a:t>
            </a:r>
          </a:p>
          <a:p>
            <a:endParaRPr lang="en-US" dirty="0"/>
          </a:p>
          <a:p>
            <a:r>
              <a:rPr lang="en-US" dirty="0"/>
              <a:t>The performance of </a:t>
            </a:r>
            <a:r>
              <a:rPr lang="en-US" dirty="0" err="1"/>
              <a:t>GloVe</a:t>
            </a:r>
            <a:r>
              <a:rPr lang="en-US" dirty="0"/>
              <a:t> is better than Word2Vec in terms of both semantic and syntactic capturing.</a:t>
            </a:r>
          </a:p>
          <a:p>
            <a:endParaRPr lang="en-US" dirty="0"/>
          </a:p>
        </p:txBody>
      </p:sp>
    </p:spTree>
    <p:extLst>
      <p:ext uri="{BB962C8B-B14F-4D97-AF65-F5344CB8AC3E}">
        <p14:creationId xmlns:p14="http://schemas.microsoft.com/office/powerpoint/2010/main" val="19364029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4B597-4722-177C-8364-44EEF9A1E223}"/>
              </a:ext>
            </a:extLst>
          </p:cNvPr>
          <p:cNvSpPr>
            <a:spLocks noGrp="1"/>
          </p:cNvSpPr>
          <p:nvPr>
            <p:ph type="title"/>
          </p:nvPr>
        </p:nvSpPr>
        <p:spPr/>
        <p:txBody>
          <a:bodyPr>
            <a:normAutofit/>
          </a:bodyPr>
          <a:lstStyle/>
          <a:p>
            <a:r>
              <a:rPr lang="en-US" dirty="0"/>
              <a:t>Output:</a:t>
            </a:r>
          </a:p>
        </p:txBody>
      </p:sp>
      <p:sp>
        <p:nvSpPr>
          <p:cNvPr id="3" name="Slide Number Placeholder 2">
            <a:extLst>
              <a:ext uri="{FF2B5EF4-FFF2-40B4-BE49-F238E27FC236}">
                <a16:creationId xmlns:a16="http://schemas.microsoft.com/office/drawing/2014/main" id="{477A9B32-29DC-5BE6-9CA4-45738866CE6D}"/>
              </a:ext>
            </a:extLst>
          </p:cNvPr>
          <p:cNvSpPr>
            <a:spLocks noGrp="1"/>
          </p:cNvSpPr>
          <p:nvPr>
            <p:ph type="sldNum" sz="quarter" idx="12"/>
          </p:nvPr>
        </p:nvSpPr>
        <p:spPr/>
        <p:txBody>
          <a:bodyPr>
            <a:normAutofit fontScale="85000" lnSpcReduction="20000"/>
          </a:bodyPr>
          <a:lstStyle/>
          <a:p>
            <a:fld id="{EBFB1032-EA64-7144-B003-9BCC9D94B503}" type="slidenum">
              <a:rPr lang="en-US" smtClean="0"/>
              <a:t>54</a:t>
            </a:fld>
            <a:endParaRPr lang="en-US" dirty="0"/>
          </a:p>
        </p:txBody>
      </p:sp>
      <p:sp>
        <p:nvSpPr>
          <p:cNvPr id="4" name="Content Placeholder 3">
            <a:extLst>
              <a:ext uri="{FF2B5EF4-FFF2-40B4-BE49-F238E27FC236}">
                <a16:creationId xmlns:a16="http://schemas.microsoft.com/office/drawing/2014/main" id="{B748B7BD-3BD7-1BDD-EC78-69AD9855FB9C}"/>
              </a:ext>
            </a:extLst>
          </p:cNvPr>
          <p:cNvSpPr>
            <a:spLocks noGrp="1"/>
          </p:cNvSpPr>
          <p:nvPr>
            <p:ph sz="quarter" idx="1"/>
          </p:nvPr>
        </p:nvSpPr>
        <p:spPr/>
        <p:txBody>
          <a:bodyPr>
            <a:normAutofit/>
          </a:bodyPr>
          <a:lstStyle/>
          <a:p>
            <a:pPr marL="0" indent="0">
              <a:buNone/>
            </a:pPr>
            <a:r>
              <a:rPr lang="en-US" sz="1900" dirty="0">
                <a:solidFill>
                  <a:srgbClr val="0070C0"/>
                </a:solidFill>
                <a:latin typeface="Courier New" panose="02070309020205020404" pitchFamily="49" charset="0"/>
                <a:cs typeface="Courier New" panose="02070309020205020404" pitchFamily="49" charset="0"/>
              </a:rPr>
              <a:t>Similarity between 'learn' and 'learning' using </a:t>
            </a:r>
            <a:r>
              <a:rPr lang="en-US" sz="1900" dirty="0" err="1">
                <a:solidFill>
                  <a:srgbClr val="0070C0"/>
                </a:solidFill>
                <a:latin typeface="Courier New" panose="02070309020205020404" pitchFamily="49" charset="0"/>
                <a:cs typeface="Courier New" panose="02070309020205020404" pitchFamily="49" charset="0"/>
              </a:rPr>
              <a:t>GloVe</a:t>
            </a:r>
            <a:r>
              <a:rPr lang="en-US" sz="1900" dirty="0">
                <a:solidFill>
                  <a:srgbClr val="0070C0"/>
                </a:solidFill>
                <a:latin typeface="Courier New" panose="02070309020205020404" pitchFamily="49" charset="0"/>
                <a:cs typeface="Courier New" panose="02070309020205020404" pitchFamily="49" charset="0"/>
              </a:rPr>
              <a:t>: 0.802</a:t>
            </a:r>
          </a:p>
          <a:p>
            <a:pPr marL="0" indent="0">
              <a:buNone/>
            </a:pPr>
            <a:r>
              <a:rPr lang="en-US" sz="1900" dirty="0">
                <a:solidFill>
                  <a:srgbClr val="0070C0"/>
                </a:solidFill>
                <a:latin typeface="Courier New" panose="02070309020205020404" pitchFamily="49" charset="0"/>
                <a:cs typeface="Courier New" panose="02070309020205020404" pitchFamily="49" charset="0"/>
              </a:rPr>
              <a:t>Similarity between '</a:t>
            </a:r>
            <a:r>
              <a:rPr lang="en-US" sz="1900" dirty="0" err="1">
                <a:solidFill>
                  <a:srgbClr val="0070C0"/>
                </a:solidFill>
                <a:latin typeface="Courier New" panose="02070309020205020404" pitchFamily="49" charset="0"/>
                <a:cs typeface="Courier New" panose="02070309020205020404" pitchFamily="49" charset="0"/>
              </a:rPr>
              <a:t>india</a:t>
            </a:r>
            <a:r>
              <a:rPr lang="en-US" sz="1900" dirty="0">
                <a:solidFill>
                  <a:srgbClr val="0070C0"/>
                </a:solidFill>
                <a:latin typeface="Courier New" panose="02070309020205020404" pitchFamily="49" charset="0"/>
                <a:cs typeface="Courier New" panose="02070309020205020404" pitchFamily="49" charset="0"/>
              </a:rPr>
              <a:t>' and '</a:t>
            </a:r>
            <a:r>
              <a:rPr lang="en-US" sz="1900" dirty="0" err="1">
                <a:solidFill>
                  <a:srgbClr val="0070C0"/>
                </a:solidFill>
                <a:latin typeface="Courier New" panose="02070309020205020404" pitchFamily="49" charset="0"/>
                <a:cs typeface="Courier New" panose="02070309020205020404" pitchFamily="49" charset="0"/>
              </a:rPr>
              <a:t>indian</a:t>
            </a:r>
            <a:r>
              <a:rPr lang="en-US" sz="1900" dirty="0">
                <a:solidFill>
                  <a:srgbClr val="0070C0"/>
                </a:solidFill>
                <a:latin typeface="Courier New" panose="02070309020205020404" pitchFamily="49" charset="0"/>
                <a:cs typeface="Courier New" panose="02070309020205020404" pitchFamily="49" charset="0"/>
              </a:rPr>
              <a:t>' using </a:t>
            </a:r>
            <a:r>
              <a:rPr lang="en-US" sz="1900" dirty="0" err="1">
                <a:solidFill>
                  <a:srgbClr val="0070C0"/>
                </a:solidFill>
                <a:latin typeface="Courier New" panose="02070309020205020404" pitchFamily="49" charset="0"/>
                <a:cs typeface="Courier New" panose="02070309020205020404" pitchFamily="49" charset="0"/>
              </a:rPr>
              <a:t>GloVe</a:t>
            </a:r>
            <a:r>
              <a:rPr lang="en-US" sz="1900" dirty="0">
                <a:solidFill>
                  <a:srgbClr val="0070C0"/>
                </a:solidFill>
                <a:latin typeface="Courier New" panose="02070309020205020404" pitchFamily="49" charset="0"/>
                <a:cs typeface="Courier New" panose="02070309020205020404" pitchFamily="49" charset="0"/>
              </a:rPr>
              <a:t>: 0.865</a:t>
            </a:r>
          </a:p>
          <a:p>
            <a:pPr marL="0" indent="0">
              <a:buNone/>
            </a:pPr>
            <a:r>
              <a:rPr lang="en-US" sz="1900" dirty="0">
                <a:solidFill>
                  <a:srgbClr val="0070C0"/>
                </a:solidFill>
                <a:latin typeface="Courier New" panose="02070309020205020404" pitchFamily="49" charset="0"/>
                <a:cs typeface="Courier New" panose="02070309020205020404" pitchFamily="49" charset="0"/>
              </a:rPr>
              <a:t>Similarity between 'fame' and 'famous' using </a:t>
            </a:r>
            <a:r>
              <a:rPr lang="en-US" sz="1900" dirty="0" err="1">
                <a:solidFill>
                  <a:srgbClr val="0070C0"/>
                </a:solidFill>
                <a:latin typeface="Courier New" panose="02070309020205020404" pitchFamily="49" charset="0"/>
                <a:cs typeface="Courier New" panose="02070309020205020404" pitchFamily="49" charset="0"/>
              </a:rPr>
              <a:t>GloVe</a:t>
            </a:r>
            <a:r>
              <a:rPr lang="en-US" sz="1900" dirty="0">
                <a:solidFill>
                  <a:srgbClr val="0070C0"/>
                </a:solidFill>
                <a:latin typeface="Courier New" panose="02070309020205020404" pitchFamily="49" charset="0"/>
                <a:cs typeface="Courier New" panose="02070309020205020404" pitchFamily="49" charset="0"/>
              </a:rPr>
              <a:t>: 0.589</a:t>
            </a:r>
          </a:p>
        </p:txBody>
      </p:sp>
    </p:spTree>
    <p:extLst>
      <p:ext uri="{BB962C8B-B14F-4D97-AF65-F5344CB8AC3E}">
        <p14:creationId xmlns:p14="http://schemas.microsoft.com/office/powerpoint/2010/main" val="11274853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AF6D9-CE6D-E11F-8234-4229EA49CCBC}"/>
              </a:ext>
            </a:extLst>
          </p:cNvPr>
          <p:cNvSpPr>
            <a:spLocks noGrp="1"/>
          </p:cNvSpPr>
          <p:nvPr>
            <p:ph type="title"/>
          </p:nvPr>
        </p:nvSpPr>
        <p:spPr/>
        <p:txBody>
          <a:bodyPr>
            <a:normAutofit/>
          </a:bodyPr>
          <a:lstStyle/>
          <a:p>
            <a:r>
              <a:rPr lang="en-US" dirty="0"/>
              <a:t>3.2. </a:t>
            </a:r>
            <a:r>
              <a:rPr lang="en-US" dirty="0" err="1"/>
              <a:t>Fasttext</a:t>
            </a:r>
            <a:endParaRPr lang="en-US" dirty="0"/>
          </a:p>
        </p:txBody>
      </p:sp>
      <p:sp>
        <p:nvSpPr>
          <p:cNvPr id="3" name="Slide Number Placeholder 2">
            <a:extLst>
              <a:ext uri="{FF2B5EF4-FFF2-40B4-BE49-F238E27FC236}">
                <a16:creationId xmlns:a16="http://schemas.microsoft.com/office/drawing/2014/main" id="{C0D7A184-837C-3FCF-9750-8C1FBD363E29}"/>
              </a:ext>
            </a:extLst>
          </p:cNvPr>
          <p:cNvSpPr>
            <a:spLocks noGrp="1"/>
          </p:cNvSpPr>
          <p:nvPr>
            <p:ph type="sldNum" sz="quarter" idx="12"/>
          </p:nvPr>
        </p:nvSpPr>
        <p:spPr/>
        <p:txBody>
          <a:bodyPr>
            <a:normAutofit fontScale="85000" lnSpcReduction="20000"/>
          </a:bodyPr>
          <a:lstStyle/>
          <a:p>
            <a:fld id="{EBFB1032-EA64-7144-B003-9BCC9D94B503}" type="slidenum">
              <a:rPr lang="en-US" smtClean="0"/>
              <a:t>55</a:t>
            </a:fld>
            <a:endParaRPr lang="en-US" dirty="0"/>
          </a:p>
        </p:txBody>
      </p:sp>
      <p:sp>
        <p:nvSpPr>
          <p:cNvPr id="4" name="Content Placeholder 3">
            <a:extLst>
              <a:ext uri="{FF2B5EF4-FFF2-40B4-BE49-F238E27FC236}">
                <a16:creationId xmlns:a16="http://schemas.microsoft.com/office/drawing/2014/main" id="{B7845AC8-6478-6E72-C43F-E0608CE610B7}"/>
              </a:ext>
            </a:extLst>
          </p:cNvPr>
          <p:cNvSpPr>
            <a:spLocks noGrp="1"/>
          </p:cNvSpPr>
          <p:nvPr>
            <p:ph sz="quarter" idx="1"/>
          </p:nvPr>
        </p:nvSpPr>
        <p:spPr/>
        <p:txBody>
          <a:bodyPr/>
          <a:lstStyle/>
          <a:p>
            <a:r>
              <a:rPr lang="en-US" dirty="0"/>
              <a:t>Developed by Facebook, </a:t>
            </a:r>
            <a:r>
              <a:rPr lang="en-US" dirty="0" err="1"/>
              <a:t>FastText</a:t>
            </a:r>
            <a:r>
              <a:rPr lang="en-US" dirty="0"/>
              <a:t> extends Word2Vec by representing words as bags of character n-grams.</a:t>
            </a:r>
          </a:p>
          <a:p>
            <a:endParaRPr lang="en-US" dirty="0"/>
          </a:p>
          <a:p>
            <a:r>
              <a:rPr lang="en-US" dirty="0"/>
              <a:t>This approach is particularly useful for handling out-of-vocabulary words and capturing morphological variations.</a:t>
            </a:r>
          </a:p>
        </p:txBody>
      </p:sp>
    </p:spTree>
    <p:extLst>
      <p:ext uri="{BB962C8B-B14F-4D97-AF65-F5344CB8AC3E}">
        <p14:creationId xmlns:p14="http://schemas.microsoft.com/office/powerpoint/2010/main" val="6564055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B52AD-0024-EE4F-9B81-842174E7CFD1}"/>
              </a:ext>
            </a:extLst>
          </p:cNvPr>
          <p:cNvSpPr>
            <a:spLocks noGrp="1"/>
          </p:cNvSpPr>
          <p:nvPr>
            <p:ph type="title"/>
          </p:nvPr>
        </p:nvSpPr>
        <p:spPr/>
        <p:txBody>
          <a:bodyPr/>
          <a:lstStyle/>
          <a:p>
            <a:r>
              <a:rPr lang="en-US" dirty="0"/>
              <a:t>Sample Code</a:t>
            </a:r>
          </a:p>
        </p:txBody>
      </p:sp>
      <p:sp>
        <p:nvSpPr>
          <p:cNvPr id="3" name="Slide Number Placeholder 2">
            <a:extLst>
              <a:ext uri="{FF2B5EF4-FFF2-40B4-BE49-F238E27FC236}">
                <a16:creationId xmlns:a16="http://schemas.microsoft.com/office/drawing/2014/main" id="{EA01C6C7-FED5-F09D-477D-BF2179E19A7F}"/>
              </a:ext>
            </a:extLst>
          </p:cNvPr>
          <p:cNvSpPr>
            <a:spLocks noGrp="1"/>
          </p:cNvSpPr>
          <p:nvPr>
            <p:ph type="sldNum" sz="quarter" idx="12"/>
          </p:nvPr>
        </p:nvSpPr>
        <p:spPr/>
        <p:txBody>
          <a:bodyPr>
            <a:normAutofit fontScale="85000" lnSpcReduction="20000"/>
          </a:bodyPr>
          <a:lstStyle/>
          <a:p>
            <a:fld id="{EBFB1032-EA64-7144-B003-9BCC9D94B503}" type="slidenum">
              <a:rPr lang="en-US" smtClean="0"/>
              <a:t>56</a:t>
            </a:fld>
            <a:endParaRPr lang="en-US" dirty="0"/>
          </a:p>
        </p:txBody>
      </p:sp>
      <p:pic>
        <p:nvPicPr>
          <p:cNvPr id="6" name="Picture 5">
            <a:extLst>
              <a:ext uri="{FF2B5EF4-FFF2-40B4-BE49-F238E27FC236}">
                <a16:creationId xmlns:a16="http://schemas.microsoft.com/office/drawing/2014/main" id="{D43D414D-2E84-640E-2903-7432B6353F12}"/>
              </a:ext>
            </a:extLst>
          </p:cNvPr>
          <p:cNvPicPr>
            <a:picLocks noChangeAspect="1"/>
          </p:cNvPicPr>
          <p:nvPr/>
        </p:nvPicPr>
        <p:blipFill>
          <a:blip r:embed="rId2"/>
          <a:stretch>
            <a:fillRect/>
          </a:stretch>
        </p:blipFill>
        <p:spPr>
          <a:xfrm>
            <a:off x="91440" y="1683620"/>
            <a:ext cx="8961120" cy="2139366"/>
          </a:xfrm>
          <a:prstGeom prst="rect">
            <a:avLst/>
          </a:prstGeom>
          <a:ln>
            <a:solidFill>
              <a:schemeClr val="accent1"/>
            </a:solidFill>
          </a:ln>
        </p:spPr>
      </p:pic>
      <p:sp>
        <p:nvSpPr>
          <p:cNvPr id="8" name="TextBox 7">
            <a:extLst>
              <a:ext uri="{FF2B5EF4-FFF2-40B4-BE49-F238E27FC236}">
                <a16:creationId xmlns:a16="http://schemas.microsoft.com/office/drawing/2014/main" id="{82EBADE2-5AF4-7B2B-792C-F7692EB834DF}"/>
              </a:ext>
            </a:extLst>
          </p:cNvPr>
          <p:cNvSpPr txBox="1"/>
          <p:nvPr/>
        </p:nvSpPr>
        <p:spPr>
          <a:xfrm>
            <a:off x="120315" y="4262284"/>
            <a:ext cx="8903370" cy="1200329"/>
          </a:xfrm>
          <a:prstGeom prst="rect">
            <a:avLst/>
          </a:prstGeom>
          <a:noFill/>
        </p:spPr>
        <p:txBody>
          <a:bodyPr wrap="square" rtlCol="0">
            <a:spAutoFit/>
          </a:bodyPr>
          <a:lstStyle/>
          <a:p>
            <a:r>
              <a:rPr lang="en-US" b="1" dirty="0">
                <a:solidFill>
                  <a:srgbClr val="0070C0"/>
                </a:solidFill>
                <a:latin typeface="Courier New" panose="02070309020205020404" pitchFamily="49" charset="0"/>
                <a:cs typeface="Courier New" panose="02070309020205020404" pitchFamily="49" charset="0"/>
              </a:rPr>
              <a:t>Output:</a:t>
            </a:r>
          </a:p>
          <a:p>
            <a:r>
              <a:rPr lang="en-US" dirty="0">
                <a:solidFill>
                  <a:srgbClr val="0070C0"/>
                </a:solidFill>
                <a:latin typeface="Courier New" panose="02070309020205020404" pitchFamily="49" charset="0"/>
                <a:cs typeface="Courier New" panose="02070309020205020404" pitchFamily="49" charset="0"/>
              </a:rPr>
              <a:t>Similarity between 'learn' and 'learning' using </a:t>
            </a:r>
            <a:r>
              <a:rPr lang="en-US" dirty="0" err="1">
                <a:solidFill>
                  <a:srgbClr val="0070C0"/>
                </a:solidFill>
                <a:latin typeface="Courier New" panose="02070309020205020404" pitchFamily="49" charset="0"/>
                <a:cs typeface="Courier New" panose="02070309020205020404" pitchFamily="49" charset="0"/>
              </a:rPr>
              <a:t>FastText</a:t>
            </a:r>
            <a:r>
              <a:rPr lang="en-US" dirty="0">
                <a:solidFill>
                  <a:srgbClr val="0070C0"/>
                </a:solidFill>
                <a:latin typeface="Courier New" panose="02070309020205020404" pitchFamily="49" charset="0"/>
                <a:cs typeface="Courier New" panose="02070309020205020404" pitchFamily="49" charset="0"/>
              </a:rPr>
              <a:t>: 0.642</a:t>
            </a:r>
          </a:p>
          <a:p>
            <a:r>
              <a:rPr lang="en-US" dirty="0">
                <a:solidFill>
                  <a:srgbClr val="0070C0"/>
                </a:solidFill>
                <a:latin typeface="Courier New" panose="02070309020205020404" pitchFamily="49" charset="0"/>
                <a:cs typeface="Courier New" panose="02070309020205020404" pitchFamily="49" charset="0"/>
              </a:rPr>
              <a:t>Similarity between '</a:t>
            </a:r>
            <a:r>
              <a:rPr lang="en-US" dirty="0" err="1">
                <a:solidFill>
                  <a:srgbClr val="0070C0"/>
                </a:solidFill>
                <a:latin typeface="Courier New" panose="02070309020205020404" pitchFamily="49" charset="0"/>
                <a:cs typeface="Courier New" panose="02070309020205020404" pitchFamily="49" charset="0"/>
              </a:rPr>
              <a:t>india</a:t>
            </a:r>
            <a:r>
              <a:rPr lang="en-US" dirty="0">
                <a:solidFill>
                  <a:srgbClr val="0070C0"/>
                </a:solidFill>
                <a:latin typeface="Courier New" panose="02070309020205020404" pitchFamily="49" charset="0"/>
                <a:cs typeface="Courier New" panose="02070309020205020404" pitchFamily="49" charset="0"/>
              </a:rPr>
              <a:t>' and '</a:t>
            </a:r>
            <a:r>
              <a:rPr lang="en-US" dirty="0" err="1">
                <a:solidFill>
                  <a:srgbClr val="0070C0"/>
                </a:solidFill>
                <a:latin typeface="Courier New" panose="02070309020205020404" pitchFamily="49" charset="0"/>
                <a:cs typeface="Courier New" panose="02070309020205020404" pitchFamily="49" charset="0"/>
              </a:rPr>
              <a:t>indian</a:t>
            </a:r>
            <a:r>
              <a:rPr lang="en-US" dirty="0">
                <a:solidFill>
                  <a:srgbClr val="0070C0"/>
                </a:solidFill>
                <a:latin typeface="Courier New" panose="02070309020205020404" pitchFamily="49" charset="0"/>
                <a:cs typeface="Courier New" panose="02070309020205020404" pitchFamily="49" charset="0"/>
              </a:rPr>
              <a:t>' using </a:t>
            </a:r>
            <a:r>
              <a:rPr lang="en-US" dirty="0" err="1">
                <a:solidFill>
                  <a:srgbClr val="0070C0"/>
                </a:solidFill>
                <a:latin typeface="Courier New" panose="02070309020205020404" pitchFamily="49" charset="0"/>
                <a:cs typeface="Courier New" panose="02070309020205020404" pitchFamily="49" charset="0"/>
              </a:rPr>
              <a:t>FastText</a:t>
            </a:r>
            <a:r>
              <a:rPr lang="en-US" dirty="0">
                <a:solidFill>
                  <a:srgbClr val="0070C0"/>
                </a:solidFill>
                <a:latin typeface="Courier New" panose="02070309020205020404" pitchFamily="49" charset="0"/>
                <a:cs typeface="Courier New" panose="02070309020205020404" pitchFamily="49" charset="0"/>
              </a:rPr>
              <a:t>: 0.708</a:t>
            </a:r>
          </a:p>
          <a:p>
            <a:r>
              <a:rPr lang="en-US" dirty="0">
                <a:solidFill>
                  <a:srgbClr val="0070C0"/>
                </a:solidFill>
                <a:latin typeface="Courier New" panose="02070309020205020404" pitchFamily="49" charset="0"/>
                <a:cs typeface="Courier New" panose="02070309020205020404" pitchFamily="49" charset="0"/>
              </a:rPr>
              <a:t>Similarity between 'fame' and 'famous' using </a:t>
            </a:r>
            <a:r>
              <a:rPr lang="en-US" dirty="0" err="1">
                <a:solidFill>
                  <a:srgbClr val="0070C0"/>
                </a:solidFill>
                <a:latin typeface="Courier New" panose="02070309020205020404" pitchFamily="49" charset="0"/>
                <a:cs typeface="Courier New" panose="02070309020205020404" pitchFamily="49" charset="0"/>
              </a:rPr>
              <a:t>FastText</a:t>
            </a:r>
            <a:r>
              <a:rPr lang="en-US" dirty="0">
                <a:solidFill>
                  <a:srgbClr val="0070C0"/>
                </a:solidFill>
                <a:latin typeface="Courier New" panose="02070309020205020404" pitchFamily="49" charset="0"/>
                <a:cs typeface="Courier New" panose="02070309020205020404" pitchFamily="49" charset="0"/>
              </a:rPr>
              <a:t>: 0.519</a:t>
            </a:r>
          </a:p>
        </p:txBody>
      </p:sp>
    </p:spTree>
    <p:extLst>
      <p:ext uri="{BB962C8B-B14F-4D97-AF65-F5344CB8AC3E}">
        <p14:creationId xmlns:p14="http://schemas.microsoft.com/office/powerpoint/2010/main" val="9041700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1C129-6E02-2F57-D362-71D98F739BBF}"/>
              </a:ext>
            </a:extLst>
          </p:cNvPr>
          <p:cNvSpPr>
            <a:spLocks noGrp="1"/>
          </p:cNvSpPr>
          <p:nvPr>
            <p:ph type="title"/>
          </p:nvPr>
        </p:nvSpPr>
        <p:spPr/>
        <p:txBody>
          <a:bodyPr>
            <a:normAutofit/>
          </a:bodyPr>
          <a:lstStyle/>
          <a:p>
            <a:r>
              <a:rPr lang="en-US" sz="2700" b="0" dirty="0"/>
              <a:t>3.3. BERT (Bidirectional Encoder Representations from Transformers)</a:t>
            </a:r>
          </a:p>
        </p:txBody>
      </p:sp>
      <p:sp>
        <p:nvSpPr>
          <p:cNvPr id="3" name="Slide Number Placeholder 2">
            <a:extLst>
              <a:ext uri="{FF2B5EF4-FFF2-40B4-BE49-F238E27FC236}">
                <a16:creationId xmlns:a16="http://schemas.microsoft.com/office/drawing/2014/main" id="{43639F5F-4A12-C69D-4110-9FEF825DD383}"/>
              </a:ext>
            </a:extLst>
          </p:cNvPr>
          <p:cNvSpPr>
            <a:spLocks noGrp="1"/>
          </p:cNvSpPr>
          <p:nvPr>
            <p:ph type="sldNum" sz="quarter" idx="12"/>
          </p:nvPr>
        </p:nvSpPr>
        <p:spPr/>
        <p:txBody>
          <a:bodyPr>
            <a:normAutofit fontScale="85000" lnSpcReduction="20000"/>
          </a:bodyPr>
          <a:lstStyle/>
          <a:p>
            <a:fld id="{EBFB1032-EA64-7144-B003-9BCC9D94B503}" type="slidenum">
              <a:rPr lang="en-US" smtClean="0"/>
              <a:t>57</a:t>
            </a:fld>
            <a:endParaRPr lang="en-US" dirty="0"/>
          </a:p>
        </p:txBody>
      </p:sp>
      <p:sp>
        <p:nvSpPr>
          <p:cNvPr id="4" name="Content Placeholder 3">
            <a:extLst>
              <a:ext uri="{FF2B5EF4-FFF2-40B4-BE49-F238E27FC236}">
                <a16:creationId xmlns:a16="http://schemas.microsoft.com/office/drawing/2014/main" id="{9432AF18-DE95-CE63-E8E8-0514196B335F}"/>
              </a:ext>
            </a:extLst>
          </p:cNvPr>
          <p:cNvSpPr>
            <a:spLocks noGrp="1"/>
          </p:cNvSpPr>
          <p:nvPr>
            <p:ph sz="quarter" idx="1"/>
          </p:nvPr>
        </p:nvSpPr>
        <p:spPr/>
        <p:txBody>
          <a:bodyPr/>
          <a:lstStyle/>
          <a:p>
            <a:r>
              <a:rPr lang="en-US" dirty="0"/>
              <a:t>BERT is a transformer-based model that learns contextualized embeddings for words.</a:t>
            </a:r>
          </a:p>
          <a:p>
            <a:r>
              <a:rPr lang="en-US" dirty="0"/>
              <a:t>It considers the entire context of a word by considering both left and right contexts, resulting in embeddings that capture rich contextual information.</a:t>
            </a:r>
          </a:p>
        </p:txBody>
      </p:sp>
    </p:spTree>
    <p:extLst>
      <p:ext uri="{BB962C8B-B14F-4D97-AF65-F5344CB8AC3E}">
        <p14:creationId xmlns:p14="http://schemas.microsoft.com/office/powerpoint/2010/main" val="34406053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E3E59-33FB-7ED6-BAFD-0C398F7E53E6}"/>
              </a:ext>
            </a:extLst>
          </p:cNvPr>
          <p:cNvSpPr>
            <a:spLocks noGrp="1"/>
          </p:cNvSpPr>
          <p:nvPr>
            <p:ph type="title"/>
          </p:nvPr>
        </p:nvSpPr>
        <p:spPr/>
        <p:txBody>
          <a:bodyPr/>
          <a:lstStyle/>
          <a:p>
            <a:r>
              <a:rPr lang="en-US" dirty="0"/>
              <a:t>Sample Code:</a:t>
            </a:r>
          </a:p>
        </p:txBody>
      </p:sp>
      <p:sp>
        <p:nvSpPr>
          <p:cNvPr id="3" name="Slide Number Placeholder 2">
            <a:extLst>
              <a:ext uri="{FF2B5EF4-FFF2-40B4-BE49-F238E27FC236}">
                <a16:creationId xmlns:a16="http://schemas.microsoft.com/office/drawing/2014/main" id="{5E8DDFEB-5548-C7D9-FDA8-6EA5631673B9}"/>
              </a:ext>
            </a:extLst>
          </p:cNvPr>
          <p:cNvSpPr>
            <a:spLocks noGrp="1"/>
          </p:cNvSpPr>
          <p:nvPr>
            <p:ph type="sldNum" sz="quarter" idx="12"/>
          </p:nvPr>
        </p:nvSpPr>
        <p:spPr/>
        <p:txBody>
          <a:bodyPr>
            <a:normAutofit fontScale="85000" lnSpcReduction="20000"/>
          </a:bodyPr>
          <a:lstStyle/>
          <a:p>
            <a:fld id="{EBFB1032-EA64-7144-B003-9BCC9D94B503}" type="slidenum">
              <a:rPr lang="en-US" smtClean="0"/>
              <a:t>58</a:t>
            </a:fld>
            <a:endParaRPr lang="en-US" dirty="0"/>
          </a:p>
        </p:txBody>
      </p:sp>
      <p:pic>
        <p:nvPicPr>
          <p:cNvPr id="6" name="Picture 5">
            <a:extLst>
              <a:ext uri="{FF2B5EF4-FFF2-40B4-BE49-F238E27FC236}">
                <a16:creationId xmlns:a16="http://schemas.microsoft.com/office/drawing/2014/main" id="{AB29145D-0616-73DE-AFFF-CE63BE3F9B37}"/>
              </a:ext>
            </a:extLst>
          </p:cNvPr>
          <p:cNvPicPr>
            <a:picLocks noChangeAspect="1"/>
          </p:cNvPicPr>
          <p:nvPr/>
        </p:nvPicPr>
        <p:blipFill>
          <a:blip r:embed="rId2"/>
          <a:stretch>
            <a:fillRect/>
          </a:stretch>
        </p:blipFill>
        <p:spPr>
          <a:xfrm>
            <a:off x="91440" y="1623344"/>
            <a:ext cx="8961120" cy="5006056"/>
          </a:xfrm>
          <a:prstGeom prst="rect">
            <a:avLst/>
          </a:prstGeom>
          <a:ln>
            <a:solidFill>
              <a:schemeClr val="accent1"/>
            </a:solidFill>
          </a:ln>
        </p:spPr>
      </p:pic>
    </p:spTree>
    <p:extLst>
      <p:ext uri="{BB962C8B-B14F-4D97-AF65-F5344CB8AC3E}">
        <p14:creationId xmlns:p14="http://schemas.microsoft.com/office/powerpoint/2010/main" val="18486156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71848-5A0F-0E15-ABD6-73C57B5B31ED}"/>
              </a:ext>
            </a:extLst>
          </p:cNvPr>
          <p:cNvSpPr>
            <a:spLocks noGrp="1"/>
          </p:cNvSpPr>
          <p:nvPr>
            <p:ph type="title"/>
          </p:nvPr>
        </p:nvSpPr>
        <p:spPr/>
        <p:txBody>
          <a:bodyPr>
            <a:normAutofit/>
          </a:bodyPr>
          <a:lstStyle/>
          <a:p>
            <a:r>
              <a:rPr lang="en-US" dirty="0"/>
              <a:t>Output:</a:t>
            </a:r>
          </a:p>
        </p:txBody>
      </p:sp>
      <p:sp>
        <p:nvSpPr>
          <p:cNvPr id="3" name="Slide Number Placeholder 2">
            <a:extLst>
              <a:ext uri="{FF2B5EF4-FFF2-40B4-BE49-F238E27FC236}">
                <a16:creationId xmlns:a16="http://schemas.microsoft.com/office/drawing/2014/main" id="{6FFB07BA-8E1B-D4E0-4107-26702C86E765}"/>
              </a:ext>
            </a:extLst>
          </p:cNvPr>
          <p:cNvSpPr>
            <a:spLocks noGrp="1"/>
          </p:cNvSpPr>
          <p:nvPr>
            <p:ph type="sldNum" sz="quarter" idx="12"/>
          </p:nvPr>
        </p:nvSpPr>
        <p:spPr/>
        <p:txBody>
          <a:bodyPr>
            <a:normAutofit fontScale="85000" lnSpcReduction="20000"/>
          </a:bodyPr>
          <a:lstStyle/>
          <a:p>
            <a:fld id="{EBFB1032-EA64-7144-B003-9BCC9D94B503}" type="slidenum">
              <a:rPr lang="en-US" smtClean="0"/>
              <a:t>59</a:t>
            </a:fld>
            <a:endParaRPr lang="en-US" dirty="0"/>
          </a:p>
        </p:txBody>
      </p:sp>
      <p:sp>
        <p:nvSpPr>
          <p:cNvPr id="4" name="Content Placeholder 3">
            <a:extLst>
              <a:ext uri="{FF2B5EF4-FFF2-40B4-BE49-F238E27FC236}">
                <a16:creationId xmlns:a16="http://schemas.microsoft.com/office/drawing/2014/main" id="{0CD7C86D-D327-DE3B-338F-C7E4EA55118E}"/>
              </a:ext>
            </a:extLst>
          </p:cNvPr>
          <p:cNvSpPr>
            <a:spLocks noGrp="1"/>
          </p:cNvSpPr>
          <p:nvPr>
            <p:ph sz="quarter" idx="1"/>
          </p:nvPr>
        </p:nvSpPr>
        <p:spPr/>
        <p:txBody>
          <a:bodyPr>
            <a:normAutofit/>
          </a:bodyPr>
          <a:lstStyle/>
          <a:p>
            <a:pPr marL="0" indent="0">
              <a:buNone/>
            </a:pPr>
            <a:r>
              <a:rPr lang="en-US" sz="1900" b="1" dirty="0">
                <a:solidFill>
                  <a:srgbClr val="0070C0"/>
                </a:solidFill>
                <a:latin typeface="Courier New" panose="02070309020205020404" pitchFamily="49" charset="0"/>
                <a:cs typeface="Courier New" panose="02070309020205020404" pitchFamily="49" charset="0"/>
              </a:rPr>
              <a:t>Similarity between 'learn' and 'learning' using BERT: 0.930</a:t>
            </a:r>
          </a:p>
          <a:p>
            <a:pPr marL="0" indent="0">
              <a:buNone/>
            </a:pPr>
            <a:r>
              <a:rPr lang="en-US" sz="1900" b="1" dirty="0">
                <a:solidFill>
                  <a:srgbClr val="0070C0"/>
                </a:solidFill>
                <a:latin typeface="Courier New" panose="02070309020205020404" pitchFamily="49" charset="0"/>
                <a:cs typeface="Courier New" panose="02070309020205020404" pitchFamily="49" charset="0"/>
              </a:rPr>
              <a:t>Similarity between '</a:t>
            </a:r>
            <a:r>
              <a:rPr lang="en-US" sz="1900" b="1" dirty="0" err="1">
                <a:solidFill>
                  <a:srgbClr val="0070C0"/>
                </a:solidFill>
                <a:latin typeface="Courier New" panose="02070309020205020404" pitchFamily="49" charset="0"/>
                <a:cs typeface="Courier New" panose="02070309020205020404" pitchFamily="49" charset="0"/>
              </a:rPr>
              <a:t>india</a:t>
            </a:r>
            <a:r>
              <a:rPr lang="en-US" sz="1900" b="1" dirty="0">
                <a:solidFill>
                  <a:srgbClr val="0070C0"/>
                </a:solidFill>
                <a:latin typeface="Courier New" panose="02070309020205020404" pitchFamily="49" charset="0"/>
                <a:cs typeface="Courier New" panose="02070309020205020404" pitchFamily="49" charset="0"/>
              </a:rPr>
              <a:t>' and '</a:t>
            </a:r>
            <a:r>
              <a:rPr lang="en-US" sz="1900" b="1" dirty="0" err="1">
                <a:solidFill>
                  <a:srgbClr val="0070C0"/>
                </a:solidFill>
                <a:latin typeface="Courier New" panose="02070309020205020404" pitchFamily="49" charset="0"/>
                <a:cs typeface="Courier New" panose="02070309020205020404" pitchFamily="49" charset="0"/>
              </a:rPr>
              <a:t>indian</a:t>
            </a:r>
            <a:r>
              <a:rPr lang="en-US" sz="1900" b="1" dirty="0">
                <a:solidFill>
                  <a:srgbClr val="0070C0"/>
                </a:solidFill>
                <a:latin typeface="Courier New" panose="02070309020205020404" pitchFamily="49" charset="0"/>
                <a:cs typeface="Courier New" panose="02070309020205020404" pitchFamily="49" charset="0"/>
              </a:rPr>
              <a:t>' using BERT: 0.957</a:t>
            </a:r>
          </a:p>
          <a:p>
            <a:pPr marL="0" indent="0">
              <a:buNone/>
            </a:pPr>
            <a:r>
              <a:rPr lang="en-US" sz="1900" b="1" dirty="0">
                <a:solidFill>
                  <a:srgbClr val="0070C0"/>
                </a:solidFill>
                <a:latin typeface="Courier New" panose="02070309020205020404" pitchFamily="49" charset="0"/>
                <a:cs typeface="Courier New" panose="02070309020205020404" pitchFamily="49" charset="0"/>
              </a:rPr>
              <a:t>Similarity between 'fame' and 'famous' using BERT: 0.956</a:t>
            </a:r>
          </a:p>
        </p:txBody>
      </p:sp>
    </p:spTree>
    <p:extLst>
      <p:ext uri="{BB962C8B-B14F-4D97-AF65-F5344CB8AC3E}">
        <p14:creationId xmlns:p14="http://schemas.microsoft.com/office/powerpoint/2010/main" val="43461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23742-7BA7-B225-E14D-1B256E16BAC4}"/>
              </a:ext>
            </a:extLst>
          </p:cNvPr>
          <p:cNvSpPr>
            <a:spLocks noGrp="1"/>
          </p:cNvSpPr>
          <p:nvPr>
            <p:ph type="title"/>
          </p:nvPr>
        </p:nvSpPr>
        <p:spPr/>
        <p:txBody>
          <a:bodyPr>
            <a:normAutofit fontScale="90000"/>
          </a:bodyPr>
          <a:lstStyle/>
          <a:p>
            <a:r>
              <a:rPr lang="en-US" sz="3300" dirty="0"/>
              <a:t>Considerations for Deploying Word Embedding Models</a:t>
            </a:r>
          </a:p>
        </p:txBody>
      </p:sp>
      <p:sp>
        <p:nvSpPr>
          <p:cNvPr id="3" name="Slide Number Placeholder 2">
            <a:extLst>
              <a:ext uri="{FF2B5EF4-FFF2-40B4-BE49-F238E27FC236}">
                <a16:creationId xmlns:a16="http://schemas.microsoft.com/office/drawing/2014/main" id="{416E7B87-5B3F-A4A9-9482-D72AE91FEC69}"/>
              </a:ext>
            </a:extLst>
          </p:cNvPr>
          <p:cNvSpPr>
            <a:spLocks noGrp="1"/>
          </p:cNvSpPr>
          <p:nvPr>
            <p:ph type="sldNum" sz="quarter" idx="12"/>
          </p:nvPr>
        </p:nvSpPr>
        <p:spPr/>
        <p:txBody>
          <a:bodyPr>
            <a:normAutofit fontScale="85000" lnSpcReduction="20000"/>
          </a:bodyPr>
          <a:lstStyle/>
          <a:p>
            <a:fld id="{EBFB1032-EA64-7144-B003-9BCC9D94B503}" type="slidenum">
              <a:rPr lang="en-US" smtClean="0"/>
              <a:t>60</a:t>
            </a:fld>
            <a:endParaRPr lang="en-US" dirty="0"/>
          </a:p>
        </p:txBody>
      </p:sp>
      <p:sp>
        <p:nvSpPr>
          <p:cNvPr id="4" name="Content Placeholder 3">
            <a:extLst>
              <a:ext uri="{FF2B5EF4-FFF2-40B4-BE49-F238E27FC236}">
                <a16:creationId xmlns:a16="http://schemas.microsoft.com/office/drawing/2014/main" id="{64A706DD-D88D-6E24-3BFE-281B76EECE2E}"/>
              </a:ext>
            </a:extLst>
          </p:cNvPr>
          <p:cNvSpPr>
            <a:spLocks noGrp="1"/>
          </p:cNvSpPr>
          <p:nvPr>
            <p:ph sz="quarter" idx="1"/>
          </p:nvPr>
        </p:nvSpPr>
        <p:spPr/>
        <p:txBody>
          <a:bodyPr>
            <a:normAutofit lnSpcReduction="10000"/>
          </a:bodyPr>
          <a:lstStyle/>
          <a:p>
            <a:pPr>
              <a:spcBef>
                <a:spcPts val="0"/>
              </a:spcBef>
            </a:pPr>
            <a:r>
              <a:rPr lang="en-US" dirty="0">
                <a:solidFill>
                  <a:srgbClr val="0070C0"/>
                </a:solidFill>
              </a:rPr>
              <a:t>You need to use the exact same pipeline during deploying your model as were used to create the training data for the word embedding.</a:t>
            </a:r>
          </a:p>
          <a:p>
            <a:pPr lvl="1">
              <a:spcBef>
                <a:spcPts val="0"/>
              </a:spcBef>
            </a:pPr>
            <a:r>
              <a:rPr lang="en-US" dirty="0"/>
              <a:t>If you use a different tokenizer or different method of handling white space, punctuation etc. you might end up with incompatible inputs.</a:t>
            </a:r>
          </a:p>
          <a:p>
            <a:pPr>
              <a:spcBef>
                <a:spcPts val="0"/>
              </a:spcBef>
            </a:pPr>
            <a:endParaRPr lang="en-US" dirty="0"/>
          </a:p>
          <a:p>
            <a:pPr>
              <a:spcBef>
                <a:spcPts val="0"/>
              </a:spcBef>
            </a:pPr>
            <a:r>
              <a:rPr lang="en-US" dirty="0">
                <a:solidFill>
                  <a:srgbClr val="00B050"/>
                </a:solidFill>
              </a:rPr>
              <a:t>Words in your input that doesn’t have a pre-trained vector.</a:t>
            </a:r>
          </a:p>
          <a:p>
            <a:pPr lvl="1">
              <a:spcBef>
                <a:spcPts val="0"/>
              </a:spcBef>
            </a:pPr>
            <a:r>
              <a:rPr lang="en-US" dirty="0"/>
              <a:t>Such words are known as Out of Vocabulary Word(</a:t>
            </a:r>
            <a:r>
              <a:rPr lang="en-US" dirty="0" err="1"/>
              <a:t>oov</a:t>
            </a:r>
            <a:r>
              <a:rPr lang="en-US" dirty="0"/>
              <a:t>).</a:t>
            </a:r>
          </a:p>
          <a:p>
            <a:pPr lvl="1">
              <a:spcBef>
                <a:spcPts val="0"/>
              </a:spcBef>
            </a:pPr>
            <a:r>
              <a:rPr lang="en-US" dirty="0"/>
              <a:t>What you can do is replace those words with “UNK” which means unknown and then handle them separately.</a:t>
            </a:r>
          </a:p>
          <a:p>
            <a:pPr>
              <a:spcBef>
                <a:spcPts val="0"/>
              </a:spcBef>
            </a:pPr>
            <a:endParaRPr lang="en-US" dirty="0"/>
          </a:p>
          <a:p>
            <a:pPr>
              <a:spcBef>
                <a:spcPts val="0"/>
              </a:spcBef>
            </a:pPr>
            <a:r>
              <a:rPr lang="en-US" dirty="0">
                <a:solidFill>
                  <a:srgbClr val="7030A0"/>
                </a:solidFill>
              </a:rPr>
              <a:t>Dimension mis-match:</a:t>
            </a:r>
          </a:p>
          <a:p>
            <a:pPr lvl="1">
              <a:spcBef>
                <a:spcPts val="0"/>
              </a:spcBef>
            </a:pPr>
            <a:r>
              <a:rPr lang="en-US" dirty="0"/>
              <a:t>Vectors can be of many lengths.</a:t>
            </a:r>
          </a:p>
          <a:p>
            <a:pPr lvl="1">
              <a:spcBef>
                <a:spcPts val="0"/>
              </a:spcBef>
            </a:pPr>
            <a:r>
              <a:rPr lang="en-US" dirty="0"/>
              <a:t>If you train a model with vectors of length say 400 and then try to apply vectors of length 1000 at inference time, you will run into errors.</a:t>
            </a:r>
          </a:p>
          <a:p>
            <a:pPr lvl="1">
              <a:spcBef>
                <a:spcPts val="0"/>
              </a:spcBef>
            </a:pPr>
            <a:r>
              <a:rPr lang="en-US" dirty="0"/>
              <a:t>So make sure to use the same dimensions throughout.</a:t>
            </a:r>
          </a:p>
        </p:txBody>
      </p:sp>
    </p:spTree>
    <p:extLst>
      <p:ext uri="{BB962C8B-B14F-4D97-AF65-F5344CB8AC3E}">
        <p14:creationId xmlns:p14="http://schemas.microsoft.com/office/powerpoint/2010/main" val="13947757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12FF7-662B-3E05-1C90-AC45C729CB07}"/>
              </a:ext>
            </a:extLst>
          </p:cNvPr>
          <p:cNvSpPr>
            <a:spLocks noGrp="1"/>
          </p:cNvSpPr>
          <p:nvPr>
            <p:ph type="title"/>
          </p:nvPr>
        </p:nvSpPr>
        <p:spPr/>
        <p:txBody>
          <a:bodyPr>
            <a:normAutofit/>
          </a:bodyPr>
          <a:lstStyle/>
          <a:p>
            <a:r>
              <a:rPr lang="en-US" dirty="0"/>
              <a:t>Advantages of Word Embeddings</a:t>
            </a:r>
          </a:p>
        </p:txBody>
      </p:sp>
      <p:sp>
        <p:nvSpPr>
          <p:cNvPr id="3" name="Slide Number Placeholder 2">
            <a:extLst>
              <a:ext uri="{FF2B5EF4-FFF2-40B4-BE49-F238E27FC236}">
                <a16:creationId xmlns:a16="http://schemas.microsoft.com/office/drawing/2014/main" id="{24754D86-5EC4-CC39-1F44-A0BCA816D99A}"/>
              </a:ext>
            </a:extLst>
          </p:cNvPr>
          <p:cNvSpPr>
            <a:spLocks noGrp="1"/>
          </p:cNvSpPr>
          <p:nvPr>
            <p:ph type="sldNum" sz="quarter" idx="12"/>
          </p:nvPr>
        </p:nvSpPr>
        <p:spPr/>
        <p:txBody>
          <a:bodyPr>
            <a:normAutofit fontScale="85000" lnSpcReduction="20000"/>
          </a:bodyPr>
          <a:lstStyle/>
          <a:p>
            <a:fld id="{EBFB1032-EA64-7144-B003-9BCC9D94B503}" type="slidenum">
              <a:rPr lang="en-US" smtClean="0"/>
              <a:t>61</a:t>
            </a:fld>
            <a:endParaRPr lang="en-US" dirty="0"/>
          </a:p>
        </p:txBody>
      </p:sp>
      <p:sp>
        <p:nvSpPr>
          <p:cNvPr id="4" name="Content Placeholder 3">
            <a:extLst>
              <a:ext uri="{FF2B5EF4-FFF2-40B4-BE49-F238E27FC236}">
                <a16:creationId xmlns:a16="http://schemas.microsoft.com/office/drawing/2014/main" id="{D7679112-90C8-F2E1-A74E-24DFB026AFCB}"/>
              </a:ext>
            </a:extLst>
          </p:cNvPr>
          <p:cNvSpPr>
            <a:spLocks noGrp="1"/>
          </p:cNvSpPr>
          <p:nvPr>
            <p:ph sz="quarter" idx="1"/>
          </p:nvPr>
        </p:nvSpPr>
        <p:spPr/>
        <p:txBody>
          <a:bodyPr/>
          <a:lstStyle/>
          <a:p>
            <a:r>
              <a:rPr lang="en-US" dirty="0"/>
              <a:t>It is much faster to train than hand build models like WordNet (which uses graph embeddings).</a:t>
            </a:r>
          </a:p>
          <a:p>
            <a:endParaRPr lang="en-US" dirty="0"/>
          </a:p>
          <a:p>
            <a:r>
              <a:rPr lang="en-US" dirty="0"/>
              <a:t>Almost all modern NLP applications start with an embedding layer.</a:t>
            </a:r>
          </a:p>
          <a:p>
            <a:endParaRPr lang="en-US" dirty="0"/>
          </a:p>
          <a:p>
            <a:r>
              <a:rPr lang="en-US" dirty="0"/>
              <a:t>It Stores an approximation of meaning.</a:t>
            </a:r>
          </a:p>
        </p:txBody>
      </p:sp>
    </p:spTree>
    <p:extLst>
      <p:ext uri="{BB962C8B-B14F-4D97-AF65-F5344CB8AC3E}">
        <p14:creationId xmlns:p14="http://schemas.microsoft.com/office/powerpoint/2010/main" val="35533850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D05C6-3DF7-1C42-D0AA-F1D506D094D4}"/>
              </a:ext>
            </a:extLst>
          </p:cNvPr>
          <p:cNvSpPr>
            <a:spLocks noGrp="1"/>
          </p:cNvSpPr>
          <p:nvPr>
            <p:ph type="title"/>
          </p:nvPr>
        </p:nvSpPr>
        <p:spPr/>
        <p:txBody>
          <a:bodyPr/>
          <a:lstStyle/>
          <a:p>
            <a:r>
              <a:rPr lang="en-US" dirty="0"/>
              <a:t>Disadvantages of Word Embeddings</a:t>
            </a:r>
          </a:p>
        </p:txBody>
      </p:sp>
      <p:sp>
        <p:nvSpPr>
          <p:cNvPr id="3" name="Slide Number Placeholder 2">
            <a:extLst>
              <a:ext uri="{FF2B5EF4-FFF2-40B4-BE49-F238E27FC236}">
                <a16:creationId xmlns:a16="http://schemas.microsoft.com/office/drawing/2014/main" id="{C6202037-C7F6-D174-1847-C4C2BCABF3F4}"/>
              </a:ext>
            </a:extLst>
          </p:cNvPr>
          <p:cNvSpPr>
            <a:spLocks noGrp="1"/>
          </p:cNvSpPr>
          <p:nvPr>
            <p:ph type="sldNum" sz="quarter" idx="12"/>
          </p:nvPr>
        </p:nvSpPr>
        <p:spPr/>
        <p:txBody>
          <a:bodyPr>
            <a:normAutofit fontScale="85000" lnSpcReduction="20000"/>
          </a:bodyPr>
          <a:lstStyle/>
          <a:p>
            <a:fld id="{EBFB1032-EA64-7144-B003-9BCC9D94B503}" type="slidenum">
              <a:rPr lang="en-US" smtClean="0"/>
              <a:t>62</a:t>
            </a:fld>
            <a:endParaRPr lang="en-US" dirty="0"/>
          </a:p>
        </p:txBody>
      </p:sp>
      <p:sp>
        <p:nvSpPr>
          <p:cNvPr id="4" name="Content Placeholder 3">
            <a:extLst>
              <a:ext uri="{FF2B5EF4-FFF2-40B4-BE49-F238E27FC236}">
                <a16:creationId xmlns:a16="http://schemas.microsoft.com/office/drawing/2014/main" id="{70C224EA-6A11-8207-C6D6-B4AF7EADE211}"/>
              </a:ext>
            </a:extLst>
          </p:cNvPr>
          <p:cNvSpPr>
            <a:spLocks noGrp="1"/>
          </p:cNvSpPr>
          <p:nvPr>
            <p:ph sz="quarter" idx="1"/>
          </p:nvPr>
        </p:nvSpPr>
        <p:spPr/>
        <p:txBody>
          <a:bodyPr/>
          <a:lstStyle/>
          <a:p>
            <a:r>
              <a:rPr lang="en-US" dirty="0"/>
              <a:t>It can be memory intensive.</a:t>
            </a:r>
          </a:p>
          <a:p>
            <a:endParaRPr lang="en-US" dirty="0"/>
          </a:p>
          <a:p>
            <a:r>
              <a:rPr lang="en-US" dirty="0"/>
              <a:t>It is corpus dependent. Any underlying bias will have an effect on your model.</a:t>
            </a:r>
          </a:p>
          <a:p>
            <a:endParaRPr lang="en-US" dirty="0"/>
          </a:p>
          <a:p>
            <a:r>
              <a:rPr lang="en-US" dirty="0"/>
              <a:t>It cannot distinguish between homophones. </a:t>
            </a:r>
            <a:r>
              <a:rPr lang="en-US" dirty="0" err="1"/>
              <a:t>Eg</a:t>
            </a:r>
            <a:r>
              <a:rPr lang="en-US" dirty="0"/>
              <a:t>: brake/break, cell/sell, weather/whether etc.</a:t>
            </a:r>
          </a:p>
        </p:txBody>
      </p:sp>
    </p:spTree>
    <p:extLst>
      <p:ext uri="{BB962C8B-B14F-4D97-AF65-F5344CB8AC3E}">
        <p14:creationId xmlns:p14="http://schemas.microsoft.com/office/powerpoint/2010/main" val="39983400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C4703-7367-FB93-F7B7-BCA406FC3709}"/>
              </a:ext>
            </a:extLst>
          </p:cNvPr>
          <p:cNvSpPr>
            <a:spLocks noGrp="1"/>
          </p:cNvSpPr>
          <p:nvPr>
            <p:ph type="title"/>
          </p:nvPr>
        </p:nvSpPr>
        <p:spPr/>
        <p:txBody>
          <a:bodyPr>
            <a:normAutofit/>
          </a:bodyPr>
          <a:lstStyle/>
          <a:p>
            <a:r>
              <a:rPr lang="en-US" dirty="0"/>
              <a:t>Conclusion</a:t>
            </a:r>
          </a:p>
        </p:txBody>
      </p:sp>
      <p:sp>
        <p:nvSpPr>
          <p:cNvPr id="3" name="Slide Number Placeholder 2">
            <a:extLst>
              <a:ext uri="{FF2B5EF4-FFF2-40B4-BE49-F238E27FC236}">
                <a16:creationId xmlns:a16="http://schemas.microsoft.com/office/drawing/2014/main" id="{81562180-E1D6-FB33-20C3-7B98B9311624}"/>
              </a:ext>
            </a:extLst>
          </p:cNvPr>
          <p:cNvSpPr>
            <a:spLocks noGrp="1"/>
          </p:cNvSpPr>
          <p:nvPr>
            <p:ph type="sldNum" sz="quarter" idx="12"/>
          </p:nvPr>
        </p:nvSpPr>
        <p:spPr/>
        <p:txBody>
          <a:bodyPr>
            <a:normAutofit fontScale="85000" lnSpcReduction="20000"/>
          </a:bodyPr>
          <a:lstStyle/>
          <a:p>
            <a:fld id="{EBFB1032-EA64-7144-B003-9BCC9D94B503}" type="slidenum">
              <a:rPr lang="en-US" smtClean="0"/>
              <a:t>63</a:t>
            </a:fld>
            <a:endParaRPr lang="en-US" dirty="0"/>
          </a:p>
        </p:txBody>
      </p:sp>
      <p:sp>
        <p:nvSpPr>
          <p:cNvPr id="4" name="Content Placeholder 3">
            <a:extLst>
              <a:ext uri="{FF2B5EF4-FFF2-40B4-BE49-F238E27FC236}">
                <a16:creationId xmlns:a16="http://schemas.microsoft.com/office/drawing/2014/main" id="{3A97A3CE-6F18-AC53-E7FC-F615EA44BBAE}"/>
              </a:ext>
            </a:extLst>
          </p:cNvPr>
          <p:cNvSpPr>
            <a:spLocks noGrp="1"/>
          </p:cNvSpPr>
          <p:nvPr>
            <p:ph sz="quarter" idx="1"/>
          </p:nvPr>
        </p:nvSpPr>
        <p:spPr/>
        <p:txBody>
          <a:bodyPr/>
          <a:lstStyle/>
          <a:p>
            <a:r>
              <a:rPr lang="en-US" dirty="0"/>
              <a:t>In conclusion, word embedding techniques such as TF-IDF, Word2Vec, and </a:t>
            </a:r>
            <a:r>
              <a:rPr lang="en-US" dirty="0" err="1"/>
              <a:t>GloVe</a:t>
            </a:r>
            <a:r>
              <a:rPr lang="en-US" dirty="0"/>
              <a:t> play a crucial role in natural language processing by representing words in a lower-dimensional space, capturing semantic and syntactic information.</a:t>
            </a:r>
          </a:p>
        </p:txBody>
      </p:sp>
    </p:spTree>
    <p:extLst>
      <p:ext uri="{BB962C8B-B14F-4D97-AF65-F5344CB8AC3E}">
        <p14:creationId xmlns:p14="http://schemas.microsoft.com/office/powerpoint/2010/main" val="31615639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5A2E2-475B-E7CC-5CA9-752F411C7570}"/>
              </a:ext>
            </a:extLst>
          </p:cNvPr>
          <p:cNvSpPr>
            <a:spLocks noGrp="1"/>
          </p:cNvSpPr>
          <p:nvPr>
            <p:ph type="title"/>
          </p:nvPr>
        </p:nvSpPr>
        <p:spPr/>
        <p:txBody>
          <a:bodyPr>
            <a:normAutofit/>
          </a:bodyPr>
          <a:lstStyle/>
          <a:p>
            <a:r>
              <a:rPr lang="en-US" dirty="0"/>
              <a:t>1. Does GPT use word embeddings?</a:t>
            </a:r>
          </a:p>
        </p:txBody>
      </p:sp>
      <p:sp>
        <p:nvSpPr>
          <p:cNvPr id="3" name="Slide Number Placeholder 2">
            <a:extLst>
              <a:ext uri="{FF2B5EF4-FFF2-40B4-BE49-F238E27FC236}">
                <a16:creationId xmlns:a16="http://schemas.microsoft.com/office/drawing/2014/main" id="{83B9CB7A-402C-F3CE-8061-72B4ABB8CEFA}"/>
              </a:ext>
            </a:extLst>
          </p:cNvPr>
          <p:cNvSpPr>
            <a:spLocks noGrp="1"/>
          </p:cNvSpPr>
          <p:nvPr>
            <p:ph type="sldNum" sz="quarter" idx="12"/>
          </p:nvPr>
        </p:nvSpPr>
        <p:spPr/>
        <p:txBody>
          <a:bodyPr>
            <a:normAutofit fontScale="85000" lnSpcReduction="20000"/>
          </a:bodyPr>
          <a:lstStyle/>
          <a:p>
            <a:fld id="{EBFB1032-EA64-7144-B003-9BCC9D94B503}" type="slidenum">
              <a:rPr lang="en-US" smtClean="0"/>
              <a:t>64</a:t>
            </a:fld>
            <a:endParaRPr lang="en-US" dirty="0"/>
          </a:p>
        </p:txBody>
      </p:sp>
      <p:sp>
        <p:nvSpPr>
          <p:cNvPr id="4" name="Content Placeholder 3">
            <a:extLst>
              <a:ext uri="{FF2B5EF4-FFF2-40B4-BE49-F238E27FC236}">
                <a16:creationId xmlns:a16="http://schemas.microsoft.com/office/drawing/2014/main" id="{F3B9D0C2-85A7-EA16-FA40-09EA5A41125B}"/>
              </a:ext>
            </a:extLst>
          </p:cNvPr>
          <p:cNvSpPr>
            <a:spLocks noGrp="1"/>
          </p:cNvSpPr>
          <p:nvPr>
            <p:ph sz="quarter" idx="1"/>
          </p:nvPr>
        </p:nvSpPr>
        <p:spPr/>
        <p:txBody>
          <a:bodyPr/>
          <a:lstStyle/>
          <a:p>
            <a:r>
              <a:rPr lang="en-US" dirty="0"/>
              <a:t>GPT uses context-based embeddings rather than traditional word embeddings.</a:t>
            </a:r>
          </a:p>
          <a:p>
            <a:endParaRPr lang="en-US" dirty="0"/>
          </a:p>
          <a:p>
            <a:r>
              <a:rPr lang="en-US" dirty="0"/>
              <a:t>It captures word meaning in the context of the entire sentence.</a:t>
            </a:r>
          </a:p>
          <a:p>
            <a:endParaRPr lang="en-US" dirty="0"/>
          </a:p>
          <a:p>
            <a:endParaRPr lang="en-US" dirty="0"/>
          </a:p>
          <a:p>
            <a:endParaRPr lang="en-US" dirty="0"/>
          </a:p>
        </p:txBody>
      </p:sp>
    </p:spTree>
    <p:extLst>
      <p:ext uri="{BB962C8B-B14F-4D97-AF65-F5344CB8AC3E}">
        <p14:creationId xmlns:p14="http://schemas.microsoft.com/office/powerpoint/2010/main" val="35935569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6A7B6-D93B-61E4-B049-AA11276A126C}"/>
              </a:ext>
            </a:extLst>
          </p:cNvPr>
          <p:cNvSpPr>
            <a:spLocks noGrp="1"/>
          </p:cNvSpPr>
          <p:nvPr>
            <p:ph type="title"/>
          </p:nvPr>
        </p:nvSpPr>
        <p:spPr/>
        <p:txBody>
          <a:bodyPr>
            <a:noAutofit/>
          </a:bodyPr>
          <a:lstStyle/>
          <a:p>
            <a:r>
              <a:rPr lang="en-US" sz="3000" b="0" dirty="0"/>
              <a:t>2. What is the difference between Bert and word embeddings?</a:t>
            </a:r>
          </a:p>
        </p:txBody>
      </p:sp>
      <p:sp>
        <p:nvSpPr>
          <p:cNvPr id="3" name="Slide Number Placeholder 2">
            <a:extLst>
              <a:ext uri="{FF2B5EF4-FFF2-40B4-BE49-F238E27FC236}">
                <a16:creationId xmlns:a16="http://schemas.microsoft.com/office/drawing/2014/main" id="{CB865ECC-4F66-FE9B-781E-74CE1E95ECBE}"/>
              </a:ext>
            </a:extLst>
          </p:cNvPr>
          <p:cNvSpPr>
            <a:spLocks noGrp="1"/>
          </p:cNvSpPr>
          <p:nvPr>
            <p:ph type="sldNum" sz="quarter" idx="12"/>
          </p:nvPr>
        </p:nvSpPr>
        <p:spPr/>
        <p:txBody>
          <a:bodyPr>
            <a:normAutofit fontScale="85000" lnSpcReduction="20000"/>
          </a:bodyPr>
          <a:lstStyle/>
          <a:p>
            <a:fld id="{EBFB1032-EA64-7144-B003-9BCC9D94B503}" type="slidenum">
              <a:rPr lang="en-US" smtClean="0"/>
              <a:t>65</a:t>
            </a:fld>
            <a:endParaRPr lang="en-US" dirty="0"/>
          </a:p>
        </p:txBody>
      </p:sp>
      <p:sp>
        <p:nvSpPr>
          <p:cNvPr id="4" name="Content Placeholder 3">
            <a:extLst>
              <a:ext uri="{FF2B5EF4-FFF2-40B4-BE49-F238E27FC236}">
                <a16:creationId xmlns:a16="http://schemas.microsoft.com/office/drawing/2014/main" id="{16FAF4B0-DE58-3355-0B13-742C986539B8}"/>
              </a:ext>
            </a:extLst>
          </p:cNvPr>
          <p:cNvSpPr>
            <a:spLocks noGrp="1"/>
          </p:cNvSpPr>
          <p:nvPr>
            <p:ph sz="quarter" idx="1"/>
          </p:nvPr>
        </p:nvSpPr>
        <p:spPr/>
        <p:txBody>
          <a:bodyPr/>
          <a:lstStyle/>
          <a:p>
            <a:r>
              <a:rPr lang="en-US" dirty="0"/>
              <a:t>BERT is contextually aware, considering the entire sentence, while traditional word embeddings, like Word2Vec, treat each word independently.</a:t>
            </a:r>
          </a:p>
          <a:p>
            <a:endParaRPr lang="en-US" dirty="0"/>
          </a:p>
          <a:p>
            <a:endParaRPr lang="en-US" dirty="0"/>
          </a:p>
          <a:p>
            <a:endParaRPr lang="en-US" dirty="0"/>
          </a:p>
        </p:txBody>
      </p:sp>
    </p:spTree>
    <p:extLst>
      <p:ext uri="{BB962C8B-B14F-4D97-AF65-F5344CB8AC3E}">
        <p14:creationId xmlns:p14="http://schemas.microsoft.com/office/powerpoint/2010/main" val="24189047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71121-D4C5-97A2-D176-D9D1972D4428}"/>
              </a:ext>
            </a:extLst>
          </p:cNvPr>
          <p:cNvSpPr>
            <a:spLocks noGrp="1"/>
          </p:cNvSpPr>
          <p:nvPr>
            <p:ph type="title"/>
          </p:nvPr>
        </p:nvSpPr>
        <p:spPr/>
        <p:txBody>
          <a:bodyPr>
            <a:normAutofit/>
          </a:bodyPr>
          <a:lstStyle/>
          <a:p>
            <a:r>
              <a:rPr lang="en-US" dirty="0"/>
              <a:t>3. What are the two types of word embedding?</a:t>
            </a:r>
          </a:p>
        </p:txBody>
      </p:sp>
      <p:sp>
        <p:nvSpPr>
          <p:cNvPr id="3" name="Slide Number Placeholder 2">
            <a:extLst>
              <a:ext uri="{FF2B5EF4-FFF2-40B4-BE49-F238E27FC236}">
                <a16:creationId xmlns:a16="http://schemas.microsoft.com/office/drawing/2014/main" id="{87D747B8-EF9F-4BAD-9E5C-814847953647}"/>
              </a:ext>
            </a:extLst>
          </p:cNvPr>
          <p:cNvSpPr>
            <a:spLocks noGrp="1"/>
          </p:cNvSpPr>
          <p:nvPr>
            <p:ph type="sldNum" sz="quarter" idx="12"/>
          </p:nvPr>
        </p:nvSpPr>
        <p:spPr/>
        <p:txBody>
          <a:bodyPr>
            <a:normAutofit fontScale="85000" lnSpcReduction="20000"/>
          </a:bodyPr>
          <a:lstStyle/>
          <a:p>
            <a:fld id="{EBFB1032-EA64-7144-B003-9BCC9D94B503}" type="slidenum">
              <a:rPr lang="en-US" smtClean="0"/>
              <a:t>66</a:t>
            </a:fld>
            <a:endParaRPr lang="en-US" dirty="0"/>
          </a:p>
        </p:txBody>
      </p:sp>
      <p:sp>
        <p:nvSpPr>
          <p:cNvPr id="4" name="Content Placeholder 3">
            <a:extLst>
              <a:ext uri="{FF2B5EF4-FFF2-40B4-BE49-F238E27FC236}">
                <a16:creationId xmlns:a16="http://schemas.microsoft.com/office/drawing/2014/main" id="{E248F664-2669-CFB8-3277-CCA0FEF5E305}"/>
              </a:ext>
            </a:extLst>
          </p:cNvPr>
          <p:cNvSpPr>
            <a:spLocks noGrp="1"/>
          </p:cNvSpPr>
          <p:nvPr>
            <p:ph sz="quarter" idx="1"/>
          </p:nvPr>
        </p:nvSpPr>
        <p:spPr/>
        <p:txBody>
          <a:bodyPr/>
          <a:lstStyle/>
          <a:p>
            <a:r>
              <a:rPr lang="en-US" dirty="0"/>
              <a:t>Word embeddings can be broadly evaluated in two categories, intrinsic and extrinsic.</a:t>
            </a:r>
          </a:p>
          <a:p>
            <a:endParaRPr lang="en-US" dirty="0"/>
          </a:p>
          <a:p>
            <a:r>
              <a:rPr lang="en-US" dirty="0"/>
              <a:t>For intrinsic evaluation, word embeddings are used to calculate or predict semantic similarity between words, terms, or sentences.</a:t>
            </a:r>
          </a:p>
          <a:p>
            <a:endParaRPr lang="en-US" dirty="0"/>
          </a:p>
          <a:p>
            <a:endParaRPr lang="en-US" dirty="0"/>
          </a:p>
          <a:p>
            <a:endParaRPr lang="en-US" dirty="0"/>
          </a:p>
        </p:txBody>
      </p:sp>
    </p:spTree>
    <p:extLst>
      <p:ext uri="{BB962C8B-B14F-4D97-AF65-F5344CB8AC3E}">
        <p14:creationId xmlns:p14="http://schemas.microsoft.com/office/powerpoint/2010/main" val="14834951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18BEC-4040-E38A-03FF-BFA135904CAA}"/>
              </a:ext>
            </a:extLst>
          </p:cNvPr>
          <p:cNvSpPr>
            <a:spLocks noGrp="1"/>
          </p:cNvSpPr>
          <p:nvPr>
            <p:ph type="title"/>
          </p:nvPr>
        </p:nvSpPr>
        <p:spPr/>
        <p:txBody>
          <a:bodyPr>
            <a:normAutofit/>
          </a:bodyPr>
          <a:lstStyle/>
          <a:p>
            <a:r>
              <a:rPr lang="en-US" dirty="0"/>
              <a:t>4. How does word vectorization work?</a:t>
            </a:r>
          </a:p>
        </p:txBody>
      </p:sp>
      <p:sp>
        <p:nvSpPr>
          <p:cNvPr id="3" name="Slide Number Placeholder 2">
            <a:extLst>
              <a:ext uri="{FF2B5EF4-FFF2-40B4-BE49-F238E27FC236}">
                <a16:creationId xmlns:a16="http://schemas.microsoft.com/office/drawing/2014/main" id="{70BD4BF6-6DAD-B309-FFE0-4A17DC63462E}"/>
              </a:ext>
            </a:extLst>
          </p:cNvPr>
          <p:cNvSpPr>
            <a:spLocks noGrp="1"/>
          </p:cNvSpPr>
          <p:nvPr>
            <p:ph type="sldNum" sz="quarter" idx="12"/>
          </p:nvPr>
        </p:nvSpPr>
        <p:spPr/>
        <p:txBody>
          <a:bodyPr>
            <a:normAutofit fontScale="85000" lnSpcReduction="20000"/>
          </a:bodyPr>
          <a:lstStyle/>
          <a:p>
            <a:fld id="{EBFB1032-EA64-7144-B003-9BCC9D94B503}" type="slidenum">
              <a:rPr lang="en-US" smtClean="0"/>
              <a:t>67</a:t>
            </a:fld>
            <a:endParaRPr lang="en-US" dirty="0"/>
          </a:p>
        </p:txBody>
      </p:sp>
      <p:sp>
        <p:nvSpPr>
          <p:cNvPr id="4" name="Content Placeholder 3">
            <a:extLst>
              <a:ext uri="{FF2B5EF4-FFF2-40B4-BE49-F238E27FC236}">
                <a16:creationId xmlns:a16="http://schemas.microsoft.com/office/drawing/2014/main" id="{54EF6D42-4AF5-66B7-E410-BD9A0AB76ABF}"/>
              </a:ext>
            </a:extLst>
          </p:cNvPr>
          <p:cNvSpPr>
            <a:spLocks noGrp="1"/>
          </p:cNvSpPr>
          <p:nvPr>
            <p:ph sz="quarter" idx="1"/>
          </p:nvPr>
        </p:nvSpPr>
        <p:spPr/>
        <p:txBody>
          <a:bodyPr/>
          <a:lstStyle/>
          <a:p>
            <a:r>
              <a:rPr lang="en-US" dirty="0"/>
              <a:t>Word vectorization converts words into numerical vectors, capturing semantic relationships.</a:t>
            </a:r>
          </a:p>
          <a:p>
            <a:endParaRPr lang="en-US" dirty="0"/>
          </a:p>
          <a:p>
            <a:r>
              <a:rPr lang="en-US" dirty="0"/>
              <a:t>Techniques like TF-IDF, Word2Vec, and </a:t>
            </a:r>
            <a:r>
              <a:rPr lang="en-US" dirty="0" err="1"/>
              <a:t>GloVe</a:t>
            </a:r>
            <a:r>
              <a:rPr lang="en-US" dirty="0"/>
              <a:t> are common.</a:t>
            </a:r>
          </a:p>
          <a:p>
            <a:endParaRPr lang="en-US" dirty="0"/>
          </a:p>
          <a:p>
            <a:endParaRPr lang="en-US" dirty="0"/>
          </a:p>
          <a:p>
            <a:endParaRPr lang="en-US" dirty="0"/>
          </a:p>
        </p:txBody>
      </p:sp>
    </p:spTree>
    <p:extLst>
      <p:ext uri="{BB962C8B-B14F-4D97-AF65-F5344CB8AC3E}">
        <p14:creationId xmlns:p14="http://schemas.microsoft.com/office/powerpoint/2010/main" val="37876971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5B0D5-1DBE-6434-E46A-D42081B10EAB}"/>
              </a:ext>
            </a:extLst>
          </p:cNvPr>
          <p:cNvSpPr>
            <a:spLocks noGrp="1"/>
          </p:cNvSpPr>
          <p:nvPr>
            <p:ph type="title"/>
          </p:nvPr>
        </p:nvSpPr>
        <p:spPr/>
        <p:txBody>
          <a:bodyPr>
            <a:normAutofit/>
          </a:bodyPr>
          <a:lstStyle/>
          <a:p>
            <a:r>
              <a:rPr lang="en-US" dirty="0"/>
              <a:t>5. What are the benefits of word embeddings?</a:t>
            </a:r>
          </a:p>
        </p:txBody>
      </p:sp>
      <p:sp>
        <p:nvSpPr>
          <p:cNvPr id="3" name="Slide Number Placeholder 2">
            <a:extLst>
              <a:ext uri="{FF2B5EF4-FFF2-40B4-BE49-F238E27FC236}">
                <a16:creationId xmlns:a16="http://schemas.microsoft.com/office/drawing/2014/main" id="{4A6FD258-B6CD-DBBE-B44A-67671B456C0F}"/>
              </a:ext>
            </a:extLst>
          </p:cNvPr>
          <p:cNvSpPr>
            <a:spLocks noGrp="1"/>
          </p:cNvSpPr>
          <p:nvPr>
            <p:ph type="sldNum" sz="quarter" idx="12"/>
          </p:nvPr>
        </p:nvSpPr>
        <p:spPr/>
        <p:txBody>
          <a:bodyPr>
            <a:normAutofit fontScale="85000" lnSpcReduction="20000"/>
          </a:bodyPr>
          <a:lstStyle/>
          <a:p>
            <a:fld id="{EBFB1032-EA64-7144-B003-9BCC9D94B503}" type="slidenum">
              <a:rPr lang="en-US" smtClean="0"/>
              <a:t>68</a:t>
            </a:fld>
            <a:endParaRPr lang="en-US" dirty="0"/>
          </a:p>
        </p:txBody>
      </p:sp>
      <p:sp>
        <p:nvSpPr>
          <p:cNvPr id="4" name="Content Placeholder 3">
            <a:extLst>
              <a:ext uri="{FF2B5EF4-FFF2-40B4-BE49-F238E27FC236}">
                <a16:creationId xmlns:a16="http://schemas.microsoft.com/office/drawing/2014/main" id="{B8DEB1E7-6F9F-E848-1F4C-C45681040876}"/>
              </a:ext>
            </a:extLst>
          </p:cNvPr>
          <p:cNvSpPr>
            <a:spLocks noGrp="1"/>
          </p:cNvSpPr>
          <p:nvPr>
            <p:ph sz="quarter" idx="1"/>
          </p:nvPr>
        </p:nvSpPr>
        <p:spPr/>
        <p:txBody>
          <a:bodyPr/>
          <a:lstStyle/>
          <a:p>
            <a:r>
              <a:rPr lang="en-US" dirty="0"/>
              <a:t>Word embeddings offer semantic understanding, capture context, and enhance NLP tasks.</a:t>
            </a:r>
          </a:p>
          <a:p>
            <a:endParaRPr lang="en-US" dirty="0"/>
          </a:p>
          <a:p>
            <a:r>
              <a:rPr lang="en-US" dirty="0"/>
              <a:t>They reduce dimensionality, speed up training, and aid in language pattern recognition.</a:t>
            </a:r>
          </a:p>
          <a:p>
            <a:endParaRPr lang="en-US" dirty="0"/>
          </a:p>
          <a:p>
            <a:endParaRPr lang="en-US" dirty="0"/>
          </a:p>
          <a:p>
            <a:endParaRPr lang="en-US" dirty="0"/>
          </a:p>
        </p:txBody>
      </p:sp>
    </p:spTree>
    <p:extLst>
      <p:ext uri="{BB962C8B-B14F-4D97-AF65-F5344CB8AC3E}">
        <p14:creationId xmlns:p14="http://schemas.microsoft.com/office/powerpoint/2010/main" val="36297802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262A1-3E4C-61A5-FE27-025F765FE250}"/>
              </a:ext>
            </a:extLst>
          </p:cNvPr>
          <p:cNvSpPr>
            <a:spLocks noGrp="1"/>
          </p:cNvSpPr>
          <p:nvPr>
            <p:ph type="title"/>
          </p:nvPr>
        </p:nvSpPr>
        <p:spPr/>
        <p:txBody>
          <a:bodyPr>
            <a:normAutofit/>
          </a:bodyPr>
          <a:lstStyle/>
          <a:p>
            <a:r>
              <a:rPr lang="en-US" dirty="0"/>
              <a:t>Summary</a:t>
            </a:r>
          </a:p>
        </p:txBody>
      </p:sp>
      <p:sp>
        <p:nvSpPr>
          <p:cNvPr id="3" name="Slide Number Placeholder 2">
            <a:extLst>
              <a:ext uri="{FF2B5EF4-FFF2-40B4-BE49-F238E27FC236}">
                <a16:creationId xmlns:a16="http://schemas.microsoft.com/office/drawing/2014/main" id="{ED645274-1920-5110-05FC-F96109D3838B}"/>
              </a:ext>
            </a:extLst>
          </p:cNvPr>
          <p:cNvSpPr>
            <a:spLocks noGrp="1"/>
          </p:cNvSpPr>
          <p:nvPr>
            <p:ph type="sldNum" sz="quarter" idx="12"/>
          </p:nvPr>
        </p:nvSpPr>
        <p:spPr/>
        <p:txBody>
          <a:bodyPr>
            <a:normAutofit fontScale="85000" lnSpcReduction="20000"/>
          </a:bodyPr>
          <a:lstStyle/>
          <a:p>
            <a:fld id="{EBFB1032-EA64-7144-B003-9BCC9D94B503}" type="slidenum">
              <a:rPr lang="en-US" smtClean="0"/>
              <a:t>69</a:t>
            </a:fld>
            <a:endParaRPr lang="en-US" dirty="0"/>
          </a:p>
        </p:txBody>
      </p:sp>
      <p:sp>
        <p:nvSpPr>
          <p:cNvPr id="4" name="Content Placeholder 3">
            <a:extLst>
              <a:ext uri="{FF2B5EF4-FFF2-40B4-BE49-F238E27FC236}">
                <a16:creationId xmlns:a16="http://schemas.microsoft.com/office/drawing/2014/main" id="{4423FF87-D19D-4091-DB3B-B438A716399D}"/>
              </a:ext>
            </a:extLst>
          </p:cNvPr>
          <p:cNvSpPr>
            <a:spLocks noGrp="1"/>
          </p:cNvSpPr>
          <p:nvPr>
            <p:ph sz="quarter" idx="1"/>
          </p:nvPr>
        </p:nvSpPr>
        <p:spPr/>
        <p:txBody>
          <a:bodyPr>
            <a:noAutofit/>
          </a:bodyPr>
          <a:lstStyle/>
          <a:p>
            <a:pPr>
              <a:lnSpc>
                <a:spcPct val="80000"/>
              </a:lnSpc>
              <a:spcBef>
                <a:spcPts val="0"/>
              </a:spcBef>
            </a:pPr>
            <a:r>
              <a:rPr lang="en-US" sz="2300" dirty="0"/>
              <a:t>LLMs require textual data to be converted into numerical vectors, known as embeddings, since they can’t process raw text.</a:t>
            </a:r>
          </a:p>
          <a:p>
            <a:pPr>
              <a:lnSpc>
                <a:spcPct val="80000"/>
              </a:lnSpc>
              <a:spcBef>
                <a:spcPts val="0"/>
              </a:spcBef>
            </a:pPr>
            <a:endParaRPr lang="en-US" sz="2300" dirty="0"/>
          </a:p>
          <a:p>
            <a:pPr>
              <a:lnSpc>
                <a:spcPct val="80000"/>
              </a:lnSpc>
              <a:spcBef>
                <a:spcPts val="0"/>
              </a:spcBef>
            </a:pPr>
            <a:r>
              <a:rPr lang="en-US" sz="2300" dirty="0"/>
              <a:t>Embeddings transform discrete data (like words or images) into continuous vector spaces, making them compatible with neural network operations.</a:t>
            </a:r>
          </a:p>
          <a:p>
            <a:pPr>
              <a:lnSpc>
                <a:spcPct val="80000"/>
              </a:lnSpc>
              <a:spcBef>
                <a:spcPts val="0"/>
              </a:spcBef>
            </a:pPr>
            <a:endParaRPr lang="en-US" sz="2300" dirty="0"/>
          </a:p>
          <a:p>
            <a:pPr>
              <a:lnSpc>
                <a:spcPct val="80000"/>
              </a:lnSpc>
              <a:spcBef>
                <a:spcPts val="0"/>
              </a:spcBef>
            </a:pPr>
            <a:r>
              <a:rPr lang="en-US" sz="2300" dirty="0"/>
              <a:t>As the first step, raw text is broken into tokens, which can be words or characters.</a:t>
            </a:r>
          </a:p>
          <a:p>
            <a:pPr>
              <a:lnSpc>
                <a:spcPct val="80000"/>
              </a:lnSpc>
              <a:spcBef>
                <a:spcPts val="0"/>
              </a:spcBef>
            </a:pPr>
            <a:endParaRPr lang="en-US" sz="2300" dirty="0"/>
          </a:p>
          <a:p>
            <a:pPr>
              <a:lnSpc>
                <a:spcPct val="80000"/>
              </a:lnSpc>
              <a:spcBef>
                <a:spcPts val="0"/>
              </a:spcBef>
            </a:pPr>
            <a:r>
              <a:rPr lang="en-US" sz="2300" dirty="0"/>
              <a:t>Then, the tokens are converted into integer representations, termed token IDs.</a:t>
            </a:r>
          </a:p>
          <a:p>
            <a:pPr>
              <a:lnSpc>
                <a:spcPct val="80000"/>
              </a:lnSpc>
              <a:spcBef>
                <a:spcPts val="0"/>
              </a:spcBef>
            </a:pPr>
            <a:endParaRPr lang="en-US" sz="2300" dirty="0"/>
          </a:p>
          <a:p>
            <a:pPr>
              <a:lnSpc>
                <a:spcPct val="80000"/>
              </a:lnSpc>
              <a:spcBef>
                <a:spcPts val="0"/>
              </a:spcBef>
            </a:pPr>
            <a:r>
              <a:rPr lang="en-US" sz="2300" dirty="0"/>
              <a:t>Special tokens, such as &lt;|</a:t>
            </a:r>
            <a:r>
              <a:rPr lang="en-US" sz="2300" dirty="0" err="1"/>
              <a:t>unk</a:t>
            </a:r>
            <a:r>
              <a:rPr lang="en-US" sz="2300" dirty="0"/>
              <a:t>|&gt; and &lt;|</a:t>
            </a:r>
            <a:r>
              <a:rPr lang="en-US" sz="2300" dirty="0" err="1"/>
              <a:t>endoftext</a:t>
            </a:r>
            <a:r>
              <a:rPr lang="en-US" sz="2300" dirty="0"/>
              <a:t>|&gt;, can be added to enhance the model’s understanding and handle various contexts, such as unknown words or marking the boundary between unrelated texts.</a:t>
            </a:r>
          </a:p>
          <a:p>
            <a:pPr>
              <a:lnSpc>
                <a:spcPct val="80000"/>
              </a:lnSpc>
              <a:spcBef>
                <a:spcPts val="0"/>
              </a:spcBef>
            </a:pPr>
            <a:endParaRPr lang="en-US" sz="2300" dirty="0"/>
          </a:p>
          <a:p>
            <a:pPr>
              <a:lnSpc>
                <a:spcPct val="80000"/>
              </a:lnSpc>
              <a:spcBef>
                <a:spcPts val="0"/>
              </a:spcBef>
            </a:pPr>
            <a:r>
              <a:rPr lang="en-US" sz="2300" dirty="0"/>
              <a:t>The byte pair encoding (BPE) tokenizer used for LLMs like GPT-2 and GPT-3 can efficiently handle unknown words by breaking them down into </a:t>
            </a:r>
            <a:r>
              <a:rPr lang="en-US" sz="2300" dirty="0" err="1"/>
              <a:t>subword</a:t>
            </a:r>
            <a:r>
              <a:rPr lang="en-US" sz="2300" dirty="0"/>
              <a:t> units or individual characters.</a:t>
            </a:r>
          </a:p>
        </p:txBody>
      </p:sp>
    </p:spTree>
    <p:extLst>
      <p:ext uri="{BB962C8B-B14F-4D97-AF65-F5344CB8AC3E}">
        <p14:creationId xmlns:p14="http://schemas.microsoft.com/office/powerpoint/2010/main" val="11084287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01240-10E7-8041-72A4-91F0369805AD}"/>
              </a:ext>
            </a:extLst>
          </p:cNvPr>
          <p:cNvSpPr>
            <a:spLocks noGrp="1"/>
          </p:cNvSpPr>
          <p:nvPr>
            <p:ph type="title"/>
          </p:nvPr>
        </p:nvSpPr>
        <p:spPr/>
        <p:txBody>
          <a:bodyPr/>
          <a:lstStyle/>
          <a:p>
            <a:r>
              <a:rPr lang="en-US" dirty="0"/>
              <a:t>Cont’d</a:t>
            </a:r>
          </a:p>
        </p:txBody>
      </p:sp>
      <p:sp>
        <p:nvSpPr>
          <p:cNvPr id="3" name="Slide Number Placeholder 2">
            <a:extLst>
              <a:ext uri="{FF2B5EF4-FFF2-40B4-BE49-F238E27FC236}">
                <a16:creationId xmlns:a16="http://schemas.microsoft.com/office/drawing/2014/main" id="{5D7B0CE3-893B-3867-232B-9D97E40B4590}"/>
              </a:ext>
            </a:extLst>
          </p:cNvPr>
          <p:cNvSpPr>
            <a:spLocks noGrp="1"/>
          </p:cNvSpPr>
          <p:nvPr>
            <p:ph type="sldNum" sz="quarter" idx="12"/>
          </p:nvPr>
        </p:nvSpPr>
        <p:spPr/>
        <p:txBody>
          <a:bodyPr>
            <a:normAutofit fontScale="85000" lnSpcReduction="20000"/>
          </a:bodyPr>
          <a:lstStyle/>
          <a:p>
            <a:fld id="{EBFB1032-EA64-7144-B003-9BCC9D94B503}" type="slidenum">
              <a:rPr lang="en-US" smtClean="0"/>
              <a:t>70</a:t>
            </a:fld>
            <a:endParaRPr lang="en-US" dirty="0"/>
          </a:p>
        </p:txBody>
      </p:sp>
      <p:sp>
        <p:nvSpPr>
          <p:cNvPr id="4" name="Content Placeholder 3">
            <a:extLst>
              <a:ext uri="{FF2B5EF4-FFF2-40B4-BE49-F238E27FC236}">
                <a16:creationId xmlns:a16="http://schemas.microsoft.com/office/drawing/2014/main" id="{7494D969-A15C-0126-FD76-57D92C89EE7B}"/>
              </a:ext>
            </a:extLst>
          </p:cNvPr>
          <p:cNvSpPr>
            <a:spLocks noGrp="1"/>
          </p:cNvSpPr>
          <p:nvPr>
            <p:ph sz="quarter" idx="1"/>
          </p:nvPr>
        </p:nvSpPr>
        <p:spPr/>
        <p:txBody>
          <a:bodyPr>
            <a:normAutofit/>
          </a:bodyPr>
          <a:lstStyle/>
          <a:p>
            <a:r>
              <a:rPr lang="en-US" sz="2300" dirty="0"/>
              <a:t>We use a sliding window approach on tokenized data to generate input–target pairs for LLM training.</a:t>
            </a:r>
          </a:p>
          <a:p>
            <a:r>
              <a:rPr lang="en-US" sz="2300" dirty="0"/>
              <a:t>Embedding layers in </a:t>
            </a:r>
            <a:r>
              <a:rPr lang="en-US" sz="2300" dirty="0" err="1"/>
              <a:t>PyTorch</a:t>
            </a:r>
            <a:r>
              <a:rPr lang="en-US" sz="2300" dirty="0"/>
              <a:t> function as a lookup operation, retrieving vectors corresponding to token IDs.</a:t>
            </a:r>
          </a:p>
          <a:p>
            <a:r>
              <a:rPr lang="en-US" sz="2300" dirty="0"/>
              <a:t>The resulting embedding vectors provide continuous representations of tokens, which is crucial for training deep learning models like LLMs.</a:t>
            </a:r>
          </a:p>
          <a:p>
            <a:r>
              <a:rPr lang="en-US" sz="2300" dirty="0"/>
              <a:t>While token embeddings provide consistent vector representations for each token, they lack a sense of the token’s position in a sequence.</a:t>
            </a:r>
          </a:p>
          <a:p>
            <a:r>
              <a:rPr lang="en-US" sz="2300" dirty="0"/>
              <a:t>To rectify this, two main types of positional embeddings exist: absolute and relative.</a:t>
            </a:r>
          </a:p>
          <a:p>
            <a:r>
              <a:rPr lang="en-US" sz="2300" dirty="0"/>
              <a:t>OpenAI’s GPT models utilize absolute positional embeddings, which are added to the token embedding vectors and are optimized during the model </a:t>
            </a:r>
            <a:r>
              <a:rPr lang="en-US" sz="2300"/>
              <a:t>training.</a:t>
            </a:r>
            <a:endParaRPr lang="en-US" sz="2300" dirty="0"/>
          </a:p>
        </p:txBody>
      </p:sp>
    </p:spTree>
    <p:extLst>
      <p:ext uri="{BB962C8B-B14F-4D97-AF65-F5344CB8AC3E}">
        <p14:creationId xmlns:p14="http://schemas.microsoft.com/office/powerpoint/2010/main" val="208893920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emplate>Facet</Template>
  <TotalTime>9630</TotalTime>
  <Words>4007</Words>
  <Application>Microsoft Office PowerPoint</Application>
  <PresentationFormat>On-screen Show (4:3)</PresentationFormat>
  <Paragraphs>443</Paragraphs>
  <Slides>70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70</vt:i4>
      </vt:variant>
    </vt:vector>
  </HeadingPairs>
  <TitlesOfParts>
    <vt:vector size="77" baseType="lpstr">
      <vt:lpstr>Arial Narrow</vt:lpstr>
      <vt:lpstr>Calibri</vt:lpstr>
      <vt:lpstr>Courier New</vt:lpstr>
      <vt:lpstr>Tw Cen MT</vt:lpstr>
      <vt:lpstr>Wingdings</vt:lpstr>
      <vt:lpstr>Wingdings 2</vt:lpstr>
      <vt:lpstr>Median</vt:lpstr>
      <vt:lpstr>Word Embeddings</vt:lpstr>
      <vt:lpstr>What is Word Embedding in NLP?</vt:lpstr>
      <vt:lpstr>Methods</vt:lpstr>
      <vt:lpstr>Need for Word Embedding?</vt:lpstr>
      <vt:lpstr>How are Word Embeddings used?</vt:lpstr>
      <vt:lpstr>PowerPoint Presentation</vt:lpstr>
      <vt:lpstr>Approaches for Text Representation</vt:lpstr>
      <vt:lpstr>1.1. One-Hot Encoding</vt:lpstr>
      <vt:lpstr>PowerPoint Presentation</vt:lpstr>
      <vt:lpstr>PowerPoint Presentation</vt:lpstr>
      <vt:lpstr>Disadvantages of one-hot encoding</vt:lpstr>
      <vt:lpstr>1.2. Bag of Word (Bow)</vt:lpstr>
      <vt:lpstr>Sample Program</vt:lpstr>
      <vt:lpstr>Sample Output</vt:lpstr>
      <vt:lpstr>Disadvantages of BoW</vt:lpstr>
      <vt:lpstr>Example: Sample paragraph for BoW</vt:lpstr>
      <vt:lpstr>Step #1 : We will first preprocess the data</vt:lpstr>
      <vt:lpstr>Output: Preprocessed text</vt:lpstr>
      <vt:lpstr>Step #2 : Obtaining most frequent words in our text</vt:lpstr>
      <vt:lpstr>Output: Bag of Words dictionary</vt:lpstr>
      <vt:lpstr>Step #2.5: select the most frequently used words</vt:lpstr>
      <vt:lpstr>Step #3 : Building the Bag of Words model</vt:lpstr>
      <vt:lpstr>Output: BoW model</vt:lpstr>
      <vt:lpstr>1.3. Term frequency-inverse document frequency (TF-IDF)</vt:lpstr>
      <vt:lpstr>Where is it used?</vt:lpstr>
      <vt:lpstr>TF-IDF consists of two components:</vt:lpstr>
      <vt:lpstr>weighting scheme</vt:lpstr>
      <vt:lpstr>Formula</vt:lpstr>
      <vt:lpstr>Term Frequency</vt:lpstr>
      <vt:lpstr>Inverse document Frequency</vt:lpstr>
      <vt:lpstr>TFIDF Calculation</vt:lpstr>
      <vt:lpstr>Example</vt:lpstr>
      <vt:lpstr>Calculation</vt:lpstr>
      <vt:lpstr>Sample Implementation</vt:lpstr>
      <vt:lpstr>PowerPoint Presentation</vt:lpstr>
      <vt:lpstr>Output</vt:lpstr>
      <vt:lpstr>Why is TF-IDF Useful in this Example?</vt:lpstr>
      <vt:lpstr>Disadvantages of TF-IDF</vt:lpstr>
      <vt:lpstr>Neural Approach</vt:lpstr>
      <vt:lpstr>2.1. Word2Vec</vt:lpstr>
      <vt:lpstr>There are 2 neural embedding methods for Word2Vec</vt:lpstr>
      <vt:lpstr>2.2. Continuous Bag of Words(CBOW)</vt:lpstr>
      <vt:lpstr>CBOW is a feedforward neural network with a single hidden layer</vt:lpstr>
      <vt:lpstr>PowerPoint Presentation</vt:lpstr>
      <vt:lpstr>2.3. Skip-Gram</vt:lpstr>
      <vt:lpstr>PowerPoint Presentation</vt:lpstr>
      <vt:lpstr>CBOW or Skip-gram?</vt:lpstr>
      <vt:lpstr>Pretrained Word-Embedding</vt:lpstr>
      <vt:lpstr>3.1. GloVe</vt:lpstr>
      <vt:lpstr>Example:</vt:lpstr>
      <vt:lpstr>PowerPoint Presentation</vt:lpstr>
      <vt:lpstr>Initially, the vectors for each word is assigned randomly</vt:lpstr>
      <vt:lpstr>Vector Space</vt:lpstr>
      <vt:lpstr>Output:</vt:lpstr>
      <vt:lpstr>3.2. Fasttext</vt:lpstr>
      <vt:lpstr>Sample Code</vt:lpstr>
      <vt:lpstr>3.3. BERT (Bidirectional Encoder Representations from Transformers)</vt:lpstr>
      <vt:lpstr>Sample Code:</vt:lpstr>
      <vt:lpstr>Output:</vt:lpstr>
      <vt:lpstr>Considerations for Deploying Word Embedding Models</vt:lpstr>
      <vt:lpstr>Advantages of Word Embeddings</vt:lpstr>
      <vt:lpstr>Disadvantages of Word Embeddings</vt:lpstr>
      <vt:lpstr>Conclusion</vt:lpstr>
      <vt:lpstr>1. Does GPT use word embeddings?</vt:lpstr>
      <vt:lpstr>2. What is the difference between Bert and word embeddings?</vt:lpstr>
      <vt:lpstr>3. What are the two types of word embedding?</vt:lpstr>
      <vt:lpstr>4. How does word vectorization work?</vt:lpstr>
      <vt:lpstr>5. What are the benefits of word embeddings?</vt:lpstr>
      <vt:lpstr>Summary</vt:lpstr>
      <vt:lpstr>Cont’d</vt:lpstr>
    </vt:vector>
  </TitlesOfParts>
  <Company>WPI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Mohamed Eltabakh</dc:creator>
  <cp:lastModifiedBy>Ozbek, Yusuf</cp:lastModifiedBy>
  <cp:revision>1194</cp:revision>
  <dcterms:created xsi:type="dcterms:W3CDTF">2013-01-13T20:33:29Z</dcterms:created>
  <dcterms:modified xsi:type="dcterms:W3CDTF">2025-05-29T03:44:53Z</dcterms:modified>
</cp:coreProperties>
</file>