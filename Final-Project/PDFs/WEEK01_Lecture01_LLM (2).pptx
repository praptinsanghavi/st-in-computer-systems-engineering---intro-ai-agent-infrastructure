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60"/>
  </p:notesMasterIdLst>
  <p:handoutMasterIdLst>
    <p:handoutMasterId r:id="rId61"/>
  </p:handoutMasterIdLst>
  <p:sldIdLst>
    <p:sldId id="289" r:id="rId2"/>
    <p:sldId id="290" r:id="rId3"/>
    <p:sldId id="291" r:id="rId4"/>
    <p:sldId id="292" r:id="rId5"/>
    <p:sldId id="293" r:id="rId6"/>
    <p:sldId id="294" r:id="rId7"/>
    <p:sldId id="295" r:id="rId8"/>
    <p:sldId id="338" r:id="rId9"/>
    <p:sldId id="297" r:id="rId10"/>
    <p:sldId id="298" r:id="rId11"/>
    <p:sldId id="299" r:id="rId12"/>
    <p:sldId id="300" r:id="rId13"/>
    <p:sldId id="340" r:id="rId14"/>
    <p:sldId id="339" r:id="rId15"/>
    <p:sldId id="302" r:id="rId16"/>
    <p:sldId id="303" r:id="rId17"/>
    <p:sldId id="304" r:id="rId18"/>
    <p:sldId id="305" r:id="rId19"/>
    <p:sldId id="306" r:id="rId20"/>
    <p:sldId id="307" r:id="rId21"/>
    <p:sldId id="308" r:id="rId22"/>
    <p:sldId id="309" r:id="rId23"/>
    <p:sldId id="310" r:id="rId24"/>
    <p:sldId id="311" r:id="rId25"/>
    <p:sldId id="342" r:id="rId26"/>
    <p:sldId id="313" r:id="rId27"/>
    <p:sldId id="314" r:id="rId28"/>
    <p:sldId id="315" r:id="rId29"/>
    <p:sldId id="343" r:id="rId30"/>
    <p:sldId id="317" r:id="rId31"/>
    <p:sldId id="344" r:id="rId32"/>
    <p:sldId id="345" r:id="rId33"/>
    <p:sldId id="319" r:id="rId34"/>
    <p:sldId id="320" r:id="rId35"/>
    <p:sldId id="321" r:id="rId36"/>
    <p:sldId id="322" r:id="rId37"/>
    <p:sldId id="323" r:id="rId38"/>
    <p:sldId id="346" r:id="rId39"/>
    <p:sldId id="324" r:id="rId40"/>
    <p:sldId id="347" r:id="rId41"/>
    <p:sldId id="325" r:id="rId42"/>
    <p:sldId id="348" r:id="rId43"/>
    <p:sldId id="326" r:id="rId44"/>
    <p:sldId id="349" r:id="rId45"/>
    <p:sldId id="350" r:id="rId46"/>
    <p:sldId id="328" r:id="rId47"/>
    <p:sldId id="329" r:id="rId48"/>
    <p:sldId id="351" r:id="rId49"/>
    <p:sldId id="330" r:id="rId50"/>
    <p:sldId id="331" r:id="rId51"/>
    <p:sldId id="334" r:id="rId52"/>
    <p:sldId id="332" r:id="rId53"/>
    <p:sldId id="352" r:id="rId54"/>
    <p:sldId id="335" r:id="rId55"/>
    <p:sldId id="336" r:id="rId56"/>
    <p:sldId id="337" r:id="rId57"/>
    <p:sldId id="341" r:id="rId58"/>
    <p:sldId id="353"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B9"/>
    <a:srgbClr val="FFFF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173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D9761D-1F95-3B4C-BE9C-CDD1389A8812}" type="datetimeFigureOut">
              <a:rPr lang="en-US" smtClean="0"/>
              <a:t>8/20/2025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ADCD51-711A-044D-9B2C-C47F74A9A11F}" type="slidenum">
              <a:rPr lang="en-US" smtClean="0"/>
              <a:t>‹#›</a:t>
            </a:fld>
            <a:endParaRPr lang="en-US"/>
          </a:p>
        </p:txBody>
      </p:sp>
    </p:spTree>
    <p:extLst>
      <p:ext uri="{BB962C8B-B14F-4D97-AF65-F5344CB8AC3E}">
        <p14:creationId xmlns:p14="http://schemas.microsoft.com/office/powerpoint/2010/main" val="8548955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5A596-FA52-0448-9C24-EA3FEFB30C0E}" type="datetimeFigureOut">
              <a:rPr lang="en-US" smtClean="0"/>
              <a:t>8/20/2025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4C5791-7364-9E4F-986D-297FD347B6DE}" type="slidenum">
              <a:rPr lang="en-US" smtClean="0"/>
              <a:t>‹#›</a:t>
            </a:fld>
            <a:endParaRPr lang="en-US"/>
          </a:p>
        </p:txBody>
      </p:sp>
    </p:spTree>
    <p:extLst>
      <p:ext uri="{BB962C8B-B14F-4D97-AF65-F5344CB8AC3E}">
        <p14:creationId xmlns:p14="http://schemas.microsoft.com/office/powerpoint/2010/main" val="6151994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164A81-75B2-194C-A843-C64EC5C16B31}" type="datetime1">
              <a:rPr lang="en-US" smtClean="0"/>
              <a:t>8/20/2025</a:t>
            </a:fld>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A84A37A-AFC2-4A01-80A1-FC20F2C0D5B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315" y="228600"/>
            <a:ext cx="8943473" cy="990600"/>
          </a:xfrm>
        </p:spPr>
        <p:txBody>
          <a:bodyPr>
            <a:normAutofit/>
          </a:bodyPr>
          <a:lstStyle>
            <a:lvl1pPr>
              <a:defRPr sz="3800" b="1">
                <a:latin typeface="Arial Narrow" panose="020B0606020202030204" pitchFamily="34" charset="0"/>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
        <p:nvSpPr>
          <p:cNvPr id="8" name="Content Placeholder 7"/>
          <p:cNvSpPr>
            <a:spLocks noGrp="1"/>
          </p:cNvSpPr>
          <p:nvPr>
            <p:ph sz="quarter" idx="1"/>
          </p:nvPr>
        </p:nvSpPr>
        <p:spPr>
          <a:xfrm>
            <a:off x="120315" y="1600200"/>
            <a:ext cx="8943473" cy="5153526"/>
          </a:xfrm>
        </p:spPr>
        <p:txBody>
          <a:bodyPr>
            <a:normAutofit/>
          </a:bodyPr>
          <a:lstStyle>
            <a:lvl1pPr>
              <a:defRPr sz="2400">
                <a:latin typeface="Arial Narrow" panose="020B0606020202030204" pitchFamily="34" charset="0"/>
              </a:defRPr>
            </a:lvl1pPr>
            <a:lvl2pPr>
              <a:defRPr sz="2400">
                <a:latin typeface="Arial Narrow" panose="020B0606020202030204" pitchFamily="34" charset="0"/>
              </a:defRPr>
            </a:lvl2pPr>
            <a:lvl3pPr>
              <a:defRPr sz="2400">
                <a:latin typeface="Arial Narrow" panose="020B0606020202030204" pitchFamily="34" charset="0"/>
              </a:defRPr>
            </a:lvl3pPr>
            <a:lvl4pPr>
              <a:defRPr sz="2400">
                <a:latin typeface="Arial Narrow" panose="020B0606020202030204" pitchFamily="34" charset="0"/>
              </a:defRPr>
            </a:lvl4pPr>
            <a:lvl5pPr>
              <a:defRPr sz="2400">
                <a:latin typeface="Arial Narrow" panose="020B0606020202030204"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DF00D79-2A23-4C40-804A-C01F394F0C72}" type="datetime1">
              <a:rPr lang="en-US" smtClean="0"/>
              <a:t>8/20/2025</a:t>
            </a:fld>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0674B835-C713-9846-B110-24995DE671EF}" type="datetime1">
              <a:rPr lang="en-US" smtClean="0"/>
              <a:t>8/20/2025</a:t>
            </a:fld>
            <a:endParaRPr lang="en-US" dirty="0"/>
          </a:p>
        </p:txBody>
      </p:sp>
      <p:sp>
        <p:nvSpPr>
          <p:cNvPr id="10" name="Slide Number Placeholder 9"/>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D0393BC9-E94F-5B47-BD76-EECA0CBE7CA1}" type="datetime1">
              <a:rPr lang="en-US" smtClean="0"/>
              <a:t>8/20/2025</a:t>
            </a:fld>
            <a:endParaRPr lang="en-US" dirty="0"/>
          </a:p>
        </p:txBody>
      </p:sp>
      <p:sp>
        <p:nvSpPr>
          <p:cNvPr id="12" name="Slide Number Placeholder 11"/>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F308A2-EBB5-744B-B5B4-7699A7EC7B98}" type="datetime1">
              <a:rPr lang="en-US" smtClean="0"/>
              <a:t>8/20/2025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9872E7-27FD-CA40-8E81-E7A5851A1F00}" type="datetime1">
              <a:rPr lang="en-US" smtClean="0"/>
              <a:t>8/20/2025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BFB1032-EA64-7144-B003-9BCC9D94B50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0F37C8EB-B6A2-A747-83AD-60E35A0235F5}" type="datetime1">
              <a:rPr lang="en-US" smtClean="0"/>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A84A37A-AFC2-4A01-80A1-FC20F2C0D5BB}"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D6682E5-7E97-2F44-B961-B3631B15779F}" type="datetime1">
              <a:rPr lang="en-US" smtClean="0"/>
              <a:t>8/20/2025</a:t>
            </a:fld>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0DD67E5-F24F-664E-AC9C-26173D2CF6BA}" type="datetime1">
              <a:rPr lang="en-US" smtClean="0"/>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FB1032-EA64-7144-B003-9BCC9D94B50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5DF139F-CB8F-D149-BA56-8B0C015E5021}" type="datetime1">
              <a:rPr lang="en-US" smtClean="0"/>
              <a:t>8/20/2025</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BFB1032-EA64-7144-B003-9BCC9D94B503}"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6F81F14-9AEC-394B-B8F6-AE69A194437D}" type="datetime1">
              <a:rPr lang="en-US" smtClean="0"/>
              <a:t>8/20/2025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BFB1032-EA64-7144-B003-9BCC9D94B50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arxiv.org/abs/1706.03762"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arxiv.org/abs/2402.00159"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mng.bz/VxEW"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mng.bz/x2qg"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arxiv.org/abs/2203.02155"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9AE79-9D74-7953-DBC3-B857B09F365E}"/>
              </a:ext>
            </a:extLst>
          </p:cNvPr>
          <p:cNvSpPr>
            <a:spLocks noGrp="1"/>
          </p:cNvSpPr>
          <p:nvPr>
            <p:ph type="title"/>
          </p:nvPr>
        </p:nvSpPr>
        <p:spPr>
          <a:xfrm>
            <a:off x="120315" y="228600"/>
            <a:ext cx="8943473" cy="990600"/>
          </a:xfrm>
        </p:spPr>
        <p:txBody>
          <a:bodyPr>
            <a:normAutofit/>
          </a:bodyPr>
          <a:lstStyle/>
          <a:p>
            <a:r>
              <a:rPr lang="en-US" dirty="0"/>
              <a:t>LLM</a:t>
            </a:r>
          </a:p>
        </p:txBody>
      </p:sp>
      <p:sp>
        <p:nvSpPr>
          <p:cNvPr id="3" name="Slide Number Placeholder 2">
            <a:extLst>
              <a:ext uri="{FF2B5EF4-FFF2-40B4-BE49-F238E27FC236}">
                <a16:creationId xmlns:a16="http://schemas.microsoft.com/office/drawing/2014/main" id="{B524D8BB-4F76-309C-2175-0D98C80F764C}"/>
              </a:ext>
            </a:extLst>
          </p:cNvPr>
          <p:cNvSpPr>
            <a:spLocks noGrp="1"/>
          </p:cNvSpPr>
          <p:nvPr>
            <p:ph type="sldNum" sz="quarter" idx="12"/>
          </p:nvPr>
        </p:nvSpPr>
        <p:spPr>
          <a:xfrm>
            <a:off x="0" y="1272222"/>
            <a:ext cx="533400" cy="244476"/>
          </a:xfrm>
        </p:spPr>
        <p:txBody>
          <a:bodyPr>
            <a:normAutofit fontScale="85000" lnSpcReduction="20000"/>
          </a:bodyPr>
          <a:lstStyle/>
          <a:p>
            <a:fld id="{EBFB1032-EA64-7144-B003-9BCC9D94B503}" type="slidenum">
              <a:rPr lang="en-US" smtClean="0"/>
              <a:pPr/>
              <a:t>1</a:t>
            </a:fld>
            <a:endParaRPr lang="en-US" dirty="0"/>
          </a:p>
        </p:txBody>
      </p:sp>
      <p:sp>
        <p:nvSpPr>
          <p:cNvPr id="7" name="Content Placeholder 6">
            <a:extLst>
              <a:ext uri="{FF2B5EF4-FFF2-40B4-BE49-F238E27FC236}">
                <a16:creationId xmlns:a16="http://schemas.microsoft.com/office/drawing/2014/main" id="{CB49CCDB-AF20-85C7-E1CD-4A7BD98E991F}"/>
              </a:ext>
            </a:extLst>
          </p:cNvPr>
          <p:cNvSpPr>
            <a:spLocks noGrp="1"/>
          </p:cNvSpPr>
          <p:nvPr>
            <p:ph sz="quarter" idx="1"/>
          </p:nvPr>
        </p:nvSpPr>
        <p:spPr/>
        <p:txBody>
          <a:bodyPr>
            <a:noAutofit/>
          </a:bodyPr>
          <a:lstStyle/>
          <a:p>
            <a:pPr algn="just"/>
            <a:r>
              <a:rPr lang="en-US" dirty="0">
                <a:solidFill>
                  <a:srgbClr val="0070C0"/>
                </a:solidFill>
              </a:rPr>
              <a:t>Large language models (LLMs), such as those offered in OpenAI’s ChatGPT, are deep neural network models that have been developed over the past few years.</a:t>
            </a:r>
          </a:p>
          <a:p>
            <a:pPr algn="just"/>
            <a:r>
              <a:rPr lang="en-US" dirty="0">
                <a:solidFill>
                  <a:srgbClr val="00B050"/>
                </a:solidFill>
              </a:rPr>
              <a:t>They ushered in a new era for natural language processing (NLP).</a:t>
            </a:r>
          </a:p>
          <a:p>
            <a:pPr algn="just"/>
            <a:r>
              <a:rPr lang="en-US" dirty="0">
                <a:solidFill>
                  <a:srgbClr val="7030A0"/>
                </a:solidFill>
              </a:rPr>
              <a:t>Before the advent of LLMs, traditional methods excelled at categorization tasks such as email spam classification and straightforward pattern recognition that could be captured with handcrafted rules or simpler models. </a:t>
            </a:r>
          </a:p>
          <a:p>
            <a:pPr algn="just"/>
            <a:r>
              <a:rPr lang="en-US" dirty="0">
                <a:solidFill>
                  <a:schemeClr val="accent2">
                    <a:lumMod val="75000"/>
                  </a:schemeClr>
                </a:solidFill>
              </a:rPr>
              <a:t>However, they typically underperformed in language tasks that demanded complex understanding and generation abilities, such as parsing detailed instructions, conducting contextual analysis, and creating coherent and contextually appropriate original text.</a:t>
            </a:r>
          </a:p>
          <a:p>
            <a:pPr algn="just"/>
            <a:r>
              <a:rPr lang="en-US" dirty="0">
                <a:solidFill>
                  <a:schemeClr val="accent1">
                    <a:lumMod val="50000"/>
                  </a:schemeClr>
                </a:solidFill>
              </a:rPr>
              <a:t>For example, previous generations of language models could not write an email from a list of keywords—a task that is trivial for contemporary LLMs.</a:t>
            </a:r>
          </a:p>
        </p:txBody>
      </p:sp>
    </p:spTree>
    <p:extLst>
      <p:ext uri="{BB962C8B-B14F-4D97-AF65-F5344CB8AC3E}">
        <p14:creationId xmlns:p14="http://schemas.microsoft.com/office/powerpoint/2010/main" val="1817062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AA3C-D9B2-F511-3E2C-32857B314BC2}"/>
              </a:ext>
            </a:extLst>
          </p:cNvPr>
          <p:cNvSpPr>
            <a:spLocks noGrp="1"/>
          </p:cNvSpPr>
          <p:nvPr>
            <p:ph type="title"/>
          </p:nvPr>
        </p:nvSpPr>
        <p:spPr/>
        <p:txBody>
          <a:bodyPr>
            <a:normAutofit/>
          </a:bodyPr>
          <a:lstStyle/>
          <a:p>
            <a:r>
              <a:rPr lang="en-US" dirty="0"/>
              <a:t>LLMs generate and interpret human language</a:t>
            </a:r>
          </a:p>
        </p:txBody>
      </p:sp>
      <p:sp>
        <p:nvSpPr>
          <p:cNvPr id="3" name="Slide Number Placeholder 2">
            <a:extLst>
              <a:ext uri="{FF2B5EF4-FFF2-40B4-BE49-F238E27FC236}">
                <a16:creationId xmlns:a16="http://schemas.microsoft.com/office/drawing/2014/main" id="{B3A8B567-CD4A-45B1-B05E-BA1085B572E7}"/>
              </a:ext>
            </a:extLst>
          </p:cNvPr>
          <p:cNvSpPr>
            <a:spLocks noGrp="1"/>
          </p:cNvSpPr>
          <p:nvPr>
            <p:ph type="sldNum" sz="quarter" idx="12"/>
          </p:nvPr>
        </p:nvSpPr>
        <p:spPr/>
        <p:txBody>
          <a:bodyPr>
            <a:normAutofit fontScale="85000" lnSpcReduction="20000"/>
          </a:bodyPr>
          <a:lstStyle/>
          <a:p>
            <a:fld id="{EBFB1032-EA64-7144-B003-9BCC9D94B503}" type="slidenum">
              <a:rPr lang="en-US" smtClean="0"/>
              <a:t>2</a:t>
            </a:fld>
            <a:endParaRPr lang="en-US" dirty="0"/>
          </a:p>
        </p:txBody>
      </p:sp>
      <p:sp>
        <p:nvSpPr>
          <p:cNvPr id="4" name="Content Placeholder 3">
            <a:extLst>
              <a:ext uri="{FF2B5EF4-FFF2-40B4-BE49-F238E27FC236}">
                <a16:creationId xmlns:a16="http://schemas.microsoft.com/office/drawing/2014/main" id="{7A1A2E91-4AB7-7BA8-5DDE-0A52347E380C}"/>
              </a:ext>
            </a:extLst>
          </p:cNvPr>
          <p:cNvSpPr>
            <a:spLocks noGrp="1"/>
          </p:cNvSpPr>
          <p:nvPr>
            <p:ph sz="quarter" idx="1"/>
          </p:nvPr>
        </p:nvSpPr>
        <p:spPr/>
        <p:txBody>
          <a:bodyPr/>
          <a:lstStyle/>
          <a:p>
            <a:pPr algn="just"/>
            <a:r>
              <a:rPr lang="en-US" dirty="0"/>
              <a:t>LLMs have remarkable capabilities to understand, generate, and interpret human language.</a:t>
            </a:r>
          </a:p>
          <a:p>
            <a:pPr algn="just"/>
            <a:endParaRPr lang="en-US" dirty="0"/>
          </a:p>
          <a:p>
            <a:pPr algn="just"/>
            <a:r>
              <a:rPr lang="en-US" dirty="0"/>
              <a:t>However, it’s important to clarify that when we say language models “understand,” we mean that they can process and generate text in ways that appear coherent and contextually relevant, not that they possess human-like consciousness or comprehension. </a:t>
            </a:r>
          </a:p>
        </p:txBody>
      </p:sp>
    </p:spTree>
    <p:extLst>
      <p:ext uri="{BB962C8B-B14F-4D97-AF65-F5344CB8AC3E}">
        <p14:creationId xmlns:p14="http://schemas.microsoft.com/office/powerpoint/2010/main" val="3238247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39436-D90C-4568-C0EA-2B8F26B1D624}"/>
              </a:ext>
            </a:extLst>
          </p:cNvPr>
          <p:cNvSpPr>
            <a:spLocks noGrp="1"/>
          </p:cNvSpPr>
          <p:nvPr>
            <p:ph type="title"/>
          </p:nvPr>
        </p:nvSpPr>
        <p:spPr/>
        <p:txBody>
          <a:bodyPr>
            <a:normAutofit fontScale="90000"/>
          </a:bodyPr>
          <a:lstStyle/>
          <a:p>
            <a:r>
              <a:rPr lang="en-US" dirty="0"/>
              <a:t>LLMs are trained on vast quantities of text data.</a:t>
            </a:r>
          </a:p>
        </p:txBody>
      </p:sp>
      <p:sp>
        <p:nvSpPr>
          <p:cNvPr id="3" name="Slide Number Placeholder 2">
            <a:extLst>
              <a:ext uri="{FF2B5EF4-FFF2-40B4-BE49-F238E27FC236}">
                <a16:creationId xmlns:a16="http://schemas.microsoft.com/office/drawing/2014/main" id="{68552C83-224F-537E-E9FA-5FBCA8DD2C93}"/>
              </a:ext>
            </a:extLst>
          </p:cNvPr>
          <p:cNvSpPr>
            <a:spLocks noGrp="1"/>
          </p:cNvSpPr>
          <p:nvPr>
            <p:ph type="sldNum" sz="quarter" idx="12"/>
          </p:nvPr>
        </p:nvSpPr>
        <p:spPr/>
        <p:txBody>
          <a:bodyPr>
            <a:normAutofit fontScale="85000" lnSpcReduction="20000"/>
          </a:bodyPr>
          <a:lstStyle/>
          <a:p>
            <a:fld id="{EBFB1032-EA64-7144-B003-9BCC9D94B503}" type="slidenum">
              <a:rPr lang="en-US" smtClean="0"/>
              <a:t>3</a:t>
            </a:fld>
            <a:endParaRPr lang="en-US" dirty="0"/>
          </a:p>
        </p:txBody>
      </p:sp>
      <p:sp>
        <p:nvSpPr>
          <p:cNvPr id="4" name="Content Placeholder 3">
            <a:extLst>
              <a:ext uri="{FF2B5EF4-FFF2-40B4-BE49-F238E27FC236}">
                <a16:creationId xmlns:a16="http://schemas.microsoft.com/office/drawing/2014/main" id="{D3BF6108-E23D-5A80-4060-B906F64EBDB3}"/>
              </a:ext>
            </a:extLst>
          </p:cNvPr>
          <p:cNvSpPr>
            <a:spLocks noGrp="1"/>
          </p:cNvSpPr>
          <p:nvPr>
            <p:ph sz="quarter" idx="1"/>
          </p:nvPr>
        </p:nvSpPr>
        <p:spPr/>
        <p:txBody>
          <a:bodyPr/>
          <a:lstStyle/>
          <a:p>
            <a:pPr algn="just"/>
            <a:r>
              <a:rPr lang="en-US" dirty="0"/>
              <a:t>Enabled by advancements in deep learning, which is a subset of machine learning and artificial intelligence (AI) focused on neural networks, LLMs are trained on vast quantities of text data.</a:t>
            </a:r>
          </a:p>
          <a:p>
            <a:pPr algn="just"/>
            <a:endParaRPr lang="en-US" dirty="0"/>
          </a:p>
          <a:p>
            <a:pPr algn="just"/>
            <a:r>
              <a:rPr lang="en-US" dirty="0">
                <a:solidFill>
                  <a:srgbClr val="0070C0"/>
                </a:solidFill>
              </a:rPr>
              <a:t>This large-scale training allows LLMs to capture deeper contextual information and subtleties of human language compared to previous approaches.</a:t>
            </a:r>
          </a:p>
          <a:p>
            <a:pPr algn="just"/>
            <a:endParaRPr lang="en-US" dirty="0"/>
          </a:p>
          <a:p>
            <a:pPr algn="just"/>
            <a:r>
              <a:rPr lang="en-US" dirty="0"/>
              <a:t>As a result, LLMs have significantly improved performance in a wide range of NLP tasks, including text translation, sentiment analysis, question answering, and many more. </a:t>
            </a:r>
          </a:p>
        </p:txBody>
      </p:sp>
    </p:spTree>
    <p:extLst>
      <p:ext uri="{BB962C8B-B14F-4D97-AF65-F5344CB8AC3E}">
        <p14:creationId xmlns:p14="http://schemas.microsoft.com/office/powerpoint/2010/main" val="2694027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AAC3B-3D18-007E-C889-84940649F5FC}"/>
              </a:ext>
            </a:extLst>
          </p:cNvPr>
          <p:cNvSpPr>
            <a:spLocks noGrp="1"/>
          </p:cNvSpPr>
          <p:nvPr>
            <p:ph type="title"/>
          </p:nvPr>
        </p:nvSpPr>
        <p:spPr/>
        <p:txBody>
          <a:bodyPr>
            <a:normAutofit/>
          </a:bodyPr>
          <a:lstStyle/>
          <a:p>
            <a:r>
              <a:rPr lang="en-US" sz="3200" dirty="0"/>
              <a:t>NLP models were typically designed for specific tasks</a:t>
            </a:r>
          </a:p>
        </p:txBody>
      </p:sp>
      <p:sp>
        <p:nvSpPr>
          <p:cNvPr id="3" name="Slide Number Placeholder 2">
            <a:extLst>
              <a:ext uri="{FF2B5EF4-FFF2-40B4-BE49-F238E27FC236}">
                <a16:creationId xmlns:a16="http://schemas.microsoft.com/office/drawing/2014/main" id="{20CF6253-2713-A8A9-89A5-287071665730}"/>
              </a:ext>
            </a:extLst>
          </p:cNvPr>
          <p:cNvSpPr>
            <a:spLocks noGrp="1"/>
          </p:cNvSpPr>
          <p:nvPr>
            <p:ph type="sldNum" sz="quarter" idx="12"/>
          </p:nvPr>
        </p:nvSpPr>
        <p:spPr/>
        <p:txBody>
          <a:bodyPr>
            <a:normAutofit fontScale="85000" lnSpcReduction="20000"/>
          </a:bodyPr>
          <a:lstStyle/>
          <a:p>
            <a:fld id="{EBFB1032-EA64-7144-B003-9BCC9D94B503}" type="slidenum">
              <a:rPr lang="en-US" smtClean="0"/>
              <a:t>4</a:t>
            </a:fld>
            <a:endParaRPr lang="en-US" dirty="0"/>
          </a:p>
        </p:txBody>
      </p:sp>
      <p:sp>
        <p:nvSpPr>
          <p:cNvPr id="4" name="Content Placeholder 3">
            <a:extLst>
              <a:ext uri="{FF2B5EF4-FFF2-40B4-BE49-F238E27FC236}">
                <a16:creationId xmlns:a16="http://schemas.microsoft.com/office/drawing/2014/main" id="{CADDEDCF-801E-4ED5-7B38-BE07747EFACC}"/>
              </a:ext>
            </a:extLst>
          </p:cNvPr>
          <p:cNvSpPr>
            <a:spLocks noGrp="1"/>
          </p:cNvSpPr>
          <p:nvPr>
            <p:ph sz="quarter" idx="1"/>
          </p:nvPr>
        </p:nvSpPr>
        <p:spPr/>
        <p:txBody>
          <a:bodyPr>
            <a:normAutofit/>
          </a:bodyPr>
          <a:lstStyle/>
          <a:p>
            <a:pPr algn="just"/>
            <a:r>
              <a:rPr lang="en-US" sz="2300" dirty="0">
                <a:solidFill>
                  <a:srgbClr val="00B0F0"/>
                </a:solidFill>
              </a:rPr>
              <a:t>Another important distinction between contemporary LLMs and earlier NLP models is that earlier NLP models were typically designed for specific tasks, such as text categorization, language translation, etc.</a:t>
            </a:r>
          </a:p>
          <a:p>
            <a:pPr algn="just"/>
            <a:r>
              <a:rPr lang="en-US" sz="2300" dirty="0">
                <a:solidFill>
                  <a:srgbClr val="00B050"/>
                </a:solidFill>
              </a:rPr>
              <a:t>While those earlier NLP models excelled in their narrow applications, LLMs demonstrate a broader proficiency across a wide range of NLP tasks.</a:t>
            </a:r>
          </a:p>
          <a:p>
            <a:pPr algn="just"/>
            <a:r>
              <a:rPr lang="en-US" sz="2300" dirty="0">
                <a:solidFill>
                  <a:srgbClr val="C00000"/>
                </a:solidFill>
              </a:rPr>
              <a:t>The success behind LLMs can be attributed to the transformer architecture that underpins many LLMs and the vast amounts of data on which LLMs are trained, allowing them to capture a wide variety of linguistic nuances, contexts, and patterns that would be challenging to encode manually.</a:t>
            </a:r>
          </a:p>
          <a:p>
            <a:pPr algn="just"/>
            <a:r>
              <a:rPr lang="en-US" sz="2300" dirty="0">
                <a:solidFill>
                  <a:srgbClr val="7030A0"/>
                </a:solidFill>
              </a:rPr>
              <a:t>This shift toward implementing models based on the transformer architecture and using large training datasets to train LLMs has fundamentally transformed NLP, providing more capable tools for understanding and interacting with human language.</a:t>
            </a:r>
          </a:p>
        </p:txBody>
      </p:sp>
    </p:spTree>
    <p:extLst>
      <p:ext uri="{BB962C8B-B14F-4D97-AF65-F5344CB8AC3E}">
        <p14:creationId xmlns:p14="http://schemas.microsoft.com/office/powerpoint/2010/main" val="1855211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4099D-E37D-86C2-E20D-2C6723C98C57}"/>
              </a:ext>
            </a:extLst>
          </p:cNvPr>
          <p:cNvSpPr>
            <a:spLocks noGrp="1"/>
          </p:cNvSpPr>
          <p:nvPr>
            <p:ph type="title"/>
          </p:nvPr>
        </p:nvSpPr>
        <p:spPr/>
        <p:txBody>
          <a:bodyPr/>
          <a:lstStyle/>
          <a:p>
            <a:r>
              <a:rPr lang="en-US" dirty="0"/>
              <a:t>What is an LLM?</a:t>
            </a:r>
          </a:p>
        </p:txBody>
      </p:sp>
      <p:sp>
        <p:nvSpPr>
          <p:cNvPr id="3" name="Slide Number Placeholder 2">
            <a:extLst>
              <a:ext uri="{FF2B5EF4-FFF2-40B4-BE49-F238E27FC236}">
                <a16:creationId xmlns:a16="http://schemas.microsoft.com/office/drawing/2014/main" id="{C5FCEF6C-B626-A086-4AEA-99E49A1000CE}"/>
              </a:ext>
            </a:extLst>
          </p:cNvPr>
          <p:cNvSpPr>
            <a:spLocks noGrp="1"/>
          </p:cNvSpPr>
          <p:nvPr>
            <p:ph type="sldNum" sz="quarter" idx="12"/>
          </p:nvPr>
        </p:nvSpPr>
        <p:spPr/>
        <p:txBody>
          <a:bodyPr>
            <a:normAutofit fontScale="85000" lnSpcReduction="20000"/>
          </a:bodyPr>
          <a:lstStyle/>
          <a:p>
            <a:fld id="{EBFB1032-EA64-7144-B003-9BCC9D94B503}" type="slidenum">
              <a:rPr lang="en-US" smtClean="0"/>
              <a:t>5</a:t>
            </a:fld>
            <a:endParaRPr lang="en-US" dirty="0"/>
          </a:p>
        </p:txBody>
      </p:sp>
      <p:sp>
        <p:nvSpPr>
          <p:cNvPr id="4" name="Content Placeholder 3">
            <a:extLst>
              <a:ext uri="{FF2B5EF4-FFF2-40B4-BE49-F238E27FC236}">
                <a16:creationId xmlns:a16="http://schemas.microsoft.com/office/drawing/2014/main" id="{5A067651-5B35-CE66-1AB3-7A7B0E3005BF}"/>
              </a:ext>
            </a:extLst>
          </p:cNvPr>
          <p:cNvSpPr>
            <a:spLocks noGrp="1"/>
          </p:cNvSpPr>
          <p:nvPr>
            <p:ph sz="quarter" idx="1"/>
          </p:nvPr>
        </p:nvSpPr>
        <p:spPr/>
        <p:txBody>
          <a:bodyPr/>
          <a:lstStyle/>
          <a:p>
            <a:pPr algn="just"/>
            <a:r>
              <a:rPr lang="en-US" dirty="0"/>
              <a:t>An LLM is a neural network designed to understand, generate, and respond to human-like text.</a:t>
            </a:r>
          </a:p>
          <a:p>
            <a:pPr algn="just"/>
            <a:endParaRPr lang="en-US" dirty="0"/>
          </a:p>
          <a:p>
            <a:pPr algn="just"/>
            <a:r>
              <a:rPr lang="en-US" dirty="0"/>
              <a:t>These models are deep neural networks trained on massive amounts of text data, sometimes encompassing large portions of the entire publicly available text on the internet.</a:t>
            </a:r>
          </a:p>
          <a:p>
            <a:pPr algn="just"/>
            <a:endParaRPr lang="en-US" dirty="0"/>
          </a:p>
        </p:txBody>
      </p:sp>
    </p:spTree>
    <p:extLst>
      <p:ext uri="{BB962C8B-B14F-4D97-AF65-F5344CB8AC3E}">
        <p14:creationId xmlns:p14="http://schemas.microsoft.com/office/powerpoint/2010/main" val="3838230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6D9BB-CE2D-644C-AA89-63D82E90EF83}"/>
              </a:ext>
            </a:extLst>
          </p:cNvPr>
          <p:cNvSpPr>
            <a:spLocks noGrp="1"/>
          </p:cNvSpPr>
          <p:nvPr>
            <p:ph type="title"/>
          </p:nvPr>
        </p:nvSpPr>
        <p:spPr/>
        <p:txBody>
          <a:bodyPr/>
          <a:lstStyle/>
          <a:p>
            <a:r>
              <a:rPr lang="en-US" dirty="0"/>
              <a:t>The “large” in “Large Language Model”</a:t>
            </a:r>
          </a:p>
        </p:txBody>
      </p:sp>
      <p:sp>
        <p:nvSpPr>
          <p:cNvPr id="3" name="Slide Number Placeholder 2">
            <a:extLst>
              <a:ext uri="{FF2B5EF4-FFF2-40B4-BE49-F238E27FC236}">
                <a16:creationId xmlns:a16="http://schemas.microsoft.com/office/drawing/2014/main" id="{A183FC9B-800E-6E8B-04CA-AEC707994DD3}"/>
              </a:ext>
            </a:extLst>
          </p:cNvPr>
          <p:cNvSpPr>
            <a:spLocks noGrp="1"/>
          </p:cNvSpPr>
          <p:nvPr>
            <p:ph type="sldNum" sz="quarter" idx="12"/>
          </p:nvPr>
        </p:nvSpPr>
        <p:spPr/>
        <p:txBody>
          <a:bodyPr>
            <a:normAutofit fontScale="85000" lnSpcReduction="20000"/>
          </a:bodyPr>
          <a:lstStyle/>
          <a:p>
            <a:fld id="{EBFB1032-EA64-7144-B003-9BCC9D94B503}" type="slidenum">
              <a:rPr lang="en-US" smtClean="0"/>
              <a:t>6</a:t>
            </a:fld>
            <a:endParaRPr lang="en-US" dirty="0"/>
          </a:p>
        </p:txBody>
      </p:sp>
      <p:sp>
        <p:nvSpPr>
          <p:cNvPr id="4" name="Content Placeholder 3">
            <a:extLst>
              <a:ext uri="{FF2B5EF4-FFF2-40B4-BE49-F238E27FC236}">
                <a16:creationId xmlns:a16="http://schemas.microsoft.com/office/drawing/2014/main" id="{A4A6EC28-2820-D8A2-2838-997D898B72AA}"/>
              </a:ext>
            </a:extLst>
          </p:cNvPr>
          <p:cNvSpPr>
            <a:spLocks noGrp="1"/>
          </p:cNvSpPr>
          <p:nvPr>
            <p:ph sz="quarter" idx="1"/>
          </p:nvPr>
        </p:nvSpPr>
        <p:spPr/>
        <p:txBody>
          <a:bodyPr/>
          <a:lstStyle/>
          <a:p>
            <a:pPr algn="just"/>
            <a:r>
              <a:rPr lang="en-US" dirty="0">
                <a:solidFill>
                  <a:srgbClr val="C00000"/>
                </a:solidFill>
              </a:rPr>
              <a:t>The “large” in “large language model” refers to both the model’s size in terms of parameters and the immense dataset on which it’s trained.</a:t>
            </a:r>
          </a:p>
          <a:p>
            <a:pPr algn="just"/>
            <a:endParaRPr lang="en-US" sz="1000" dirty="0">
              <a:solidFill>
                <a:srgbClr val="C00000"/>
              </a:solidFill>
            </a:endParaRPr>
          </a:p>
          <a:p>
            <a:pPr algn="just"/>
            <a:r>
              <a:rPr lang="en-US" dirty="0">
                <a:solidFill>
                  <a:srgbClr val="00B050"/>
                </a:solidFill>
              </a:rPr>
              <a:t>Models like this often have tens or even hundreds of billions of parameters, which are the adjustable weights in the network that are optimized during training to predict the next word in a sequence.</a:t>
            </a:r>
          </a:p>
          <a:p>
            <a:pPr algn="just"/>
            <a:endParaRPr lang="en-US" sz="1000" dirty="0">
              <a:solidFill>
                <a:srgbClr val="00B050"/>
              </a:solidFill>
            </a:endParaRPr>
          </a:p>
          <a:p>
            <a:pPr algn="just"/>
            <a:r>
              <a:rPr lang="en-US" dirty="0">
                <a:solidFill>
                  <a:srgbClr val="0070C0"/>
                </a:solidFill>
              </a:rPr>
              <a:t>Next-word prediction is sensible because it harnesses the inherent sequential nature of language to train models on understanding context, structure, and relationships within text.</a:t>
            </a:r>
          </a:p>
          <a:p>
            <a:pPr algn="just"/>
            <a:endParaRPr lang="en-US" sz="1000" dirty="0">
              <a:solidFill>
                <a:srgbClr val="0070C0"/>
              </a:solidFill>
            </a:endParaRPr>
          </a:p>
          <a:p>
            <a:pPr algn="just"/>
            <a:r>
              <a:rPr lang="en-US" dirty="0">
                <a:solidFill>
                  <a:schemeClr val="accent2">
                    <a:lumMod val="75000"/>
                  </a:schemeClr>
                </a:solidFill>
              </a:rPr>
              <a:t>Yet, it is a very simple task, and so it is surprising to many researchers that it can produce such capable models.</a:t>
            </a:r>
          </a:p>
        </p:txBody>
      </p:sp>
    </p:spTree>
    <p:extLst>
      <p:ext uri="{BB962C8B-B14F-4D97-AF65-F5344CB8AC3E}">
        <p14:creationId xmlns:p14="http://schemas.microsoft.com/office/powerpoint/2010/main" val="4029157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B80A7-459D-841B-DE70-E638811C4FA8}"/>
              </a:ext>
            </a:extLst>
          </p:cNvPr>
          <p:cNvSpPr>
            <a:spLocks noGrp="1"/>
          </p:cNvSpPr>
          <p:nvPr>
            <p:ph type="title"/>
          </p:nvPr>
        </p:nvSpPr>
        <p:spPr/>
        <p:txBody>
          <a:bodyPr/>
          <a:lstStyle/>
          <a:p>
            <a:r>
              <a:rPr lang="en-US" dirty="0"/>
              <a:t>Transformer</a:t>
            </a:r>
          </a:p>
        </p:txBody>
      </p:sp>
      <p:sp>
        <p:nvSpPr>
          <p:cNvPr id="3" name="Slide Number Placeholder 2">
            <a:extLst>
              <a:ext uri="{FF2B5EF4-FFF2-40B4-BE49-F238E27FC236}">
                <a16:creationId xmlns:a16="http://schemas.microsoft.com/office/drawing/2014/main" id="{98E3D324-EBE7-5B62-EA1E-0F3FB4B1C5AB}"/>
              </a:ext>
            </a:extLst>
          </p:cNvPr>
          <p:cNvSpPr>
            <a:spLocks noGrp="1"/>
          </p:cNvSpPr>
          <p:nvPr>
            <p:ph type="sldNum" sz="quarter" idx="12"/>
          </p:nvPr>
        </p:nvSpPr>
        <p:spPr/>
        <p:txBody>
          <a:bodyPr>
            <a:normAutofit fontScale="85000" lnSpcReduction="20000"/>
          </a:bodyPr>
          <a:lstStyle/>
          <a:p>
            <a:fld id="{EBFB1032-EA64-7144-B003-9BCC9D94B503}" type="slidenum">
              <a:rPr lang="en-US" smtClean="0"/>
              <a:t>7</a:t>
            </a:fld>
            <a:endParaRPr lang="en-US" dirty="0"/>
          </a:p>
        </p:txBody>
      </p:sp>
      <p:sp>
        <p:nvSpPr>
          <p:cNvPr id="4" name="Content Placeholder 3">
            <a:extLst>
              <a:ext uri="{FF2B5EF4-FFF2-40B4-BE49-F238E27FC236}">
                <a16:creationId xmlns:a16="http://schemas.microsoft.com/office/drawing/2014/main" id="{4E2E0CD8-0215-FDFE-E22C-DBE42DCEEE68}"/>
              </a:ext>
            </a:extLst>
          </p:cNvPr>
          <p:cNvSpPr>
            <a:spLocks noGrp="1"/>
          </p:cNvSpPr>
          <p:nvPr>
            <p:ph sz="quarter" idx="1"/>
          </p:nvPr>
        </p:nvSpPr>
        <p:spPr/>
        <p:txBody>
          <a:bodyPr>
            <a:normAutofit lnSpcReduction="10000"/>
          </a:bodyPr>
          <a:lstStyle/>
          <a:p>
            <a:pPr algn="just"/>
            <a:r>
              <a:rPr lang="en-US" dirty="0">
                <a:solidFill>
                  <a:srgbClr val="0070C0"/>
                </a:solidFill>
              </a:rPr>
              <a:t>LLMs utilize an architecture called the transformer, which allows them to pay selective attention to different parts of the input when making predictions, making them especially adept at handling the nuances and complexities of human language.</a:t>
            </a:r>
          </a:p>
          <a:p>
            <a:pPr algn="just"/>
            <a:endParaRPr lang="en-US" dirty="0"/>
          </a:p>
          <a:p>
            <a:pPr algn="just"/>
            <a:r>
              <a:rPr lang="en-US" dirty="0">
                <a:solidFill>
                  <a:srgbClr val="00B050"/>
                </a:solidFill>
              </a:rPr>
              <a:t>Since LLMs are capable of generating text, LLMs are also often referred to as a form of generative artificial intelligence, often abbreviated as generative AI or </a:t>
            </a:r>
            <a:r>
              <a:rPr lang="en-US" dirty="0" err="1">
                <a:solidFill>
                  <a:srgbClr val="00B050"/>
                </a:solidFill>
              </a:rPr>
              <a:t>GenAI</a:t>
            </a:r>
            <a:r>
              <a:rPr lang="en-US" dirty="0">
                <a:solidFill>
                  <a:srgbClr val="00B050"/>
                </a:solidFill>
              </a:rPr>
              <a:t>.</a:t>
            </a:r>
          </a:p>
          <a:p>
            <a:pPr algn="just"/>
            <a:endParaRPr lang="en-US" dirty="0"/>
          </a:p>
          <a:p>
            <a:pPr algn="just"/>
            <a:r>
              <a:rPr lang="en-US" dirty="0">
                <a:solidFill>
                  <a:schemeClr val="accent2">
                    <a:lumMod val="75000"/>
                  </a:schemeClr>
                </a:solidFill>
              </a:rPr>
              <a:t>As illustrated in figure next slide, AI encompasses the broader field of creating machines that can perform tasks requiring human-like intelligence, including understanding language, recognizing patterns, and making decisions, and includes subfields like machine learning and deep learning. </a:t>
            </a:r>
          </a:p>
        </p:txBody>
      </p:sp>
    </p:spTree>
    <p:extLst>
      <p:ext uri="{BB962C8B-B14F-4D97-AF65-F5344CB8AC3E}">
        <p14:creationId xmlns:p14="http://schemas.microsoft.com/office/powerpoint/2010/main" val="2842449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106B73-890B-BB0D-3826-6169ACFE7A11}"/>
              </a:ext>
            </a:extLst>
          </p:cNvPr>
          <p:cNvSpPr>
            <a:spLocks noGrp="1"/>
          </p:cNvSpPr>
          <p:nvPr>
            <p:ph type="title"/>
          </p:nvPr>
        </p:nvSpPr>
        <p:spPr/>
        <p:txBody>
          <a:bodyPr/>
          <a:lstStyle/>
          <a:p>
            <a:r>
              <a:rPr lang="en-US" dirty="0"/>
              <a:t>Hierarchical Relationship</a:t>
            </a:r>
          </a:p>
        </p:txBody>
      </p:sp>
      <p:sp>
        <p:nvSpPr>
          <p:cNvPr id="2" name="Slide Number Placeholder 1">
            <a:extLst>
              <a:ext uri="{FF2B5EF4-FFF2-40B4-BE49-F238E27FC236}">
                <a16:creationId xmlns:a16="http://schemas.microsoft.com/office/drawing/2014/main" id="{EFA253F9-6DF5-CBD0-AB5A-875F226E729E}"/>
              </a:ext>
            </a:extLst>
          </p:cNvPr>
          <p:cNvSpPr>
            <a:spLocks noGrp="1"/>
          </p:cNvSpPr>
          <p:nvPr>
            <p:ph type="sldNum" sz="quarter" idx="12"/>
          </p:nvPr>
        </p:nvSpPr>
        <p:spPr/>
        <p:txBody>
          <a:bodyPr>
            <a:normAutofit fontScale="85000" lnSpcReduction="20000"/>
          </a:bodyPr>
          <a:lstStyle/>
          <a:p>
            <a:fld id="{EBFB1032-EA64-7144-B003-9BCC9D94B503}" type="slidenum">
              <a:rPr lang="en-US" smtClean="0"/>
              <a:t>8</a:t>
            </a:fld>
            <a:endParaRPr lang="en-US" dirty="0"/>
          </a:p>
        </p:txBody>
      </p:sp>
      <p:sp>
        <p:nvSpPr>
          <p:cNvPr id="4" name="Content Placeholder 3">
            <a:extLst>
              <a:ext uri="{FF2B5EF4-FFF2-40B4-BE49-F238E27FC236}">
                <a16:creationId xmlns:a16="http://schemas.microsoft.com/office/drawing/2014/main" id="{FCD6B3F2-7238-A5E4-4582-DB456ED2703D}"/>
              </a:ext>
            </a:extLst>
          </p:cNvPr>
          <p:cNvSpPr>
            <a:spLocks noGrp="1"/>
          </p:cNvSpPr>
          <p:nvPr>
            <p:ph sz="quarter" idx="1"/>
          </p:nvPr>
        </p:nvSpPr>
        <p:spPr>
          <a:xfrm>
            <a:off x="120315" y="1516698"/>
            <a:ext cx="8943473" cy="2143125"/>
          </a:xfrm>
        </p:spPr>
        <p:txBody>
          <a:bodyPr>
            <a:noAutofit/>
          </a:bodyPr>
          <a:lstStyle/>
          <a:p>
            <a:pPr algn="just">
              <a:lnSpc>
                <a:spcPct val="90000"/>
              </a:lnSpc>
              <a:spcBef>
                <a:spcPts val="0"/>
              </a:spcBef>
            </a:pPr>
            <a:r>
              <a:rPr lang="en-US" sz="2100" dirty="0">
                <a:solidFill>
                  <a:srgbClr val="0070C0"/>
                </a:solidFill>
              </a:rPr>
              <a:t>As this hierarchical depiction of the relationship between the different fields suggests, LLMs represent a specific application of deep learning techniques, using their ability to process and generate human-like text. </a:t>
            </a:r>
          </a:p>
          <a:p>
            <a:pPr algn="just">
              <a:lnSpc>
                <a:spcPct val="90000"/>
              </a:lnSpc>
              <a:spcBef>
                <a:spcPts val="0"/>
              </a:spcBef>
            </a:pPr>
            <a:r>
              <a:rPr lang="en-US" sz="2100" dirty="0">
                <a:solidFill>
                  <a:srgbClr val="00B050"/>
                </a:solidFill>
              </a:rPr>
              <a:t>Deep learning is a specialized branch of machine learning that focuses on using multilayer neural networks.</a:t>
            </a:r>
          </a:p>
          <a:p>
            <a:pPr algn="just">
              <a:lnSpc>
                <a:spcPct val="90000"/>
              </a:lnSpc>
              <a:spcBef>
                <a:spcPts val="0"/>
              </a:spcBef>
            </a:pPr>
            <a:r>
              <a:rPr lang="en-US" sz="2100" dirty="0">
                <a:solidFill>
                  <a:srgbClr val="7030A0"/>
                </a:solidFill>
              </a:rPr>
              <a:t>ML and deep learning are fields aimed at implementing algorithms that enable computers to learn from data &amp; perform tasks that typically require human intelligence.</a:t>
            </a:r>
          </a:p>
        </p:txBody>
      </p:sp>
      <p:pic>
        <p:nvPicPr>
          <p:cNvPr id="6" name="Picture 5" descr="A diagram of a machine learning">
            <a:extLst>
              <a:ext uri="{FF2B5EF4-FFF2-40B4-BE49-F238E27FC236}">
                <a16:creationId xmlns:a16="http://schemas.microsoft.com/office/drawing/2014/main" id="{9778FD81-5712-F28A-BE47-0CF43846D69B}"/>
              </a:ext>
            </a:extLst>
          </p:cNvPr>
          <p:cNvPicPr>
            <a:picLocks noChangeAspect="1"/>
          </p:cNvPicPr>
          <p:nvPr/>
        </p:nvPicPr>
        <p:blipFill>
          <a:blip r:embed="rId2"/>
          <a:stretch>
            <a:fillRect/>
          </a:stretch>
        </p:blipFill>
        <p:spPr>
          <a:xfrm>
            <a:off x="457200" y="3842702"/>
            <a:ext cx="8229600" cy="2830196"/>
          </a:xfrm>
          <a:prstGeom prst="rect">
            <a:avLst/>
          </a:prstGeom>
          <a:ln>
            <a:solidFill>
              <a:schemeClr val="accent1"/>
            </a:solidFill>
          </a:ln>
        </p:spPr>
      </p:pic>
    </p:spTree>
    <p:extLst>
      <p:ext uri="{BB962C8B-B14F-4D97-AF65-F5344CB8AC3E}">
        <p14:creationId xmlns:p14="http://schemas.microsoft.com/office/powerpoint/2010/main" val="2017549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2E36A-09F2-42C2-E73B-5EEB123C69F4}"/>
              </a:ext>
            </a:extLst>
          </p:cNvPr>
          <p:cNvSpPr>
            <a:spLocks noGrp="1"/>
          </p:cNvSpPr>
          <p:nvPr>
            <p:ph type="title"/>
          </p:nvPr>
        </p:nvSpPr>
        <p:spPr/>
        <p:txBody>
          <a:bodyPr>
            <a:normAutofit fontScale="90000"/>
          </a:bodyPr>
          <a:lstStyle/>
          <a:p>
            <a:r>
              <a:rPr lang="en-US" dirty="0"/>
              <a:t>The algorithms used to implement AI are the focus of the field of machine learning</a:t>
            </a:r>
          </a:p>
        </p:txBody>
      </p:sp>
      <p:sp>
        <p:nvSpPr>
          <p:cNvPr id="3" name="Slide Number Placeholder 2">
            <a:extLst>
              <a:ext uri="{FF2B5EF4-FFF2-40B4-BE49-F238E27FC236}">
                <a16:creationId xmlns:a16="http://schemas.microsoft.com/office/drawing/2014/main" id="{AF6BCC4D-BA29-554F-BE0F-939B2DF6E070}"/>
              </a:ext>
            </a:extLst>
          </p:cNvPr>
          <p:cNvSpPr>
            <a:spLocks noGrp="1"/>
          </p:cNvSpPr>
          <p:nvPr>
            <p:ph type="sldNum" sz="quarter" idx="12"/>
          </p:nvPr>
        </p:nvSpPr>
        <p:spPr/>
        <p:txBody>
          <a:bodyPr>
            <a:normAutofit fontScale="85000" lnSpcReduction="20000"/>
          </a:bodyPr>
          <a:lstStyle/>
          <a:p>
            <a:fld id="{EBFB1032-EA64-7144-B003-9BCC9D94B503}" type="slidenum">
              <a:rPr lang="en-US" smtClean="0"/>
              <a:t>9</a:t>
            </a:fld>
            <a:endParaRPr lang="en-US" dirty="0"/>
          </a:p>
        </p:txBody>
      </p:sp>
      <p:sp>
        <p:nvSpPr>
          <p:cNvPr id="4" name="Content Placeholder 3">
            <a:extLst>
              <a:ext uri="{FF2B5EF4-FFF2-40B4-BE49-F238E27FC236}">
                <a16:creationId xmlns:a16="http://schemas.microsoft.com/office/drawing/2014/main" id="{CE3B7DAA-DE62-518F-CD7E-EAC068325414}"/>
              </a:ext>
            </a:extLst>
          </p:cNvPr>
          <p:cNvSpPr>
            <a:spLocks noGrp="1"/>
          </p:cNvSpPr>
          <p:nvPr>
            <p:ph sz="quarter" idx="1"/>
          </p:nvPr>
        </p:nvSpPr>
        <p:spPr/>
        <p:txBody>
          <a:bodyPr>
            <a:noAutofit/>
          </a:bodyPr>
          <a:lstStyle/>
          <a:p>
            <a:pPr algn="just"/>
            <a:r>
              <a:rPr lang="en-US" dirty="0">
                <a:solidFill>
                  <a:srgbClr val="0070C0"/>
                </a:solidFill>
              </a:rPr>
              <a:t>Specifically, machine learning involves the development of algorithms that can learn from and make predictions or decisions based on data without being explicitly programmed.</a:t>
            </a:r>
          </a:p>
          <a:p>
            <a:pPr algn="just"/>
            <a:endParaRPr lang="en-US" dirty="0"/>
          </a:p>
          <a:p>
            <a:pPr algn="just"/>
            <a:r>
              <a:rPr lang="en-US" dirty="0">
                <a:solidFill>
                  <a:schemeClr val="accent2">
                    <a:lumMod val="75000"/>
                  </a:schemeClr>
                </a:solidFill>
              </a:rPr>
              <a:t>To illustrate this, imagine a spam filter as a practical application of ML.</a:t>
            </a:r>
          </a:p>
          <a:p>
            <a:pPr lvl="1" algn="just"/>
            <a:r>
              <a:rPr lang="en-US" dirty="0"/>
              <a:t>Instead of manually writing rules to identify spam emails, a machine learning algorithm is fed examples of emails labeled as spam and legitimate emails.</a:t>
            </a:r>
          </a:p>
          <a:p>
            <a:pPr algn="just"/>
            <a:endParaRPr lang="en-US" dirty="0"/>
          </a:p>
          <a:p>
            <a:pPr algn="just"/>
            <a:r>
              <a:rPr lang="en-US" dirty="0">
                <a:solidFill>
                  <a:srgbClr val="00B050"/>
                </a:solidFill>
              </a:rPr>
              <a:t>By minimizing the error in its predictions on a training dataset, the model then learns to recognize patterns and characteristics indicative of spam, enabling it to classify new emails as either spam or not spam.</a:t>
            </a:r>
          </a:p>
        </p:txBody>
      </p:sp>
    </p:spTree>
    <p:extLst>
      <p:ext uri="{BB962C8B-B14F-4D97-AF65-F5344CB8AC3E}">
        <p14:creationId xmlns:p14="http://schemas.microsoft.com/office/powerpoint/2010/main" val="650049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2592-3DE4-DEBD-969D-E1872A2482DD}"/>
              </a:ext>
            </a:extLst>
          </p:cNvPr>
          <p:cNvSpPr>
            <a:spLocks noGrp="1"/>
          </p:cNvSpPr>
          <p:nvPr>
            <p:ph type="title"/>
          </p:nvPr>
        </p:nvSpPr>
        <p:spPr/>
        <p:txBody>
          <a:bodyPr>
            <a:normAutofit fontScale="90000"/>
          </a:bodyPr>
          <a:lstStyle/>
          <a:p>
            <a:r>
              <a:rPr lang="en-US" dirty="0"/>
              <a:t>Deep Learning is a subset of Machine Learning</a:t>
            </a:r>
          </a:p>
        </p:txBody>
      </p:sp>
      <p:sp>
        <p:nvSpPr>
          <p:cNvPr id="3" name="Slide Number Placeholder 2">
            <a:extLst>
              <a:ext uri="{FF2B5EF4-FFF2-40B4-BE49-F238E27FC236}">
                <a16:creationId xmlns:a16="http://schemas.microsoft.com/office/drawing/2014/main" id="{6C8111FC-E3B4-A0AB-6285-8DA4BD16CC5F}"/>
              </a:ext>
            </a:extLst>
          </p:cNvPr>
          <p:cNvSpPr>
            <a:spLocks noGrp="1"/>
          </p:cNvSpPr>
          <p:nvPr>
            <p:ph type="sldNum" sz="quarter" idx="12"/>
          </p:nvPr>
        </p:nvSpPr>
        <p:spPr/>
        <p:txBody>
          <a:bodyPr>
            <a:normAutofit fontScale="85000" lnSpcReduction="20000"/>
          </a:bodyPr>
          <a:lstStyle/>
          <a:p>
            <a:fld id="{EBFB1032-EA64-7144-B003-9BCC9D94B503}" type="slidenum">
              <a:rPr lang="en-US" smtClean="0"/>
              <a:t>10</a:t>
            </a:fld>
            <a:endParaRPr lang="en-US" dirty="0"/>
          </a:p>
        </p:txBody>
      </p:sp>
      <p:sp>
        <p:nvSpPr>
          <p:cNvPr id="4" name="Content Placeholder 3">
            <a:extLst>
              <a:ext uri="{FF2B5EF4-FFF2-40B4-BE49-F238E27FC236}">
                <a16:creationId xmlns:a16="http://schemas.microsoft.com/office/drawing/2014/main" id="{1BEA937B-AD4E-5936-69F8-8F29E1D7CB14}"/>
              </a:ext>
            </a:extLst>
          </p:cNvPr>
          <p:cNvSpPr>
            <a:spLocks noGrp="1"/>
          </p:cNvSpPr>
          <p:nvPr>
            <p:ph sz="quarter" idx="1"/>
          </p:nvPr>
        </p:nvSpPr>
        <p:spPr/>
        <p:txBody>
          <a:bodyPr>
            <a:normAutofit/>
          </a:bodyPr>
          <a:lstStyle/>
          <a:p>
            <a:pPr algn="just"/>
            <a:r>
              <a:rPr lang="en-US" sz="2300" dirty="0">
                <a:solidFill>
                  <a:srgbClr val="0070C0"/>
                </a:solidFill>
              </a:rPr>
              <a:t>As illustrated before, deep learning is a subset of machine learning that focuses on utilizing neural networks with three or more layers (also called deep neural networks) to model complex patterns and abstractions in data.</a:t>
            </a:r>
          </a:p>
          <a:p>
            <a:pPr algn="just"/>
            <a:endParaRPr lang="en-US" sz="2300" dirty="0"/>
          </a:p>
          <a:p>
            <a:pPr algn="just"/>
            <a:r>
              <a:rPr lang="en-US" sz="2300" dirty="0">
                <a:solidFill>
                  <a:srgbClr val="C00000"/>
                </a:solidFill>
              </a:rPr>
              <a:t>In contrast to deep learning, traditional machine learning requires manual feature extraction.</a:t>
            </a:r>
          </a:p>
          <a:p>
            <a:pPr lvl="1" algn="just"/>
            <a:r>
              <a:rPr lang="en-US" sz="2300" dirty="0"/>
              <a:t>This means that human experts need to identify and select the most relevant features for the model.</a:t>
            </a:r>
          </a:p>
          <a:p>
            <a:pPr algn="just"/>
            <a:endParaRPr lang="en-US" sz="2300" dirty="0"/>
          </a:p>
          <a:p>
            <a:pPr algn="just"/>
            <a:r>
              <a:rPr lang="en-US" sz="2300" dirty="0">
                <a:solidFill>
                  <a:srgbClr val="00B050"/>
                </a:solidFill>
              </a:rPr>
              <a:t>While the field of AI is now dominated by machine learning and deep learning, it also includes other approaches—for example, using rule-based systems, genetic algorithms, expert systems, fuzzy logic, or symbolic reasoning.</a:t>
            </a:r>
          </a:p>
        </p:txBody>
      </p:sp>
    </p:spTree>
    <p:extLst>
      <p:ext uri="{BB962C8B-B14F-4D97-AF65-F5344CB8AC3E}">
        <p14:creationId xmlns:p14="http://schemas.microsoft.com/office/powerpoint/2010/main" val="510143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471FA-8415-45E8-169D-8724D2E85257}"/>
              </a:ext>
            </a:extLst>
          </p:cNvPr>
          <p:cNvSpPr>
            <a:spLocks noGrp="1"/>
          </p:cNvSpPr>
          <p:nvPr>
            <p:ph type="title"/>
          </p:nvPr>
        </p:nvSpPr>
        <p:spPr/>
        <p:txBody>
          <a:bodyPr>
            <a:noAutofit/>
          </a:bodyPr>
          <a:lstStyle/>
          <a:p>
            <a:r>
              <a:rPr lang="en-US" sz="3300" b="0" dirty="0"/>
              <a:t>Deep learning does not require manual feature extraction</a:t>
            </a:r>
          </a:p>
        </p:txBody>
      </p:sp>
      <p:sp>
        <p:nvSpPr>
          <p:cNvPr id="3" name="Slide Number Placeholder 2">
            <a:extLst>
              <a:ext uri="{FF2B5EF4-FFF2-40B4-BE49-F238E27FC236}">
                <a16:creationId xmlns:a16="http://schemas.microsoft.com/office/drawing/2014/main" id="{F7BF077E-8569-05B2-05F1-FA8804FE5063}"/>
              </a:ext>
            </a:extLst>
          </p:cNvPr>
          <p:cNvSpPr>
            <a:spLocks noGrp="1"/>
          </p:cNvSpPr>
          <p:nvPr>
            <p:ph type="sldNum" sz="quarter" idx="12"/>
          </p:nvPr>
        </p:nvSpPr>
        <p:spPr/>
        <p:txBody>
          <a:bodyPr>
            <a:normAutofit fontScale="85000" lnSpcReduction="20000"/>
          </a:bodyPr>
          <a:lstStyle/>
          <a:p>
            <a:fld id="{EBFB1032-EA64-7144-B003-9BCC9D94B503}" type="slidenum">
              <a:rPr lang="en-US" smtClean="0"/>
              <a:t>11</a:t>
            </a:fld>
            <a:endParaRPr lang="en-US" dirty="0"/>
          </a:p>
        </p:txBody>
      </p:sp>
      <p:sp>
        <p:nvSpPr>
          <p:cNvPr id="4" name="Content Placeholder 3">
            <a:extLst>
              <a:ext uri="{FF2B5EF4-FFF2-40B4-BE49-F238E27FC236}">
                <a16:creationId xmlns:a16="http://schemas.microsoft.com/office/drawing/2014/main" id="{2D5627F4-877B-5BE7-37FF-8905382D24E4}"/>
              </a:ext>
            </a:extLst>
          </p:cNvPr>
          <p:cNvSpPr>
            <a:spLocks noGrp="1"/>
          </p:cNvSpPr>
          <p:nvPr>
            <p:ph sz="quarter" idx="1"/>
          </p:nvPr>
        </p:nvSpPr>
        <p:spPr/>
        <p:txBody>
          <a:bodyPr>
            <a:normAutofit/>
          </a:bodyPr>
          <a:lstStyle/>
          <a:p>
            <a:pPr algn="just">
              <a:lnSpc>
                <a:spcPct val="90000"/>
              </a:lnSpc>
              <a:spcBef>
                <a:spcPts val="0"/>
              </a:spcBef>
            </a:pPr>
            <a:r>
              <a:rPr lang="en-US" sz="2300" dirty="0">
                <a:solidFill>
                  <a:srgbClr val="0070C0"/>
                </a:solidFill>
              </a:rPr>
              <a:t>Returning to the spam classification example, in traditional ML, human experts might manually extract features from email text such as the frequency of certain trigger words (i.e., “prize,” “win,” “free”), the number of exclamation marks, use of all uppercase words, or the presence of suspicious links.</a:t>
            </a:r>
          </a:p>
          <a:p>
            <a:pPr algn="just">
              <a:lnSpc>
                <a:spcPct val="90000"/>
              </a:lnSpc>
              <a:spcBef>
                <a:spcPts val="0"/>
              </a:spcBef>
            </a:pPr>
            <a:endParaRPr lang="en-US" sz="1000" dirty="0"/>
          </a:p>
          <a:p>
            <a:pPr algn="just">
              <a:lnSpc>
                <a:spcPct val="90000"/>
              </a:lnSpc>
              <a:spcBef>
                <a:spcPts val="0"/>
              </a:spcBef>
            </a:pPr>
            <a:r>
              <a:rPr lang="en-US" sz="2300" dirty="0"/>
              <a:t> </a:t>
            </a:r>
            <a:r>
              <a:rPr lang="en-US" sz="2300" dirty="0">
                <a:solidFill>
                  <a:srgbClr val="7030A0"/>
                </a:solidFill>
              </a:rPr>
              <a:t>This dataset, created based on these expert-defined features, would then be used to train the model.</a:t>
            </a:r>
          </a:p>
          <a:p>
            <a:pPr algn="just">
              <a:lnSpc>
                <a:spcPct val="90000"/>
              </a:lnSpc>
              <a:spcBef>
                <a:spcPts val="0"/>
              </a:spcBef>
            </a:pPr>
            <a:endParaRPr lang="en-US" sz="1000" dirty="0"/>
          </a:p>
          <a:p>
            <a:pPr algn="just">
              <a:lnSpc>
                <a:spcPct val="90000"/>
              </a:lnSpc>
              <a:spcBef>
                <a:spcPts val="0"/>
              </a:spcBef>
            </a:pPr>
            <a:r>
              <a:rPr lang="en-US" sz="2300" dirty="0">
                <a:solidFill>
                  <a:srgbClr val="00B050"/>
                </a:solidFill>
              </a:rPr>
              <a:t>In contrast to traditional machine learning, deep learning does not require manual feature extraction.</a:t>
            </a:r>
          </a:p>
          <a:p>
            <a:pPr algn="just">
              <a:lnSpc>
                <a:spcPct val="90000"/>
              </a:lnSpc>
              <a:spcBef>
                <a:spcPts val="0"/>
              </a:spcBef>
            </a:pPr>
            <a:endParaRPr lang="en-US" sz="1000" dirty="0"/>
          </a:p>
          <a:p>
            <a:pPr algn="just">
              <a:lnSpc>
                <a:spcPct val="90000"/>
              </a:lnSpc>
              <a:spcBef>
                <a:spcPts val="0"/>
              </a:spcBef>
            </a:pPr>
            <a:r>
              <a:rPr lang="en-US" sz="2300" dirty="0">
                <a:solidFill>
                  <a:srgbClr val="00B0F0"/>
                </a:solidFill>
              </a:rPr>
              <a:t>This means that human experts do not need to identify and select the most relevant features for a deep learning model.</a:t>
            </a:r>
          </a:p>
          <a:p>
            <a:pPr algn="just">
              <a:lnSpc>
                <a:spcPct val="90000"/>
              </a:lnSpc>
              <a:spcBef>
                <a:spcPts val="0"/>
              </a:spcBef>
            </a:pPr>
            <a:endParaRPr lang="en-US" sz="1000" dirty="0"/>
          </a:p>
          <a:p>
            <a:pPr algn="just">
              <a:lnSpc>
                <a:spcPct val="90000"/>
              </a:lnSpc>
              <a:spcBef>
                <a:spcPts val="0"/>
              </a:spcBef>
            </a:pPr>
            <a:r>
              <a:rPr lang="en-US" sz="2300" dirty="0">
                <a:solidFill>
                  <a:schemeClr val="accent2">
                    <a:lumMod val="75000"/>
                  </a:schemeClr>
                </a:solidFill>
              </a:rPr>
              <a:t>However, both traditional machine learning and deep learning for spam classification still require the collection of labels, such as spam or non-spam, which need to be gathered either by an expert or users.</a:t>
            </a:r>
          </a:p>
        </p:txBody>
      </p:sp>
    </p:spTree>
    <p:extLst>
      <p:ext uri="{BB962C8B-B14F-4D97-AF65-F5344CB8AC3E}">
        <p14:creationId xmlns:p14="http://schemas.microsoft.com/office/powerpoint/2010/main" val="1294398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A8B5-D91E-2304-8396-229420C8A82C}"/>
              </a:ext>
            </a:extLst>
          </p:cNvPr>
          <p:cNvSpPr>
            <a:spLocks noGrp="1"/>
          </p:cNvSpPr>
          <p:nvPr>
            <p:ph type="title"/>
          </p:nvPr>
        </p:nvSpPr>
        <p:spPr/>
        <p:txBody>
          <a:bodyPr>
            <a:normAutofit/>
          </a:bodyPr>
          <a:lstStyle/>
          <a:p>
            <a:r>
              <a:rPr lang="en-US" dirty="0"/>
              <a:t>Applications of LLMs</a:t>
            </a:r>
          </a:p>
        </p:txBody>
      </p:sp>
      <p:sp>
        <p:nvSpPr>
          <p:cNvPr id="3" name="Slide Number Placeholder 2">
            <a:extLst>
              <a:ext uri="{FF2B5EF4-FFF2-40B4-BE49-F238E27FC236}">
                <a16:creationId xmlns:a16="http://schemas.microsoft.com/office/drawing/2014/main" id="{36E676FA-FAAE-4022-24EF-E43B92DEE1F8}"/>
              </a:ext>
            </a:extLst>
          </p:cNvPr>
          <p:cNvSpPr>
            <a:spLocks noGrp="1"/>
          </p:cNvSpPr>
          <p:nvPr>
            <p:ph type="sldNum" sz="quarter" idx="12"/>
          </p:nvPr>
        </p:nvSpPr>
        <p:spPr/>
        <p:txBody>
          <a:bodyPr>
            <a:normAutofit fontScale="85000" lnSpcReduction="20000"/>
          </a:bodyPr>
          <a:lstStyle/>
          <a:p>
            <a:fld id="{EBFB1032-EA64-7144-B003-9BCC9D94B503}" type="slidenum">
              <a:rPr lang="en-US" smtClean="0"/>
              <a:t>12</a:t>
            </a:fld>
            <a:endParaRPr lang="en-US" dirty="0"/>
          </a:p>
        </p:txBody>
      </p:sp>
      <p:sp>
        <p:nvSpPr>
          <p:cNvPr id="4" name="Content Placeholder 3">
            <a:extLst>
              <a:ext uri="{FF2B5EF4-FFF2-40B4-BE49-F238E27FC236}">
                <a16:creationId xmlns:a16="http://schemas.microsoft.com/office/drawing/2014/main" id="{3C840F28-AA18-1AC3-4C01-D43748B5BBA8}"/>
              </a:ext>
            </a:extLst>
          </p:cNvPr>
          <p:cNvSpPr>
            <a:spLocks noGrp="1"/>
          </p:cNvSpPr>
          <p:nvPr>
            <p:ph sz="quarter" idx="1"/>
          </p:nvPr>
        </p:nvSpPr>
        <p:spPr/>
        <p:txBody>
          <a:bodyPr>
            <a:normAutofit/>
          </a:bodyPr>
          <a:lstStyle/>
          <a:p>
            <a:pPr>
              <a:spcBef>
                <a:spcPts val="0"/>
              </a:spcBef>
            </a:pPr>
            <a:r>
              <a:rPr lang="en-US" sz="2300" dirty="0"/>
              <a:t>Owing to their advanced capabilities to parse and understand unstructured text data, LLMs have a broad range of applications across various domains. </a:t>
            </a:r>
          </a:p>
          <a:p>
            <a:pPr>
              <a:spcBef>
                <a:spcPts val="0"/>
              </a:spcBef>
            </a:pPr>
            <a:endParaRPr lang="en-US" sz="2300" dirty="0"/>
          </a:p>
          <a:p>
            <a:pPr>
              <a:spcBef>
                <a:spcPts val="0"/>
              </a:spcBef>
            </a:pPr>
            <a:r>
              <a:rPr lang="en-US" sz="2300" dirty="0"/>
              <a:t>Today, LLMs are employed for machine translation, generation of novel texts, sentiment analysis, text summarization, and many other tasks.</a:t>
            </a:r>
          </a:p>
          <a:p>
            <a:pPr>
              <a:spcBef>
                <a:spcPts val="0"/>
              </a:spcBef>
            </a:pPr>
            <a:endParaRPr lang="en-US" sz="2300" dirty="0"/>
          </a:p>
          <a:p>
            <a:pPr>
              <a:spcBef>
                <a:spcPts val="0"/>
              </a:spcBef>
            </a:pPr>
            <a:r>
              <a:rPr lang="en-US" sz="2300" dirty="0"/>
              <a:t>LLMs have recently been used for content creation, such as writing fiction, articles, and even computer code.</a:t>
            </a:r>
          </a:p>
        </p:txBody>
      </p:sp>
    </p:spTree>
    <p:extLst>
      <p:ext uri="{BB962C8B-B14F-4D97-AF65-F5344CB8AC3E}">
        <p14:creationId xmlns:p14="http://schemas.microsoft.com/office/powerpoint/2010/main" val="2126031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66A5F-786F-7C0A-F164-922CBF34CD1F}"/>
              </a:ext>
            </a:extLst>
          </p:cNvPr>
          <p:cNvSpPr>
            <a:spLocks noGrp="1"/>
          </p:cNvSpPr>
          <p:nvPr>
            <p:ph type="title"/>
          </p:nvPr>
        </p:nvSpPr>
        <p:spPr/>
        <p:txBody>
          <a:bodyPr/>
          <a:lstStyle/>
          <a:p>
            <a:r>
              <a:rPr lang="en-US" dirty="0"/>
              <a:t>Cont’d</a:t>
            </a:r>
          </a:p>
        </p:txBody>
      </p:sp>
      <p:sp>
        <p:nvSpPr>
          <p:cNvPr id="3" name="Slide Number Placeholder 2">
            <a:extLst>
              <a:ext uri="{FF2B5EF4-FFF2-40B4-BE49-F238E27FC236}">
                <a16:creationId xmlns:a16="http://schemas.microsoft.com/office/drawing/2014/main" id="{4D24EF9D-2E83-664C-0906-5F251AA74D51}"/>
              </a:ext>
            </a:extLst>
          </p:cNvPr>
          <p:cNvSpPr>
            <a:spLocks noGrp="1"/>
          </p:cNvSpPr>
          <p:nvPr>
            <p:ph type="sldNum" sz="quarter" idx="12"/>
          </p:nvPr>
        </p:nvSpPr>
        <p:spPr/>
        <p:txBody>
          <a:bodyPr>
            <a:normAutofit fontScale="85000" lnSpcReduction="20000"/>
          </a:bodyPr>
          <a:lstStyle/>
          <a:p>
            <a:fld id="{EBFB1032-EA64-7144-B003-9BCC9D94B503}" type="slidenum">
              <a:rPr lang="en-US" smtClean="0"/>
              <a:t>13</a:t>
            </a:fld>
            <a:endParaRPr lang="en-US" dirty="0"/>
          </a:p>
        </p:txBody>
      </p:sp>
      <p:sp>
        <p:nvSpPr>
          <p:cNvPr id="4" name="Content Placeholder 3">
            <a:extLst>
              <a:ext uri="{FF2B5EF4-FFF2-40B4-BE49-F238E27FC236}">
                <a16:creationId xmlns:a16="http://schemas.microsoft.com/office/drawing/2014/main" id="{CFF1CE38-349F-FC4A-E229-8A348254516F}"/>
              </a:ext>
            </a:extLst>
          </p:cNvPr>
          <p:cNvSpPr>
            <a:spLocks noGrp="1"/>
          </p:cNvSpPr>
          <p:nvPr>
            <p:ph sz="quarter" idx="1"/>
          </p:nvPr>
        </p:nvSpPr>
        <p:spPr/>
        <p:txBody>
          <a:bodyPr/>
          <a:lstStyle/>
          <a:p>
            <a:pPr>
              <a:spcBef>
                <a:spcPts val="0"/>
              </a:spcBef>
            </a:pPr>
            <a:r>
              <a:rPr lang="en-US" dirty="0"/>
              <a:t>LLMs can also power sophisticated chatbots and virtual assistants, such as OpenAI’s ChatGPT or Google’s Gemini (formerly called Bard), which can answer user queries and augment traditional search engines such as Google Search or Microsoft Bing.</a:t>
            </a:r>
          </a:p>
          <a:p>
            <a:pPr>
              <a:spcBef>
                <a:spcPts val="0"/>
              </a:spcBef>
            </a:pPr>
            <a:endParaRPr lang="en-US" dirty="0"/>
          </a:p>
          <a:p>
            <a:pPr>
              <a:spcBef>
                <a:spcPts val="0"/>
              </a:spcBef>
            </a:pPr>
            <a:r>
              <a:rPr lang="en-US" dirty="0"/>
              <a:t>Moreover, LLMs may be used for effective knowledge retrieval from vast volumes of text in specialized areas such as medicine or law.</a:t>
            </a:r>
          </a:p>
          <a:p>
            <a:pPr>
              <a:spcBef>
                <a:spcPts val="0"/>
              </a:spcBef>
            </a:pPr>
            <a:endParaRPr lang="en-US" dirty="0"/>
          </a:p>
          <a:p>
            <a:pPr>
              <a:spcBef>
                <a:spcPts val="0"/>
              </a:spcBef>
            </a:pPr>
            <a:r>
              <a:rPr lang="en-US" dirty="0"/>
              <a:t>This includes sifting through documents, summarizing lengthy passages, and answering technical questions.</a:t>
            </a:r>
          </a:p>
          <a:p>
            <a:endParaRPr lang="en-US" dirty="0"/>
          </a:p>
        </p:txBody>
      </p:sp>
    </p:spTree>
    <p:extLst>
      <p:ext uri="{BB962C8B-B14F-4D97-AF65-F5344CB8AC3E}">
        <p14:creationId xmlns:p14="http://schemas.microsoft.com/office/powerpoint/2010/main" val="2693261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9B9CA3-E1FD-D66C-EE79-B87C5599AD09}"/>
              </a:ext>
            </a:extLst>
          </p:cNvPr>
          <p:cNvSpPr>
            <a:spLocks noGrp="1"/>
          </p:cNvSpPr>
          <p:nvPr>
            <p:ph type="sldNum" sz="quarter" idx="12"/>
          </p:nvPr>
        </p:nvSpPr>
        <p:spPr/>
        <p:txBody>
          <a:bodyPr/>
          <a:lstStyle/>
          <a:p>
            <a:fld id="{EBFB1032-EA64-7144-B003-9BCC9D94B503}" type="slidenum">
              <a:rPr lang="en-US" smtClean="0"/>
              <a:t>14</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944FE3FF-1FB0-9355-DA47-3D1E2CDD08CE}"/>
              </a:ext>
            </a:extLst>
          </p:cNvPr>
          <p:cNvPicPr>
            <a:picLocks noChangeAspect="1"/>
          </p:cNvPicPr>
          <p:nvPr/>
        </p:nvPicPr>
        <p:blipFill>
          <a:blip r:embed="rId2"/>
          <a:stretch>
            <a:fillRect/>
          </a:stretch>
        </p:blipFill>
        <p:spPr>
          <a:xfrm>
            <a:off x="457200" y="228600"/>
            <a:ext cx="8229600" cy="5573682"/>
          </a:xfrm>
          <a:prstGeom prst="rect">
            <a:avLst/>
          </a:prstGeom>
          <a:ln>
            <a:solidFill>
              <a:schemeClr val="accent1"/>
            </a:solidFill>
          </a:ln>
        </p:spPr>
      </p:pic>
      <p:sp>
        <p:nvSpPr>
          <p:cNvPr id="5" name="TextBox 4">
            <a:extLst>
              <a:ext uri="{FF2B5EF4-FFF2-40B4-BE49-F238E27FC236}">
                <a16:creationId xmlns:a16="http://schemas.microsoft.com/office/drawing/2014/main" id="{F323E7AC-B2BD-A970-86BE-D402CD833650}"/>
              </a:ext>
            </a:extLst>
          </p:cNvPr>
          <p:cNvSpPr txBox="1"/>
          <p:nvPr/>
        </p:nvSpPr>
        <p:spPr>
          <a:xfrm>
            <a:off x="457200" y="5931068"/>
            <a:ext cx="8324850" cy="707886"/>
          </a:xfrm>
          <a:prstGeom prst="rect">
            <a:avLst/>
          </a:prstGeom>
          <a:noFill/>
          <a:ln>
            <a:solidFill>
              <a:schemeClr val="accent1"/>
            </a:solidFill>
          </a:ln>
        </p:spPr>
        <p:txBody>
          <a:bodyPr wrap="square" rtlCol="0">
            <a:spAutoFit/>
          </a:bodyPr>
          <a:lstStyle/>
          <a:p>
            <a:pPr algn="just"/>
            <a:r>
              <a:rPr lang="en-US" sz="2000" dirty="0">
                <a:solidFill>
                  <a:srgbClr val="0070C0"/>
                </a:solidFill>
                <a:latin typeface="Arial Narrow" panose="020B0606020202030204" pitchFamily="34" charset="0"/>
              </a:rPr>
              <a:t>LLM interfaces enable natural language communication between users and AI systems.</a:t>
            </a:r>
            <a:r>
              <a:rPr lang="en-US" sz="2000" dirty="0">
                <a:latin typeface="Arial Narrow" panose="020B0606020202030204" pitchFamily="34" charset="0"/>
              </a:rPr>
              <a:t> </a:t>
            </a:r>
            <a:r>
              <a:rPr lang="en-US" sz="2000" dirty="0">
                <a:solidFill>
                  <a:schemeClr val="accent2">
                    <a:lumMod val="50000"/>
                  </a:schemeClr>
                </a:solidFill>
                <a:latin typeface="Arial Narrow" panose="020B0606020202030204" pitchFamily="34" charset="0"/>
              </a:rPr>
              <a:t>This screenshot shows ChatGPT writing a poem according to a user’s specifications.</a:t>
            </a:r>
          </a:p>
        </p:txBody>
      </p:sp>
    </p:spTree>
    <p:extLst>
      <p:ext uri="{BB962C8B-B14F-4D97-AF65-F5344CB8AC3E}">
        <p14:creationId xmlns:p14="http://schemas.microsoft.com/office/powerpoint/2010/main" val="1334328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72038-5459-34BD-AE04-53C41F8ECA08}"/>
              </a:ext>
            </a:extLst>
          </p:cNvPr>
          <p:cNvSpPr>
            <a:spLocks noGrp="1"/>
          </p:cNvSpPr>
          <p:nvPr>
            <p:ph type="title"/>
          </p:nvPr>
        </p:nvSpPr>
        <p:spPr/>
        <p:txBody>
          <a:bodyPr>
            <a:normAutofit/>
          </a:bodyPr>
          <a:lstStyle/>
          <a:p>
            <a:r>
              <a:rPr lang="en-US" dirty="0"/>
              <a:t>LLMs for parsing and generating text</a:t>
            </a:r>
          </a:p>
        </p:txBody>
      </p:sp>
      <p:sp>
        <p:nvSpPr>
          <p:cNvPr id="3" name="Slide Number Placeholder 2">
            <a:extLst>
              <a:ext uri="{FF2B5EF4-FFF2-40B4-BE49-F238E27FC236}">
                <a16:creationId xmlns:a16="http://schemas.microsoft.com/office/drawing/2014/main" id="{754643C1-A3E9-152C-D00E-76D205DFAA1B}"/>
              </a:ext>
            </a:extLst>
          </p:cNvPr>
          <p:cNvSpPr>
            <a:spLocks noGrp="1"/>
          </p:cNvSpPr>
          <p:nvPr>
            <p:ph type="sldNum" sz="quarter" idx="12"/>
          </p:nvPr>
        </p:nvSpPr>
        <p:spPr/>
        <p:txBody>
          <a:bodyPr>
            <a:normAutofit fontScale="85000" lnSpcReduction="20000"/>
          </a:bodyPr>
          <a:lstStyle/>
          <a:p>
            <a:fld id="{EBFB1032-EA64-7144-B003-9BCC9D94B503}" type="slidenum">
              <a:rPr lang="en-US" smtClean="0"/>
              <a:t>15</a:t>
            </a:fld>
            <a:endParaRPr lang="en-US" dirty="0"/>
          </a:p>
        </p:txBody>
      </p:sp>
      <p:sp>
        <p:nvSpPr>
          <p:cNvPr id="4" name="Content Placeholder 3">
            <a:extLst>
              <a:ext uri="{FF2B5EF4-FFF2-40B4-BE49-F238E27FC236}">
                <a16:creationId xmlns:a16="http://schemas.microsoft.com/office/drawing/2014/main" id="{6CAFD955-B50C-80F4-DCC9-B2EC2B4C79BF}"/>
              </a:ext>
            </a:extLst>
          </p:cNvPr>
          <p:cNvSpPr>
            <a:spLocks noGrp="1"/>
          </p:cNvSpPr>
          <p:nvPr>
            <p:ph sz="quarter" idx="1"/>
          </p:nvPr>
        </p:nvSpPr>
        <p:spPr/>
        <p:txBody>
          <a:bodyPr>
            <a:normAutofit lnSpcReduction="10000"/>
          </a:bodyPr>
          <a:lstStyle/>
          <a:p>
            <a:r>
              <a:rPr lang="en-US" dirty="0"/>
              <a:t>In short, LLMs are invaluable for automating almost any task that involves parsing and generating text.</a:t>
            </a:r>
          </a:p>
          <a:p>
            <a:endParaRPr lang="en-US" sz="1300" dirty="0"/>
          </a:p>
          <a:p>
            <a:r>
              <a:rPr lang="en-US" dirty="0"/>
              <a:t>Their applications are virtually endless, and as we continue to innovate and explore new ways to use these models, it’s clear that LLMs have the potential to redefine our relationship with technology, making it more conversational, intuitive, and accessible.</a:t>
            </a:r>
          </a:p>
          <a:p>
            <a:endParaRPr lang="en-US" sz="1300" dirty="0"/>
          </a:p>
          <a:p>
            <a:r>
              <a:rPr lang="en-US" dirty="0"/>
              <a:t>We will focus on understanding how LLMs work from the ground up, coding an LLM that can generate texts.</a:t>
            </a:r>
          </a:p>
          <a:p>
            <a:endParaRPr lang="en-US" sz="1200" dirty="0"/>
          </a:p>
          <a:p>
            <a:r>
              <a:rPr lang="en-US" dirty="0"/>
              <a:t>You will also learn about techniques that allow LLMs to carry out queries, ranging from answering questions to summarizing text, translating text into different languages, and more.</a:t>
            </a:r>
          </a:p>
        </p:txBody>
      </p:sp>
    </p:spTree>
    <p:extLst>
      <p:ext uri="{BB962C8B-B14F-4D97-AF65-F5344CB8AC3E}">
        <p14:creationId xmlns:p14="http://schemas.microsoft.com/office/powerpoint/2010/main" val="1610532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40A45-4886-E3F8-BA67-AA1138FA7F70}"/>
              </a:ext>
            </a:extLst>
          </p:cNvPr>
          <p:cNvSpPr>
            <a:spLocks noGrp="1"/>
          </p:cNvSpPr>
          <p:nvPr>
            <p:ph type="title"/>
          </p:nvPr>
        </p:nvSpPr>
        <p:spPr/>
        <p:txBody>
          <a:bodyPr>
            <a:normAutofit/>
          </a:bodyPr>
          <a:lstStyle/>
          <a:p>
            <a:r>
              <a:rPr lang="en-US" dirty="0"/>
              <a:t>Stages of building and using LLMs</a:t>
            </a:r>
          </a:p>
        </p:txBody>
      </p:sp>
      <p:sp>
        <p:nvSpPr>
          <p:cNvPr id="3" name="Slide Number Placeholder 2">
            <a:extLst>
              <a:ext uri="{FF2B5EF4-FFF2-40B4-BE49-F238E27FC236}">
                <a16:creationId xmlns:a16="http://schemas.microsoft.com/office/drawing/2014/main" id="{8B3AC53A-2489-FAED-9724-13C2A9A30845}"/>
              </a:ext>
            </a:extLst>
          </p:cNvPr>
          <p:cNvSpPr>
            <a:spLocks noGrp="1"/>
          </p:cNvSpPr>
          <p:nvPr>
            <p:ph type="sldNum" sz="quarter" idx="12"/>
          </p:nvPr>
        </p:nvSpPr>
        <p:spPr/>
        <p:txBody>
          <a:bodyPr>
            <a:normAutofit fontScale="85000" lnSpcReduction="20000"/>
          </a:bodyPr>
          <a:lstStyle/>
          <a:p>
            <a:fld id="{EBFB1032-EA64-7144-B003-9BCC9D94B503}" type="slidenum">
              <a:rPr lang="en-US" smtClean="0"/>
              <a:t>16</a:t>
            </a:fld>
            <a:endParaRPr lang="en-US" dirty="0"/>
          </a:p>
        </p:txBody>
      </p:sp>
      <p:sp>
        <p:nvSpPr>
          <p:cNvPr id="4" name="Content Placeholder 3">
            <a:extLst>
              <a:ext uri="{FF2B5EF4-FFF2-40B4-BE49-F238E27FC236}">
                <a16:creationId xmlns:a16="http://schemas.microsoft.com/office/drawing/2014/main" id="{FDA27EAF-2519-964B-64A8-EA71B1C7106B}"/>
              </a:ext>
            </a:extLst>
          </p:cNvPr>
          <p:cNvSpPr>
            <a:spLocks noGrp="1"/>
          </p:cNvSpPr>
          <p:nvPr>
            <p:ph sz="quarter" idx="1"/>
          </p:nvPr>
        </p:nvSpPr>
        <p:spPr/>
        <p:txBody>
          <a:bodyPr/>
          <a:lstStyle/>
          <a:p>
            <a:pPr algn="just"/>
            <a:r>
              <a:rPr lang="en-US" dirty="0">
                <a:solidFill>
                  <a:srgbClr val="C00000"/>
                </a:solidFill>
              </a:rPr>
              <a:t>Why should we build our own LLMs?</a:t>
            </a:r>
          </a:p>
          <a:p>
            <a:pPr lvl="1" algn="just"/>
            <a:r>
              <a:rPr lang="en-US" dirty="0"/>
              <a:t>Coding an LLM from the ground up is an excellent exercise to understand its mechanics and limitations.</a:t>
            </a:r>
          </a:p>
          <a:p>
            <a:pPr lvl="1" algn="just"/>
            <a:r>
              <a:rPr lang="en-US" dirty="0"/>
              <a:t>Also, it equips us with the required knowledge for pretraining or fine-tuning existing open source LLM architectures to our own domain-specific datasets or tasks.</a:t>
            </a:r>
          </a:p>
          <a:p>
            <a:pPr algn="just"/>
            <a:endParaRPr lang="en-US" dirty="0"/>
          </a:p>
          <a:p>
            <a:pPr algn="just"/>
            <a:r>
              <a:rPr lang="en-US" b="1" dirty="0">
                <a:solidFill>
                  <a:srgbClr val="FF0000"/>
                </a:solidFill>
              </a:rPr>
              <a:t>NOTE:</a:t>
            </a:r>
          </a:p>
          <a:p>
            <a:pPr algn="just"/>
            <a:r>
              <a:rPr lang="en-US" dirty="0">
                <a:solidFill>
                  <a:srgbClr val="002060"/>
                </a:solidFill>
              </a:rPr>
              <a:t>Most LLMs today are implemented using the </a:t>
            </a:r>
            <a:r>
              <a:rPr lang="en-US" dirty="0" err="1">
                <a:solidFill>
                  <a:srgbClr val="002060"/>
                </a:solidFill>
              </a:rPr>
              <a:t>PyTorch</a:t>
            </a:r>
            <a:r>
              <a:rPr lang="en-US" dirty="0">
                <a:solidFill>
                  <a:srgbClr val="002060"/>
                </a:solidFill>
              </a:rPr>
              <a:t> deep learning library, but we will try to use the Spring AI with the Akka Actor model.</a:t>
            </a:r>
          </a:p>
          <a:p>
            <a:pPr algn="just"/>
            <a:endParaRPr lang="en-US" dirty="0"/>
          </a:p>
        </p:txBody>
      </p:sp>
    </p:spTree>
    <p:extLst>
      <p:ext uri="{BB962C8B-B14F-4D97-AF65-F5344CB8AC3E}">
        <p14:creationId xmlns:p14="http://schemas.microsoft.com/office/powerpoint/2010/main" val="3725455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FD61-6295-BD5A-0D0B-C096894A820C}"/>
              </a:ext>
            </a:extLst>
          </p:cNvPr>
          <p:cNvSpPr>
            <a:spLocks noGrp="1"/>
          </p:cNvSpPr>
          <p:nvPr>
            <p:ph type="title"/>
          </p:nvPr>
        </p:nvSpPr>
        <p:spPr/>
        <p:txBody>
          <a:bodyPr>
            <a:noAutofit/>
          </a:bodyPr>
          <a:lstStyle/>
          <a:p>
            <a:r>
              <a:rPr lang="en-US" sz="3200" b="0" dirty="0"/>
              <a:t>Custom-built LLMs can outperform general-purpose LLMs</a:t>
            </a:r>
          </a:p>
        </p:txBody>
      </p:sp>
      <p:sp>
        <p:nvSpPr>
          <p:cNvPr id="3" name="Slide Number Placeholder 2">
            <a:extLst>
              <a:ext uri="{FF2B5EF4-FFF2-40B4-BE49-F238E27FC236}">
                <a16:creationId xmlns:a16="http://schemas.microsoft.com/office/drawing/2014/main" id="{B89E6C7A-F500-F5E8-846E-7CEC25268FF7}"/>
              </a:ext>
            </a:extLst>
          </p:cNvPr>
          <p:cNvSpPr>
            <a:spLocks noGrp="1"/>
          </p:cNvSpPr>
          <p:nvPr>
            <p:ph type="sldNum" sz="quarter" idx="12"/>
          </p:nvPr>
        </p:nvSpPr>
        <p:spPr/>
        <p:txBody>
          <a:bodyPr>
            <a:normAutofit fontScale="85000" lnSpcReduction="20000"/>
          </a:bodyPr>
          <a:lstStyle/>
          <a:p>
            <a:fld id="{EBFB1032-EA64-7144-B003-9BCC9D94B503}" type="slidenum">
              <a:rPr lang="en-US" smtClean="0"/>
              <a:t>17</a:t>
            </a:fld>
            <a:endParaRPr lang="en-US" dirty="0"/>
          </a:p>
        </p:txBody>
      </p:sp>
      <p:sp>
        <p:nvSpPr>
          <p:cNvPr id="4" name="Content Placeholder 3">
            <a:extLst>
              <a:ext uri="{FF2B5EF4-FFF2-40B4-BE49-F238E27FC236}">
                <a16:creationId xmlns:a16="http://schemas.microsoft.com/office/drawing/2014/main" id="{431BFFD2-DD0C-C692-4C4C-14BEE6F9FA4B}"/>
              </a:ext>
            </a:extLst>
          </p:cNvPr>
          <p:cNvSpPr>
            <a:spLocks noGrp="1"/>
          </p:cNvSpPr>
          <p:nvPr>
            <p:ph sz="quarter" idx="1"/>
          </p:nvPr>
        </p:nvSpPr>
        <p:spPr/>
        <p:txBody>
          <a:bodyPr/>
          <a:lstStyle/>
          <a:p>
            <a:r>
              <a:rPr lang="en-US" dirty="0"/>
              <a:t>Research has shown that when it comes to modeling performance, custom-built LLMs—those tailored for specific tasks or domains—can outperform general-purpose LLMs, such as those provided by ChatGPT, which are designed for a wide array of applications.</a:t>
            </a:r>
          </a:p>
          <a:p>
            <a:endParaRPr lang="en-US" dirty="0"/>
          </a:p>
          <a:p>
            <a:r>
              <a:rPr lang="en-US" dirty="0"/>
              <a:t>Examples of these include </a:t>
            </a:r>
            <a:r>
              <a:rPr lang="en-US" dirty="0" err="1"/>
              <a:t>BloombergGPT</a:t>
            </a:r>
            <a:r>
              <a:rPr lang="en-US" dirty="0"/>
              <a:t> (specialized for finance) and LLMs tailored for medical question answering.</a:t>
            </a:r>
          </a:p>
        </p:txBody>
      </p:sp>
    </p:spTree>
    <p:extLst>
      <p:ext uri="{BB962C8B-B14F-4D97-AF65-F5344CB8AC3E}">
        <p14:creationId xmlns:p14="http://schemas.microsoft.com/office/powerpoint/2010/main" val="4277424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805BC-30F1-4DEC-8CCE-08C5DD022DBE}"/>
              </a:ext>
            </a:extLst>
          </p:cNvPr>
          <p:cNvSpPr>
            <a:spLocks noGrp="1"/>
          </p:cNvSpPr>
          <p:nvPr>
            <p:ph type="title"/>
          </p:nvPr>
        </p:nvSpPr>
        <p:spPr/>
        <p:txBody>
          <a:bodyPr>
            <a:normAutofit fontScale="90000"/>
          </a:bodyPr>
          <a:lstStyle/>
          <a:p>
            <a:r>
              <a:rPr lang="en-US" dirty="0"/>
              <a:t>Using custom-built LLMs offers several advantages</a:t>
            </a:r>
          </a:p>
        </p:txBody>
      </p:sp>
      <p:sp>
        <p:nvSpPr>
          <p:cNvPr id="3" name="Slide Number Placeholder 2">
            <a:extLst>
              <a:ext uri="{FF2B5EF4-FFF2-40B4-BE49-F238E27FC236}">
                <a16:creationId xmlns:a16="http://schemas.microsoft.com/office/drawing/2014/main" id="{4958401B-AAE0-9CE1-5339-BDD37BCD7B31}"/>
              </a:ext>
            </a:extLst>
          </p:cNvPr>
          <p:cNvSpPr>
            <a:spLocks noGrp="1"/>
          </p:cNvSpPr>
          <p:nvPr>
            <p:ph type="sldNum" sz="quarter" idx="12"/>
          </p:nvPr>
        </p:nvSpPr>
        <p:spPr/>
        <p:txBody>
          <a:bodyPr>
            <a:normAutofit fontScale="85000" lnSpcReduction="20000"/>
          </a:bodyPr>
          <a:lstStyle/>
          <a:p>
            <a:fld id="{EBFB1032-EA64-7144-B003-9BCC9D94B503}" type="slidenum">
              <a:rPr lang="en-US" smtClean="0"/>
              <a:t>18</a:t>
            </a:fld>
            <a:endParaRPr lang="en-US" dirty="0"/>
          </a:p>
        </p:txBody>
      </p:sp>
      <p:sp>
        <p:nvSpPr>
          <p:cNvPr id="4" name="Content Placeholder 3">
            <a:extLst>
              <a:ext uri="{FF2B5EF4-FFF2-40B4-BE49-F238E27FC236}">
                <a16:creationId xmlns:a16="http://schemas.microsoft.com/office/drawing/2014/main" id="{7F4AFA99-D0BF-EA66-523D-3171C556491D}"/>
              </a:ext>
            </a:extLst>
          </p:cNvPr>
          <p:cNvSpPr>
            <a:spLocks noGrp="1"/>
          </p:cNvSpPr>
          <p:nvPr>
            <p:ph sz="quarter" idx="1"/>
          </p:nvPr>
        </p:nvSpPr>
        <p:spPr/>
        <p:txBody>
          <a:bodyPr/>
          <a:lstStyle/>
          <a:p>
            <a:pPr algn="just"/>
            <a:r>
              <a:rPr lang="en-US" dirty="0">
                <a:solidFill>
                  <a:srgbClr val="C00000"/>
                </a:solidFill>
              </a:rPr>
              <a:t>Using custom-built LLMs offers several advantages, particularly regarding data privacy.</a:t>
            </a:r>
          </a:p>
          <a:p>
            <a:pPr algn="just"/>
            <a:r>
              <a:rPr lang="en-US" dirty="0">
                <a:solidFill>
                  <a:srgbClr val="00B050"/>
                </a:solidFill>
              </a:rPr>
              <a:t>For instance, companies may prefer not to share sensitive data with third-party LLM providers like OpenAI due to confidentiality concerns. </a:t>
            </a:r>
          </a:p>
          <a:p>
            <a:pPr algn="just"/>
            <a:r>
              <a:rPr lang="en-US" dirty="0">
                <a:solidFill>
                  <a:srgbClr val="0070C0"/>
                </a:solidFill>
              </a:rPr>
              <a:t>Additionally, developing smaller custom LLMs enables deployment directly on customer devices, such as laptops and smartphones, which is something companies like Apple are currently exploring.</a:t>
            </a:r>
          </a:p>
          <a:p>
            <a:pPr algn="just"/>
            <a:r>
              <a:rPr lang="en-US" dirty="0">
                <a:solidFill>
                  <a:schemeClr val="accent2">
                    <a:lumMod val="75000"/>
                  </a:schemeClr>
                </a:solidFill>
              </a:rPr>
              <a:t>This local implementation can significantly decrease latency and reduce server-related costs.</a:t>
            </a:r>
          </a:p>
          <a:p>
            <a:pPr algn="just"/>
            <a:r>
              <a:rPr lang="en-US" dirty="0">
                <a:solidFill>
                  <a:srgbClr val="7030A0"/>
                </a:solidFill>
              </a:rPr>
              <a:t>Furthermore, custom LLMs grant developers complete autonomy, allowing them to control updates and modifications to the model as needed.</a:t>
            </a:r>
          </a:p>
        </p:txBody>
      </p:sp>
    </p:spTree>
    <p:extLst>
      <p:ext uri="{BB962C8B-B14F-4D97-AF65-F5344CB8AC3E}">
        <p14:creationId xmlns:p14="http://schemas.microsoft.com/office/powerpoint/2010/main" val="3721879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9E194-5349-2579-9A0C-34BCEEAA043D}"/>
              </a:ext>
            </a:extLst>
          </p:cNvPr>
          <p:cNvSpPr>
            <a:spLocks noGrp="1"/>
          </p:cNvSpPr>
          <p:nvPr>
            <p:ph type="title"/>
          </p:nvPr>
        </p:nvSpPr>
        <p:spPr/>
        <p:txBody>
          <a:bodyPr/>
          <a:lstStyle/>
          <a:p>
            <a:r>
              <a:rPr lang="en-US" dirty="0"/>
              <a:t>Pretraining and Fine-tuning</a:t>
            </a:r>
          </a:p>
        </p:txBody>
      </p:sp>
      <p:sp>
        <p:nvSpPr>
          <p:cNvPr id="3" name="Slide Number Placeholder 2">
            <a:extLst>
              <a:ext uri="{FF2B5EF4-FFF2-40B4-BE49-F238E27FC236}">
                <a16:creationId xmlns:a16="http://schemas.microsoft.com/office/drawing/2014/main" id="{6693B19A-5D6C-20D5-FDAC-EFA8BDE46F20}"/>
              </a:ext>
            </a:extLst>
          </p:cNvPr>
          <p:cNvSpPr>
            <a:spLocks noGrp="1"/>
          </p:cNvSpPr>
          <p:nvPr>
            <p:ph type="sldNum" sz="quarter" idx="12"/>
          </p:nvPr>
        </p:nvSpPr>
        <p:spPr/>
        <p:txBody>
          <a:bodyPr>
            <a:normAutofit fontScale="85000" lnSpcReduction="20000"/>
          </a:bodyPr>
          <a:lstStyle/>
          <a:p>
            <a:fld id="{EBFB1032-EA64-7144-B003-9BCC9D94B503}" type="slidenum">
              <a:rPr lang="en-US" smtClean="0"/>
              <a:t>19</a:t>
            </a:fld>
            <a:endParaRPr lang="en-US" dirty="0"/>
          </a:p>
        </p:txBody>
      </p:sp>
      <p:sp>
        <p:nvSpPr>
          <p:cNvPr id="4" name="Content Placeholder 3">
            <a:extLst>
              <a:ext uri="{FF2B5EF4-FFF2-40B4-BE49-F238E27FC236}">
                <a16:creationId xmlns:a16="http://schemas.microsoft.com/office/drawing/2014/main" id="{FA87D3BE-E000-A957-8F5E-9C2F373046F6}"/>
              </a:ext>
            </a:extLst>
          </p:cNvPr>
          <p:cNvSpPr>
            <a:spLocks noGrp="1"/>
          </p:cNvSpPr>
          <p:nvPr>
            <p:ph sz="quarter" idx="1"/>
          </p:nvPr>
        </p:nvSpPr>
        <p:spPr/>
        <p:txBody>
          <a:bodyPr>
            <a:normAutofit/>
          </a:bodyPr>
          <a:lstStyle/>
          <a:p>
            <a:r>
              <a:rPr lang="en-US" sz="2300" dirty="0">
                <a:solidFill>
                  <a:srgbClr val="0070C0"/>
                </a:solidFill>
              </a:rPr>
              <a:t>The general process of creating an LLM includes pretraining and fine-tuning.</a:t>
            </a:r>
          </a:p>
          <a:p>
            <a:r>
              <a:rPr lang="en-US" sz="2300" dirty="0"/>
              <a:t>The “pre” in “pretraining” refers to the initial phase where a model like an LLM is trained on a large, diverse dataset to develop a broad understanding of language.</a:t>
            </a:r>
          </a:p>
          <a:p>
            <a:endParaRPr lang="en-US" sz="2300" dirty="0"/>
          </a:p>
          <a:p>
            <a:r>
              <a:rPr lang="en-US" sz="2300" dirty="0">
                <a:solidFill>
                  <a:srgbClr val="00B050"/>
                </a:solidFill>
              </a:rPr>
              <a:t>This pretrained model then serves as a foundational resource that can be further refined through fine-tuning,</a:t>
            </a:r>
          </a:p>
          <a:p>
            <a:pPr lvl="1"/>
            <a:r>
              <a:rPr lang="en-US" sz="2300" dirty="0"/>
              <a:t>a process where the model is specifically trained on a narrower dataset that is more specific to particular tasks or domains.</a:t>
            </a:r>
          </a:p>
          <a:p>
            <a:endParaRPr lang="en-US" sz="2300" dirty="0"/>
          </a:p>
          <a:p>
            <a:r>
              <a:rPr lang="en-US" sz="2300" dirty="0">
                <a:solidFill>
                  <a:srgbClr val="C00000"/>
                </a:solidFill>
              </a:rPr>
              <a:t>This two-stage training approach consisting of pretraining and fine-tuning is depicted in figure 1.3.</a:t>
            </a:r>
          </a:p>
        </p:txBody>
      </p:sp>
    </p:spTree>
    <p:extLst>
      <p:ext uri="{BB962C8B-B14F-4D97-AF65-F5344CB8AC3E}">
        <p14:creationId xmlns:p14="http://schemas.microsoft.com/office/powerpoint/2010/main" val="1768902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B593B8-D247-CB89-A430-832B446E5FE9}"/>
              </a:ext>
            </a:extLst>
          </p:cNvPr>
          <p:cNvSpPr>
            <a:spLocks noGrp="1"/>
          </p:cNvSpPr>
          <p:nvPr>
            <p:ph type="sldNum" sz="quarter" idx="12"/>
          </p:nvPr>
        </p:nvSpPr>
        <p:spPr/>
        <p:txBody>
          <a:bodyPr/>
          <a:lstStyle/>
          <a:p>
            <a:fld id="{EBFB1032-EA64-7144-B003-9BCC9D94B503}" type="slidenum">
              <a:rPr lang="en-US" smtClean="0"/>
              <a:t>20</a:t>
            </a:fld>
            <a:endParaRPr lang="en-US" dirty="0"/>
          </a:p>
        </p:txBody>
      </p:sp>
      <p:pic>
        <p:nvPicPr>
          <p:cNvPr id="6" name="Picture 5">
            <a:extLst>
              <a:ext uri="{FF2B5EF4-FFF2-40B4-BE49-F238E27FC236}">
                <a16:creationId xmlns:a16="http://schemas.microsoft.com/office/drawing/2014/main" id="{4E24A5EB-E2DA-710D-E2D3-EE23ADAD7309}"/>
              </a:ext>
            </a:extLst>
          </p:cNvPr>
          <p:cNvPicPr>
            <a:picLocks noChangeAspect="1"/>
          </p:cNvPicPr>
          <p:nvPr/>
        </p:nvPicPr>
        <p:blipFill>
          <a:blip r:embed="rId2"/>
          <a:stretch>
            <a:fillRect/>
          </a:stretch>
        </p:blipFill>
        <p:spPr>
          <a:xfrm>
            <a:off x="182880" y="714789"/>
            <a:ext cx="8778240" cy="5428422"/>
          </a:xfrm>
          <a:prstGeom prst="rect">
            <a:avLst/>
          </a:prstGeom>
          <a:ln>
            <a:solidFill>
              <a:schemeClr val="accent1"/>
            </a:solidFill>
          </a:ln>
        </p:spPr>
      </p:pic>
    </p:spTree>
    <p:extLst>
      <p:ext uri="{BB962C8B-B14F-4D97-AF65-F5344CB8AC3E}">
        <p14:creationId xmlns:p14="http://schemas.microsoft.com/office/powerpoint/2010/main" val="882167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7005E-D022-1F46-46B0-4C6864C88AD5}"/>
              </a:ext>
            </a:extLst>
          </p:cNvPr>
          <p:cNvSpPr>
            <a:spLocks noGrp="1"/>
          </p:cNvSpPr>
          <p:nvPr>
            <p:ph type="title"/>
          </p:nvPr>
        </p:nvSpPr>
        <p:spPr/>
        <p:txBody>
          <a:bodyPr>
            <a:normAutofit fontScale="90000"/>
          </a:bodyPr>
          <a:lstStyle/>
          <a:p>
            <a:r>
              <a:rPr lang="en-US" b="0" dirty="0"/>
              <a:t>The first step in creating an LLM is to train it on raw text</a:t>
            </a:r>
          </a:p>
        </p:txBody>
      </p:sp>
      <p:sp>
        <p:nvSpPr>
          <p:cNvPr id="3" name="Slide Number Placeholder 2">
            <a:extLst>
              <a:ext uri="{FF2B5EF4-FFF2-40B4-BE49-F238E27FC236}">
                <a16:creationId xmlns:a16="http://schemas.microsoft.com/office/drawing/2014/main" id="{90AA87D9-1203-7108-CD77-6046A1780333}"/>
              </a:ext>
            </a:extLst>
          </p:cNvPr>
          <p:cNvSpPr>
            <a:spLocks noGrp="1"/>
          </p:cNvSpPr>
          <p:nvPr>
            <p:ph type="sldNum" sz="quarter" idx="12"/>
          </p:nvPr>
        </p:nvSpPr>
        <p:spPr/>
        <p:txBody>
          <a:bodyPr>
            <a:normAutofit fontScale="85000" lnSpcReduction="20000"/>
          </a:bodyPr>
          <a:lstStyle/>
          <a:p>
            <a:fld id="{EBFB1032-EA64-7144-B003-9BCC9D94B503}" type="slidenum">
              <a:rPr lang="en-US" smtClean="0"/>
              <a:t>21</a:t>
            </a:fld>
            <a:endParaRPr lang="en-US" dirty="0"/>
          </a:p>
        </p:txBody>
      </p:sp>
      <p:sp>
        <p:nvSpPr>
          <p:cNvPr id="4" name="Content Placeholder 3">
            <a:extLst>
              <a:ext uri="{FF2B5EF4-FFF2-40B4-BE49-F238E27FC236}">
                <a16:creationId xmlns:a16="http://schemas.microsoft.com/office/drawing/2014/main" id="{29B08FE1-6426-F05B-AF43-276C9CE766E6}"/>
              </a:ext>
            </a:extLst>
          </p:cNvPr>
          <p:cNvSpPr>
            <a:spLocks noGrp="1"/>
          </p:cNvSpPr>
          <p:nvPr>
            <p:ph sz="quarter" idx="1"/>
          </p:nvPr>
        </p:nvSpPr>
        <p:spPr/>
        <p:txBody>
          <a:bodyPr>
            <a:noAutofit/>
          </a:bodyPr>
          <a:lstStyle/>
          <a:p>
            <a:pPr algn="just">
              <a:spcBef>
                <a:spcPts val="0"/>
              </a:spcBef>
            </a:pPr>
            <a:r>
              <a:rPr lang="en-US" sz="2300" dirty="0">
                <a:solidFill>
                  <a:srgbClr val="0070C0"/>
                </a:solidFill>
              </a:rPr>
              <a:t>The first step in creating an LLM is to train it on a large corpus of text data, sometimes referred to as raw text.</a:t>
            </a:r>
          </a:p>
          <a:p>
            <a:pPr algn="just">
              <a:spcBef>
                <a:spcPts val="0"/>
              </a:spcBef>
            </a:pPr>
            <a:r>
              <a:rPr lang="en-US" sz="2300" dirty="0">
                <a:solidFill>
                  <a:srgbClr val="00B050"/>
                </a:solidFill>
              </a:rPr>
              <a:t>Here, “raw” refers to the fact that this data is just regular text without any labeling information.</a:t>
            </a:r>
          </a:p>
          <a:p>
            <a:pPr lvl="1" algn="just">
              <a:spcBef>
                <a:spcPts val="0"/>
              </a:spcBef>
            </a:pPr>
            <a:r>
              <a:rPr lang="en-US" sz="2300" dirty="0"/>
              <a:t>(Filtering may be applied, such as removing formatting characters or documents in unknown languages.)</a:t>
            </a:r>
          </a:p>
          <a:p>
            <a:pPr algn="just">
              <a:spcBef>
                <a:spcPts val="0"/>
              </a:spcBef>
            </a:pPr>
            <a:endParaRPr lang="en-US" sz="2300" dirty="0"/>
          </a:p>
          <a:p>
            <a:pPr algn="just">
              <a:spcBef>
                <a:spcPts val="0"/>
              </a:spcBef>
            </a:pPr>
            <a:r>
              <a:rPr lang="en-US" sz="2300" dirty="0">
                <a:solidFill>
                  <a:srgbClr val="FF0000"/>
                </a:solidFill>
              </a:rPr>
              <a:t>NOTE:</a:t>
            </a:r>
          </a:p>
          <a:p>
            <a:pPr lvl="1" algn="just">
              <a:spcBef>
                <a:spcPts val="0"/>
              </a:spcBef>
            </a:pPr>
            <a:r>
              <a:rPr lang="en-US" sz="2300" dirty="0"/>
              <a:t>Students with a background in machine learning may note that labeling information is typically required for traditional ML models and deep neural networks trained via the conventional supervised learning paradigm.</a:t>
            </a:r>
          </a:p>
          <a:p>
            <a:pPr lvl="1" algn="just">
              <a:spcBef>
                <a:spcPts val="0"/>
              </a:spcBef>
            </a:pPr>
            <a:r>
              <a:rPr lang="en-US" sz="2300" dirty="0"/>
              <a:t>However, this is not the case for the pretraining stage of LLMs.</a:t>
            </a:r>
          </a:p>
          <a:p>
            <a:pPr lvl="1" algn="just">
              <a:spcBef>
                <a:spcPts val="0"/>
              </a:spcBef>
            </a:pPr>
            <a:r>
              <a:rPr lang="en-US" sz="2300" dirty="0"/>
              <a:t>In this phase, LLMs use self-supervised learning, where the model generates its own labels from the input data.</a:t>
            </a:r>
          </a:p>
        </p:txBody>
      </p:sp>
    </p:spTree>
    <p:extLst>
      <p:ext uri="{BB962C8B-B14F-4D97-AF65-F5344CB8AC3E}">
        <p14:creationId xmlns:p14="http://schemas.microsoft.com/office/powerpoint/2010/main" val="4200455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20D39-5B76-1E40-4448-E7F5C565002D}"/>
              </a:ext>
            </a:extLst>
          </p:cNvPr>
          <p:cNvSpPr>
            <a:spLocks noGrp="1"/>
          </p:cNvSpPr>
          <p:nvPr>
            <p:ph type="title"/>
          </p:nvPr>
        </p:nvSpPr>
        <p:spPr/>
        <p:txBody>
          <a:bodyPr/>
          <a:lstStyle/>
          <a:p>
            <a:r>
              <a:rPr lang="en-US" dirty="0"/>
              <a:t>Foundation Model</a:t>
            </a:r>
          </a:p>
        </p:txBody>
      </p:sp>
      <p:sp>
        <p:nvSpPr>
          <p:cNvPr id="3" name="Slide Number Placeholder 2">
            <a:extLst>
              <a:ext uri="{FF2B5EF4-FFF2-40B4-BE49-F238E27FC236}">
                <a16:creationId xmlns:a16="http://schemas.microsoft.com/office/drawing/2014/main" id="{14C90561-6482-382F-C1EA-E3C2E815A1CB}"/>
              </a:ext>
            </a:extLst>
          </p:cNvPr>
          <p:cNvSpPr>
            <a:spLocks noGrp="1"/>
          </p:cNvSpPr>
          <p:nvPr>
            <p:ph type="sldNum" sz="quarter" idx="12"/>
          </p:nvPr>
        </p:nvSpPr>
        <p:spPr/>
        <p:txBody>
          <a:bodyPr>
            <a:normAutofit fontScale="85000" lnSpcReduction="20000"/>
          </a:bodyPr>
          <a:lstStyle/>
          <a:p>
            <a:fld id="{EBFB1032-EA64-7144-B003-9BCC9D94B503}" type="slidenum">
              <a:rPr lang="en-US" smtClean="0"/>
              <a:t>22</a:t>
            </a:fld>
            <a:endParaRPr lang="en-US" dirty="0"/>
          </a:p>
        </p:txBody>
      </p:sp>
      <p:sp>
        <p:nvSpPr>
          <p:cNvPr id="4" name="Content Placeholder 3">
            <a:extLst>
              <a:ext uri="{FF2B5EF4-FFF2-40B4-BE49-F238E27FC236}">
                <a16:creationId xmlns:a16="http://schemas.microsoft.com/office/drawing/2014/main" id="{A3C35D8A-05AF-8653-7D74-60E7ABC633D3}"/>
              </a:ext>
            </a:extLst>
          </p:cNvPr>
          <p:cNvSpPr>
            <a:spLocks noGrp="1"/>
          </p:cNvSpPr>
          <p:nvPr>
            <p:ph sz="quarter" idx="1"/>
          </p:nvPr>
        </p:nvSpPr>
        <p:spPr/>
        <p:txBody>
          <a:bodyPr/>
          <a:lstStyle/>
          <a:p>
            <a:r>
              <a:rPr lang="en-US" dirty="0"/>
              <a:t>This first training stage of an LLM is also known as pretraining, creating an initial pretrained LLM, often called a base or foundation model.</a:t>
            </a:r>
          </a:p>
          <a:p>
            <a:endParaRPr lang="en-US" dirty="0"/>
          </a:p>
          <a:p>
            <a:r>
              <a:rPr lang="en-US" dirty="0"/>
              <a:t>A typical example of such a model is the GPT-3 model (the precursor of the original model offered in ChatGPT).</a:t>
            </a:r>
          </a:p>
          <a:p>
            <a:endParaRPr lang="en-US" dirty="0"/>
          </a:p>
          <a:p>
            <a:r>
              <a:rPr lang="en-US" dirty="0"/>
              <a:t>This model is capable of text completion—that is, finishing a half-written sentence provided by a user.</a:t>
            </a:r>
          </a:p>
          <a:p>
            <a:endParaRPr lang="en-US" dirty="0"/>
          </a:p>
          <a:p>
            <a:r>
              <a:rPr lang="en-US" dirty="0"/>
              <a:t>It also has limited few-shot capabilities, which means it can learn to perform new tasks based on only a few examples instead of needing extensive training data.</a:t>
            </a:r>
          </a:p>
          <a:p>
            <a:endParaRPr lang="en-US" dirty="0"/>
          </a:p>
        </p:txBody>
      </p:sp>
    </p:spTree>
    <p:extLst>
      <p:ext uri="{BB962C8B-B14F-4D97-AF65-F5344CB8AC3E}">
        <p14:creationId xmlns:p14="http://schemas.microsoft.com/office/powerpoint/2010/main" val="2304860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8BEC7-3F85-34BF-BA86-C64EFC16078F}"/>
              </a:ext>
            </a:extLst>
          </p:cNvPr>
          <p:cNvSpPr>
            <a:spLocks noGrp="1"/>
          </p:cNvSpPr>
          <p:nvPr>
            <p:ph type="title"/>
          </p:nvPr>
        </p:nvSpPr>
        <p:spPr/>
        <p:txBody>
          <a:bodyPr/>
          <a:lstStyle/>
          <a:p>
            <a:r>
              <a:rPr lang="en-US" dirty="0"/>
              <a:t>Fine-tuning</a:t>
            </a:r>
          </a:p>
        </p:txBody>
      </p:sp>
      <p:sp>
        <p:nvSpPr>
          <p:cNvPr id="3" name="Slide Number Placeholder 2">
            <a:extLst>
              <a:ext uri="{FF2B5EF4-FFF2-40B4-BE49-F238E27FC236}">
                <a16:creationId xmlns:a16="http://schemas.microsoft.com/office/drawing/2014/main" id="{D37B4F33-C22F-5C23-7F2C-84733B646989}"/>
              </a:ext>
            </a:extLst>
          </p:cNvPr>
          <p:cNvSpPr>
            <a:spLocks noGrp="1"/>
          </p:cNvSpPr>
          <p:nvPr>
            <p:ph type="sldNum" sz="quarter" idx="12"/>
          </p:nvPr>
        </p:nvSpPr>
        <p:spPr/>
        <p:txBody>
          <a:bodyPr>
            <a:normAutofit fontScale="85000" lnSpcReduction="20000"/>
          </a:bodyPr>
          <a:lstStyle/>
          <a:p>
            <a:fld id="{EBFB1032-EA64-7144-B003-9BCC9D94B503}" type="slidenum">
              <a:rPr lang="en-US" smtClean="0"/>
              <a:t>23</a:t>
            </a:fld>
            <a:endParaRPr lang="en-US" dirty="0"/>
          </a:p>
        </p:txBody>
      </p:sp>
      <p:sp>
        <p:nvSpPr>
          <p:cNvPr id="4" name="Content Placeholder 3">
            <a:extLst>
              <a:ext uri="{FF2B5EF4-FFF2-40B4-BE49-F238E27FC236}">
                <a16:creationId xmlns:a16="http://schemas.microsoft.com/office/drawing/2014/main" id="{FFB80E32-D06E-E362-38BE-89AD073BCA8C}"/>
              </a:ext>
            </a:extLst>
          </p:cNvPr>
          <p:cNvSpPr>
            <a:spLocks noGrp="1"/>
          </p:cNvSpPr>
          <p:nvPr>
            <p:ph sz="quarter" idx="1"/>
          </p:nvPr>
        </p:nvSpPr>
        <p:spPr/>
        <p:txBody>
          <a:bodyPr>
            <a:noAutofit/>
          </a:bodyPr>
          <a:lstStyle/>
          <a:p>
            <a:pPr algn="just">
              <a:spcBef>
                <a:spcPts val="0"/>
              </a:spcBef>
            </a:pPr>
            <a:r>
              <a:rPr lang="en-US" dirty="0">
                <a:solidFill>
                  <a:srgbClr val="0070C0"/>
                </a:solidFill>
              </a:rPr>
              <a:t>After obtaining a pretrained LLM from training on large text datasets, where the LLM is trained to predict the next word in the text, we can further train the LLM on labeled data, also known as fine-tuning.</a:t>
            </a:r>
          </a:p>
          <a:p>
            <a:pPr algn="just">
              <a:spcBef>
                <a:spcPts val="0"/>
              </a:spcBef>
            </a:pPr>
            <a:endParaRPr lang="en-US" dirty="0"/>
          </a:p>
          <a:p>
            <a:pPr algn="just">
              <a:spcBef>
                <a:spcPts val="0"/>
              </a:spcBef>
            </a:pPr>
            <a:r>
              <a:rPr lang="en-US" dirty="0">
                <a:solidFill>
                  <a:srgbClr val="C00000"/>
                </a:solidFill>
              </a:rPr>
              <a:t>The two most popular categories of fine-tuning LLMs are</a:t>
            </a:r>
          </a:p>
          <a:p>
            <a:pPr marL="822960" lvl="1" indent="-457200" algn="just">
              <a:spcBef>
                <a:spcPts val="0"/>
              </a:spcBef>
              <a:buSzPct val="100000"/>
              <a:buFont typeface="+mj-lt"/>
              <a:buAutoNum type="arabicPeriod"/>
            </a:pPr>
            <a:r>
              <a:rPr lang="en-US" b="1" dirty="0"/>
              <a:t>instruction fine-tuning and</a:t>
            </a:r>
          </a:p>
          <a:p>
            <a:pPr lvl="2" algn="just">
              <a:spcBef>
                <a:spcPts val="0"/>
              </a:spcBef>
            </a:pPr>
            <a:r>
              <a:rPr lang="en-US" dirty="0"/>
              <a:t>In instruction fine-tuning, the labeled dataset consists of instruction and answer pairs, such as a query to translate a text accompanied by the correctly translated text.</a:t>
            </a:r>
          </a:p>
          <a:p>
            <a:pPr marL="822960" lvl="1" indent="-457200" algn="just">
              <a:spcBef>
                <a:spcPts val="0"/>
              </a:spcBef>
              <a:buSzPct val="100000"/>
              <a:buFont typeface="+mj-lt"/>
              <a:buAutoNum type="arabicPeriod"/>
            </a:pPr>
            <a:r>
              <a:rPr lang="en-US" b="1" dirty="0"/>
              <a:t>classification fine-tuning.</a:t>
            </a:r>
          </a:p>
          <a:p>
            <a:pPr lvl="2" algn="just">
              <a:spcBef>
                <a:spcPts val="0"/>
              </a:spcBef>
            </a:pPr>
            <a:r>
              <a:rPr lang="en-US" dirty="0"/>
              <a:t>In classification fine-tuning, the labeled dataset consists of texts and associated class labels—for example, emails associated with “spam” and “not spam” labels.</a:t>
            </a:r>
          </a:p>
        </p:txBody>
      </p:sp>
    </p:spTree>
    <p:extLst>
      <p:ext uri="{BB962C8B-B14F-4D97-AF65-F5344CB8AC3E}">
        <p14:creationId xmlns:p14="http://schemas.microsoft.com/office/powerpoint/2010/main" val="3235501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D0CF0-7DDD-D83C-445A-D09AC015EB57}"/>
              </a:ext>
            </a:extLst>
          </p:cNvPr>
          <p:cNvSpPr>
            <a:spLocks noGrp="1"/>
          </p:cNvSpPr>
          <p:nvPr>
            <p:ph type="title"/>
          </p:nvPr>
        </p:nvSpPr>
        <p:spPr/>
        <p:txBody>
          <a:bodyPr>
            <a:normAutofit/>
          </a:bodyPr>
          <a:lstStyle/>
          <a:p>
            <a:r>
              <a:rPr lang="en-US" dirty="0"/>
              <a:t>Introducing the transformer architecture</a:t>
            </a:r>
          </a:p>
        </p:txBody>
      </p:sp>
      <p:sp>
        <p:nvSpPr>
          <p:cNvPr id="3" name="Slide Number Placeholder 2">
            <a:extLst>
              <a:ext uri="{FF2B5EF4-FFF2-40B4-BE49-F238E27FC236}">
                <a16:creationId xmlns:a16="http://schemas.microsoft.com/office/drawing/2014/main" id="{FBB1DE72-319C-6076-60EE-AF57685B8166}"/>
              </a:ext>
            </a:extLst>
          </p:cNvPr>
          <p:cNvSpPr>
            <a:spLocks noGrp="1"/>
          </p:cNvSpPr>
          <p:nvPr>
            <p:ph type="sldNum" sz="quarter" idx="12"/>
          </p:nvPr>
        </p:nvSpPr>
        <p:spPr/>
        <p:txBody>
          <a:bodyPr>
            <a:normAutofit fontScale="85000" lnSpcReduction="20000"/>
          </a:bodyPr>
          <a:lstStyle/>
          <a:p>
            <a:fld id="{EBFB1032-EA64-7144-B003-9BCC9D94B503}" type="slidenum">
              <a:rPr lang="en-US" smtClean="0"/>
              <a:t>24</a:t>
            </a:fld>
            <a:endParaRPr lang="en-US" dirty="0"/>
          </a:p>
        </p:txBody>
      </p:sp>
      <p:sp>
        <p:nvSpPr>
          <p:cNvPr id="4" name="Content Placeholder 3">
            <a:extLst>
              <a:ext uri="{FF2B5EF4-FFF2-40B4-BE49-F238E27FC236}">
                <a16:creationId xmlns:a16="http://schemas.microsoft.com/office/drawing/2014/main" id="{C6ED5C9A-EA3D-DADB-8AD9-E65C810CDFBB}"/>
              </a:ext>
            </a:extLst>
          </p:cNvPr>
          <p:cNvSpPr>
            <a:spLocks noGrp="1"/>
          </p:cNvSpPr>
          <p:nvPr>
            <p:ph sz="quarter" idx="1"/>
          </p:nvPr>
        </p:nvSpPr>
        <p:spPr/>
        <p:txBody>
          <a:bodyPr>
            <a:normAutofit/>
          </a:bodyPr>
          <a:lstStyle/>
          <a:p>
            <a:pPr algn="just"/>
            <a:r>
              <a:rPr lang="en-US" sz="2300" dirty="0"/>
              <a:t>Most modern LLMs rely on the transformer architecture, which is a deep neural network architecture introduced in the 2017 paper “Attention Is All You Need”</a:t>
            </a:r>
          </a:p>
          <a:p>
            <a:pPr lvl="1" algn="just"/>
            <a:r>
              <a:rPr lang="en-US" sz="2300" dirty="0">
                <a:hlinkClick r:id="rId2"/>
              </a:rPr>
              <a:t>https://arxiv.org/abs/1706.03762</a:t>
            </a:r>
            <a:endParaRPr lang="en-US" sz="2300" dirty="0"/>
          </a:p>
          <a:p>
            <a:pPr algn="just"/>
            <a:endParaRPr lang="en-US" sz="2300" dirty="0"/>
          </a:p>
          <a:p>
            <a:pPr algn="just"/>
            <a:r>
              <a:rPr lang="en-US" sz="2300" dirty="0"/>
              <a:t>To understand LLMs, we must understand the original transformer, which was developed for machine translation, translating English texts to German and French.</a:t>
            </a:r>
          </a:p>
          <a:p>
            <a:pPr algn="just"/>
            <a:endParaRPr lang="en-US" sz="2300" dirty="0"/>
          </a:p>
          <a:p>
            <a:pPr algn="just"/>
            <a:r>
              <a:rPr lang="en-US" sz="2300" dirty="0"/>
              <a:t>A simplified version of the transformer architecture is depicted in figure 1.4. </a:t>
            </a:r>
          </a:p>
        </p:txBody>
      </p:sp>
    </p:spTree>
    <p:extLst>
      <p:ext uri="{BB962C8B-B14F-4D97-AF65-F5344CB8AC3E}">
        <p14:creationId xmlns:p14="http://schemas.microsoft.com/office/powerpoint/2010/main" val="3266216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687A6-FE8D-ED59-C938-CB1164441A6C}"/>
              </a:ext>
            </a:extLst>
          </p:cNvPr>
          <p:cNvSpPr>
            <a:spLocks noGrp="1"/>
          </p:cNvSpPr>
          <p:nvPr>
            <p:ph type="title"/>
          </p:nvPr>
        </p:nvSpPr>
        <p:spPr/>
        <p:txBody>
          <a:bodyPr>
            <a:noAutofit/>
          </a:bodyPr>
          <a:lstStyle/>
          <a:p>
            <a:r>
              <a:rPr lang="en-US" sz="3400" dirty="0"/>
              <a:t>Figure 1.4 The Original Transformer Architecture</a:t>
            </a:r>
          </a:p>
        </p:txBody>
      </p:sp>
      <p:sp>
        <p:nvSpPr>
          <p:cNvPr id="3" name="Slide Number Placeholder 2">
            <a:extLst>
              <a:ext uri="{FF2B5EF4-FFF2-40B4-BE49-F238E27FC236}">
                <a16:creationId xmlns:a16="http://schemas.microsoft.com/office/drawing/2014/main" id="{DAC7C7A9-B832-D0E9-0541-E8579E9A66B8}"/>
              </a:ext>
            </a:extLst>
          </p:cNvPr>
          <p:cNvSpPr>
            <a:spLocks noGrp="1"/>
          </p:cNvSpPr>
          <p:nvPr>
            <p:ph type="sldNum" sz="quarter" idx="12"/>
          </p:nvPr>
        </p:nvSpPr>
        <p:spPr/>
        <p:txBody>
          <a:bodyPr>
            <a:normAutofit fontScale="85000" lnSpcReduction="20000"/>
          </a:bodyPr>
          <a:lstStyle/>
          <a:p>
            <a:fld id="{EBFB1032-EA64-7144-B003-9BCC9D94B503}" type="slidenum">
              <a:rPr lang="en-US" smtClean="0"/>
              <a:t>25</a:t>
            </a:fld>
            <a:endParaRPr lang="en-US" dirty="0"/>
          </a:p>
        </p:txBody>
      </p:sp>
      <p:sp>
        <p:nvSpPr>
          <p:cNvPr id="4" name="Content Placeholder 3">
            <a:extLst>
              <a:ext uri="{FF2B5EF4-FFF2-40B4-BE49-F238E27FC236}">
                <a16:creationId xmlns:a16="http://schemas.microsoft.com/office/drawing/2014/main" id="{B12358E5-9D8A-E214-1C84-05C944DBE9C1}"/>
              </a:ext>
            </a:extLst>
          </p:cNvPr>
          <p:cNvSpPr>
            <a:spLocks noGrp="1"/>
          </p:cNvSpPr>
          <p:nvPr>
            <p:ph sz="quarter" idx="1"/>
          </p:nvPr>
        </p:nvSpPr>
        <p:spPr>
          <a:xfrm>
            <a:off x="5240955" y="1600200"/>
            <a:ext cx="3822833" cy="5153526"/>
          </a:xfrm>
          <a:ln>
            <a:solidFill>
              <a:schemeClr val="accent1"/>
            </a:solidFill>
          </a:ln>
        </p:spPr>
        <p:txBody>
          <a:bodyPr>
            <a:noAutofit/>
          </a:bodyPr>
          <a:lstStyle/>
          <a:p>
            <a:pPr>
              <a:lnSpc>
                <a:spcPct val="85000"/>
              </a:lnSpc>
              <a:spcBef>
                <a:spcPts val="0"/>
              </a:spcBef>
            </a:pPr>
            <a:r>
              <a:rPr lang="en-US" sz="1800" dirty="0">
                <a:solidFill>
                  <a:srgbClr val="0070C0"/>
                </a:solidFill>
              </a:rPr>
              <a:t>The transformer architecture is a deep learning model for language translation.</a:t>
            </a:r>
          </a:p>
          <a:p>
            <a:pPr>
              <a:lnSpc>
                <a:spcPct val="85000"/>
              </a:lnSpc>
              <a:spcBef>
                <a:spcPts val="0"/>
              </a:spcBef>
            </a:pPr>
            <a:endParaRPr lang="en-US" sz="1800" dirty="0"/>
          </a:p>
          <a:p>
            <a:pPr>
              <a:lnSpc>
                <a:spcPct val="85000"/>
              </a:lnSpc>
              <a:spcBef>
                <a:spcPts val="0"/>
              </a:spcBef>
            </a:pPr>
            <a:r>
              <a:rPr lang="en-US" sz="1800" dirty="0">
                <a:solidFill>
                  <a:srgbClr val="C00000"/>
                </a:solidFill>
              </a:rPr>
              <a:t>The transformer consists of two parts:</a:t>
            </a:r>
          </a:p>
          <a:p>
            <a:pPr lvl="1">
              <a:lnSpc>
                <a:spcPct val="85000"/>
              </a:lnSpc>
              <a:spcBef>
                <a:spcPts val="0"/>
              </a:spcBef>
            </a:pPr>
            <a:r>
              <a:rPr lang="en-US" sz="1800" dirty="0"/>
              <a:t>(a) an encoder that processes the input text and produces an embedding representation (a numerical representation that captures many different factors in different dimensions) of the text that </a:t>
            </a:r>
          </a:p>
          <a:p>
            <a:pPr lvl="1">
              <a:lnSpc>
                <a:spcPct val="85000"/>
              </a:lnSpc>
              <a:spcBef>
                <a:spcPts val="0"/>
              </a:spcBef>
            </a:pPr>
            <a:r>
              <a:rPr lang="en-US" sz="1800" dirty="0"/>
              <a:t>(b) decoder can use to generate the translated text one word at a time.</a:t>
            </a:r>
          </a:p>
          <a:p>
            <a:pPr>
              <a:lnSpc>
                <a:spcPct val="85000"/>
              </a:lnSpc>
              <a:spcBef>
                <a:spcPts val="0"/>
              </a:spcBef>
            </a:pPr>
            <a:endParaRPr lang="en-US" sz="1800" dirty="0"/>
          </a:p>
          <a:p>
            <a:pPr>
              <a:lnSpc>
                <a:spcPct val="85000"/>
              </a:lnSpc>
              <a:spcBef>
                <a:spcPts val="0"/>
              </a:spcBef>
            </a:pPr>
            <a:r>
              <a:rPr lang="en-US" sz="1800" dirty="0">
                <a:solidFill>
                  <a:schemeClr val="accent2">
                    <a:lumMod val="75000"/>
                  </a:schemeClr>
                </a:solidFill>
              </a:rPr>
              <a:t>This figure shows the final stage of the translation process where the decoder has to generate only the final word (“</a:t>
            </a:r>
            <a:r>
              <a:rPr lang="en-US" sz="1800" dirty="0" err="1">
                <a:solidFill>
                  <a:schemeClr val="accent2">
                    <a:lumMod val="75000"/>
                  </a:schemeClr>
                </a:solidFill>
              </a:rPr>
              <a:t>Beispiel</a:t>
            </a:r>
            <a:r>
              <a:rPr lang="en-US" sz="1800" dirty="0">
                <a:solidFill>
                  <a:schemeClr val="accent2">
                    <a:lumMod val="75000"/>
                  </a:schemeClr>
                </a:solidFill>
              </a:rPr>
              <a:t>”), given the original input text (“This is an example”) and a partially translated sentence (“Das </a:t>
            </a:r>
            <a:r>
              <a:rPr lang="en-US" sz="1800" dirty="0" err="1">
                <a:solidFill>
                  <a:schemeClr val="accent2">
                    <a:lumMod val="75000"/>
                  </a:schemeClr>
                </a:solidFill>
              </a:rPr>
              <a:t>ist</a:t>
            </a:r>
            <a:r>
              <a:rPr lang="en-US" sz="1800" dirty="0">
                <a:solidFill>
                  <a:schemeClr val="accent2">
                    <a:lumMod val="75000"/>
                  </a:schemeClr>
                </a:solidFill>
              </a:rPr>
              <a:t> </a:t>
            </a:r>
            <a:r>
              <a:rPr lang="en-US" sz="1800" dirty="0" err="1">
                <a:solidFill>
                  <a:schemeClr val="accent2">
                    <a:lumMod val="75000"/>
                  </a:schemeClr>
                </a:solidFill>
              </a:rPr>
              <a:t>ein</a:t>
            </a:r>
            <a:r>
              <a:rPr lang="en-US" sz="1800" dirty="0">
                <a:solidFill>
                  <a:schemeClr val="accent2">
                    <a:lumMod val="75000"/>
                  </a:schemeClr>
                </a:solidFill>
              </a:rPr>
              <a:t>”), to complete the translation.</a:t>
            </a:r>
          </a:p>
        </p:txBody>
      </p:sp>
      <p:pic>
        <p:nvPicPr>
          <p:cNvPr id="6" name="Picture 5" descr="A diagram of a decoder&#10;&#10;AI-generated content may be incorrect.">
            <a:extLst>
              <a:ext uri="{FF2B5EF4-FFF2-40B4-BE49-F238E27FC236}">
                <a16:creationId xmlns:a16="http://schemas.microsoft.com/office/drawing/2014/main" id="{8C467DA8-09F9-DFE3-DB15-12E1286501C6}"/>
              </a:ext>
            </a:extLst>
          </p:cNvPr>
          <p:cNvPicPr>
            <a:picLocks noChangeAspect="1"/>
          </p:cNvPicPr>
          <p:nvPr/>
        </p:nvPicPr>
        <p:blipFill>
          <a:blip r:embed="rId2"/>
          <a:stretch>
            <a:fillRect/>
          </a:stretch>
        </p:blipFill>
        <p:spPr>
          <a:xfrm>
            <a:off x="80212" y="2294673"/>
            <a:ext cx="5120640" cy="3764580"/>
          </a:xfrm>
          <a:prstGeom prst="rect">
            <a:avLst/>
          </a:prstGeom>
          <a:ln>
            <a:solidFill>
              <a:schemeClr val="accent1"/>
            </a:solidFill>
          </a:ln>
        </p:spPr>
      </p:pic>
    </p:spTree>
    <p:extLst>
      <p:ext uri="{BB962C8B-B14F-4D97-AF65-F5344CB8AC3E}">
        <p14:creationId xmlns:p14="http://schemas.microsoft.com/office/powerpoint/2010/main" val="3116626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E01EB-A1EF-3FB0-444F-DE005ACC35FB}"/>
              </a:ext>
            </a:extLst>
          </p:cNvPr>
          <p:cNvSpPr>
            <a:spLocks noGrp="1"/>
          </p:cNvSpPr>
          <p:nvPr>
            <p:ph type="title"/>
          </p:nvPr>
        </p:nvSpPr>
        <p:spPr/>
        <p:txBody>
          <a:bodyPr/>
          <a:lstStyle/>
          <a:p>
            <a:r>
              <a:rPr lang="en-US" dirty="0"/>
              <a:t>Submodules</a:t>
            </a:r>
          </a:p>
        </p:txBody>
      </p:sp>
      <p:sp>
        <p:nvSpPr>
          <p:cNvPr id="3" name="Slide Number Placeholder 2">
            <a:extLst>
              <a:ext uri="{FF2B5EF4-FFF2-40B4-BE49-F238E27FC236}">
                <a16:creationId xmlns:a16="http://schemas.microsoft.com/office/drawing/2014/main" id="{B1798AEE-1558-2301-CE74-98F0C8A3AE94}"/>
              </a:ext>
            </a:extLst>
          </p:cNvPr>
          <p:cNvSpPr>
            <a:spLocks noGrp="1"/>
          </p:cNvSpPr>
          <p:nvPr>
            <p:ph type="sldNum" sz="quarter" idx="12"/>
          </p:nvPr>
        </p:nvSpPr>
        <p:spPr/>
        <p:txBody>
          <a:bodyPr>
            <a:normAutofit fontScale="85000" lnSpcReduction="20000"/>
          </a:bodyPr>
          <a:lstStyle/>
          <a:p>
            <a:fld id="{EBFB1032-EA64-7144-B003-9BCC9D94B503}" type="slidenum">
              <a:rPr lang="en-US" smtClean="0"/>
              <a:t>26</a:t>
            </a:fld>
            <a:endParaRPr lang="en-US" dirty="0"/>
          </a:p>
        </p:txBody>
      </p:sp>
      <p:sp>
        <p:nvSpPr>
          <p:cNvPr id="4" name="Content Placeholder 3">
            <a:extLst>
              <a:ext uri="{FF2B5EF4-FFF2-40B4-BE49-F238E27FC236}">
                <a16:creationId xmlns:a16="http://schemas.microsoft.com/office/drawing/2014/main" id="{0F264D80-962B-D5B3-2A8C-057DA1503A22}"/>
              </a:ext>
            </a:extLst>
          </p:cNvPr>
          <p:cNvSpPr>
            <a:spLocks noGrp="1"/>
          </p:cNvSpPr>
          <p:nvPr>
            <p:ph sz="quarter" idx="1"/>
          </p:nvPr>
        </p:nvSpPr>
        <p:spPr/>
        <p:txBody>
          <a:bodyPr>
            <a:noAutofit/>
          </a:bodyPr>
          <a:lstStyle/>
          <a:p>
            <a:pPr>
              <a:lnSpc>
                <a:spcPct val="90000"/>
              </a:lnSpc>
              <a:spcBef>
                <a:spcPts val="0"/>
              </a:spcBef>
            </a:pPr>
            <a:r>
              <a:rPr lang="en-US" sz="2300" dirty="0">
                <a:solidFill>
                  <a:srgbClr val="0070C0"/>
                </a:solidFill>
              </a:rPr>
              <a:t>The transformer architecture consists of two submodules:</a:t>
            </a:r>
          </a:p>
          <a:p>
            <a:pPr lvl="1">
              <a:lnSpc>
                <a:spcPct val="90000"/>
              </a:lnSpc>
              <a:spcBef>
                <a:spcPts val="0"/>
              </a:spcBef>
            </a:pPr>
            <a:r>
              <a:rPr lang="en-US" sz="2300" b="1" dirty="0"/>
              <a:t>an encoder</a:t>
            </a:r>
          </a:p>
          <a:p>
            <a:pPr lvl="2" algn="just">
              <a:lnSpc>
                <a:spcPct val="90000"/>
              </a:lnSpc>
              <a:spcBef>
                <a:spcPts val="0"/>
              </a:spcBef>
            </a:pPr>
            <a:r>
              <a:rPr lang="en-US" sz="2200" dirty="0"/>
              <a:t>It processes the input text and encodes it into a series of numerical representations/vectors that capture the contextual information of the input.</a:t>
            </a:r>
          </a:p>
          <a:p>
            <a:pPr lvl="1">
              <a:lnSpc>
                <a:spcPct val="90000"/>
              </a:lnSpc>
              <a:spcBef>
                <a:spcPts val="0"/>
              </a:spcBef>
            </a:pPr>
            <a:r>
              <a:rPr lang="en-US" sz="2300" b="1" dirty="0"/>
              <a:t>a decoder</a:t>
            </a:r>
          </a:p>
          <a:p>
            <a:pPr lvl="2">
              <a:lnSpc>
                <a:spcPct val="90000"/>
              </a:lnSpc>
              <a:spcBef>
                <a:spcPts val="0"/>
              </a:spcBef>
            </a:pPr>
            <a:r>
              <a:rPr lang="en-US" sz="2200" dirty="0"/>
              <a:t>It takes these encoded vectors and generates the output text.</a:t>
            </a:r>
          </a:p>
          <a:p>
            <a:pPr>
              <a:lnSpc>
                <a:spcPct val="90000"/>
              </a:lnSpc>
              <a:spcBef>
                <a:spcPts val="0"/>
              </a:spcBef>
            </a:pPr>
            <a:endParaRPr lang="en-US" sz="2300" dirty="0"/>
          </a:p>
          <a:p>
            <a:pPr>
              <a:lnSpc>
                <a:spcPct val="90000"/>
              </a:lnSpc>
              <a:spcBef>
                <a:spcPts val="0"/>
              </a:spcBef>
            </a:pPr>
            <a:r>
              <a:rPr lang="en-US" sz="2300" dirty="0">
                <a:solidFill>
                  <a:srgbClr val="00B050"/>
                </a:solidFill>
              </a:rPr>
              <a:t>In a translation task, for example, the encoder would encode the text from the source language into vectors, and the decoder would decode these vectors to generate text in the target language.</a:t>
            </a:r>
          </a:p>
          <a:p>
            <a:pPr>
              <a:lnSpc>
                <a:spcPct val="90000"/>
              </a:lnSpc>
              <a:spcBef>
                <a:spcPts val="0"/>
              </a:spcBef>
            </a:pPr>
            <a:endParaRPr lang="en-US" sz="2300" dirty="0"/>
          </a:p>
          <a:p>
            <a:pPr>
              <a:lnSpc>
                <a:spcPct val="90000"/>
              </a:lnSpc>
              <a:spcBef>
                <a:spcPts val="0"/>
              </a:spcBef>
            </a:pPr>
            <a:r>
              <a:rPr lang="en-US" sz="2300" dirty="0">
                <a:solidFill>
                  <a:schemeClr val="accent2">
                    <a:lumMod val="75000"/>
                  </a:schemeClr>
                </a:solidFill>
              </a:rPr>
              <a:t>Both the encoder and decoder consist of many layers connected by a so-called self-attention mechanism.</a:t>
            </a:r>
          </a:p>
          <a:p>
            <a:pPr>
              <a:lnSpc>
                <a:spcPct val="90000"/>
              </a:lnSpc>
              <a:spcBef>
                <a:spcPts val="0"/>
              </a:spcBef>
            </a:pPr>
            <a:endParaRPr lang="en-US" sz="2300" dirty="0"/>
          </a:p>
          <a:p>
            <a:pPr>
              <a:lnSpc>
                <a:spcPct val="90000"/>
              </a:lnSpc>
              <a:spcBef>
                <a:spcPts val="0"/>
              </a:spcBef>
            </a:pPr>
            <a:r>
              <a:rPr lang="en-US" sz="2300" dirty="0">
                <a:solidFill>
                  <a:srgbClr val="C00000"/>
                </a:solidFill>
              </a:rPr>
              <a:t>How the inputs are preprocessed and encoded will be addressed in a step-by-step implementation in the following lectures.</a:t>
            </a:r>
          </a:p>
        </p:txBody>
      </p:sp>
    </p:spTree>
    <p:extLst>
      <p:ext uri="{BB962C8B-B14F-4D97-AF65-F5344CB8AC3E}">
        <p14:creationId xmlns:p14="http://schemas.microsoft.com/office/powerpoint/2010/main" val="1557994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6BB5B-C690-D295-4F3A-B020E8C19B11}"/>
              </a:ext>
            </a:extLst>
          </p:cNvPr>
          <p:cNvSpPr>
            <a:spLocks noGrp="1"/>
          </p:cNvSpPr>
          <p:nvPr>
            <p:ph type="title"/>
          </p:nvPr>
        </p:nvSpPr>
        <p:spPr/>
        <p:txBody>
          <a:bodyPr/>
          <a:lstStyle/>
          <a:p>
            <a:r>
              <a:rPr lang="en-US" dirty="0"/>
              <a:t>Self-attention mechanism</a:t>
            </a:r>
          </a:p>
        </p:txBody>
      </p:sp>
      <p:sp>
        <p:nvSpPr>
          <p:cNvPr id="3" name="Slide Number Placeholder 2">
            <a:extLst>
              <a:ext uri="{FF2B5EF4-FFF2-40B4-BE49-F238E27FC236}">
                <a16:creationId xmlns:a16="http://schemas.microsoft.com/office/drawing/2014/main" id="{04D4F7B2-5702-DDCC-921B-C56B2F399D4B}"/>
              </a:ext>
            </a:extLst>
          </p:cNvPr>
          <p:cNvSpPr>
            <a:spLocks noGrp="1"/>
          </p:cNvSpPr>
          <p:nvPr>
            <p:ph type="sldNum" sz="quarter" idx="12"/>
          </p:nvPr>
        </p:nvSpPr>
        <p:spPr/>
        <p:txBody>
          <a:bodyPr>
            <a:normAutofit fontScale="85000" lnSpcReduction="20000"/>
          </a:bodyPr>
          <a:lstStyle/>
          <a:p>
            <a:fld id="{EBFB1032-EA64-7144-B003-9BCC9D94B503}" type="slidenum">
              <a:rPr lang="en-US" smtClean="0"/>
              <a:t>27</a:t>
            </a:fld>
            <a:endParaRPr lang="en-US" dirty="0"/>
          </a:p>
        </p:txBody>
      </p:sp>
      <p:sp>
        <p:nvSpPr>
          <p:cNvPr id="4" name="Content Placeholder 3">
            <a:extLst>
              <a:ext uri="{FF2B5EF4-FFF2-40B4-BE49-F238E27FC236}">
                <a16:creationId xmlns:a16="http://schemas.microsoft.com/office/drawing/2014/main" id="{16D9546C-4205-8618-3E08-B9B6486D66B5}"/>
              </a:ext>
            </a:extLst>
          </p:cNvPr>
          <p:cNvSpPr>
            <a:spLocks noGrp="1"/>
          </p:cNvSpPr>
          <p:nvPr>
            <p:ph sz="quarter" idx="1"/>
          </p:nvPr>
        </p:nvSpPr>
        <p:spPr/>
        <p:txBody>
          <a:bodyPr/>
          <a:lstStyle/>
          <a:p>
            <a:r>
              <a:rPr lang="en-US" dirty="0">
                <a:solidFill>
                  <a:srgbClr val="0070C0"/>
                </a:solidFill>
              </a:rPr>
              <a:t>A key component of transformers and LLMs is the self-attention mechanism (not shown), which allows the model to weigh the importance of different words or tokens in a sequence relative to each other.</a:t>
            </a:r>
          </a:p>
          <a:p>
            <a:endParaRPr lang="en-US" dirty="0"/>
          </a:p>
          <a:p>
            <a:r>
              <a:rPr lang="en-US" dirty="0">
                <a:solidFill>
                  <a:srgbClr val="00B050"/>
                </a:solidFill>
              </a:rPr>
              <a:t>This mechanism enables the model to capture long-range dependencies and contextual relationships within the input data, enhancing its ability to generate coherent and contextually relevant output.</a:t>
            </a:r>
          </a:p>
          <a:p>
            <a:endParaRPr lang="en-US" dirty="0"/>
          </a:p>
          <a:p>
            <a:r>
              <a:rPr lang="en-US" dirty="0">
                <a:solidFill>
                  <a:schemeClr val="accent2">
                    <a:lumMod val="75000"/>
                  </a:schemeClr>
                </a:solidFill>
              </a:rPr>
              <a:t>However, due to its complexity, we will defer further explanation to the later lectures, where we will discuss and implement it step by step.</a:t>
            </a:r>
          </a:p>
        </p:txBody>
      </p:sp>
    </p:spTree>
    <p:extLst>
      <p:ext uri="{BB962C8B-B14F-4D97-AF65-F5344CB8AC3E}">
        <p14:creationId xmlns:p14="http://schemas.microsoft.com/office/powerpoint/2010/main" val="4057657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1CC0C-A590-C037-C89A-C02CD6AEE80C}"/>
              </a:ext>
            </a:extLst>
          </p:cNvPr>
          <p:cNvSpPr>
            <a:spLocks noGrp="1"/>
          </p:cNvSpPr>
          <p:nvPr>
            <p:ph type="title"/>
          </p:nvPr>
        </p:nvSpPr>
        <p:spPr/>
        <p:txBody>
          <a:bodyPr/>
          <a:lstStyle/>
          <a:p>
            <a:r>
              <a:rPr lang="en-US" dirty="0"/>
              <a:t>BERT</a:t>
            </a:r>
          </a:p>
        </p:txBody>
      </p:sp>
      <p:sp>
        <p:nvSpPr>
          <p:cNvPr id="3" name="Slide Number Placeholder 2">
            <a:extLst>
              <a:ext uri="{FF2B5EF4-FFF2-40B4-BE49-F238E27FC236}">
                <a16:creationId xmlns:a16="http://schemas.microsoft.com/office/drawing/2014/main" id="{62C514C4-6B16-0722-DD4B-C1F950C6D0B9}"/>
              </a:ext>
            </a:extLst>
          </p:cNvPr>
          <p:cNvSpPr>
            <a:spLocks noGrp="1"/>
          </p:cNvSpPr>
          <p:nvPr>
            <p:ph type="sldNum" sz="quarter" idx="12"/>
          </p:nvPr>
        </p:nvSpPr>
        <p:spPr/>
        <p:txBody>
          <a:bodyPr>
            <a:normAutofit fontScale="85000" lnSpcReduction="20000"/>
          </a:bodyPr>
          <a:lstStyle/>
          <a:p>
            <a:fld id="{EBFB1032-EA64-7144-B003-9BCC9D94B503}" type="slidenum">
              <a:rPr lang="en-US" smtClean="0"/>
              <a:t>28</a:t>
            </a:fld>
            <a:endParaRPr lang="en-US" dirty="0"/>
          </a:p>
        </p:txBody>
      </p:sp>
      <p:sp>
        <p:nvSpPr>
          <p:cNvPr id="4" name="Content Placeholder 3">
            <a:extLst>
              <a:ext uri="{FF2B5EF4-FFF2-40B4-BE49-F238E27FC236}">
                <a16:creationId xmlns:a16="http://schemas.microsoft.com/office/drawing/2014/main" id="{9523B54A-F416-990D-0AD5-4BF18C56DAE3}"/>
              </a:ext>
            </a:extLst>
          </p:cNvPr>
          <p:cNvSpPr>
            <a:spLocks noGrp="1"/>
          </p:cNvSpPr>
          <p:nvPr>
            <p:ph sz="quarter" idx="1"/>
          </p:nvPr>
        </p:nvSpPr>
        <p:spPr/>
        <p:txBody>
          <a:bodyPr>
            <a:normAutofit/>
          </a:bodyPr>
          <a:lstStyle/>
          <a:p>
            <a:pPr algn="just"/>
            <a:r>
              <a:rPr lang="en-US" sz="2300" dirty="0">
                <a:solidFill>
                  <a:srgbClr val="0070C0"/>
                </a:solidFill>
              </a:rPr>
              <a:t>Later variants of the transformer architecture, such as BERT (short for bidirectional encoder representations from transformers) and the various GPT models (short for generative pretrained transformers), built on this concept to adapt this architecture for different tasks.</a:t>
            </a:r>
          </a:p>
          <a:p>
            <a:pPr algn="just"/>
            <a:r>
              <a:rPr lang="en-US" sz="2300" dirty="0">
                <a:solidFill>
                  <a:srgbClr val="00B050"/>
                </a:solidFill>
              </a:rPr>
              <a:t>BERT, which is built upon the original transformer’s encoder submodule, differs in its training approach from GPT.</a:t>
            </a:r>
          </a:p>
          <a:p>
            <a:pPr algn="just"/>
            <a:r>
              <a:rPr lang="en-US" sz="2300" dirty="0">
                <a:solidFill>
                  <a:srgbClr val="7030A0"/>
                </a:solidFill>
              </a:rPr>
              <a:t>While GPT is designed for generative tasks, BERT and its variants specialize in masked word prediction, where the model predicts masked or hidden words in a given sentence, as shown in figure 1.5.</a:t>
            </a:r>
          </a:p>
          <a:p>
            <a:pPr algn="just"/>
            <a:r>
              <a:rPr lang="en-US" sz="2300" dirty="0">
                <a:solidFill>
                  <a:schemeClr val="accent2">
                    <a:lumMod val="75000"/>
                  </a:schemeClr>
                </a:solidFill>
              </a:rPr>
              <a:t>This unique training strategy equips BERT with strengths in text classification tasks, including sentiment prediction and document categorization.</a:t>
            </a:r>
          </a:p>
          <a:p>
            <a:pPr algn="just"/>
            <a:r>
              <a:rPr lang="en-US" sz="2300" dirty="0">
                <a:solidFill>
                  <a:srgbClr val="00B0F0"/>
                </a:solidFill>
              </a:rPr>
              <a:t>As an application of its capabilities, as of this writing, X (formerly Twitter) uses BERT to detect toxic content.</a:t>
            </a:r>
          </a:p>
        </p:txBody>
      </p:sp>
    </p:spTree>
    <p:extLst>
      <p:ext uri="{BB962C8B-B14F-4D97-AF65-F5344CB8AC3E}">
        <p14:creationId xmlns:p14="http://schemas.microsoft.com/office/powerpoint/2010/main" val="3710367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73C372-E2F0-1B27-7DBB-34D80841B52B}"/>
              </a:ext>
            </a:extLst>
          </p:cNvPr>
          <p:cNvSpPr>
            <a:spLocks noGrp="1"/>
          </p:cNvSpPr>
          <p:nvPr>
            <p:ph type="title"/>
          </p:nvPr>
        </p:nvSpPr>
        <p:spPr/>
        <p:txBody>
          <a:bodyPr>
            <a:noAutofit/>
          </a:bodyPr>
          <a:lstStyle/>
          <a:p>
            <a:r>
              <a:rPr lang="en-US" sz="3100" b="0" dirty="0"/>
              <a:t>Figure 1.5 Transformer’s encoder and decoder submodules</a:t>
            </a:r>
          </a:p>
        </p:txBody>
      </p:sp>
      <p:sp>
        <p:nvSpPr>
          <p:cNvPr id="2" name="Slide Number Placeholder 1">
            <a:extLst>
              <a:ext uri="{FF2B5EF4-FFF2-40B4-BE49-F238E27FC236}">
                <a16:creationId xmlns:a16="http://schemas.microsoft.com/office/drawing/2014/main" id="{E6B5C38A-DCA3-968D-E10A-9DB3A0A2C404}"/>
              </a:ext>
            </a:extLst>
          </p:cNvPr>
          <p:cNvSpPr>
            <a:spLocks noGrp="1"/>
          </p:cNvSpPr>
          <p:nvPr>
            <p:ph type="sldNum" sz="quarter" idx="12"/>
          </p:nvPr>
        </p:nvSpPr>
        <p:spPr/>
        <p:txBody>
          <a:bodyPr>
            <a:normAutofit fontScale="85000" lnSpcReduction="20000"/>
          </a:bodyPr>
          <a:lstStyle/>
          <a:p>
            <a:fld id="{EBFB1032-EA64-7144-B003-9BCC9D94B503}" type="slidenum">
              <a:rPr lang="en-US" smtClean="0"/>
              <a:t>29</a:t>
            </a:fld>
            <a:endParaRPr lang="en-US" dirty="0"/>
          </a:p>
        </p:txBody>
      </p:sp>
      <p:pic>
        <p:nvPicPr>
          <p:cNvPr id="44" name="Picture 43" descr="A diagram of a computer language&#10;&#10;AI-generated content may be incorrect.">
            <a:extLst>
              <a:ext uri="{FF2B5EF4-FFF2-40B4-BE49-F238E27FC236}">
                <a16:creationId xmlns:a16="http://schemas.microsoft.com/office/drawing/2014/main" id="{6B69697F-2388-DEF0-1034-D4932DD248E9}"/>
              </a:ext>
            </a:extLst>
          </p:cNvPr>
          <p:cNvPicPr>
            <a:picLocks noChangeAspect="1"/>
          </p:cNvPicPr>
          <p:nvPr/>
        </p:nvPicPr>
        <p:blipFill>
          <a:blip r:embed="rId2"/>
          <a:stretch>
            <a:fillRect/>
          </a:stretch>
        </p:blipFill>
        <p:spPr>
          <a:xfrm>
            <a:off x="1483091" y="1600200"/>
            <a:ext cx="6217920" cy="3803252"/>
          </a:xfrm>
          <a:prstGeom prst="rect">
            <a:avLst/>
          </a:prstGeom>
        </p:spPr>
      </p:pic>
      <p:sp>
        <p:nvSpPr>
          <p:cNvPr id="46" name="TextBox 45">
            <a:extLst>
              <a:ext uri="{FF2B5EF4-FFF2-40B4-BE49-F238E27FC236}">
                <a16:creationId xmlns:a16="http://schemas.microsoft.com/office/drawing/2014/main" id="{8E13D227-1FCE-D772-E3C7-4C860EDE2243}"/>
              </a:ext>
            </a:extLst>
          </p:cNvPr>
          <p:cNvSpPr txBox="1"/>
          <p:nvPr/>
        </p:nvSpPr>
        <p:spPr>
          <a:xfrm>
            <a:off x="214032" y="5421452"/>
            <a:ext cx="8715935" cy="1323439"/>
          </a:xfrm>
          <a:prstGeom prst="rect">
            <a:avLst/>
          </a:prstGeom>
          <a:noFill/>
          <a:ln>
            <a:solidFill>
              <a:schemeClr val="accent1"/>
            </a:solidFill>
          </a:ln>
        </p:spPr>
        <p:txBody>
          <a:bodyPr wrap="square">
            <a:spAutoFit/>
          </a:bodyPr>
          <a:lstStyle/>
          <a:p>
            <a:pPr marL="285750" indent="-285750">
              <a:buFont typeface="Arial" panose="020B0604020202020204" pitchFamily="34" charset="0"/>
              <a:buChar char="•"/>
            </a:pPr>
            <a:r>
              <a:rPr lang="en-US" sz="2000" dirty="0">
                <a:latin typeface="Arial Narrow" panose="020B0606020202030204" pitchFamily="34" charset="0"/>
              </a:rPr>
              <a:t>On the left, the encoder segment exemplifies BERT-like LLMs, which focus on masked word prediction and are primarily used for tasks like text classification.</a:t>
            </a:r>
          </a:p>
          <a:p>
            <a:pPr marL="285750" indent="-285750">
              <a:buFont typeface="Arial" panose="020B0604020202020204" pitchFamily="34" charset="0"/>
              <a:buChar char="•"/>
            </a:pPr>
            <a:r>
              <a:rPr lang="en-US" sz="2000" dirty="0">
                <a:latin typeface="Arial Narrow" panose="020B0606020202030204" pitchFamily="34" charset="0"/>
              </a:rPr>
              <a:t>On the right, the decoder segment showcases GPT-like LLMs, designed for generative tasks and producing coherent text sequences.</a:t>
            </a:r>
          </a:p>
        </p:txBody>
      </p:sp>
    </p:spTree>
    <p:extLst>
      <p:ext uri="{BB962C8B-B14F-4D97-AF65-F5344CB8AC3E}">
        <p14:creationId xmlns:p14="http://schemas.microsoft.com/office/powerpoint/2010/main" val="3091471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36BF1-9945-D573-197D-0A1F450ABC67}"/>
              </a:ext>
            </a:extLst>
          </p:cNvPr>
          <p:cNvSpPr>
            <a:spLocks noGrp="1"/>
          </p:cNvSpPr>
          <p:nvPr>
            <p:ph type="title"/>
          </p:nvPr>
        </p:nvSpPr>
        <p:spPr/>
        <p:txBody>
          <a:bodyPr>
            <a:normAutofit/>
          </a:bodyPr>
          <a:lstStyle/>
          <a:p>
            <a:r>
              <a:rPr lang="en-US" dirty="0"/>
              <a:t>GPT focuses on the decoder portion</a:t>
            </a:r>
          </a:p>
        </p:txBody>
      </p:sp>
      <p:sp>
        <p:nvSpPr>
          <p:cNvPr id="3" name="Slide Number Placeholder 2">
            <a:extLst>
              <a:ext uri="{FF2B5EF4-FFF2-40B4-BE49-F238E27FC236}">
                <a16:creationId xmlns:a16="http://schemas.microsoft.com/office/drawing/2014/main" id="{30A4864D-B6EA-FCFC-D9F0-97CF448B984A}"/>
              </a:ext>
            </a:extLst>
          </p:cNvPr>
          <p:cNvSpPr>
            <a:spLocks noGrp="1"/>
          </p:cNvSpPr>
          <p:nvPr>
            <p:ph type="sldNum" sz="quarter" idx="12"/>
          </p:nvPr>
        </p:nvSpPr>
        <p:spPr/>
        <p:txBody>
          <a:bodyPr>
            <a:normAutofit fontScale="85000" lnSpcReduction="20000"/>
          </a:bodyPr>
          <a:lstStyle/>
          <a:p>
            <a:fld id="{EBFB1032-EA64-7144-B003-9BCC9D94B503}" type="slidenum">
              <a:rPr lang="en-US" smtClean="0"/>
              <a:t>30</a:t>
            </a:fld>
            <a:endParaRPr lang="en-US" dirty="0"/>
          </a:p>
        </p:txBody>
      </p:sp>
      <p:sp>
        <p:nvSpPr>
          <p:cNvPr id="4" name="Content Placeholder 3">
            <a:extLst>
              <a:ext uri="{FF2B5EF4-FFF2-40B4-BE49-F238E27FC236}">
                <a16:creationId xmlns:a16="http://schemas.microsoft.com/office/drawing/2014/main" id="{6F8C557A-AB17-0705-F5C2-A4BB2749A888}"/>
              </a:ext>
            </a:extLst>
          </p:cNvPr>
          <p:cNvSpPr>
            <a:spLocks noGrp="1"/>
          </p:cNvSpPr>
          <p:nvPr>
            <p:ph sz="quarter" idx="1"/>
          </p:nvPr>
        </p:nvSpPr>
        <p:spPr/>
        <p:txBody>
          <a:bodyPr>
            <a:normAutofit/>
          </a:bodyPr>
          <a:lstStyle/>
          <a:p>
            <a:pPr algn="just"/>
            <a:r>
              <a:rPr lang="en-US" dirty="0"/>
              <a:t>GPT focuses on the decoder portion of the original transformer architecture and is designed for tasks that require generating texts.</a:t>
            </a:r>
          </a:p>
          <a:p>
            <a:pPr algn="just"/>
            <a:endParaRPr lang="en-US" dirty="0"/>
          </a:p>
          <a:p>
            <a:pPr algn="just"/>
            <a:r>
              <a:rPr lang="en-US" dirty="0"/>
              <a:t>This includes machine translation, text summarization, fiction writing, writing computer code, and more.</a:t>
            </a:r>
          </a:p>
          <a:p>
            <a:pPr algn="just"/>
            <a:endParaRPr lang="en-US" dirty="0"/>
          </a:p>
          <a:p>
            <a:pPr algn="just"/>
            <a:r>
              <a:rPr lang="en-US" dirty="0"/>
              <a:t>GPT models, primarily designed and trained to perform text completion tasks, also show remarkable versatility in their capabilities.</a:t>
            </a:r>
          </a:p>
        </p:txBody>
      </p:sp>
    </p:spTree>
    <p:extLst>
      <p:ext uri="{BB962C8B-B14F-4D97-AF65-F5344CB8AC3E}">
        <p14:creationId xmlns:p14="http://schemas.microsoft.com/office/powerpoint/2010/main" val="1107516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E9F6-74AF-C1A4-BBE7-ED925103E027}"/>
              </a:ext>
            </a:extLst>
          </p:cNvPr>
          <p:cNvSpPr>
            <a:spLocks noGrp="1"/>
          </p:cNvSpPr>
          <p:nvPr>
            <p:ph type="title"/>
          </p:nvPr>
        </p:nvSpPr>
        <p:spPr/>
        <p:txBody>
          <a:bodyPr/>
          <a:lstStyle/>
          <a:p>
            <a:r>
              <a:rPr lang="en-US" dirty="0"/>
              <a:t>Learning Tasks</a:t>
            </a:r>
          </a:p>
        </p:txBody>
      </p:sp>
      <p:sp>
        <p:nvSpPr>
          <p:cNvPr id="3" name="Slide Number Placeholder 2">
            <a:extLst>
              <a:ext uri="{FF2B5EF4-FFF2-40B4-BE49-F238E27FC236}">
                <a16:creationId xmlns:a16="http://schemas.microsoft.com/office/drawing/2014/main" id="{B90324FE-0461-0EAF-436A-8648FA137FA9}"/>
              </a:ext>
            </a:extLst>
          </p:cNvPr>
          <p:cNvSpPr>
            <a:spLocks noGrp="1"/>
          </p:cNvSpPr>
          <p:nvPr>
            <p:ph type="sldNum" sz="quarter" idx="12"/>
          </p:nvPr>
        </p:nvSpPr>
        <p:spPr/>
        <p:txBody>
          <a:bodyPr>
            <a:normAutofit fontScale="85000" lnSpcReduction="20000"/>
          </a:bodyPr>
          <a:lstStyle/>
          <a:p>
            <a:fld id="{EBFB1032-EA64-7144-B003-9BCC9D94B503}" type="slidenum">
              <a:rPr lang="en-US" smtClean="0"/>
              <a:t>31</a:t>
            </a:fld>
            <a:endParaRPr lang="en-US" dirty="0"/>
          </a:p>
        </p:txBody>
      </p:sp>
      <p:sp>
        <p:nvSpPr>
          <p:cNvPr id="4" name="Content Placeholder 3">
            <a:extLst>
              <a:ext uri="{FF2B5EF4-FFF2-40B4-BE49-F238E27FC236}">
                <a16:creationId xmlns:a16="http://schemas.microsoft.com/office/drawing/2014/main" id="{2428C856-9C89-6AB3-0C65-A6DF9A9D9A2C}"/>
              </a:ext>
            </a:extLst>
          </p:cNvPr>
          <p:cNvSpPr>
            <a:spLocks noGrp="1"/>
          </p:cNvSpPr>
          <p:nvPr>
            <p:ph sz="quarter" idx="1"/>
          </p:nvPr>
        </p:nvSpPr>
        <p:spPr/>
        <p:txBody>
          <a:bodyPr>
            <a:normAutofit/>
          </a:bodyPr>
          <a:lstStyle/>
          <a:p>
            <a:r>
              <a:rPr lang="en-US" sz="2600" dirty="0">
                <a:solidFill>
                  <a:srgbClr val="0070C0"/>
                </a:solidFill>
              </a:rPr>
              <a:t>These models are good at executing both</a:t>
            </a:r>
          </a:p>
          <a:p>
            <a:pPr lvl="1"/>
            <a:r>
              <a:rPr lang="en-US" b="1" dirty="0"/>
              <a:t>Zero-shot learning tasks</a:t>
            </a:r>
          </a:p>
          <a:p>
            <a:pPr lvl="2"/>
            <a:r>
              <a:rPr lang="en-US" dirty="0"/>
              <a:t>Zero-shot learning refers to the ability to generalize to completely unseen tasks without any prior specific examples.</a:t>
            </a:r>
          </a:p>
          <a:p>
            <a:pPr lvl="1"/>
            <a:r>
              <a:rPr lang="en-US" b="1" dirty="0"/>
              <a:t>Few-shot learning tasks</a:t>
            </a:r>
          </a:p>
          <a:p>
            <a:pPr lvl="2"/>
            <a:r>
              <a:rPr lang="en-US" dirty="0"/>
              <a:t>Few-shot learning involves learning from a minimal number of examples the user provides as input, as shown in figure 1.6.</a:t>
            </a:r>
          </a:p>
          <a:p>
            <a:endParaRPr lang="en-US" dirty="0"/>
          </a:p>
        </p:txBody>
      </p:sp>
    </p:spTree>
    <p:extLst>
      <p:ext uri="{BB962C8B-B14F-4D97-AF65-F5344CB8AC3E}">
        <p14:creationId xmlns:p14="http://schemas.microsoft.com/office/powerpoint/2010/main" val="17245021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F70DA4-247F-93B7-836F-9B4CE6E1ADD1}"/>
              </a:ext>
            </a:extLst>
          </p:cNvPr>
          <p:cNvSpPr>
            <a:spLocks noGrp="1"/>
          </p:cNvSpPr>
          <p:nvPr>
            <p:ph type="title"/>
          </p:nvPr>
        </p:nvSpPr>
        <p:spPr/>
        <p:txBody>
          <a:bodyPr>
            <a:normAutofit fontScale="90000"/>
          </a:bodyPr>
          <a:lstStyle/>
          <a:p>
            <a:r>
              <a:rPr lang="en-US" dirty="0"/>
              <a:t>Figure 1.6 GPT-like LLMs can solve various tasks</a:t>
            </a:r>
          </a:p>
        </p:txBody>
      </p:sp>
      <p:sp>
        <p:nvSpPr>
          <p:cNvPr id="2" name="Slide Number Placeholder 1">
            <a:extLst>
              <a:ext uri="{FF2B5EF4-FFF2-40B4-BE49-F238E27FC236}">
                <a16:creationId xmlns:a16="http://schemas.microsoft.com/office/drawing/2014/main" id="{3BAFC648-F970-EDC9-8E4B-0A8E64B82C84}"/>
              </a:ext>
            </a:extLst>
          </p:cNvPr>
          <p:cNvSpPr>
            <a:spLocks noGrp="1"/>
          </p:cNvSpPr>
          <p:nvPr>
            <p:ph type="sldNum" sz="quarter" idx="12"/>
          </p:nvPr>
        </p:nvSpPr>
        <p:spPr/>
        <p:txBody>
          <a:bodyPr>
            <a:normAutofit fontScale="85000" lnSpcReduction="20000"/>
          </a:bodyPr>
          <a:lstStyle/>
          <a:p>
            <a:fld id="{EBFB1032-EA64-7144-B003-9BCC9D94B503}" type="slidenum">
              <a:rPr lang="en-US" smtClean="0"/>
              <a:t>32</a:t>
            </a:fld>
            <a:endParaRPr lang="en-US" dirty="0"/>
          </a:p>
        </p:txBody>
      </p:sp>
      <p:pic>
        <p:nvPicPr>
          <p:cNvPr id="6" name="Content Placeholder 5" descr="A diagram of a task&#10;&#10;AI-generated content may be incorrect.">
            <a:extLst>
              <a:ext uri="{FF2B5EF4-FFF2-40B4-BE49-F238E27FC236}">
                <a16:creationId xmlns:a16="http://schemas.microsoft.com/office/drawing/2014/main" id="{6045227F-B77B-7334-34B2-7C1ECCA44F9F}"/>
              </a:ext>
            </a:extLst>
          </p:cNvPr>
          <p:cNvPicPr>
            <a:picLocks noGrp="1" noChangeAspect="1"/>
          </p:cNvPicPr>
          <p:nvPr>
            <p:ph sz="quarter" idx="1"/>
          </p:nvPr>
        </p:nvPicPr>
        <p:blipFill>
          <a:blip r:embed="rId2"/>
          <a:stretch>
            <a:fillRect/>
          </a:stretch>
        </p:blipFill>
        <p:spPr>
          <a:xfrm>
            <a:off x="807295" y="1600200"/>
            <a:ext cx="7569512" cy="3657600"/>
          </a:xfrm>
        </p:spPr>
      </p:pic>
      <p:sp>
        <p:nvSpPr>
          <p:cNvPr id="8" name="TextBox 7">
            <a:extLst>
              <a:ext uri="{FF2B5EF4-FFF2-40B4-BE49-F238E27FC236}">
                <a16:creationId xmlns:a16="http://schemas.microsoft.com/office/drawing/2014/main" id="{92B5AFDF-399B-6EBC-9ADD-6D7F89228F63}"/>
              </a:ext>
            </a:extLst>
          </p:cNvPr>
          <p:cNvSpPr txBox="1"/>
          <p:nvPr/>
        </p:nvSpPr>
        <p:spPr>
          <a:xfrm>
            <a:off x="120316" y="5356063"/>
            <a:ext cx="8943472" cy="1400383"/>
          </a:xfrm>
          <a:prstGeom prst="rect">
            <a:avLst/>
          </a:prstGeom>
          <a:noFill/>
          <a:ln>
            <a:solidFill>
              <a:schemeClr val="accent1"/>
            </a:solidFill>
          </a:ln>
        </p:spPr>
        <p:txBody>
          <a:bodyPr wrap="square">
            <a:spAutoFit/>
          </a:bodyPr>
          <a:lstStyle/>
          <a:p>
            <a:pPr>
              <a:buNone/>
            </a:pPr>
            <a:r>
              <a:rPr lang="en-US" sz="1700" dirty="0">
                <a:solidFill>
                  <a:srgbClr val="0070C0"/>
                </a:solidFill>
                <a:latin typeface="Arial Narrow" panose="020B0606020202030204" pitchFamily="34" charset="0"/>
              </a:rPr>
              <a:t>In addition to text completion, GPT-like LLMs can solve various tasks based on their inputs without needing retraining, fine-tuning, or task-specific model architecture changes.</a:t>
            </a:r>
          </a:p>
          <a:p>
            <a:pPr>
              <a:buNone/>
            </a:pPr>
            <a:r>
              <a:rPr lang="en-US" sz="1700" dirty="0">
                <a:solidFill>
                  <a:srgbClr val="C00000"/>
                </a:solidFill>
                <a:latin typeface="Arial Narrow" panose="020B0606020202030204" pitchFamily="34" charset="0"/>
              </a:rPr>
              <a:t>Sometimes it is helpful to provide examples of the target within the input, which is known as a few-shot setting.</a:t>
            </a:r>
          </a:p>
          <a:p>
            <a:pPr>
              <a:buNone/>
            </a:pPr>
            <a:r>
              <a:rPr lang="en-US" sz="1700" dirty="0">
                <a:solidFill>
                  <a:srgbClr val="00B050"/>
                </a:solidFill>
                <a:latin typeface="Arial Narrow" panose="020B0606020202030204" pitchFamily="34" charset="0"/>
              </a:rPr>
              <a:t>However, GPT-like LLMs are also capable of carrying out tasks without a specific example, which is called zero-shot setting.</a:t>
            </a:r>
          </a:p>
        </p:txBody>
      </p:sp>
    </p:spTree>
    <p:extLst>
      <p:ext uri="{BB962C8B-B14F-4D97-AF65-F5344CB8AC3E}">
        <p14:creationId xmlns:p14="http://schemas.microsoft.com/office/powerpoint/2010/main" val="1521230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2F7A-4BE7-4E9B-2B5B-8953FD2B1C37}"/>
              </a:ext>
            </a:extLst>
          </p:cNvPr>
          <p:cNvSpPr>
            <a:spLocks noGrp="1"/>
          </p:cNvSpPr>
          <p:nvPr>
            <p:ph type="title"/>
          </p:nvPr>
        </p:nvSpPr>
        <p:spPr/>
        <p:txBody>
          <a:bodyPr>
            <a:normAutofit/>
          </a:bodyPr>
          <a:lstStyle/>
          <a:p>
            <a:r>
              <a:rPr lang="en-US" dirty="0"/>
              <a:t>Transformers vs. LLMs</a:t>
            </a:r>
          </a:p>
        </p:txBody>
      </p:sp>
      <p:sp>
        <p:nvSpPr>
          <p:cNvPr id="3" name="Slide Number Placeholder 2">
            <a:extLst>
              <a:ext uri="{FF2B5EF4-FFF2-40B4-BE49-F238E27FC236}">
                <a16:creationId xmlns:a16="http://schemas.microsoft.com/office/drawing/2014/main" id="{6F626343-0960-F992-F7C2-7F19BBADFFE7}"/>
              </a:ext>
            </a:extLst>
          </p:cNvPr>
          <p:cNvSpPr>
            <a:spLocks noGrp="1"/>
          </p:cNvSpPr>
          <p:nvPr>
            <p:ph type="sldNum" sz="quarter" idx="12"/>
          </p:nvPr>
        </p:nvSpPr>
        <p:spPr/>
        <p:txBody>
          <a:bodyPr>
            <a:normAutofit fontScale="85000" lnSpcReduction="20000"/>
          </a:bodyPr>
          <a:lstStyle/>
          <a:p>
            <a:fld id="{EBFB1032-EA64-7144-B003-9BCC9D94B503}" type="slidenum">
              <a:rPr lang="en-US" smtClean="0"/>
              <a:t>33</a:t>
            </a:fld>
            <a:endParaRPr lang="en-US" dirty="0"/>
          </a:p>
        </p:txBody>
      </p:sp>
      <p:sp>
        <p:nvSpPr>
          <p:cNvPr id="4" name="Content Placeholder 3">
            <a:extLst>
              <a:ext uri="{FF2B5EF4-FFF2-40B4-BE49-F238E27FC236}">
                <a16:creationId xmlns:a16="http://schemas.microsoft.com/office/drawing/2014/main" id="{221E2893-40A9-4D41-9830-F1DBAAA4A23D}"/>
              </a:ext>
            </a:extLst>
          </p:cNvPr>
          <p:cNvSpPr>
            <a:spLocks noGrp="1"/>
          </p:cNvSpPr>
          <p:nvPr>
            <p:ph sz="quarter" idx="1"/>
          </p:nvPr>
        </p:nvSpPr>
        <p:spPr/>
        <p:txBody>
          <a:bodyPr>
            <a:noAutofit/>
          </a:bodyPr>
          <a:lstStyle/>
          <a:p>
            <a:pPr>
              <a:spcBef>
                <a:spcPts val="0"/>
              </a:spcBef>
            </a:pPr>
            <a:r>
              <a:rPr lang="en-US" dirty="0">
                <a:solidFill>
                  <a:srgbClr val="0070C0"/>
                </a:solidFill>
              </a:rPr>
              <a:t>Today’s LLMs are based on the transformer architecture.</a:t>
            </a:r>
          </a:p>
          <a:p>
            <a:pPr>
              <a:spcBef>
                <a:spcPts val="0"/>
              </a:spcBef>
            </a:pPr>
            <a:r>
              <a:rPr lang="en-US" dirty="0">
                <a:solidFill>
                  <a:srgbClr val="00B050"/>
                </a:solidFill>
              </a:rPr>
              <a:t>Hence, transformers and LLMs are terms that are often used synonymously in the literature.</a:t>
            </a:r>
          </a:p>
          <a:p>
            <a:pPr>
              <a:spcBef>
                <a:spcPts val="0"/>
              </a:spcBef>
            </a:pPr>
            <a:r>
              <a:rPr lang="en-US" dirty="0">
                <a:solidFill>
                  <a:srgbClr val="C00000"/>
                </a:solidFill>
              </a:rPr>
              <a:t>However, note that not all transformers are LLMs since transformers can also be used for computer vision.</a:t>
            </a:r>
          </a:p>
          <a:p>
            <a:pPr>
              <a:spcBef>
                <a:spcPts val="0"/>
              </a:spcBef>
            </a:pPr>
            <a:r>
              <a:rPr lang="en-US" dirty="0">
                <a:solidFill>
                  <a:schemeClr val="accent2">
                    <a:lumMod val="75000"/>
                  </a:schemeClr>
                </a:solidFill>
              </a:rPr>
              <a:t>Also, not all LLMs are transformers, as there are LLMs based on recurrent and convolutional architectures.</a:t>
            </a:r>
          </a:p>
          <a:p>
            <a:pPr>
              <a:spcBef>
                <a:spcPts val="0"/>
              </a:spcBef>
            </a:pPr>
            <a:r>
              <a:rPr lang="en-US" dirty="0">
                <a:solidFill>
                  <a:srgbClr val="00B0F0"/>
                </a:solidFill>
              </a:rPr>
              <a:t>The main motivation behind these alternative approaches is to improve the computational efficiency of LLMs.</a:t>
            </a:r>
          </a:p>
          <a:p>
            <a:pPr>
              <a:spcBef>
                <a:spcPts val="0"/>
              </a:spcBef>
            </a:pPr>
            <a:r>
              <a:rPr lang="en-US" dirty="0">
                <a:solidFill>
                  <a:srgbClr val="7030A0"/>
                </a:solidFill>
              </a:rPr>
              <a:t>Whether these alternative LLM architectures can compete with the capabilities of transformer-based LLMs and whether they are going to be adopted in practice remains to be seen.</a:t>
            </a:r>
          </a:p>
          <a:p>
            <a:pPr>
              <a:spcBef>
                <a:spcPts val="0"/>
              </a:spcBef>
            </a:pPr>
            <a:r>
              <a:rPr lang="en-US" dirty="0">
                <a:solidFill>
                  <a:schemeClr val="accent2">
                    <a:lumMod val="50000"/>
                  </a:schemeClr>
                </a:solidFill>
              </a:rPr>
              <a:t>For simplicity, we will use the term “LLM” to refer to transformer-based LLMs similar to GPT.</a:t>
            </a:r>
          </a:p>
        </p:txBody>
      </p:sp>
    </p:spTree>
    <p:extLst>
      <p:ext uri="{BB962C8B-B14F-4D97-AF65-F5344CB8AC3E}">
        <p14:creationId xmlns:p14="http://schemas.microsoft.com/office/powerpoint/2010/main" val="38426857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F8E64-BFC9-16E4-3DD7-CBBD20DB0979}"/>
              </a:ext>
            </a:extLst>
          </p:cNvPr>
          <p:cNvSpPr>
            <a:spLocks noGrp="1"/>
          </p:cNvSpPr>
          <p:nvPr>
            <p:ph type="title"/>
          </p:nvPr>
        </p:nvSpPr>
        <p:spPr/>
        <p:txBody>
          <a:bodyPr>
            <a:normAutofit/>
          </a:bodyPr>
          <a:lstStyle/>
          <a:p>
            <a:r>
              <a:rPr lang="en-US" dirty="0"/>
              <a:t>Utilizing large datasets</a:t>
            </a:r>
          </a:p>
        </p:txBody>
      </p:sp>
      <p:sp>
        <p:nvSpPr>
          <p:cNvPr id="3" name="Slide Number Placeholder 2">
            <a:extLst>
              <a:ext uri="{FF2B5EF4-FFF2-40B4-BE49-F238E27FC236}">
                <a16:creationId xmlns:a16="http://schemas.microsoft.com/office/drawing/2014/main" id="{8FC5E0F5-2EED-FE78-EEA8-93C977192365}"/>
              </a:ext>
            </a:extLst>
          </p:cNvPr>
          <p:cNvSpPr>
            <a:spLocks noGrp="1"/>
          </p:cNvSpPr>
          <p:nvPr>
            <p:ph type="sldNum" sz="quarter" idx="12"/>
          </p:nvPr>
        </p:nvSpPr>
        <p:spPr/>
        <p:txBody>
          <a:bodyPr>
            <a:normAutofit fontScale="85000" lnSpcReduction="20000"/>
          </a:bodyPr>
          <a:lstStyle/>
          <a:p>
            <a:fld id="{EBFB1032-EA64-7144-B003-9BCC9D94B503}" type="slidenum">
              <a:rPr lang="en-US" smtClean="0"/>
              <a:t>34</a:t>
            </a:fld>
            <a:endParaRPr lang="en-US" dirty="0"/>
          </a:p>
        </p:txBody>
      </p:sp>
      <p:sp>
        <p:nvSpPr>
          <p:cNvPr id="4" name="Content Placeholder 3">
            <a:extLst>
              <a:ext uri="{FF2B5EF4-FFF2-40B4-BE49-F238E27FC236}">
                <a16:creationId xmlns:a16="http://schemas.microsoft.com/office/drawing/2014/main" id="{390164C8-4F3B-7D75-874D-AA9CD90DB953}"/>
              </a:ext>
            </a:extLst>
          </p:cNvPr>
          <p:cNvSpPr>
            <a:spLocks noGrp="1"/>
          </p:cNvSpPr>
          <p:nvPr>
            <p:ph sz="quarter" idx="1"/>
          </p:nvPr>
        </p:nvSpPr>
        <p:spPr/>
        <p:txBody>
          <a:bodyPr/>
          <a:lstStyle/>
          <a:p>
            <a:pPr algn="just"/>
            <a:r>
              <a:rPr lang="en-US" dirty="0"/>
              <a:t>The large training datasets for popular GPT- and BERT-like models represent diverse and comprehensive text corpora encompassing billions of words, which include a vast array of topics and natural and computer languages.</a:t>
            </a:r>
          </a:p>
          <a:p>
            <a:pPr algn="just"/>
            <a:endParaRPr lang="en-US" dirty="0"/>
          </a:p>
          <a:p>
            <a:pPr algn="just"/>
            <a:r>
              <a:rPr lang="en-US" dirty="0"/>
              <a:t>To provide a concrete example, table 1.1 summarizes the dataset used for pretraining GPT-3, which served as the base model for the first version of ChatGPT.</a:t>
            </a:r>
          </a:p>
          <a:p>
            <a:pPr algn="just"/>
            <a:endParaRPr lang="en-US" dirty="0"/>
          </a:p>
        </p:txBody>
      </p:sp>
    </p:spTree>
    <p:extLst>
      <p:ext uri="{BB962C8B-B14F-4D97-AF65-F5344CB8AC3E}">
        <p14:creationId xmlns:p14="http://schemas.microsoft.com/office/powerpoint/2010/main" val="2968417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E6950D-5001-925A-B582-8EEA11B6CF72}"/>
              </a:ext>
            </a:extLst>
          </p:cNvPr>
          <p:cNvSpPr>
            <a:spLocks noGrp="1"/>
          </p:cNvSpPr>
          <p:nvPr>
            <p:ph type="sldNum" sz="quarter" idx="12"/>
          </p:nvPr>
        </p:nvSpPr>
        <p:spPr/>
        <p:txBody>
          <a:bodyPr/>
          <a:lstStyle/>
          <a:p>
            <a:fld id="{EBFB1032-EA64-7144-B003-9BCC9D94B503}" type="slidenum">
              <a:rPr lang="en-US" smtClean="0"/>
              <a:t>35</a:t>
            </a:fld>
            <a:endParaRPr lang="en-US" dirty="0"/>
          </a:p>
        </p:txBody>
      </p:sp>
      <p:pic>
        <p:nvPicPr>
          <p:cNvPr id="6" name="Picture 5">
            <a:extLst>
              <a:ext uri="{FF2B5EF4-FFF2-40B4-BE49-F238E27FC236}">
                <a16:creationId xmlns:a16="http://schemas.microsoft.com/office/drawing/2014/main" id="{DA5ED41F-FBC7-9FCB-FAF1-8A82AC724989}"/>
              </a:ext>
            </a:extLst>
          </p:cNvPr>
          <p:cNvPicPr>
            <a:picLocks noChangeAspect="1"/>
          </p:cNvPicPr>
          <p:nvPr/>
        </p:nvPicPr>
        <p:blipFill>
          <a:blip r:embed="rId2"/>
          <a:stretch>
            <a:fillRect/>
          </a:stretch>
        </p:blipFill>
        <p:spPr>
          <a:xfrm>
            <a:off x="182880" y="139308"/>
            <a:ext cx="8778240" cy="6579384"/>
          </a:xfrm>
          <a:prstGeom prst="rect">
            <a:avLst/>
          </a:prstGeom>
          <a:ln>
            <a:solidFill>
              <a:schemeClr val="accent1"/>
            </a:solidFill>
          </a:ln>
        </p:spPr>
      </p:pic>
    </p:spTree>
    <p:extLst>
      <p:ext uri="{BB962C8B-B14F-4D97-AF65-F5344CB8AC3E}">
        <p14:creationId xmlns:p14="http://schemas.microsoft.com/office/powerpoint/2010/main" val="30811161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3B7A4-318F-3232-7731-FA356E585C72}"/>
              </a:ext>
            </a:extLst>
          </p:cNvPr>
          <p:cNvSpPr>
            <a:spLocks noGrp="1"/>
          </p:cNvSpPr>
          <p:nvPr>
            <p:ph type="title"/>
          </p:nvPr>
        </p:nvSpPr>
        <p:spPr/>
        <p:txBody>
          <a:bodyPr/>
          <a:lstStyle/>
          <a:p>
            <a:r>
              <a:rPr lang="en-US" dirty="0"/>
              <a:t>Tokenization</a:t>
            </a:r>
          </a:p>
        </p:txBody>
      </p:sp>
      <p:sp>
        <p:nvSpPr>
          <p:cNvPr id="3" name="Slide Number Placeholder 2">
            <a:extLst>
              <a:ext uri="{FF2B5EF4-FFF2-40B4-BE49-F238E27FC236}">
                <a16:creationId xmlns:a16="http://schemas.microsoft.com/office/drawing/2014/main" id="{441077C8-8D5E-BB0D-37A1-7193AF564B0B}"/>
              </a:ext>
            </a:extLst>
          </p:cNvPr>
          <p:cNvSpPr>
            <a:spLocks noGrp="1"/>
          </p:cNvSpPr>
          <p:nvPr>
            <p:ph type="sldNum" sz="quarter" idx="12"/>
          </p:nvPr>
        </p:nvSpPr>
        <p:spPr/>
        <p:txBody>
          <a:bodyPr>
            <a:normAutofit fontScale="85000" lnSpcReduction="20000"/>
          </a:bodyPr>
          <a:lstStyle/>
          <a:p>
            <a:fld id="{EBFB1032-EA64-7144-B003-9BCC9D94B503}" type="slidenum">
              <a:rPr lang="en-US" smtClean="0"/>
              <a:t>36</a:t>
            </a:fld>
            <a:endParaRPr lang="en-US" dirty="0"/>
          </a:p>
        </p:txBody>
      </p:sp>
      <p:sp>
        <p:nvSpPr>
          <p:cNvPr id="4" name="Content Placeholder 3">
            <a:extLst>
              <a:ext uri="{FF2B5EF4-FFF2-40B4-BE49-F238E27FC236}">
                <a16:creationId xmlns:a16="http://schemas.microsoft.com/office/drawing/2014/main" id="{88F69F3C-4F18-5D6A-3B5F-1407A4E1312B}"/>
              </a:ext>
            </a:extLst>
          </p:cNvPr>
          <p:cNvSpPr>
            <a:spLocks noGrp="1"/>
          </p:cNvSpPr>
          <p:nvPr>
            <p:ph sz="quarter" idx="1"/>
          </p:nvPr>
        </p:nvSpPr>
        <p:spPr/>
        <p:txBody>
          <a:bodyPr/>
          <a:lstStyle/>
          <a:p>
            <a:r>
              <a:rPr lang="en-US" dirty="0"/>
              <a:t>Table 1.1 reports the number of tokens, where a token is a unit of text that a model reads and the number of tokens in a dataset is roughly equivalent to the number of words and punctuation characters in the text.</a:t>
            </a:r>
          </a:p>
          <a:p>
            <a:endParaRPr lang="en-US" dirty="0"/>
          </a:p>
          <a:p>
            <a:r>
              <a:rPr lang="en-US" dirty="0"/>
              <a:t>We will address tokenization, the process of converting text into tokens.</a:t>
            </a:r>
          </a:p>
          <a:p>
            <a:endParaRPr lang="en-US" dirty="0"/>
          </a:p>
          <a:p>
            <a:r>
              <a:rPr lang="en-US" dirty="0"/>
              <a:t>The main takeaway is that the scale and diversity of this training dataset allow these models to perform well on diverse tasks, including language syntax, semantics, and context—even some requiring general knowledge.</a:t>
            </a:r>
          </a:p>
          <a:p>
            <a:endParaRPr lang="en-US" dirty="0"/>
          </a:p>
        </p:txBody>
      </p:sp>
    </p:spTree>
    <p:extLst>
      <p:ext uri="{BB962C8B-B14F-4D97-AF65-F5344CB8AC3E}">
        <p14:creationId xmlns:p14="http://schemas.microsoft.com/office/powerpoint/2010/main" val="1605183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C676E-2C71-047D-F704-8C2BBC2F3156}"/>
              </a:ext>
            </a:extLst>
          </p:cNvPr>
          <p:cNvSpPr>
            <a:spLocks noGrp="1"/>
          </p:cNvSpPr>
          <p:nvPr>
            <p:ph type="title"/>
          </p:nvPr>
        </p:nvSpPr>
        <p:spPr/>
        <p:txBody>
          <a:bodyPr>
            <a:normAutofit/>
          </a:bodyPr>
          <a:lstStyle/>
          <a:p>
            <a:r>
              <a:rPr lang="en-US" dirty="0"/>
              <a:t>GPT-3 dataset details</a:t>
            </a:r>
          </a:p>
        </p:txBody>
      </p:sp>
      <p:sp>
        <p:nvSpPr>
          <p:cNvPr id="3" name="Slide Number Placeholder 2">
            <a:extLst>
              <a:ext uri="{FF2B5EF4-FFF2-40B4-BE49-F238E27FC236}">
                <a16:creationId xmlns:a16="http://schemas.microsoft.com/office/drawing/2014/main" id="{5995299B-6DC8-54B7-8291-56FD631FAFE8}"/>
              </a:ext>
            </a:extLst>
          </p:cNvPr>
          <p:cNvSpPr>
            <a:spLocks noGrp="1"/>
          </p:cNvSpPr>
          <p:nvPr>
            <p:ph type="sldNum" sz="quarter" idx="12"/>
          </p:nvPr>
        </p:nvSpPr>
        <p:spPr/>
        <p:txBody>
          <a:bodyPr>
            <a:normAutofit fontScale="85000" lnSpcReduction="20000"/>
          </a:bodyPr>
          <a:lstStyle/>
          <a:p>
            <a:fld id="{EBFB1032-EA64-7144-B003-9BCC9D94B503}" type="slidenum">
              <a:rPr lang="en-US" smtClean="0"/>
              <a:t>37</a:t>
            </a:fld>
            <a:endParaRPr lang="en-US" dirty="0"/>
          </a:p>
        </p:txBody>
      </p:sp>
      <p:sp>
        <p:nvSpPr>
          <p:cNvPr id="4" name="Content Placeholder 3">
            <a:extLst>
              <a:ext uri="{FF2B5EF4-FFF2-40B4-BE49-F238E27FC236}">
                <a16:creationId xmlns:a16="http://schemas.microsoft.com/office/drawing/2014/main" id="{8AB1504D-55AC-EE04-F76D-29CB81297BD2}"/>
              </a:ext>
            </a:extLst>
          </p:cNvPr>
          <p:cNvSpPr>
            <a:spLocks noGrp="1"/>
          </p:cNvSpPr>
          <p:nvPr>
            <p:ph sz="quarter" idx="1"/>
          </p:nvPr>
        </p:nvSpPr>
        <p:spPr/>
        <p:txBody>
          <a:bodyPr>
            <a:noAutofit/>
          </a:bodyPr>
          <a:lstStyle/>
          <a:p>
            <a:pPr>
              <a:spcBef>
                <a:spcPts val="0"/>
              </a:spcBef>
            </a:pPr>
            <a:r>
              <a:rPr lang="en-US" dirty="0"/>
              <a:t>Table 1.1 displays the dataset used for GPT-3.</a:t>
            </a:r>
          </a:p>
          <a:p>
            <a:pPr>
              <a:spcBef>
                <a:spcPts val="0"/>
              </a:spcBef>
            </a:pPr>
            <a:endParaRPr lang="en-US" dirty="0"/>
          </a:p>
          <a:p>
            <a:pPr>
              <a:spcBef>
                <a:spcPts val="0"/>
              </a:spcBef>
            </a:pPr>
            <a:r>
              <a:rPr lang="en-US" dirty="0"/>
              <a:t>The proportions column in the table sums up to 100% of the sampled data, adjusted for rounding errors.</a:t>
            </a:r>
          </a:p>
          <a:p>
            <a:pPr>
              <a:spcBef>
                <a:spcPts val="0"/>
              </a:spcBef>
            </a:pPr>
            <a:endParaRPr lang="en-US" dirty="0"/>
          </a:p>
          <a:p>
            <a:pPr>
              <a:spcBef>
                <a:spcPts val="0"/>
              </a:spcBef>
            </a:pPr>
            <a:r>
              <a:rPr lang="en-US" dirty="0"/>
              <a:t>Although the subsets in the Number of Tokens column total 499 billion, the model was trained on only 300 billion tokens.</a:t>
            </a:r>
          </a:p>
          <a:p>
            <a:pPr>
              <a:spcBef>
                <a:spcPts val="0"/>
              </a:spcBef>
            </a:pPr>
            <a:endParaRPr lang="en-US" dirty="0"/>
          </a:p>
          <a:p>
            <a:pPr>
              <a:spcBef>
                <a:spcPts val="0"/>
              </a:spcBef>
            </a:pPr>
            <a:r>
              <a:rPr lang="en-US" dirty="0"/>
              <a:t>The authors of the GPT-3 paper did not specify why the model was not trained on all 499 billion tokens.</a:t>
            </a:r>
          </a:p>
        </p:txBody>
      </p:sp>
    </p:spTree>
    <p:extLst>
      <p:ext uri="{BB962C8B-B14F-4D97-AF65-F5344CB8AC3E}">
        <p14:creationId xmlns:p14="http://schemas.microsoft.com/office/powerpoint/2010/main" val="1103490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8CE2E-27D7-AF30-C991-818617EF105F}"/>
              </a:ext>
            </a:extLst>
          </p:cNvPr>
          <p:cNvSpPr>
            <a:spLocks noGrp="1"/>
          </p:cNvSpPr>
          <p:nvPr>
            <p:ph type="title"/>
          </p:nvPr>
        </p:nvSpPr>
        <p:spPr/>
        <p:txBody>
          <a:bodyPr/>
          <a:lstStyle/>
          <a:p>
            <a:r>
              <a:rPr lang="en-US" dirty="0" err="1"/>
              <a:t>CommonCrawl</a:t>
            </a:r>
            <a:r>
              <a:rPr lang="en-US" dirty="0"/>
              <a:t> dataset</a:t>
            </a:r>
          </a:p>
        </p:txBody>
      </p:sp>
      <p:sp>
        <p:nvSpPr>
          <p:cNvPr id="3" name="Slide Number Placeholder 2">
            <a:extLst>
              <a:ext uri="{FF2B5EF4-FFF2-40B4-BE49-F238E27FC236}">
                <a16:creationId xmlns:a16="http://schemas.microsoft.com/office/drawing/2014/main" id="{DD1C50D0-D692-C53B-38DC-8C823D5370F7}"/>
              </a:ext>
            </a:extLst>
          </p:cNvPr>
          <p:cNvSpPr>
            <a:spLocks noGrp="1"/>
          </p:cNvSpPr>
          <p:nvPr>
            <p:ph type="sldNum" sz="quarter" idx="12"/>
          </p:nvPr>
        </p:nvSpPr>
        <p:spPr/>
        <p:txBody>
          <a:bodyPr>
            <a:normAutofit fontScale="85000" lnSpcReduction="20000"/>
          </a:bodyPr>
          <a:lstStyle/>
          <a:p>
            <a:fld id="{EBFB1032-EA64-7144-B003-9BCC9D94B503}" type="slidenum">
              <a:rPr lang="en-US" smtClean="0"/>
              <a:t>38</a:t>
            </a:fld>
            <a:endParaRPr lang="en-US" dirty="0"/>
          </a:p>
        </p:txBody>
      </p:sp>
      <p:sp>
        <p:nvSpPr>
          <p:cNvPr id="4" name="Content Placeholder 3">
            <a:extLst>
              <a:ext uri="{FF2B5EF4-FFF2-40B4-BE49-F238E27FC236}">
                <a16:creationId xmlns:a16="http://schemas.microsoft.com/office/drawing/2014/main" id="{7016C313-D9E0-37B6-A874-AE3E5BDE680A}"/>
              </a:ext>
            </a:extLst>
          </p:cNvPr>
          <p:cNvSpPr>
            <a:spLocks noGrp="1"/>
          </p:cNvSpPr>
          <p:nvPr>
            <p:ph sz="quarter" idx="1"/>
          </p:nvPr>
        </p:nvSpPr>
        <p:spPr/>
        <p:txBody>
          <a:bodyPr/>
          <a:lstStyle/>
          <a:p>
            <a:pPr>
              <a:spcBef>
                <a:spcPts val="0"/>
              </a:spcBef>
            </a:pPr>
            <a:r>
              <a:rPr lang="en-US" dirty="0"/>
              <a:t>For context, consider the size of the </a:t>
            </a:r>
            <a:r>
              <a:rPr lang="en-US" dirty="0" err="1"/>
              <a:t>CommonCrawl</a:t>
            </a:r>
            <a:r>
              <a:rPr lang="en-US" dirty="0"/>
              <a:t> dataset, which alone consists of 410 billion tokens and requires about 570 GB of storage.</a:t>
            </a:r>
          </a:p>
          <a:p>
            <a:pPr>
              <a:spcBef>
                <a:spcPts val="0"/>
              </a:spcBef>
            </a:pPr>
            <a:endParaRPr lang="en-US" dirty="0"/>
          </a:p>
          <a:p>
            <a:pPr>
              <a:spcBef>
                <a:spcPts val="0"/>
              </a:spcBef>
            </a:pPr>
            <a:r>
              <a:rPr lang="en-US" dirty="0"/>
              <a:t>In comparison, later iterations of models like GPT-3, such as Meta’s </a:t>
            </a:r>
            <a:r>
              <a:rPr lang="en-US" dirty="0" err="1"/>
              <a:t>LLaMa</a:t>
            </a:r>
            <a:r>
              <a:rPr lang="en-US" dirty="0"/>
              <a:t>, have expanded their training scope to include additional data sources like</a:t>
            </a:r>
          </a:p>
          <a:p>
            <a:pPr lvl="1">
              <a:spcBef>
                <a:spcPts val="0"/>
              </a:spcBef>
            </a:pPr>
            <a:r>
              <a:rPr lang="en-US" dirty="0" err="1"/>
              <a:t>Arxiv</a:t>
            </a:r>
            <a:r>
              <a:rPr lang="en-US" dirty="0"/>
              <a:t> research papers (92 GB) and</a:t>
            </a:r>
          </a:p>
          <a:p>
            <a:pPr lvl="1">
              <a:spcBef>
                <a:spcPts val="0"/>
              </a:spcBef>
            </a:pPr>
            <a:r>
              <a:rPr lang="en-US" dirty="0" err="1"/>
              <a:t>StackExchange’s</a:t>
            </a:r>
            <a:r>
              <a:rPr lang="en-US" dirty="0"/>
              <a:t> code-related Q&amp;As (78 GB).</a:t>
            </a:r>
          </a:p>
          <a:p>
            <a:endParaRPr lang="en-US" dirty="0"/>
          </a:p>
        </p:txBody>
      </p:sp>
    </p:spTree>
    <p:extLst>
      <p:ext uri="{BB962C8B-B14F-4D97-AF65-F5344CB8AC3E}">
        <p14:creationId xmlns:p14="http://schemas.microsoft.com/office/powerpoint/2010/main" val="776744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1BCF0-D15B-218E-5935-335B33AF322A}"/>
              </a:ext>
            </a:extLst>
          </p:cNvPr>
          <p:cNvSpPr>
            <a:spLocks noGrp="1"/>
          </p:cNvSpPr>
          <p:nvPr>
            <p:ph type="title"/>
          </p:nvPr>
        </p:nvSpPr>
        <p:spPr/>
        <p:txBody>
          <a:bodyPr/>
          <a:lstStyle/>
          <a:p>
            <a:r>
              <a:rPr lang="en-US" dirty="0"/>
              <a:t>Training Dataset</a:t>
            </a:r>
          </a:p>
        </p:txBody>
      </p:sp>
      <p:sp>
        <p:nvSpPr>
          <p:cNvPr id="3" name="Slide Number Placeholder 2">
            <a:extLst>
              <a:ext uri="{FF2B5EF4-FFF2-40B4-BE49-F238E27FC236}">
                <a16:creationId xmlns:a16="http://schemas.microsoft.com/office/drawing/2014/main" id="{27E80466-814B-105B-D898-0648CFD55715}"/>
              </a:ext>
            </a:extLst>
          </p:cNvPr>
          <p:cNvSpPr>
            <a:spLocks noGrp="1"/>
          </p:cNvSpPr>
          <p:nvPr>
            <p:ph type="sldNum" sz="quarter" idx="12"/>
          </p:nvPr>
        </p:nvSpPr>
        <p:spPr/>
        <p:txBody>
          <a:bodyPr>
            <a:normAutofit fontScale="85000" lnSpcReduction="20000"/>
          </a:bodyPr>
          <a:lstStyle/>
          <a:p>
            <a:fld id="{EBFB1032-EA64-7144-B003-9BCC9D94B503}" type="slidenum">
              <a:rPr lang="en-US" smtClean="0"/>
              <a:t>39</a:t>
            </a:fld>
            <a:endParaRPr lang="en-US" dirty="0"/>
          </a:p>
        </p:txBody>
      </p:sp>
      <p:sp>
        <p:nvSpPr>
          <p:cNvPr id="4" name="Content Placeholder 3">
            <a:extLst>
              <a:ext uri="{FF2B5EF4-FFF2-40B4-BE49-F238E27FC236}">
                <a16:creationId xmlns:a16="http://schemas.microsoft.com/office/drawing/2014/main" id="{DA3E255A-3622-60AB-DD0F-075B4F6DFC20}"/>
              </a:ext>
            </a:extLst>
          </p:cNvPr>
          <p:cNvSpPr>
            <a:spLocks noGrp="1"/>
          </p:cNvSpPr>
          <p:nvPr>
            <p:ph sz="quarter" idx="1"/>
          </p:nvPr>
        </p:nvSpPr>
        <p:spPr/>
        <p:txBody>
          <a:bodyPr>
            <a:normAutofit/>
          </a:bodyPr>
          <a:lstStyle/>
          <a:p>
            <a:r>
              <a:rPr lang="en-US" dirty="0"/>
              <a:t>The authors of the GPT-3 paper did not share the training dataset, but a comparable dataset that is publicly available is Dolma.</a:t>
            </a:r>
          </a:p>
          <a:p>
            <a:endParaRPr lang="en-US" dirty="0"/>
          </a:p>
          <a:p>
            <a:r>
              <a:rPr lang="en-US" dirty="0"/>
              <a:t>Dolma: An Open Corpus of Three Trillion Tokens for LLM Pretraining Research by </a:t>
            </a:r>
            <a:r>
              <a:rPr lang="en-US" dirty="0" err="1"/>
              <a:t>Soldaini</a:t>
            </a:r>
            <a:r>
              <a:rPr lang="en-US" dirty="0"/>
              <a:t> et al. 2024 (</a:t>
            </a:r>
            <a:r>
              <a:rPr lang="en-US" dirty="0">
                <a:hlinkClick r:id="rId2"/>
              </a:rPr>
              <a:t>https://arxiv.org/abs/2402.00159</a:t>
            </a:r>
            <a:r>
              <a:rPr lang="en-US" dirty="0"/>
              <a:t>).</a:t>
            </a:r>
          </a:p>
          <a:p>
            <a:endParaRPr lang="en-US" dirty="0"/>
          </a:p>
          <a:p>
            <a:r>
              <a:rPr lang="en-US" dirty="0"/>
              <a:t>However, the collection may contain copyrighted works, and the exact usage terms may depend on the intended use case and country.</a:t>
            </a:r>
          </a:p>
          <a:p>
            <a:endParaRPr lang="en-US" dirty="0"/>
          </a:p>
          <a:p>
            <a:endParaRPr lang="en-US" dirty="0"/>
          </a:p>
        </p:txBody>
      </p:sp>
    </p:spTree>
    <p:extLst>
      <p:ext uri="{BB962C8B-B14F-4D97-AF65-F5344CB8AC3E}">
        <p14:creationId xmlns:p14="http://schemas.microsoft.com/office/powerpoint/2010/main" val="6868500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358A8-8305-A7DF-C320-8EA0670B90FD}"/>
              </a:ext>
            </a:extLst>
          </p:cNvPr>
          <p:cNvSpPr>
            <a:spLocks noGrp="1"/>
          </p:cNvSpPr>
          <p:nvPr>
            <p:ph type="title"/>
          </p:nvPr>
        </p:nvSpPr>
        <p:spPr/>
        <p:txBody>
          <a:bodyPr/>
          <a:lstStyle/>
          <a:p>
            <a:r>
              <a:rPr lang="en-US" dirty="0"/>
              <a:t>Foundation Models</a:t>
            </a:r>
          </a:p>
        </p:txBody>
      </p:sp>
      <p:sp>
        <p:nvSpPr>
          <p:cNvPr id="3" name="Slide Number Placeholder 2">
            <a:extLst>
              <a:ext uri="{FF2B5EF4-FFF2-40B4-BE49-F238E27FC236}">
                <a16:creationId xmlns:a16="http://schemas.microsoft.com/office/drawing/2014/main" id="{E9277E0B-A7C3-13BB-A163-642B7124B453}"/>
              </a:ext>
            </a:extLst>
          </p:cNvPr>
          <p:cNvSpPr>
            <a:spLocks noGrp="1"/>
          </p:cNvSpPr>
          <p:nvPr>
            <p:ph type="sldNum" sz="quarter" idx="12"/>
          </p:nvPr>
        </p:nvSpPr>
        <p:spPr/>
        <p:txBody>
          <a:bodyPr>
            <a:normAutofit fontScale="85000" lnSpcReduction="20000"/>
          </a:bodyPr>
          <a:lstStyle/>
          <a:p>
            <a:fld id="{EBFB1032-EA64-7144-B003-9BCC9D94B503}" type="slidenum">
              <a:rPr lang="en-US" smtClean="0"/>
              <a:t>40</a:t>
            </a:fld>
            <a:endParaRPr lang="en-US" dirty="0"/>
          </a:p>
        </p:txBody>
      </p:sp>
      <p:sp>
        <p:nvSpPr>
          <p:cNvPr id="4" name="Content Placeholder 3">
            <a:extLst>
              <a:ext uri="{FF2B5EF4-FFF2-40B4-BE49-F238E27FC236}">
                <a16:creationId xmlns:a16="http://schemas.microsoft.com/office/drawing/2014/main" id="{9497F364-B69E-3118-EF24-D29AEE07EC78}"/>
              </a:ext>
            </a:extLst>
          </p:cNvPr>
          <p:cNvSpPr>
            <a:spLocks noGrp="1"/>
          </p:cNvSpPr>
          <p:nvPr>
            <p:ph sz="quarter" idx="1"/>
          </p:nvPr>
        </p:nvSpPr>
        <p:spPr/>
        <p:txBody>
          <a:bodyPr/>
          <a:lstStyle/>
          <a:p>
            <a:r>
              <a:rPr lang="en-US" dirty="0"/>
              <a:t>The pretrained nature of these models makes them incredibly versatile for further fine-tuning on downstream tasks, which is why they are also known as base or foundation models.</a:t>
            </a:r>
          </a:p>
          <a:p>
            <a:endParaRPr lang="en-US" dirty="0"/>
          </a:p>
          <a:p>
            <a:r>
              <a:rPr lang="en-US" dirty="0"/>
              <a:t>Pretraining LLMs requires access to significant resources and is very expensive.</a:t>
            </a:r>
          </a:p>
          <a:p>
            <a:endParaRPr lang="en-US" dirty="0"/>
          </a:p>
          <a:p>
            <a:r>
              <a:rPr lang="en-US" dirty="0"/>
              <a:t>For example, the GPT-3 pretraining cost is estimated to be $4.6 million in terms of cloud computing credits (</a:t>
            </a:r>
            <a:r>
              <a:rPr lang="en-US" dirty="0">
                <a:hlinkClick r:id="rId2"/>
              </a:rPr>
              <a:t>https://mng.bz/VxEW</a:t>
            </a:r>
            <a:r>
              <a:rPr lang="en-US" dirty="0"/>
              <a:t>).</a:t>
            </a:r>
          </a:p>
          <a:p>
            <a:endParaRPr lang="en-US" dirty="0"/>
          </a:p>
        </p:txBody>
      </p:sp>
    </p:spTree>
    <p:extLst>
      <p:ext uri="{BB962C8B-B14F-4D97-AF65-F5344CB8AC3E}">
        <p14:creationId xmlns:p14="http://schemas.microsoft.com/office/powerpoint/2010/main" val="25919335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05EE6-F4DA-DA5D-5B65-94FB3B5FE15A}"/>
              </a:ext>
            </a:extLst>
          </p:cNvPr>
          <p:cNvSpPr>
            <a:spLocks noGrp="1"/>
          </p:cNvSpPr>
          <p:nvPr>
            <p:ph type="title"/>
          </p:nvPr>
        </p:nvSpPr>
        <p:spPr/>
        <p:txBody>
          <a:bodyPr/>
          <a:lstStyle/>
          <a:p>
            <a:r>
              <a:rPr lang="en-US" dirty="0"/>
              <a:t>Open Source Models</a:t>
            </a:r>
          </a:p>
        </p:txBody>
      </p:sp>
      <p:sp>
        <p:nvSpPr>
          <p:cNvPr id="3" name="Slide Number Placeholder 2">
            <a:extLst>
              <a:ext uri="{FF2B5EF4-FFF2-40B4-BE49-F238E27FC236}">
                <a16:creationId xmlns:a16="http://schemas.microsoft.com/office/drawing/2014/main" id="{033EE0A8-6F85-299F-FCE0-0BB1CA954F89}"/>
              </a:ext>
            </a:extLst>
          </p:cNvPr>
          <p:cNvSpPr>
            <a:spLocks noGrp="1"/>
          </p:cNvSpPr>
          <p:nvPr>
            <p:ph type="sldNum" sz="quarter" idx="12"/>
          </p:nvPr>
        </p:nvSpPr>
        <p:spPr/>
        <p:txBody>
          <a:bodyPr>
            <a:normAutofit fontScale="85000" lnSpcReduction="20000"/>
          </a:bodyPr>
          <a:lstStyle/>
          <a:p>
            <a:fld id="{EBFB1032-EA64-7144-B003-9BCC9D94B503}" type="slidenum">
              <a:rPr lang="en-US" smtClean="0"/>
              <a:t>41</a:t>
            </a:fld>
            <a:endParaRPr lang="en-US" dirty="0"/>
          </a:p>
        </p:txBody>
      </p:sp>
      <p:sp>
        <p:nvSpPr>
          <p:cNvPr id="4" name="Content Placeholder 3">
            <a:extLst>
              <a:ext uri="{FF2B5EF4-FFF2-40B4-BE49-F238E27FC236}">
                <a16:creationId xmlns:a16="http://schemas.microsoft.com/office/drawing/2014/main" id="{C99FA850-AA89-CAC8-D170-D48B416E2794}"/>
              </a:ext>
            </a:extLst>
          </p:cNvPr>
          <p:cNvSpPr>
            <a:spLocks noGrp="1"/>
          </p:cNvSpPr>
          <p:nvPr>
            <p:ph sz="quarter" idx="1"/>
          </p:nvPr>
        </p:nvSpPr>
        <p:spPr/>
        <p:txBody>
          <a:bodyPr>
            <a:normAutofit/>
          </a:bodyPr>
          <a:lstStyle/>
          <a:p>
            <a:r>
              <a:rPr lang="en-US" dirty="0"/>
              <a:t>The good news is that many pretrained LLMs, available as open source models, can be used as general-purpose tools to write, extract, and edit texts that were not part of the training data.</a:t>
            </a:r>
          </a:p>
          <a:p>
            <a:endParaRPr lang="en-US" dirty="0"/>
          </a:p>
          <a:p>
            <a:r>
              <a:rPr lang="en-US" dirty="0"/>
              <a:t>Also, LLMs can be fine-tuned on specific tasks with relatively smaller datasets, reducing the computational resources needed and improving performance.</a:t>
            </a:r>
          </a:p>
        </p:txBody>
      </p:sp>
    </p:spTree>
    <p:extLst>
      <p:ext uri="{BB962C8B-B14F-4D97-AF65-F5344CB8AC3E}">
        <p14:creationId xmlns:p14="http://schemas.microsoft.com/office/powerpoint/2010/main" val="23601111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C6B80-2F70-ED87-3F9A-8CAF27595D91}"/>
              </a:ext>
            </a:extLst>
          </p:cNvPr>
          <p:cNvSpPr>
            <a:spLocks noGrp="1"/>
          </p:cNvSpPr>
          <p:nvPr>
            <p:ph type="title"/>
          </p:nvPr>
        </p:nvSpPr>
        <p:spPr/>
        <p:txBody>
          <a:bodyPr/>
          <a:lstStyle/>
          <a:p>
            <a:r>
              <a:rPr lang="en-US" dirty="0"/>
              <a:t>Pretraining Code</a:t>
            </a:r>
          </a:p>
        </p:txBody>
      </p:sp>
      <p:sp>
        <p:nvSpPr>
          <p:cNvPr id="3" name="Slide Number Placeholder 2">
            <a:extLst>
              <a:ext uri="{FF2B5EF4-FFF2-40B4-BE49-F238E27FC236}">
                <a16:creationId xmlns:a16="http://schemas.microsoft.com/office/drawing/2014/main" id="{0026028F-B186-FDE9-A8F6-7BC92D1E67B9}"/>
              </a:ext>
            </a:extLst>
          </p:cNvPr>
          <p:cNvSpPr>
            <a:spLocks noGrp="1"/>
          </p:cNvSpPr>
          <p:nvPr>
            <p:ph type="sldNum" sz="quarter" idx="12"/>
          </p:nvPr>
        </p:nvSpPr>
        <p:spPr/>
        <p:txBody>
          <a:bodyPr>
            <a:normAutofit fontScale="85000" lnSpcReduction="20000"/>
          </a:bodyPr>
          <a:lstStyle/>
          <a:p>
            <a:fld id="{EBFB1032-EA64-7144-B003-9BCC9D94B503}" type="slidenum">
              <a:rPr lang="en-US" smtClean="0"/>
              <a:t>42</a:t>
            </a:fld>
            <a:endParaRPr lang="en-US" dirty="0"/>
          </a:p>
        </p:txBody>
      </p:sp>
      <p:sp>
        <p:nvSpPr>
          <p:cNvPr id="4" name="Content Placeholder 3">
            <a:extLst>
              <a:ext uri="{FF2B5EF4-FFF2-40B4-BE49-F238E27FC236}">
                <a16:creationId xmlns:a16="http://schemas.microsoft.com/office/drawing/2014/main" id="{03048FFF-DE95-A550-E52E-AF3F956881C3}"/>
              </a:ext>
            </a:extLst>
          </p:cNvPr>
          <p:cNvSpPr>
            <a:spLocks noGrp="1"/>
          </p:cNvSpPr>
          <p:nvPr>
            <p:ph sz="quarter" idx="1"/>
          </p:nvPr>
        </p:nvSpPr>
        <p:spPr/>
        <p:txBody>
          <a:bodyPr/>
          <a:lstStyle/>
          <a:p>
            <a:r>
              <a:rPr lang="en-US" dirty="0"/>
              <a:t>We will implement the code for pretraining and use it to pretrain an LLM for educational purposes.</a:t>
            </a:r>
          </a:p>
          <a:p>
            <a:endParaRPr lang="en-US" dirty="0"/>
          </a:p>
          <a:p>
            <a:r>
              <a:rPr lang="en-US" dirty="0"/>
              <a:t>All computations are executable on consumer hardware.</a:t>
            </a:r>
          </a:p>
          <a:p>
            <a:endParaRPr lang="en-US" dirty="0"/>
          </a:p>
          <a:p>
            <a:r>
              <a:rPr lang="en-US" dirty="0"/>
              <a:t>After implementing the pretraining code, we will learn how to reuse openly available model weights and load them into the architecture we will implement, allowing us to skip the expensive pretraining stage when we fine-tune our LLM.</a:t>
            </a:r>
          </a:p>
          <a:p>
            <a:endParaRPr lang="en-US" dirty="0"/>
          </a:p>
        </p:txBody>
      </p:sp>
    </p:spTree>
    <p:extLst>
      <p:ext uri="{BB962C8B-B14F-4D97-AF65-F5344CB8AC3E}">
        <p14:creationId xmlns:p14="http://schemas.microsoft.com/office/powerpoint/2010/main" val="41129931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C464-1A71-50C1-C08B-629AC5A30273}"/>
              </a:ext>
            </a:extLst>
          </p:cNvPr>
          <p:cNvSpPr>
            <a:spLocks noGrp="1"/>
          </p:cNvSpPr>
          <p:nvPr>
            <p:ph type="title"/>
          </p:nvPr>
        </p:nvSpPr>
        <p:spPr/>
        <p:txBody>
          <a:bodyPr>
            <a:normAutofit/>
          </a:bodyPr>
          <a:lstStyle/>
          <a:p>
            <a:r>
              <a:rPr lang="en-US" dirty="0"/>
              <a:t>A closer look at the GPT architecture</a:t>
            </a:r>
          </a:p>
        </p:txBody>
      </p:sp>
      <p:sp>
        <p:nvSpPr>
          <p:cNvPr id="3" name="Slide Number Placeholder 2">
            <a:extLst>
              <a:ext uri="{FF2B5EF4-FFF2-40B4-BE49-F238E27FC236}">
                <a16:creationId xmlns:a16="http://schemas.microsoft.com/office/drawing/2014/main" id="{B783C322-FB7F-0E1F-723C-F9989755ACFB}"/>
              </a:ext>
            </a:extLst>
          </p:cNvPr>
          <p:cNvSpPr>
            <a:spLocks noGrp="1"/>
          </p:cNvSpPr>
          <p:nvPr>
            <p:ph type="sldNum" sz="quarter" idx="12"/>
          </p:nvPr>
        </p:nvSpPr>
        <p:spPr/>
        <p:txBody>
          <a:bodyPr>
            <a:normAutofit fontScale="85000" lnSpcReduction="20000"/>
          </a:bodyPr>
          <a:lstStyle/>
          <a:p>
            <a:fld id="{EBFB1032-EA64-7144-B003-9BCC9D94B503}" type="slidenum">
              <a:rPr lang="en-US" smtClean="0"/>
              <a:t>43</a:t>
            </a:fld>
            <a:endParaRPr lang="en-US" dirty="0"/>
          </a:p>
        </p:txBody>
      </p:sp>
      <p:sp>
        <p:nvSpPr>
          <p:cNvPr id="4" name="Content Placeholder 3">
            <a:extLst>
              <a:ext uri="{FF2B5EF4-FFF2-40B4-BE49-F238E27FC236}">
                <a16:creationId xmlns:a16="http://schemas.microsoft.com/office/drawing/2014/main" id="{7CFE9BBE-D0D7-F111-50C4-55F4BC1ACA1E}"/>
              </a:ext>
            </a:extLst>
          </p:cNvPr>
          <p:cNvSpPr>
            <a:spLocks noGrp="1"/>
          </p:cNvSpPr>
          <p:nvPr>
            <p:ph sz="quarter" idx="1"/>
          </p:nvPr>
        </p:nvSpPr>
        <p:spPr/>
        <p:txBody>
          <a:bodyPr>
            <a:normAutofit/>
          </a:bodyPr>
          <a:lstStyle/>
          <a:p>
            <a:r>
              <a:rPr lang="en-US" dirty="0"/>
              <a:t>GPT was originally introduced in the paper</a:t>
            </a:r>
          </a:p>
          <a:p>
            <a:pPr marL="0" indent="0">
              <a:buNone/>
            </a:pPr>
            <a:r>
              <a:rPr lang="en-US" dirty="0"/>
              <a:t>	“Improving Language Understanding by Generative Pre-Training” 	</a:t>
            </a:r>
            <a:r>
              <a:rPr lang="en-US" dirty="0">
                <a:hlinkClick r:id="rId2"/>
              </a:rPr>
              <a:t>https://mng.bz/x2qg</a:t>
            </a:r>
            <a:endParaRPr lang="en-US" dirty="0"/>
          </a:p>
          <a:p>
            <a:pPr marL="0" indent="0">
              <a:buNone/>
            </a:pPr>
            <a:r>
              <a:rPr lang="en-US" dirty="0"/>
              <a:t>	by Radford et al. from OpenAI.</a:t>
            </a:r>
          </a:p>
          <a:p>
            <a:endParaRPr lang="en-US" dirty="0"/>
          </a:p>
          <a:p>
            <a:r>
              <a:rPr lang="en-US" dirty="0"/>
              <a:t>GPT-3 is a scaled-up version of this model that has more parameters and was trained on a larger dataset.</a:t>
            </a:r>
          </a:p>
        </p:txBody>
      </p:sp>
    </p:spTree>
    <p:extLst>
      <p:ext uri="{BB962C8B-B14F-4D97-AF65-F5344CB8AC3E}">
        <p14:creationId xmlns:p14="http://schemas.microsoft.com/office/powerpoint/2010/main" val="37976843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69775-CDAF-530A-8EA3-1580697EE7FC}"/>
              </a:ext>
            </a:extLst>
          </p:cNvPr>
          <p:cNvSpPr>
            <a:spLocks noGrp="1"/>
          </p:cNvSpPr>
          <p:nvPr>
            <p:ph type="title"/>
          </p:nvPr>
        </p:nvSpPr>
        <p:spPr/>
        <p:txBody>
          <a:bodyPr/>
          <a:lstStyle/>
          <a:p>
            <a:r>
              <a:rPr lang="en-US" dirty="0" err="1"/>
              <a:t>InstructGPT</a:t>
            </a:r>
            <a:endParaRPr lang="en-US" dirty="0"/>
          </a:p>
        </p:txBody>
      </p:sp>
      <p:sp>
        <p:nvSpPr>
          <p:cNvPr id="3" name="Slide Number Placeholder 2">
            <a:extLst>
              <a:ext uri="{FF2B5EF4-FFF2-40B4-BE49-F238E27FC236}">
                <a16:creationId xmlns:a16="http://schemas.microsoft.com/office/drawing/2014/main" id="{DC6B893C-29F4-B522-8354-CDE03E326FD6}"/>
              </a:ext>
            </a:extLst>
          </p:cNvPr>
          <p:cNvSpPr>
            <a:spLocks noGrp="1"/>
          </p:cNvSpPr>
          <p:nvPr>
            <p:ph type="sldNum" sz="quarter" idx="12"/>
          </p:nvPr>
        </p:nvSpPr>
        <p:spPr/>
        <p:txBody>
          <a:bodyPr>
            <a:normAutofit fontScale="85000" lnSpcReduction="20000"/>
          </a:bodyPr>
          <a:lstStyle/>
          <a:p>
            <a:fld id="{EBFB1032-EA64-7144-B003-9BCC9D94B503}" type="slidenum">
              <a:rPr lang="en-US" smtClean="0"/>
              <a:t>44</a:t>
            </a:fld>
            <a:endParaRPr lang="en-US" dirty="0"/>
          </a:p>
        </p:txBody>
      </p:sp>
      <p:sp>
        <p:nvSpPr>
          <p:cNvPr id="4" name="Content Placeholder 3">
            <a:extLst>
              <a:ext uri="{FF2B5EF4-FFF2-40B4-BE49-F238E27FC236}">
                <a16:creationId xmlns:a16="http://schemas.microsoft.com/office/drawing/2014/main" id="{E675199C-9052-4A5E-A8FA-78F94643D832}"/>
              </a:ext>
            </a:extLst>
          </p:cNvPr>
          <p:cNvSpPr>
            <a:spLocks noGrp="1"/>
          </p:cNvSpPr>
          <p:nvPr>
            <p:ph sz="quarter" idx="1"/>
          </p:nvPr>
        </p:nvSpPr>
        <p:spPr/>
        <p:txBody>
          <a:bodyPr/>
          <a:lstStyle/>
          <a:p>
            <a:r>
              <a:rPr lang="en-US" dirty="0"/>
              <a:t>In addition, the original model offered in ChatGPT was created by fine-tuning GPT-3 on a large instruction dataset using a method from OpenAI’s </a:t>
            </a:r>
            <a:r>
              <a:rPr lang="en-US" dirty="0" err="1"/>
              <a:t>InstructGPT</a:t>
            </a:r>
            <a:r>
              <a:rPr lang="en-US" dirty="0"/>
              <a:t> paper</a:t>
            </a:r>
          </a:p>
          <a:p>
            <a:pPr marL="0" indent="0">
              <a:buNone/>
            </a:pPr>
            <a:r>
              <a:rPr lang="en-US" dirty="0"/>
              <a:t>	</a:t>
            </a:r>
            <a:r>
              <a:rPr lang="en-US" dirty="0">
                <a:hlinkClick r:id="rId2"/>
              </a:rPr>
              <a:t>https://arxiv.org/abs/2203.02155</a:t>
            </a:r>
            <a:endParaRPr lang="en-US" dirty="0"/>
          </a:p>
          <a:p>
            <a:endParaRPr lang="en-US" dirty="0"/>
          </a:p>
          <a:p>
            <a:r>
              <a:rPr lang="en-US" dirty="0"/>
              <a:t>As figure 1.6 shows, these models are competent text completion models and can carry out other tasks such as spelling correction, classification, or language translation.</a:t>
            </a:r>
          </a:p>
          <a:p>
            <a:endParaRPr lang="en-US" dirty="0"/>
          </a:p>
          <a:p>
            <a:r>
              <a:rPr lang="en-US" dirty="0"/>
              <a:t>This is actually very remarkable given that GPT models are pretrained on a relatively simple next-word prediction task, as depicted in figure 1.7.</a:t>
            </a:r>
          </a:p>
          <a:p>
            <a:endParaRPr lang="en-US" dirty="0"/>
          </a:p>
        </p:txBody>
      </p:sp>
    </p:spTree>
    <p:extLst>
      <p:ext uri="{BB962C8B-B14F-4D97-AF65-F5344CB8AC3E}">
        <p14:creationId xmlns:p14="http://schemas.microsoft.com/office/powerpoint/2010/main" val="9869961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868250-BFF4-F3E2-EE41-331B9A656D94}"/>
              </a:ext>
            </a:extLst>
          </p:cNvPr>
          <p:cNvSpPr>
            <a:spLocks noGrp="1"/>
          </p:cNvSpPr>
          <p:nvPr>
            <p:ph type="title"/>
          </p:nvPr>
        </p:nvSpPr>
        <p:spPr/>
        <p:txBody>
          <a:bodyPr>
            <a:normAutofit fontScale="90000"/>
          </a:bodyPr>
          <a:lstStyle/>
          <a:p>
            <a:r>
              <a:rPr lang="en-US" dirty="0"/>
              <a:t>Figure 1.7 Next-word prediction pretraining task</a:t>
            </a:r>
          </a:p>
        </p:txBody>
      </p:sp>
      <p:sp>
        <p:nvSpPr>
          <p:cNvPr id="2" name="Slide Number Placeholder 1">
            <a:extLst>
              <a:ext uri="{FF2B5EF4-FFF2-40B4-BE49-F238E27FC236}">
                <a16:creationId xmlns:a16="http://schemas.microsoft.com/office/drawing/2014/main" id="{962AE8AA-8656-307E-F13F-5B0D115BAF64}"/>
              </a:ext>
            </a:extLst>
          </p:cNvPr>
          <p:cNvSpPr>
            <a:spLocks noGrp="1"/>
          </p:cNvSpPr>
          <p:nvPr>
            <p:ph type="sldNum" sz="quarter" idx="12"/>
          </p:nvPr>
        </p:nvSpPr>
        <p:spPr/>
        <p:txBody>
          <a:bodyPr>
            <a:normAutofit fontScale="85000" lnSpcReduction="20000"/>
          </a:bodyPr>
          <a:lstStyle/>
          <a:p>
            <a:fld id="{EBFB1032-EA64-7144-B003-9BCC9D94B503}" type="slidenum">
              <a:rPr lang="en-US" smtClean="0"/>
              <a:t>45</a:t>
            </a:fld>
            <a:endParaRPr lang="en-US" dirty="0"/>
          </a:p>
        </p:txBody>
      </p:sp>
      <p:sp>
        <p:nvSpPr>
          <p:cNvPr id="4" name="Content Placeholder 3">
            <a:extLst>
              <a:ext uri="{FF2B5EF4-FFF2-40B4-BE49-F238E27FC236}">
                <a16:creationId xmlns:a16="http://schemas.microsoft.com/office/drawing/2014/main" id="{B88FADD6-2088-7AE8-9A9E-0070550E0C90}"/>
              </a:ext>
            </a:extLst>
          </p:cNvPr>
          <p:cNvSpPr>
            <a:spLocks noGrp="1"/>
          </p:cNvSpPr>
          <p:nvPr>
            <p:ph sz="quarter" idx="1"/>
          </p:nvPr>
        </p:nvSpPr>
        <p:spPr>
          <a:xfrm>
            <a:off x="120315" y="3899646"/>
            <a:ext cx="8943473" cy="2854079"/>
          </a:xfrm>
          <a:ln>
            <a:solidFill>
              <a:schemeClr val="accent1"/>
            </a:solidFill>
          </a:ln>
        </p:spPr>
        <p:txBody>
          <a:bodyPr>
            <a:normAutofit/>
          </a:bodyPr>
          <a:lstStyle/>
          <a:p>
            <a:pPr algn="just"/>
            <a:r>
              <a:rPr lang="en-US" dirty="0"/>
              <a:t>In the next-word prediction pretraining task for GPT models, the system learns to predict the upcoming word in a sentence by looking at the words that have come before it.</a:t>
            </a:r>
          </a:p>
          <a:p>
            <a:pPr algn="just"/>
            <a:endParaRPr lang="en-US" dirty="0"/>
          </a:p>
          <a:p>
            <a:pPr algn="just"/>
            <a:r>
              <a:rPr lang="en-US" dirty="0"/>
              <a:t>This approach helps the model understand how words and phrases typically fit together in language, forming a foundation that can be applied to various other tasks.</a:t>
            </a:r>
          </a:p>
        </p:txBody>
      </p:sp>
      <p:pic>
        <p:nvPicPr>
          <p:cNvPr id="6" name="Picture 5" descr="A close-up of a sign&#10;&#10;AI-generated content may be incorrect.">
            <a:extLst>
              <a:ext uri="{FF2B5EF4-FFF2-40B4-BE49-F238E27FC236}">
                <a16:creationId xmlns:a16="http://schemas.microsoft.com/office/drawing/2014/main" id="{6CA86337-4F40-76D6-E390-5C5943FB8633}"/>
              </a:ext>
            </a:extLst>
          </p:cNvPr>
          <p:cNvPicPr>
            <a:picLocks noChangeAspect="1"/>
          </p:cNvPicPr>
          <p:nvPr/>
        </p:nvPicPr>
        <p:blipFill>
          <a:blip r:embed="rId2"/>
          <a:stretch>
            <a:fillRect/>
          </a:stretch>
        </p:blipFill>
        <p:spPr>
          <a:xfrm>
            <a:off x="934451" y="1836732"/>
            <a:ext cx="7315200" cy="1592268"/>
          </a:xfrm>
          <a:prstGeom prst="rect">
            <a:avLst/>
          </a:prstGeom>
        </p:spPr>
      </p:pic>
    </p:spTree>
    <p:extLst>
      <p:ext uri="{BB962C8B-B14F-4D97-AF65-F5344CB8AC3E}">
        <p14:creationId xmlns:p14="http://schemas.microsoft.com/office/powerpoint/2010/main" val="3836837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2FECD-9274-6B77-DF66-466C02B019DD}"/>
              </a:ext>
            </a:extLst>
          </p:cNvPr>
          <p:cNvSpPr>
            <a:spLocks noGrp="1"/>
          </p:cNvSpPr>
          <p:nvPr>
            <p:ph type="title"/>
          </p:nvPr>
        </p:nvSpPr>
        <p:spPr/>
        <p:txBody>
          <a:bodyPr/>
          <a:lstStyle/>
          <a:p>
            <a:r>
              <a:rPr lang="en-US" dirty="0"/>
              <a:t>The next-word prediction task</a:t>
            </a:r>
          </a:p>
        </p:txBody>
      </p:sp>
      <p:sp>
        <p:nvSpPr>
          <p:cNvPr id="3" name="Slide Number Placeholder 2">
            <a:extLst>
              <a:ext uri="{FF2B5EF4-FFF2-40B4-BE49-F238E27FC236}">
                <a16:creationId xmlns:a16="http://schemas.microsoft.com/office/drawing/2014/main" id="{DE224B79-DA0F-379D-DA47-D81596C5DB9E}"/>
              </a:ext>
            </a:extLst>
          </p:cNvPr>
          <p:cNvSpPr>
            <a:spLocks noGrp="1"/>
          </p:cNvSpPr>
          <p:nvPr>
            <p:ph type="sldNum" sz="quarter" idx="12"/>
          </p:nvPr>
        </p:nvSpPr>
        <p:spPr/>
        <p:txBody>
          <a:bodyPr>
            <a:normAutofit fontScale="85000" lnSpcReduction="20000"/>
          </a:bodyPr>
          <a:lstStyle/>
          <a:p>
            <a:fld id="{EBFB1032-EA64-7144-B003-9BCC9D94B503}" type="slidenum">
              <a:rPr lang="en-US" smtClean="0"/>
              <a:t>46</a:t>
            </a:fld>
            <a:endParaRPr lang="en-US" dirty="0"/>
          </a:p>
        </p:txBody>
      </p:sp>
      <p:sp>
        <p:nvSpPr>
          <p:cNvPr id="4" name="Content Placeholder 3">
            <a:extLst>
              <a:ext uri="{FF2B5EF4-FFF2-40B4-BE49-F238E27FC236}">
                <a16:creationId xmlns:a16="http://schemas.microsoft.com/office/drawing/2014/main" id="{BC323B14-0605-A8C8-6C10-893BAF4CA53C}"/>
              </a:ext>
            </a:extLst>
          </p:cNvPr>
          <p:cNvSpPr>
            <a:spLocks noGrp="1"/>
          </p:cNvSpPr>
          <p:nvPr>
            <p:ph sz="quarter" idx="1"/>
          </p:nvPr>
        </p:nvSpPr>
        <p:spPr/>
        <p:txBody>
          <a:bodyPr>
            <a:normAutofit/>
          </a:bodyPr>
          <a:lstStyle/>
          <a:p>
            <a:pPr algn="just"/>
            <a:r>
              <a:rPr lang="en-US" sz="2300" dirty="0"/>
              <a:t>The next-word prediction task is a form of self-supervised learning, which is a form of self-labeling.</a:t>
            </a:r>
          </a:p>
          <a:p>
            <a:pPr algn="just"/>
            <a:endParaRPr lang="en-US" sz="2300" dirty="0"/>
          </a:p>
          <a:p>
            <a:pPr algn="just"/>
            <a:r>
              <a:rPr lang="en-US" sz="2300" dirty="0"/>
              <a:t>This means that we don’t need to collect labels for the training data explicitly but can use the structure of the data itself: we can use the next word in a sentence or document as the label that the model is supposed to predict.</a:t>
            </a:r>
          </a:p>
          <a:p>
            <a:pPr algn="just"/>
            <a:endParaRPr lang="en-US" sz="2300" dirty="0"/>
          </a:p>
          <a:p>
            <a:pPr algn="just"/>
            <a:r>
              <a:rPr lang="en-US" sz="2300" dirty="0"/>
              <a:t>Since this next-word prediction task allows us to create labels “on the fly,” it is possible to use massive unlabeled text datasets to train LLMs.</a:t>
            </a:r>
          </a:p>
        </p:txBody>
      </p:sp>
    </p:spTree>
    <p:extLst>
      <p:ext uri="{BB962C8B-B14F-4D97-AF65-F5344CB8AC3E}">
        <p14:creationId xmlns:p14="http://schemas.microsoft.com/office/powerpoint/2010/main" val="30807234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E57E7-9922-8EDD-3695-8564FD45DB26}"/>
              </a:ext>
            </a:extLst>
          </p:cNvPr>
          <p:cNvSpPr>
            <a:spLocks noGrp="1"/>
          </p:cNvSpPr>
          <p:nvPr>
            <p:ph type="title"/>
          </p:nvPr>
        </p:nvSpPr>
        <p:spPr/>
        <p:txBody>
          <a:bodyPr>
            <a:normAutofit fontScale="90000"/>
          </a:bodyPr>
          <a:lstStyle/>
          <a:p>
            <a:r>
              <a:rPr lang="en-US" dirty="0"/>
              <a:t>The general GPT architecture is relatively simple</a:t>
            </a:r>
          </a:p>
        </p:txBody>
      </p:sp>
      <p:sp>
        <p:nvSpPr>
          <p:cNvPr id="3" name="Slide Number Placeholder 2">
            <a:extLst>
              <a:ext uri="{FF2B5EF4-FFF2-40B4-BE49-F238E27FC236}">
                <a16:creationId xmlns:a16="http://schemas.microsoft.com/office/drawing/2014/main" id="{783D6080-CFB5-F2F5-2DE9-26B19C986837}"/>
              </a:ext>
            </a:extLst>
          </p:cNvPr>
          <p:cNvSpPr>
            <a:spLocks noGrp="1"/>
          </p:cNvSpPr>
          <p:nvPr>
            <p:ph type="sldNum" sz="quarter" idx="12"/>
          </p:nvPr>
        </p:nvSpPr>
        <p:spPr/>
        <p:txBody>
          <a:bodyPr>
            <a:normAutofit fontScale="85000" lnSpcReduction="20000"/>
          </a:bodyPr>
          <a:lstStyle/>
          <a:p>
            <a:fld id="{EBFB1032-EA64-7144-B003-9BCC9D94B503}" type="slidenum">
              <a:rPr lang="en-US" smtClean="0"/>
              <a:t>47</a:t>
            </a:fld>
            <a:endParaRPr lang="en-US" dirty="0"/>
          </a:p>
        </p:txBody>
      </p:sp>
      <p:sp>
        <p:nvSpPr>
          <p:cNvPr id="4" name="Content Placeholder 3">
            <a:extLst>
              <a:ext uri="{FF2B5EF4-FFF2-40B4-BE49-F238E27FC236}">
                <a16:creationId xmlns:a16="http://schemas.microsoft.com/office/drawing/2014/main" id="{E7CB716A-2499-34DA-A222-6ED505353F1F}"/>
              </a:ext>
            </a:extLst>
          </p:cNvPr>
          <p:cNvSpPr>
            <a:spLocks noGrp="1"/>
          </p:cNvSpPr>
          <p:nvPr>
            <p:ph sz="quarter" idx="1"/>
          </p:nvPr>
        </p:nvSpPr>
        <p:spPr/>
        <p:txBody>
          <a:bodyPr>
            <a:normAutofit/>
          </a:bodyPr>
          <a:lstStyle/>
          <a:p>
            <a:pPr algn="just">
              <a:spcBef>
                <a:spcPts val="0"/>
              </a:spcBef>
            </a:pPr>
            <a:r>
              <a:rPr lang="en-US" dirty="0"/>
              <a:t>Compared to the original transformer architecture, the general GPT architecture is relatively simple.</a:t>
            </a:r>
          </a:p>
          <a:p>
            <a:pPr algn="just">
              <a:spcBef>
                <a:spcPts val="0"/>
              </a:spcBef>
            </a:pPr>
            <a:endParaRPr lang="en-US" dirty="0"/>
          </a:p>
          <a:p>
            <a:pPr algn="just">
              <a:spcBef>
                <a:spcPts val="0"/>
              </a:spcBef>
            </a:pPr>
            <a:r>
              <a:rPr lang="en-US" dirty="0"/>
              <a:t>Essentially, it’s just the decoder part without the encoder (figure 1.8).</a:t>
            </a:r>
          </a:p>
          <a:p>
            <a:pPr algn="just">
              <a:spcBef>
                <a:spcPts val="0"/>
              </a:spcBef>
            </a:pPr>
            <a:endParaRPr lang="en-US" dirty="0"/>
          </a:p>
          <a:p>
            <a:pPr algn="just">
              <a:spcBef>
                <a:spcPts val="0"/>
              </a:spcBef>
            </a:pPr>
            <a:r>
              <a:rPr lang="en-US" dirty="0"/>
              <a:t>Since decoder-style models like GPT generate text by predicting text one word at a time, they are considered a type of autoregressive model. </a:t>
            </a:r>
          </a:p>
          <a:p>
            <a:pPr algn="just">
              <a:spcBef>
                <a:spcPts val="0"/>
              </a:spcBef>
            </a:pPr>
            <a:endParaRPr lang="en-US" dirty="0"/>
          </a:p>
          <a:p>
            <a:pPr algn="just">
              <a:spcBef>
                <a:spcPts val="0"/>
              </a:spcBef>
            </a:pPr>
            <a:r>
              <a:rPr lang="en-US" dirty="0"/>
              <a:t>Autoregressive models incorporate their previous outputs as inputs for future predictions.</a:t>
            </a:r>
          </a:p>
          <a:p>
            <a:pPr algn="just">
              <a:spcBef>
                <a:spcPts val="0"/>
              </a:spcBef>
            </a:pPr>
            <a:endParaRPr lang="en-US" dirty="0"/>
          </a:p>
          <a:p>
            <a:pPr algn="just">
              <a:spcBef>
                <a:spcPts val="0"/>
              </a:spcBef>
            </a:pPr>
            <a:r>
              <a:rPr lang="en-US" dirty="0"/>
              <a:t>Consequently, in GPT, each new word is chosen based on the sequence that precedes it, which improves the coherence of the resulting text.</a:t>
            </a:r>
          </a:p>
        </p:txBody>
      </p:sp>
    </p:spTree>
    <p:extLst>
      <p:ext uri="{BB962C8B-B14F-4D97-AF65-F5344CB8AC3E}">
        <p14:creationId xmlns:p14="http://schemas.microsoft.com/office/powerpoint/2010/main" val="7523343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process&#10;&#10;AI-generated content may be incorrect.">
            <a:extLst>
              <a:ext uri="{FF2B5EF4-FFF2-40B4-BE49-F238E27FC236}">
                <a16:creationId xmlns:a16="http://schemas.microsoft.com/office/drawing/2014/main" id="{9C18359D-A17F-A1DB-69D0-8E2A30869F81}"/>
              </a:ext>
            </a:extLst>
          </p:cNvPr>
          <p:cNvPicPr>
            <a:picLocks noChangeAspect="1"/>
          </p:cNvPicPr>
          <p:nvPr/>
        </p:nvPicPr>
        <p:blipFill>
          <a:blip r:embed="rId2"/>
          <a:stretch>
            <a:fillRect/>
          </a:stretch>
        </p:blipFill>
        <p:spPr>
          <a:xfrm>
            <a:off x="981770" y="180711"/>
            <a:ext cx="7207354" cy="5120640"/>
          </a:xfrm>
          <a:prstGeom prst="rect">
            <a:avLst/>
          </a:prstGeom>
        </p:spPr>
      </p:pic>
      <p:sp>
        <p:nvSpPr>
          <p:cNvPr id="6" name="TextBox 5">
            <a:extLst>
              <a:ext uri="{FF2B5EF4-FFF2-40B4-BE49-F238E27FC236}">
                <a16:creationId xmlns:a16="http://schemas.microsoft.com/office/drawing/2014/main" id="{EF4C71C9-0752-B853-4396-143CFFB7FAB1}"/>
              </a:ext>
            </a:extLst>
          </p:cNvPr>
          <p:cNvSpPr txBox="1"/>
          <p:nvPr/>
        </p:nvSpPr>
        <p:spPr>
          <a:xfrm>
            <a:off x="107576" y="5414681"/>
            <a:ext cx="8955742" cy="1323439"/>
          </a:xfrm>
          <a:prstGeom prst="rect">
            <a:avLst/>
          </a:prstGeom>
          <a:noFill/>
          <a:ln>
            <a:solidFill>
              <a:schemeClr val="accent1"/>
            </a:solidFill>
          </a:ln>
        </p:spPr>
        <p:txBody>
          <a:bodyPr wrap="square">
            <a:spAutoFit/>
          </a:bodyPr>
          <a:lstStyle/>
          <a:p>
            <a:pPr algn="just">
              <a:buNone/>
            </a:pPr>
            <a:r>
              <a:rPr lang="en-US" sz="2000" dirty="0">
                <a:solidFill>
                  <a:srgbClr val="C00000"/>
                </a:solidFill>
                <a:latin typeface="Arial Narrow" panose="020B0606020202030204" pitchFamily="34" charset="0"/>
              </a:rPr>
              <a:t>Figure 1.8 The GPT architecture employs only the decoder portion of the original transformer.</a:t>
            </a:r>
          </a:p>
          <a:p>
            <a:pPr algn="just">
              <a:buNone/>
            </a:pPr>
            <a:endParaRPr lang="en-US" sz="2000" dirty="0">
              <a:latin typeface="Arial Narrow" panose="020B0606020202030204" pitchFamily="34" charset="0"/>
            </a:endParaRPr>
          </a:p>
          <a:p>
            <a:pPr algn="just">
              <a:buNone/>
            </a:pPr>
            <a:r>
              <a:rPr lang="en-US" sz="2000" dirty="0">
                <a:solidFill>
                  <a:srgbClr val="0070C0"/>
                </a:solidFill>
                <a:latin typeface="Arial Narrow" panose="020B0606020202030204" pitchFamily="34" charset="0"/>
              </a:rPr>
              <a:t>It is designed for unidirectional, left-to-right processing, making it well suited for text generation and next-word prediction tasks to generate text in an iterative fashion, one word at a time.</a:t>
            </a:r>
          </a:p>
        </p:txBody>
      </p:sp>
    </p:spTree>
    <p:extLst>
      <p:ext uri="{BB962C8B-B14F-4D97-AF65-F5344CB8AC3E}">
        <p14:creationId xmlns:p14="http://schemas.microsoft.com/office/powerpoint/2010/main" val="38752778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170A-98D6-3F25-F78F-30262918D004}"/>
              </a:ext>
            </a:extLst>
          </p:cNvPr>
          <p:cNvSpPr>
            <a:spLocks noGrp="1"/>
          </p:cNvSpPr>
          <p:nvPr>
            <p:ph type="title"/>
          </p:nvPr>
        </p:nvSpPr>
        <p:spPr/>
        <p:txBody>
          <a:bodyPr>
            <a:noAutofit/>
          </a:bodyPr>
          <a:lstStyle/>
          <a:p>
            <a:r>
              <a:rPr lang="en-US" sz="3400" dirty="0"/>
              <a:t>GPT-3 is larger than the original transformer model</a:t>
            </a:r>
          </a:p>
        </p:txBody>
      </p:sp>
      <p:sp>
        <p:nvSpPr>
          <p:cNvPr id="3" name="Slide Number Placeholder 2">
            <a:extLst>
              <a:ext uri="{FF2B5EF4-FFF2-40B4-BE49-F238E27FC236}">
                <a16:creationId xmlns:a16="http://schemas.microsoft.com/office/drawing/2014/main" id="{21570995-3C99-E3B2-CFA6-B2D9098FD4ED}"/>
              </a:ext>
            </a:extLst>
          </p:cNvPr>
          <p:cNvSpPr>
            <a:spLocks noGrp="1"/>
          </p:cNvSpPr>
          <p:nvPr>
            <p:ph type="sldNum" sz="quarter" idx="12"/>
          </p:nvPr>
        </p:nvSpPr>
        <p:spPr/>
        <p:txBody>
          <a:bodyPr>
            <a:normAutofit fontScale="85000" lnSpcReduction="20000"/>
          </a:bodyPr>
          <a:lstStyle/>
          <a:p>
            <a:fld id="{EBFB1032-EA64-7144-B003-9BCC9D94B503}" type="slidenum">
              <a:rPr lang="en-US" smtClean="0"/>
              <a:t>49</a:t>
            </a:fld>
            <a:endParaRPr lang="en-US" dirty="0"/>
          </a:p>
        </p:txBody>
      </p:sp>
      <p:sp>
        <p:nvSpPr>
          <p:cNvPr id="4" name="Content Placeholder 3">
            <a:extLst>
              <a:ext uri="{FF2B5EF4-FFF2-40B4-BE49-F238E27FC236}">
                <a16:creationId xmlns:a16="http://schemas.microsoft.com/office/drawing/2014/main" id="{DFDBBA6F-A6FF-954D-2438-6F289E7378F2}"/>
              </a:ext>
            </a:extLst>
          </p:cNvPr>
          <p:cNvSpPr>
            <a:spLocks noGrp="1"/>
          </p:cNvSpPr>
          <p:nvPr>
            <p:ph sz="quarter" idx="1"/>
          </p:nvPr>
        </p:nvSpPr>
        <p:spPr/>
        <p:txBody>
          <a:bodyPr/>
          <a:lstStyle/>
          <a:p>
            <a:pPr algn="just">
              <a:spcBef>
                <a:spcPts val="0"/>
              </a:spcBef>
            </a:pPr>
            <a:r>
              <a:rPr lang="en-US" dirty="0"/>
              <a:t>Architectures such as GPT-3 are also significantly larger than the original transformer model.</a:t>
            </a:r>
          </a:p>
          <a:p>
            <a:pPr algn="just">
              <a:spcBef>
                <a:spcPts val="0"/>
              </a:spcBef>
            </a:pPr>
            <a:endParaRPr lang="en-US" dirty="0"/>
          </a:p>
          <a:p>
            <a:pPr algn="just">
              <a:spcBef>
                <a:spcPts val="0"/>
              </a:spcBef>
            </a:pPr>
            <a:r>
              <a:rPr lang="en-US" dirty="0"/>
              <a:t>For instance, the original transformer repeated the encoder and decoder blocks six times.</a:t>
            </a:r>
          </a:p>
          <a:p>
            <a:pPr algn="just">
              <a:spcBef>
                <a:spcPts val="0"/>
              </a:spcBef>
            </a:pPr>
            <a:endParaRPr lang="en-US" dirty="0"/>
          </a:p>
          <a:p>
            <a:pPr algn="just">
              <a:spcBef>
                <a:spcPts val="0"/>
              </a:spcBef>
            </a:pPr>
            <a:r>
              <a:rPr lang="en-US" dirty="0"/>
              <a:t>GPT-3 has 96 transformer layers and 175 billion parameters in total.</a:t>
            </a:r>
          </a:p>
          <a:p>
            <a:pPr algn="just"/>
            <a:endParaRPr lang="en-US" dirty="0"/>
          </a:p>
        </p:txBody>
      </p:sp>
    </p:spTree>
    <p:extLst>
      <p:ext uri="{BB962C8B-B14F-4D97-AF65-F5344CB8AC3E}">
        <p14:creationId xmlns:p14="http://schemas.microsoft.com/office/powerpoint/2010/main" val="426387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ED5E0-7352-3BFE-CF48-341460884D86}"/>
              </a:ext>
            </a:extLst>
          </p:cNvPr>
          <p:cNvSpPr>
            <a:spLocks noGrp="1"/>
          </p:cNvSpPr>
          <p:nvPr>
            <p:ph type="title"/>
          </p:nvPr>
        </p:nvSpPr>
        <p:spPr/>
        <p:txBody>
          <a:bodyPr/>
          <a:lstStyle/>
          <a:p>
            <a:r>
              <a:rPr lang="en-US" dirty="0"/>
              <a:t>GPT-3 was introduced in 2020</a:t>
            </a:r>
          </a:p>
        </p:txBody>
      </p:sp>
      <p:sp>
        <p:nvSpPr>
          <p:cNvPr id="3" name="Slide Number Placeholder 2">
            <a:extLst>
              <a:ext uri="{FF2B5EF4-FFF2-40B4-BE49-F238E27FC236}">
                <a16:creationId xmlns:a16="http://schemas.microsoft.com/office/drawing/2014/main" id="{F8526E0F-2F20-B19F-452A-AFC75678C4EA}"/>
              </a:ext>
            </a:extLst>
          </p:cNvPr>
          <p:cNvSpPr>
            <a:spLocks noGrp="1"/>
          </p:cNvSpPr>
          <p:nvPr>
            <p:ph type="sldNum" sz="quarter" idx="12"/>
          </p:nvPr>
        </p:nvSpPr>
        <p:spPr/>
        <p:txBody>
          <a:bodyPr>
            <a:normAutofit fontScale="85000" lnSpcReduction="20000"/>
          </a:bodyPr>
          <a:lstStyle/>
          <a:p>
            <a:fld id="{EBFB1032-EA64-7144-B003-9BCC9D94B503}" type="slidenum">
              <a:rPr lang="en-US" smtClean="0"/>
              <a:t>50</a:t>
            </a:fld>
            <a:endParaRPr lang="en-US" dirty="0"/>
          </a:p>
        </p:txBody>
      </p:sp>
      <p:sp>
        <p:nvSpPr>
          <p:cNvPr id="4" name="Content Placeholder 3">
            <a:extLst>
              <a:ext uri="{FF2B5EF4-FFF2-40B4-BE49-F238E27FC236}">
                <a16:creationId xmlns:a16="http://schemas.microsoft.com/office/drawing/2014/main" id="{87D3E209-49B1-C7D7-A287-59FE9CCE0FFA}"/>
              </a:ext>
            </a:extLst>
          </p:cNvPr>
          <p:cNvSpPr>
            <a:spLocks noGrp="1"/>
          </p:cNvSpPr>
          <p:nvPr>
            <p:ph sz="quarter" idx="1"/>
          </p:nvPr>
        </p:nvSpPr>
        <p:spPr/>
        <p:txBody>
          <a:bodyPr/>
          <a:lstStyle/>
          <a:p>
            <a:pPr algn="just"/>
            <a:r>
              <a:rPr lang="en-US" dirty="0"/>
              <a:t>GPT-3 was introduced in 2020, which, by the standards of deep learning and large language model development, is considered a long time ago. </a:t>
            </a:r>
          </a:p>
          <a:p>
            <a:pPr algn="just"/>
            <a:endParaRPr lang="en-US" dirty="0"/>
          </a:p>
          <a:p>
            <a:pPr algn="just"/>
            <a:r>
              <a:rPr lang="en-US" dirty="0"/>
              <a:t>However, more recent architectures, such as Meta’s </a:t>
            </a:r>
            <a:r>
              <a:rPr lang="en-US" dirty="0" err="1"/>
              <a:t>LLaMa</a:t>
            </a:r>
            <a:r>
              <a:rPr lang="en-US" dirty="0"/>
              <a:t> models, are still based on the same underlying concepts, introducing only minor modifications.</a:t>
            </a:r>
          </a:p>
          <a:p>
            <a:pPr algn="just"/>
            <a:endParaRPr lang="en-US" dirty="0"/>
          </a:p>
          <a:p>
            <a:pPr algn="just"/>
            <a:r>
              <a:rPr lang="en-US" dirty="0"/>
              <a:t>Hence, understanding GPT remains as relevant as ever, so we focus on implementing the prominent architecture behind GPT while providing pointers to specific tweaks employed by alternative LLMs.</a:t>
            </a:r>
          </a:p>
        </p:txBody>
      </p:sp>
    </p:spTree>
    <p:extLst>
      <p:ext uri="{BB962C8B-B14F-4D97-AF65-F5344CB8AC3E}">
        <p14:creationId xmlns:p14="http://schemas.microsoft.com/office/powerpoint/2010/main" val="13484291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CB0E7-C31A-78E4-6A33-E5789EC85359}"/>
              </a:ext>
            </a:extLst>
          </p:cNvPr>
          <p:cNvSpPr>
            <a:spLocks noGrp="1"/>
          </p:cNvSpPr>
          <p:nvPr>
            <p:ph type="title"/>
          </p:nvPr>
        </p:nvSpPr>
        <p:spPr/>
        <p:txBody>
          <a:bodyPr>
            <a:noAutofit/>
          </a:bodyPr>
          <a:lstStyle/>
          <a:p>
            <a:r>
              <a:rPr lang="en-US" sz="3100" b="0" dirty="0"/>
              <a:t>GPT models are also capable of performing translation tasks</a:t>
            </a:r>
          </a:p>
        </p:txBody>
      </p:sp>
      <p:sp>
        <p:nvSpPr>
          <p:cNvPr id="3" name="Slide Number Placeholder 2">
            <a:extLst>
              <a:ext uri="{FF2B5EF4-FFF2-40B4-BE49-F238E27FC236}">
                <a16:creationId xmlns:a16="http://schemas.microsoft.com/office/drawing/2014/main" id="{A18DE9E3-DEA2-77D4-68A9-5183DBB974AB}"/>
              </a:ext>
            </a:extLst>
          </p:cNvPr>
          <p:cNvSpPr>
            <a:spLocks noGrp="1"/>
          </p:cNvSpPr>
          <p:nvPr>
            <p:ph type="sldNum" sz="quarter" idx="12"/>
          </p:nvPr>
        </p:nvSpPr>
        <p:spPr/>
        <p:txBody>
          <a:bodyPr>
            <a:normAutofit fontScale="85000" lnSpcReduction="20000"/>
          </a:bodyPr>
          <a:lstStyle/>
          <a:p>
            <a:fld id="{EBFB1032-EA64-7144-B003-9BCC9D94B503}" type="slidenum">
              <a:rPr lang="en-US" smtClean="0"/>
              <a:t>51</a:t>
            </a:fld>
            <a:endParaRPr lang="en-US" dirty="0"/>
          </a:p>
        </p:txBody>
      </p:sp>
      <p:sp>
        <p:nvSpPr>
          <p:cNvPr id="4" name="Content Placeholder 3">
            <a:extLst>
              <a:ext uri="{FF2B5EF4-FFF2-40B4-BE49-F238E27FC236}">
                <a16:creationId xmlns:a16="http://schemas.microsoft.com/office/drawing/2014/main" id="{1C0DE512-2F06-40E5-A264-6AEC56C4BCF1}"/>
              </a:ext>
            </a:extLst>
          </p:cNvPr>
          <p:cNvSpPr>
            <a:spLocks noGrp="1"/>
          </p:cNvSpPr>
          <p:nvPr>
            <p:ph sz="quarter" idx="1"/>
          </p:nvPr>
        </p:nvSpPr>
        <p:spPr/>
        <p:txBody>
          <a:bodyPr/>
          <a:lstStyle/>
          <a:p>
            <a:pPr algn="just"/>
            <a:r>
              <a:rPr lang="en-US" dirty="0"/>
              <a:t>Although the original transformer model, consisting of encoder and decoder blocks, was explicitly designed for language translation, GPT models are also capable of performing translation tasks despite their larger yet simpler decoder-only architecture aimed at next-word prediction.</a:t>
            </a:r>
          </a:p>
          <a:p>
            <a:pPr algn="just"/>
            <a:endParaRPr lang="en-US" dirty="0"/>
          </a:p>
          <a:p>
            <a:pPr algn="just"/>
            <a:r>
              <a:rPr lang="en-US" dirty="0"/>
              <a:t>This capability was initially unexpected to researchers, as it emerged from a model primarily trained on a next-word prediction task, which is a task that did not specifically target translation.</a:t>
            </a:r>
          </a:p>
        </p:txBody>
      </p:sp>
    </p:spTree>
    <p:extLst>
      <p:ext uri="{BB962C8B-B14F-4D97-AF65-F5344CB8AC3E}">
        <p14:creationId xmlns:p14="http://schemas.microsoft.com/office/powerpoint/2010/main" val="33191205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3E517-053A-F7CA-E4B6-CBAD771D13EA}"/>
              </a:ext>
            </a:extLst>
          </p:cNvPr>
          <p:cNvSpPr>
            <a:spLocks noGrp="1"/>
          </p:cNvSpPr>
          <p:nvPr>
            <p:ph type="title"/>
          </p:nvPr>
        </p:nvSpPr>
        <p:spPr/>
        <p:txBody>
          <a:bodyPr/>
          <a:lstStyle/>
          <a:p>
            <a:r>
              <a:rPr lang="en-US" dirty="0"/>
              <a:t>Emergent Behavior</a:t>
            </a:r>
          </a:p>
        </p:txBody>
      </p:sp>
      <p:sp>
        <p:nvSpPr>
          <p:cNvPr id="3" name="Slide Number Placeholder 2">
            <a:extLst>
              <a:ext uri="{FF2B5EF4-FFF2-40B4-BE49-F238E27FC236}">
                <a16:creationId xmlns:a16="http://schemas.microsoft.com/office/drawing/2014/main" id="{125CD288-39DF-45BE-8B68-858836F8317F}"/>
              </a:ext>
            </a:extLst>
          </p:cNvPr>
          <p:cNvSpPr>
            <a:spLocks noGrp="1"/>
          </p:cNvSpPr>
          <p:nvPr>
            <p:ph type="sldNum" sz="quarter" idx="12"/>
          </p:nvPr>
        </p:nvSpPr>
        <p:spPr/>
        <p:txBody>
          <a:bodyPr>
            <a:normAutofit fontScale="85000" lnSpcReduction="20000"/>
          </a:bodyPr>
          <a:lstStyle/>
          <a:p>
            <a:fld id="{EBFB1032-EA64-7144-B003-9BCC9D94B503}" type="slidenum">
              <a:rPr lang="en-US" smtClean="0"/>
              <a:t>52</a:t>
            </a:fld>
            <a:endParaRPr lang="en-US" dirty="0"/>
          </a:p>
        </p:txBody>
      </p:sp>
      <p:sp>
        <p:nvSpPr>
          <p:cNvPr id="4" name="Content Placeholder 3">
            <a:extLst>
              <a:ext uri="{FF2B5EF4-FFF2-40B4-BE49-F238E27FC236}">
                <a16:creationId xmlns:a16="http://schemas.microsoft.com/office/drawing/2014/main" id="{B9FA4B83-1B89-B3B3-D9C6-F90B955BFD82}"/>
              </a:ext>
            </a:extLst>
          </p:cNvPr>
          <p:cNvSpPr>
            <a:spLocks noGrp="1"/>
          </p:cNvSpPr>
          <p:nvPr>
            <p:ph sz="quarter" idx="1"/>
          </p:nvPr>
        </p:nvSpPr>
        <p:spPr/>
        <p:txBody>
          <a:bodyPr>
            <a:normAutofit/>
          </a:bodyPr>
          <a:lstStyle/>
          <a:p>
            <a:pPr algn="just">
              <a:spcBef>
                <a:spcPts val="0"/>
              </a:spcBef>
            </a:pPr>
            <a:r>
              <a:rPr lang="en-US" dirty="0"/>
              <a:t>The ability to perform tasks that the model wasn’t explicitly trained to perform is called an emergent behavior.</a:t>
            </a:r>
          </a:p>
          <a:p>
            <a:pPr algn="just">
              <a:spcBef>
                <a:spcPts val="0"/>
              </a:spcBef>
            </a:pPr>
            <a:endParaRPr lang="en-US" dirty="0"/>
          </a:p>
          <a:p>
            <a:pPr algn="just">
              <a:spcBef>
                <a:spcPts val="0"/>
              </a:spcBef>
            </a:pPr>
            <a:r>
              <a:rPr lang="en-US" dirty="0"/>
              <a:t>This capability isn’t explicitly taught during training but emerges as a natural consequence of the model’s exposure to vast quantities of multilingual data in diverse contexts.</a:t>
            </a:r>
          </a:p>
          <a:p>
            <a:pPr algn="just">
              <a:spcBef>
                <a:spcPts val="0"/>
              </a:spcBef>
            </a:pPr>
            <a:endParaRPr lang="en-US" dirty="0"/>
          </a:p>
          <a:p>
            <a:pPr algn="just">
              <a:spcBef>
                <a:spcPts val="0"/>
              </a:spcBef>
            </a:pPr>
            <a:r>
              <a:rPr lang="en-US" dirty="0"/>
              <a:t>The fact that GPT models can “learn” the translation patterns between languages and perform translation tasks even though they weren’t specifically trained for it demonstrates the benefits and capabilities of these large-scale, generative language models.</a:t>
            </a:r>
          </a:p>
          <a:p>
            <a:pPr algn="just">
              <a:spcBef>
                <a:spcPts val="0"/>
              </a:spcBef>
            </a:pPr>
            <a:endParaRPr lang="en-US" dirty="0"/>
          </a:p>
          <a:p>
            <a:pPr algn="just">
              <a:spcBef>
                <a:spcPts val="0"/>
              </a:spcBef>
            </a:pPr>
            <a:r>
              <a:rPr lang="en-US" dirty="0"/>
              <a:t>We can perform diverse tasks without using diverse models for each.</a:t>
            </a:r>
          </a:p>
        </p:txBody>
      </p:sp>
    </p:spTree>
    <p:extLst>
      <p:ext uri="{BB962C8B-B14F-4D97-AF65-F5344CB8AC3E}">
        <p14:creationId xmlns:p14="http://schemas.microsoft.com/office/powerpoint/2010/main" val="8095934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95EDF-71D3-1626-E642-EFA3CB36AEE6}"/>
              </a:ext>
            </a:extLst>
          </p:cNvPr>
          <p:cNvSpPr>
            <a:spLocks noGrp="1"/>
          </p:cNvSpPr>
          <p:nvPr>
            <p:ph type="title"/>
          </p:nvPr>
        </p:nvSpPr>
        <p:spPr/>
        <p:txBody>
          <a:bodyPr/>
          <a:lstStyle/>
          <a:p>
            <a:r>
              <a:rPr lang="en-US" dirty="0"/>
              <a:t>Three Stages of Coding an LLM</a:t>
            </a:r>
          </a:p>
        </p:txBody>
      </p:sp>
      <p:sp>
        <p:nvSpPr>
          <p:cNvPr id="3" name="Slide Number Placeholder 2">
            <a:extLst>
              <a:ext uri="{FF2B5EF4-FFF2-40B4-BE49-F238E27FC236}">
                <a16:creationId xmlns:a16="http://schemas.microsoft.com/office/drawing/2014/main" id="{5A06B263-77D4-4812-1DF6-59C1F42EAAF3}"/>
              </a:ext>
            </a:extLst>
          </p:cNvPr>
          <p:cNvSpPr>
            <a:spLocks noGrp="1"/>
          </p:cNvSpPr>
          <p:nvPr>
            <p:ph type="sldNum" sz="quarter" idx="12"/>
          </p:nvPr>
        </p:nvSpPr>
        <p:spPr/>
        <p:txBody>
          <a:bodyPr>
            <a:normAutofit fontScale="85000" lnSpcReduction="20000"/>
          </a:bodyPr>
          <a:lstStyle/>
          <a:p>
            <a:fld id="{EBFB1032-EA64-7144-B003-9BCC9D94B503}" type="slidenum">
              <a:rPr lang="en-US" smtClean="0"/>
              <a:t>53</a:t>
            </a:fld>
            <a:endParaRPr lang="en-US" dirty="0"/>
          </a:p>
        </p:txBody>
      </p:sp>
      <p:sp>
        <p:nvSpPr>
          <p:cNvPr id="4" name="Content Placeholder 3">
            <a:extLst>
              <a:ext uri="{FF2B5EF4-FFF2-40B4-BE49-F238E27FC236}">
                <a16:creationId xmlns:a16="http://schemas.microsoft.com/office/drawing/2014/main" id="{9011D2E7-C0D7-F1EC-6FB2-BFBB24B38520}"/>
              </a:ext>
            </a:extLst>
          </p:cNvPr>
          <p:cNvSpPr>
            <a:spLocks noGrp="1"/>
          </p:cNvSpPr>
          <p:nvPr>
            <p:ph sz="quarter" idx="1"/>
          </p:nvPr>
        </p:nvSpPr>
        <p:spPr/>
        <p:txBody>
          <a:bodyPr>
            <a:normAutofit/>
          </a:bodyPr>
          <a:lstStyle/>
          <a:p>
            <a:r>
              <a:rPr lang="en-US" sz="2300" b="1" dirty="0"/>
              <a:t>The three main stages of coding an LLM are </a:t>
            </a:r>
          </a:p>
          <a:p>
            <a:pPr lvl="1"/>
            <a:r>
              <a:rPr lang="en-US" sz="2300" dirty="0"/>
              <a:t>implementing the LLM architecture and data preparation process (stage 1)</a:t>
            </a:r>
          </a:p>
          <a:p>
            <a:pPr lvl="1"/>
            <a:r>
              <a:rPr lang="en-US" sz="2300" dirty="0"/>
              <a:t>pretraining an LLM to create a foundation model (stage 2)</a:t>
            </a:r>
          </a:p>
          <a:p>
            <a:pPr lvl="1"/>
            <a:r>
              <a:rPr lang="en-US" sz="2300" dirty="0"/>
              <a:t>fine-tuning the foundation model to become a personal assistant or text classifier (stage 3).</a:t>
            </a:r>
          </a:p>
        </p:txBody>
      </p:sp>
    </p:spTree>
    <p:extLst>
      <p:ext uri="{BB962C8B-B14F-4D97-AF65-F5344CB8AC3E}">
        <p14:creationId xmlns:p14="http://schemas.microsoft.com/office/powerpoint/2010/main" val="39520537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8FFBB5-0723-2E55-4EE2-BA170AA2C7A6}"/>
              </a:ext>
            </a:extLst>
          </p:cNvPr>
          <p:cNvSpPr>
            <a:spLocks noGrp="1"/>
          </p:cNvSpPr>
          <p:nvPr>
            <p:ph type="sldNum" sz="quarter" idx="12"/>
          </p:nvPr>
        </p:nvSpPr>
        <p:spPr/>
        <p:txBody>
          <a:bodyPr/>
          <a:lstStyle/>
          <a:p>
            <a:fld id="{EBFB1032-EA64-7144-B003-9BCC9D94B503}" type="slidenum">
              <a:rPr lang="en-US" smtClean="0"/>
              <a:t>54</a:t>
            </a:fld>
            <a:endParaRPr lang="en-US" dirty="0"/>
          </a:p>
        </p:txBody>
      </p:sp>
      <p:pic>
        <p:nvPicPr>
          <p:cNvPr id="4" name="Picture 3" descr="A diagram of a diagram&#10;&#10;AI-generated content may be incorrect.">
            <a:extLst>
              <a:ext uri="{FF2B5EF4-FFF2-40B4-BE49-F238E27FC236}">
                <a16:creationId xmlns:a16="http://schemas.microsoft.com/office/drawing/2014/main" id="{DD4D1728-C93D-0F85-D882-1B44E7C98DC5}"/>
              </a:ext>
            </a:extLst>
          </p:cNvPr>
          <p:cNvPicPr>
            <a:picLocks noChangeAspect="1"/>
          </p:cNvPicPr>
          <p:nvPr/>
        </p:nvPicPr>
        <p:blipFill>
          <a:blip r:embed="rId2"/>
          <a:stretch>
            <a:fillRect/>
          </a:stretch>
        </p:blipFill>
        <p:spPr>
          <a:xfrm>
            <a:off x="182880" y="523798"/>
            <a:ext cx="8778240" cy="4545254"/>
          </a:xfrm>
          <a:prstGeom prst="rect">
            <a:avLst/>
          </a:prstGeom>
          <a:ln>
            <a:solidFill>
              <a:schemeClr val="accent1"/>
            </a:solidFill>
          </a:ln>
        </p:spPr>
      </p:pic>
      <p:sp>
        <p:nvSpPr>
          <p:cNvPr id="7" name="TextBox 6">
            <a:extLst>
              <a:ext uri="{FF2B5EF4-FFF2-40B4-BE49-F238E27FC236}">
                <a16:creationId xmlns:a16="http://schemas.microsoft.com/office/drawing/2014/main" id="{4FF82ABC-1FC7-650B-0A7A-1D5248DE53DC}"/>
              </a:ext>
            </a:extLst>
          </p:cNvPr>
          <p:cNvSpPr txBox="1"/>
          <p:nvPr/>
        </p:nvSpPr>
        <p:spPr>
          <a:xfrm>
            <a:off x="182880" y="5239435"/>
            <a:ext cx="8778239" cy="461665"/>
          </a:xfrm>
          <a:prstGeom prst="rect">
            <a:avLst/>
          </a:prstGeom>
          <a:noFill/>
        </p:spPr>
        <p:txBody>
          <a:bodyPr wrap="square">
            <a:spAutoFit/>
          </a:bodyPr>
          <a:lstStyle/>
          <a:p>
            <a:pPr algn="ctr">
              <a:buNone/>
            </a:pPr>
            <a:r>
              <a:rPr lang="en-US" sz="2400" b="1" dirty="0">
                <a:solidFill>
                  <a:srgbClr val="0070C0"/>
                </a:solidFill>
                <a:latin typeface="Arial Narrow" panose="020B0606020202030204" pitchFamily="34" charset="0"/>
              </a:rPr>
              <a:t>Figure 1.9 The three main stages of coding an LLM</a:t>
            </a:r>
          </a:p>
        </p:txBody>
      </p:sp>
    </p:spTree>
    <p:extLst>
      <p:ext uri="{BB962C8B-B14F-4D97-AF65-F5344CB8AC3E}">
        <p14:creationId xmlns:p14="http://schemas.microsoft.com/office/powerpoint/2010/main" val="32981650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1FB26-188D-F057-F00A-56EAAA5E17EC}"/>
              </a:ext>
            </a:extLst>
          </p:cNvPr>
          <p:cNvSpPr>
            <a:spLocks noGrp="1"/>
          </p:cNvSpPr>
          <p:nvPr>
            <p:ph type="title"/>
          </p:nvPr>
        </p:nvSpPr>
        <p:spPr/>
        <p:txBody>
          <a:bodyPr/>
          <a:lstStyle/>
          <a:p>
            <a:r>
              <a:rPr lang="en-US" dirty="0"/>
              <a:t>Stages</a:t>
            </a:r>
          </a:p>
        </p:txBody>
      </p:sp>
      <p:sp>
        <p:nvSpPr>
          <p:cNvPr id="3" name="Slide Number Placeholder 2">
            <a:extLst>
              <a:ext uri="{FF2B5EF4-FFF2-40B4-BE49-F238E27FC236}">
                <a16:creationId xmlns:a16="http://schemas.microsoft.com/office/drawing/2014/main" id="{7DEFE8D6-4CA9-32F7-38DE-435555F7C4EC}"/>
              </a:ext>
            </a:extLst>
          </p:cNvPr>
          <p:cNvSpPr>
            <a:spLocks noGrp="1"/>
          </p:cNvSpPr>
          <p:nvPr>
            <p:ph type="sldNum" sz="quarter" idx="12"/>
          </p:nvPr>
        </p:nvSpPr>
        <p:spPr/>
        <p:txBody>
          <a:bodyPr>
            <a:normAutofit fontScale="85000" lnSpcReduction="20000"/>
          </a:bodyPr>
          <a:lstStyle/>
          <a:p>
            <a:fld id="{EBFB1032-EA64-7144-B003-9BCC9D94B503}" type="slidenum">
              <a:rPr lang="en-US" smtClean="0"/>
              <a:t>55</a:t>
            </a:fld>
            <a:endParaRPr lang="en-US" dirty="0"/>
          </a:p>
        </p:txBody>
      </p:sp>
      <p:sp>
        <p:nvSpPr>
          <p:cNvPr id="4" name="Content Placeholder 3">
            <a:extLst>
              <a:ext uri="{FF2B5EF4-FFF2-40B4-BE49-F238E27FC236}">
                <a16:creationId xmlns:a16="http://schemas.microsoft.com/office/drawing/2014/main" id="{7DB38989-10CC-14F8-EB00-89E148A3892B}"/>
              </a:ext>
            </a:extLst>
          </p:cNvPr>
          <p:cNvSpPr>
            <a:spLocks noGrp="1"/>
          </p:cNvSpPr>
          <p:nvPr>
            <p:ph sz="quarter" idx="1"/>
          </p:nvPr>
        </p:nvSpPr>
        <p:spPr/>
        <p:txBody>
          <a:bodyPr>
            <a:noAutofit/>
          </a:bodyPr>
          <a:lstStyle/>
          <a:p>
            <a:pPr algn="just">
              <a:spcBef>
                <a:spcPts val="0"/>
              </a:spcBef>
            </a:pPr>
            <a:r>
              <a:rPr lang="en-US" sz="2300" dirty="0">
                <a:solidFill>
                  <a:srgbClr val="0070C0"/>
                </a:solidFill>
              </a:rPr>
              <a:t>In stage 1, we will learn about the fundamental data preprocessing steps and code the attention mechanism at the heart of every LLM.</a:t>
            </a:r>
          </a:p>
          <a:p>
            <a:pPr algn="just">
              <a:spcBef>
                <a:spcPts val="0"/>
              </a:spcBef>
            </a:pPr>
            <a:r>
              <a:rPr lang="en-US" sz="2300" dirty="0">
                <a:solidFill>
                  <a:srgbClr val="C00000"/>
                </a:solidFill>
              </a:rPr>
              <a:t>Next, in stage 2, we will learn how to code and pretrain a GPT-like LLM capable of generating new texts.</a:t>
            </a:r>
          </a:p>
          <a:p>
            <a:pPr algn="just">
              <a:spcBef>
                <a:spcPts val="0"/>
              </a:spcBef>
            </a:pPr>
            <a:r>
              <a:rPr lang="en-US" sz="2300" dirty="0">
                <a:solidFill>
                  <a:srgbClr val="00B050"/>
                </a:solidFill>
              </a:rPr>
              <a:t>Finally, in stage 3, we will take a pretrained LLM and fine-tune it to follow instructions such as answering queries or classifying texts—the most common tasks in many real-world applications and research.</a:t>
            </a:r>
          </a:p>
          <a:p>
            <a:pPr algn="just">
              <a:spcBef>
                <a:spcPts val="0"/>
              </a:spcBef>
            </a:pPr>
            <a:endParaRPr lang="en-US" sz="2300" dirty="0">
              <a:solidFill>
                <a:srgbClr val="C00000"/>
              </a:solidFill>
            </a:endParaRPr>
          </a:p>
          <a:p>
            <a:pPr algn="just">
              <a:spcBef>
                <a:spcPts val="0"/>
              </a:spcBef>
            </a:pPr>
            <a:r>
              <a:rPr lang="en-US" sz="2300" dirty="0"/>
              <a:t>Pretraining an LLM from scratch is a significant endeavor, demanding thousands to millions of dollars in computing costs for GPT-like models.</a:t>
            </a:r>
          </a:p>
          <a:p>
            <a:pPr algn="just">
              <a:spcBef>
                <a:spcPts val="0"/>
              </a:spcBef>
            </a:pPr>
            <a:endParaRPr lang="en-US" sz="2300" dirty="0"/>
          </a:p>
          <a:p>
            <a:pPr algn="just">
              <a:spcBef>
                <a:spcPts val="0"/>
              </a:spcBef>
            </a:pPr>
            <a:r>
              <a:rPr lang="en-US" sz="2300" dirty="0"/>
              <a:t>Therefore, the focus of stage 2 is on implementing training for educational purposes using a small dataset.</a:t>
            </a:r>
          </a:p>
        </p:txBody>
      </p:sp>
    </p:spTree>
    <p:extLst>
      <p:ext uri="{BB962C8B-B14F-4D97-AF65-F5344CB8AC3E}">
        <p14:creationId xmlns:p14="http://schemas.microsoft.com/office/powerpoint/2010/main" val="33027904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98084-9751-DAF3-6ABB-A25DBCFD781A}"/>
              </a:ext>
            </a:extLst>
          </p:cNvPr>
          <p:cNvSpPr>
            <a:spLocks noGrp="1"/>
          </p:cNvSpPr>
          <p:nvPr>
            <p:ph type="title"/>
          </p:nvPr>
        </p:nvSpPr>
        <p:spPr/>
        <p:txBody>
          <a:bodyPr>
            <a:normAutofit/>
          </a:bodyPr>
          <a:lstStyle/>
          <a:p>
            <a:r>
              <a:rPr lang="en-US" dirty="0"/>
              <a:t>Summary</a:t>
            </a:r>
          </a:p>
        </p:txBody>
      </p:sp>
      <p:sp>
        <p:nvSpPr>
          <p:cNvPr id="3" name="Slide Number Placeholder 2">
            <a:extLst>
              <a:ext uri="{FF2B5EF4-FFF2-40B4-BE49-F238E27FC236}">
                <a16:creationId xmlns:a16="http://schemas.microsoft.com/office/drawing/2014/main" id="{F82E0509-0B00-BD03-8C47-8BA73B400194}"/>
              </a:ext>
            </a:extLst>
          </p:cNvPr>
          <p:cNvSpPr>
            <a:spLocks noGrp="1"/>
          </p:cNvSpPr>
          <p:nvPr>
            <p:ph type="sldNum" sz="quarter" idx="12"/>
          </p:nvPr>
        </p:nvSpPr>
        <p:spPr/>
        <p:txBody>
          <a:bodyPr>
            <a:normAutofit fontScale="85000" lnSpcReduction="20000"/>
          </a:bodyPr>
          <a:lstStyle/>
          <a:p>
            <a:fld id="{EBFB1032-EA64-7144-B003-9BCC9D94B503}" type="slidenum">
              <a:rPr lang="en-US" smtClean="0"/>
              <a:t>56</a:t>
            </a:fld>
            <a:endParaRPr lang="en-US" dirty="0"/>
          </a:p>
        </p:txBody>
      </p:sp>
      <p:sp>
        <p:nvSpPr>
          <p:cNvPr id="4" name="Content Placeholder 3">
            <a:extLst>
              <a:ext uri="{FF2B5EF4-FFF2-40B4-BE49-F238E27FC236}">
                <a16:creationId xmlns:a16="http://schemas.microsoft.com/office/drawing/2014/main" id="{9FF12F07-F654-D463-11F7-183F2B0B1A86}"/>
              </a:ext>
            </a:extLst>
          </p:cNvPr>
          <p:cNvSpPr>
            <a:spLocks noGrp="1"/>
          </p:cNvSpPr>
          <p:nvPr>
            <p:ph sz="quarter" idx="1"/>
          </p:nvPr>
        </p:nvSpPr>
        <p:spPr/>
        <p:txBody>
          <a:bodyPr>
            <a:noAutofit/>
          </a:bodyPr>
          <a:lstStyle/>
          <a:p>
            <a:pPr algn="just">
              <a:lnSpc>
                <a:spcPct val="85000"/>
              </a:lnSpc>
              <a:spcBef>
                <a:spcPts val="0"/>
              </a:spcBef>
            </a:pPr>
            <a:r>
              <a:rPr lang="en-US" dirty="0"/>
              <a:t> LLMs have transformed the field of natural language processing, which previously mostly relied on explicit rule-based systems and simpler statistical methods.</a:t>
            </a:r>
          </a:p>
          <a:p>
            <a:pPr algn="just">
              <a:lnSpc>
                <a:spcPct val="85000"/>
              </a:lnSpc>
              <a:spcBef>
                <a:spcPts val="0"/>
              </a:spcBef>
            </a:pPr>
            <a:endParaRPr lang="en-US" dirty="0"/>
          </a:p>
          <a:p>
            <a:pPr algn="just">
              <a:lnSpc>
                <a:spcPct val="85000"/>
              </a:lnSpc>
              <a:spcBef>
                <a:spcPts val="0"/>
              </a:spcBef>
            </a:pPr>
            <a:r>
              <a:rPr lang="en-US" dirty="0"/>
              <a:t>The advent of LLMs introduced new deep learning-driven approaches that led to advancements in understanding, generating, and translating human language.</a:t>
            </a:r>
          </a:p>
          <a:p>
            <a:pPr algn="just">
              <a:lnSpc>
                <a:spcPct val="85000"/>
              </a:lnSpc>
              <a:spcBef>
                <a:spcPts val="0"/>
              </a:spcBef>
            </a:pPr>
            <a:endParaRPr lang="en-US" dirty="0"/>
          </a:p>
          <a:p>
            <a:pPr algn="just">
              <a:lnSpc>
                <a:spcPct val="85000"/>
              </a:lnSpc>
              <a:spcBef>
                <a:spcPts val="0"/>
              </a:spcBef>
            </a:pPr>
            <a:r>
              <a:rPr lang="en-US" dirty="0"/>
              <a:t>Modern LLMs are trained in two main steps:</a:t>
            </a:r>
          </a:p>
          <a:p>
            <a:pPr lvl="1" algn="just">
              <a:lnSpc>
                <a:spcPct val="85000"/>
              </a:lnSpc>
              <a:spcBef>
                <a:spcPts val="0"/>
              </a:spcBef>
            </a:pPr>
            <a:r>
              <a:rPr lang="en-US" dirty="0"/>
              <a:t>First, they are pretrained on a large corpus of unlabeled text by using the prediction of the next word in a sentence as a label.</a:t>
            </a:r>
          </a:p>
          <a:p>
            <a:pPr lvl="1" algn="just">
              <a:lnSpc>
                <a:spcPct val="85000"/>
              </a:lnSpc>
              <a:spcBef>
                <a:spcPts val="0"/>
              </a:spcBef>
            </a:pPr>
            <a:r>
              <a:rPr lang="en-US" dirty="0"/>
              <a:t>Then, they are fine-tuned on a smaller, labeled target dataset to follow instructions or perform classification tasks.</a:t>
            </a:r>
          </a:p>
          <a:p>
            <a:pPr algn="just">
              <a:lnSpc>
                <a:spcPct val="85000"/>
              </a:lnSpc>
              <a:spcBef>
                <a:spcPts val="0"/>
              </a:spcBef>
            </a:pPr>
            <a:endParaRPr lang="en-US" dirty="0"/>
          </a:p>
          <a:p>
            <a:pPr>
              <a:lnSpc>
                <a:spcPct val="85000"/>
              </a:lnSpc>
              <a:spcBef>
                <a:spcPts val="0"/>
              </a:spcBef>
            </a:pPr>
            <a:endParaRPr lang="en-US" sz="2200" dirty="0"/>
          </a:p>
        </p:txBody>
      </p:sp>
    </p:spTree>
    <p:extLst>
      <p:ext uri="{BB962C8B-B14F-4D97-AF65-F5344CB8AC3E}">
        <p14:creationId xmlns:p14="http://schemas.microsoft.com/office/powerpoint/2010/main" val="216836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64B48-03F5-977E-5C72-404DF817D229}"/>
              </a:ext>
            </a:extLst>
          </p:cNvPr>
          <p:cNvSpPr>
            <a:spLocks noGrp="1"/>
          </p:cNvSpPr>
          <p:nvPr>
            <p:ph type="title"/>
          </p:nvPr>
        </p:nvSpPr>
        <p:spPr/>
        <p:txBody>
          <a:bodyPr>
            <a:normAutofit/>
          </a:bodyPr>
          <a:lstStyle/>
          <a:p>
            <a:r>
              <a:rPr lang="en-US" dirty="0"/>
              <a:t>Summary – Cont’d</a:t>
            </a:r>
          </a:p>
        </p:txBody>
      </p:sp>
      <p:sp>
        <p:nvSpPr>
          <p:cNvPr id="3" name="Slide Number Placeholder 2">
            <a:extLst>
              <a:ext uri="{FF2B5EF4-FFF2-40B4-BE49-F238E27FC236}">
                <a16:creationId xmlns:a16="http://schemas.microsoft.com/office/drawing/2014/main" id="{2E244B21-3A80-337A-98CF-9E053D32FCF0}"/>
              </a:ext>
            </a:extLst>
          </p:cNvPr>
          <p:cNvSpPr>
            <a:spLocks noGrp="1"/>
          </p:cNvSpPr>
          <p:nvPr>
            <p:ph type="sldNum" sz="quarter" idx="12"/>
          </p:nvPr>
        </p:nvSpPr>
        <p:spPr/>
        <p:txBody>
          <a:bodyPr>
            <a:normAutofit fontScale="85000" lnSpcReduction="20000"/>
          </a:bodyPr>
          <a:lstStyle/>
          <a:p>
            <a:fld id="{EBFB1032-EA64-7144-B003-9BCC9D94B503}" type="slidenum">
              <a:rPr lang="en-US" smtClean="0"/>
              <a:t>57</a:t>
            </a:fld>
            <a:endParaRPr lang="en-US" dirty="0"/>
          </a:p>
        </p:txBody>
      </p:sp>
      <p:sp>
        <p:nvSpPr>
          <p:cNvPr id="4" name="Content Placeholder 3">
            <a:extLst>
              <a:ext uri="{FF2B5EF4-FFF2-40B4-BE49-F238E27FC236}">
                <a16:creationId xmlns:a16="http://schemas.microsoft.com/office/drawing/2014/main" id="{ABDF5B7D-E13E-34AD-DC0D-7905315330BE}"/>
              </a:ext>
            </a:extLst>
          </p:cNvPr>
          <p:cNvSpPr>
            <a:spLocks noGrp="1"/>
          </p:cNvSpPr>
          <p:nvPr>
            <p:ph sz="quarter" idx="1"/>
          </p:nvPr>
        </p:nvSpPr>
        <p:spPr/>
        <p:txBody>
          <a:bodyPr>
            <a:noAutofit/>
          </a:bodyPr>
          <a:lstStyle/>
          <a:p>
            <a:pPr algn="just">
              <a:lnSpc>
                <a:spcPct val="85000"/>
              </a:lnSpc>
              <a:spcBef>
                <a:spcPts val="0"/>
              </a:spcBef>
            </a:pPr>
            <a:r>
              <a:rPr lang="en-US" dirty="0"/>
              <a:t> LLMs are based on the transformer architecture.</a:t>
            </a:r>
          </a:p>
          <a:p>
            <a:pPr lvl="1" algn="just">
              <a:lnSpc>
                <a:spcPct val="85000"/>
              </a:lnSpc>
              <a:spcBef>
                <a:spcPts val="0"/>
              </a:spcBef>
            </a:pPr>
            <a:r>
              <a:rPr lang="en-US" dirty="0"/>
              <a:t>The key idea of the transformer architecture is an attention mechanism that gives the LLM selective access to the whole input sequence when generating the output one word at a time.</a:t>
            </a:r>
          </a:p>
          <a:p>
            <a:pPr lvl="1" algn="just">
              <a:lnSpc>
                <a:spcPct val="85000"/>
              </a:lnSpc>
              <a:spcBef>
                <a:spcPts val="0"/>
              </a:spcBef>
            </a:pPr>
            <a:endParaRPr lang="en-US" dirty="0"/>
          </a:p>
          <a:p>
            <a:pPr algn="just">
              <a:lnSpc>
                <a:spcPct val="85000"/>
              </a:lnSpc>
              <a:spcBef>
                <a:spcPts val="0"/>
              </a:spcBef>
            </a:pPr>
            <a:r>
              <a:rPr lang="en-US" dirty="0"/>
              <a:t>The original transformer architecture consists of an encoder for parsing text and a decoder for generating text.</a:t>
            </a:r>
          </a:p>
          <a:p>
            <a:pPr algn="just">
              <a:lnSpc>
                <a:spcPct val="85000"/>
              </a:lnSpc>
              <a:spcBef>
                <a:spcPts val="0"/>
              </a:spcBef>
            </a:pPr>
            <a:endParaRPr lang="en-US" dirty="0"/>
          </a:p>
          <a:p>
            <a:pPr algn="just">
              <a:lnSpc>
                <a:spcPct val="85000"/>
              </a:lnSpc>
              <a:spcBef>
                <a:spcPts val="0"/>
              </a:spcBef>
            </a:pPr>
            <a:r>
              <a:rPr lang="en-US" dirty="0"/>
              <a:t>LLMs for generating text and following instructions, such as GPT-3 and ChatGPT, only implement decoder modules, simplifying the architecture. </a:t>
            </a:r>
          </a:p>
        </p:txBody>
      </p:sp>
    </p:spTree>
    <p:extLst>
      <p:ext uri="{BB962C8B-B14F-4D97-AF65-F5344CB8AC3E}">
        <p14:creationId xmlns:p14="http://schemas.microsoft.com/office/powerpoint/2010/main" val="22982526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B27DE-74D3-976B-A561-65764DE0DB5D}"/>
              </a:ext>
            </a:extLst>
          </p:cNvPr>
          <p:cNvSpPr>
            <a:spLocks noGrp="1"/>
          </p:cNvSpPr>
          <p:nvPr>
            <p:ph type="title"/>
          </p:nvPr>
        </p:nvSpPr>
        <p:spPr/>
        <p:txBody>
          <a:bodyPr/>
          <a:lstStyle/>
          <a:p>
            <a:r>
              <a:rPr lang="en-US" dirty="0"/>
              <a:t>Summary – Cont’d</a:t>
            </a:r>
          </a:p>
        </p:txBody>
      </p:sp>
      <p:sp>
        <p:nvSpPr>
          <p:cNvPr id="3" name="Slide Number Placeholder 2">
            <a:extLst>
              <a:ext uri="{FF2B5EF4-FFF2-40B4-BE49-F238E27FC236}">
                <a16:creationId xmlns:a16="http://schemas.microsoft.com/office/drawing/2014/main" id="{F3DEC1C5-E600-7485-2CAB-4E3B5D5DF6D2}"/>
              </a:ext>
            </a:extLst>
          </p:cNvPr>
          <p:cNvSpPr>
            <a:spLocks noGrp="1"/>
          </p:cNvSpPr>
          <p:nvPr>
            <p:ph type="sldNum" sz="quarter" idx="12"/>
          </p:nvPr>
        </p:nvSpPr>
        <p:spPr/>
        <p:txBody>
          <a:bodyPr>
            <a:normAutofit fontScale="85000" lnSpcReduction="20000"/>
          </a:bodyPr>
          <a:lstStyle/>
          <a:p>
            <a:fld id="{EBFB1032-EA64-7144-B003-9BCC9D94B503}" type="slidenum">
              <a:rPr lang="en-US" smtClean="0"/>
              <a:t>58</a:t>
            </a:fld>
            <a:endParaRPr lang="en-US" dirty="0"/>
          </a:p>
        </p:txBody>
      </p:sp>
      <p:sp>
        <p:nvSpPr>
          <p:cNvPr id="4" name="Content Placeholder 3">
            <a:extLst>
              <a:ext uri="{FF2B5EF4-FFF2-40B4-BE49-F238E27FC236}">
                <a16:creationId xmlns:a16="http://schemas.microsoft.com/office/drawing/2014/main" id="{D7198E25-B8DF-569F-0AC1-3E6DD70FAD1E}"/>
              </a:ext>
            </a:extLst>
          </p:cNvPr>
          <p:cNvSpPr>
            <a:spLocks noGrp="1"/>
          </p:cNvSpPr>
          <p:nvPr>
            <p:ph sz="quarter" idx="1"/>
          </p:nvPr>
        </p:nvSpPr>
        <p:spPr/>
        <p:txBody>
          <a:bodyPr/>
          <a:lstStyle/>
          <a:p>
            <a:pPr algn="just">
              <a:lnSpc>
                <a:spcPct val="85000"/>
              </a:lnSpc>
              <a:spcBef>
                <a:spcPts val="0"/>
              </a:spcBef>
            </a:pPr>
            <a:r>
              <a:rPr lang="en-US" dirty="0"/>
              <a:t>Large datasets consisting of billions of words are essential for pretraining LLMs.</a:t>
            </a:r>
          </a:p>
          <a:p>
            <a:pPr algn="just">
              <a:lnSpc>
                <a:spcPct val="85000"/>
              </a:lnSpc>
              <a:spcBef>
                <a:spcPts val="0"/>
              </a:spcBef>
            </a:pPr>
            <a:endParaRPr lang="en-US" dirty="0"/>
          </a:p>
          <a:p>
            <a:pPr algn="just">
              <a:lnSpc>
                <a:spcPct val="85000"/>
              </a:lnSpc>
              <a:spcBef>
                <a:spcPts val="0"/>
              </a:spcBef>
            </a:pPr>
            <a:r>
              <a:rPr lang="en-US" dirty="0"/>
              <a:t>While the general pretraining task for GPT-like models is to predict the next word in a sentence, these LLMs exhibit emergent properties, such as capabilities to classify, translate, or summarize texts.</a:t>
            </a:r>
          </a:p>
          <a:p>
            <a:pPr algn="just">
              <a:lnSpc>
                <a:spcPct val="85000"/>
              </a:lnSpc>
              <a:spcBef>
                <a:spcPts val="0"/>
              </a:spcBef>
            </a:pPr>
            <a:endParaRPr lang="en-US" dirty="0"/>
          </a:p>
          <a:p>
            <a:pPr algn="just">
              <a:lnSpc>
                <a:spcPct val="85000"/>
              </a:lnSpc>
              <a:spcBef>
                <a:spcPts val="0"/>
              </a:spcBef>
            </a:pPr>
            <a:r>
              <a:rPr lang="en-US" dirty="0"/>
              <a:t>Once an LLM is pretrained, the resulting foundation model can be fine-tuned more efficiently for various downstream </a:t>
            </a:r>
            <a:r>
              <a:rPr lang="en-US"/>
              <a:t>tasks.</a:t>
            </a:r>
          </a:p>
          <a:p>
            <a:pPr algn="just">
              <a:lnSpc>
                <a:spcPct val="85000"/>
              </a:lnSpc>
              <a:spcBef>
                <a:spcPts val="0"/>
              </a:spcBef>
            </a:pPr>
            <a:endParaRPr lang="en-US" dirty="0"/>
          </a:p>
          <a:p>
            <a:pPr algn="just">
              <a:lnSpc>
                <a:spcPct val="85000"/>
              </a:lnSpc>
              <a:spcBef>
                <a:spcPts val="0"/>
              </a:spcBef>
            </a:pPr>
            <a:r>
              <a:rPr lang="en-US" dirty="0"/>
              <a:t>LLMs fine-tuned on custom datasets can outperform general LLMs on specific tasks.</a:t>
            </a:r>
          </a:p>
        </p:txBody>
      </p:sp>
    </p:spTree>
    <p:extLst>
      <p:ext uri="{BB962C8B-B14F-4D97-AF65-F5344CB8AC3E}">
        <p14:creationId xmlns:p14="http://schemas.microsoft.com/office/powerpoint/2010/main" val="8633532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Facet</Template>
  <TotalTime>16299</TotalTime>
  <Words>5092</Words>
  <Application>Microsoft Office PowerPoint</Application>
  <PresentationFormat>On-screen Show (4:3)</PresentationFormat>
  <Paragraphs>404</Paragraphs>
  <Slides>58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Arial Narrow</vt:lpstr>
      <vt:lpstr>Calibri</vt:lpstr>
      <vt:lpstr>Tw Cen MT</vt:lpstr>
      <vt:lpstr>Wingdings</vt:lpstr>
      <vt:lpstr>Wingdings 2</vt:lpstr>
      <vt:lpstr>Median</vt:lpstr>
      <vt:lpstr>LLM</vt:lpstr>
      <vt:lpstr>LLMs generate and interpret human language</vt:lpstr>
      <vt:lpstr>LLMs are trained on vast quantities of text data.</vt:lpstr>
      <vt:lpstr>NLP models were typically designed for specific tasks</vt:lpstr>
      <vt:lpstr>What is an LLM?</vt:lpstr>
      <vt:lpstr>The “large” in “Large Language Model”</vt:lpstr>
      <vt:lpstr>Transformer</vt:lpstr>
      <vt:lpstr>Hierarchical Relationship</vt:lpstr>
      <vt:lpstr>The algorithms used to implement AI are the focus of the field of machine learning</vt:lpstr>
      <vt:lpstr>Deep Learning is a subset of Machine Learning</vt:lpstr>
      <vt:lpstr>Deep learning does not require manual feature extraction</vt:lpstr>
      <vt:lpstr>Applications of LLMs</vt:lpstr>
      <vt:lpstr>Cont’d</vt:lpstr>
      <vt:lpstr>PowerPoint Presentation</vt:lpstr>
      <vt:lpstr>LLMs for parsing and generating text</vt:lpstr>
      <vt:lpstr>Stages of building and using LLMs</vt:lpstr>
      <vt:lpstr>Custom-built LLMs can outperform general-purpose LLMs</vt:lpstr>
      <vt:lpstr>Using custom-built LLMs offers several advantages</vt:lpstr>
      <vt:lpstr>Pretraining and Fine-tuning</vt:lpstr>
      <vt:lpstr>PowerPoint Presentation</vt:lpstr>
      <vt:lpstr>The first step in creating an LLM is to train it on raw text</vt:lpstr>
      <vt:lpstr>Foundation Model</vt:lpstr>
      <vt:lpstr>Fine-tuning</vt:lpstr>
      <vt:lpstr>Introducing the transformer architecture</vt:lpstr>
      <vt:lpstr>Figure 1.4 The Original Transformer Architecture</vt:lpstr>
      <vt:lpstr>Submodules</vt:lpstr>
      <vt:lpstr>Self-attention mechanism</vt:lpstr>
      <vt:lpstr>BERT</vt:lpstr>
      <vt:lpstr>Figure 1.5 Transformer’s encoder and decoder submodules</vt:lpstr>
      <vt:lpstr>GPT focuses on the decoder portion</vt:lpstr>
      <vt:lpstr>Learning Tasks</vt:lpstr>
      <vt:lpstr>Figure 1.6 GPT-like LLMs can solve various tasks</vt:lpstr>
      <vt:lpstr>Transformers vs. LLMs</vt:lpstr>
      <vt:lpstr>Utilizing large datasets</vt:lpstr>
      <vt:lpstr>PowerPoint Presentation</vt:lpstr>
      <vt:lpstr>Tokenization</vt:lpstr>
      <vt:lpstr>GPT-3 dataset details</vt:lpstr>
      <vt:lpstr>CommonCrawl dataset</vt:lpstr>
      <vt:lpstr>Training Dataset</vt:lpstr>
      <vt:lpstr>Foundation Models</vt:lpstr>
      <vt:lpstr>Open Source Models</vt:lpstr>
      <vt:lpstr>Pretraining Code</vt:lpstr>
      <vt:lpstr>A closer look at the GPT architecture</vt:lpstr>
      <vt:lpstr>InstructGPT</vt:lpstr>
      <vt:lpstr>Figure 1.7 Next-word prediction pretraining task</vt:lpstr>
      <vt:lpstr>The next-word prediction task</vt:lpstr>
      <vt:lpstr>The general GPT architecture is relatively simple</vt:lpstr>
      <vt:lpstr>PowerPoint Presentation</vt:lpstr>
      <vt:lpstr>GPT-3 is larger than the original transformer model</vt:lpstr>
      <vt:lpstr>GPT-3 was introduced in 2020</vt:lpstr>
      <vt:lpstr>GPT models are also capable of performing translation tasks</vt:lpstr>
      <vt:lpstr>Emergent Behavior</vt:lpstr>
      <vt:lpstr>Three Stages of Coding an LLM</vt:lpstr>
      <vt:lpstr>PowerPoint Presentation</vt:lpstr>
      <vt:lpstr>Stages</vt:lpstr>
      <vt:lpstr>Summary</vt:lpstr>
      <vt:lpstr>Summary – Cont’d</vt:lpstr>
      <vt:lpstr>Summary – Cont’d</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Eltabakh</dc:creator>
  <cp:lastModifiedBy>Ozbek, Yusuf</cp:lastModifiedBy>
  <cp:revision>1045</cp:revision>
  <dcterms:created xsi:type="dcterms:W3CDTF">2013-01-13T20:33:29Z</dcterms:created>
  <dcterms:modified xsi:type="dcterms:W3CDTF">2025-08-25T22:44:11Z</dcterms:modified>
</cp:coreProperties>
</file>