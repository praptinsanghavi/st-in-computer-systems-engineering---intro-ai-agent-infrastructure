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FB9"/>
    <a:srgbClr val="FFF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9761D-1F95-3B4C-BE9C-CDD1389A881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DCD51-711A-044D-9B2C-C47F74A9A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9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5A596-FA52-0448-9C24-EA3FEFB30C0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5791-7364-9E4F-986D-297FD347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9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F164A81-75B2-194C-A843-C64EC5C16B3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5" y="228600"/>
            <a:ext cx="8943473" cy="990600"/>
          </a:xfrm>
        </p:spPr>
        <p:txBody>
          <a:bodyPr>
            <a:normAutofit/>
          </a:bodyPr>
          <a:lstStyle>
            <a:lvl1pPr>
              <a:defRPr sz="3800" b="1">
                <a:latin typeface="Arial Narrow" panose="020B060602020203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0315" y="1600200"/>
            <a:ext cx="8943473" cy="5153526"/>
          </a:xfrm>
        </p:spPr>
        <p:txBody>
          <a:bodyPr>
            <a:normAutofit/>
          </a:bodyPr>
          <a:lstStyle>
            <a:lvl1pPr>
              <a:defRPr sz="2400">
                <a:latin typeface="Arial Narrow" panose="020B0606020202030204" pitchFamily="34" charset="0"/>
              </a:defRPr>
            </a:lvl1pPr>
            <a:lvl2pPr>
              <a:defRPr sz="2400">
                <a:latin typeface="Arial Narrow" panose="020B0606020202030204" pitchFamily="34" charset="0"/>
              </a:defRPr>
            </a:lvl2pPr>
            <a:lvl3pPr>
              <a:defRPr sz="2400">
                <a:latin typeface="Arial Narrow" panose="020B0606020202030204" pitchFamily="34" charset="0"/>
              </a:defRPr>
            </a:lvl3pPr>
            <a:lvl4pPr>
              <a:defRPr sz="2400">
                <a:latin typeface="Arial Narrow" panose="020B0606020202030204" pitchFamily="34" charset="0"/>
              </a:defRPr>
            </a:lvl4pPr>
            <a:lvl5pPr>
              <a:defRPr sz="2400">
                <a:latin typeface="Arial Narrow" panose="020B0606020202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0D79-2A23-4C40-804A-C01F394F0C7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674B835-C713-9846-B110-24995DE671E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0393BC9-E94F-5B47-BD76-EECA0CBE7CA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308A2-EBB5-744B-B5B4-7699A7EC7B9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72E7-27FD-CA40-8E81-E7A5851A1F0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C8EB-B6A2-A747-83AD-60E35A0235F5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D6682E5-7E97-2F44-B961-B3631B15779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67E5-F24F-664E-AC9C-26173D2CF6BA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5DF139F-CB8F-D149-BA56-8B0C015E502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01931" y="1189175"/>
            <a:ext cx="4033911" cy="1736309"/>
          </a:xfrm>
        </p:spPr>
        <p:txBody>
          <a:bodyPr wrap="square">
            <a:spAutoFit/>
          </a:bodyPr>
          <a:lstStyle>
            <a:lvl1pPr marL="0" indent="0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defRPr sz="2353"/>
            </a:lvl1pPr>
            <a:lvl2pPr marL="0" indent="0">
              <a:buNone/>
              <a:defRPr sz="1471"/>
            </a:lvl2pPr>
            <a:lvl3pPr marL="170407" indent="0">
              <a:buNone/>
              <a:tabLst/>
              <a:defRPr sz="1471"/>
            </a:lvl3pPr>
            <a:lvl4pPr marL="338480" indent="0">
              <a:buNone/>
              <a:defRPr/>
            </a:lvl4pPr>
            <a:lvl5pPr marL="504218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08161" y="1189175"/>
            <a:ext cx="4033911" cy="1736309"/>
          </a:xfrm>
        </p:spPr>
        <p:txBody>
          <a:bodyPr wrap="square">
            <a:spAutoFit/>
          </a:bodyPr>
          <a:lstStyle>
            <a:lvl1pPr marL="0" indent="0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defRPr sz="2353"/>
            </a:lvl1pPr>
            <a:lvl2pPr marL="0" indent="0">
              <a:buNone/>
              <a:defRPr sz="1471"/>
            </a:lvl2pPr>
            <a:lvl3pPr marL="170407" indent="0">
              <a:buNone/>
              <a:tabLst/>
              <a:defRPr sz="1471"/>
            </a:lvl3pPr>
            <a:lvl4pPr marL="338480" indent="0">
              <a:buNone/>
              <a:defRPr/>
            </a:lvl4pPr>
            <a:lvl5pPr marL="504218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4431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F81F14-9AEC-394B-B8F6-AE69A194437D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A3254-D786-4E64-B7FF-BC07CCF8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Multithreading in Java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244CB-A7C1-4F60-B7F0-6962129BC2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/>
              <a:t>Multithreading in Java is a feature that enables a program to run multiple threads simultaneously, allowing tasks to execute in parallel and utilize the CPU more efficiently.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A thread is a lightweight, independent unit of execution inside a program (process).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A process can have multiple threads.</a:t>
            </a:r>
          </a:p>
          <a:p>
            <a:pPr algn="just"/>
            <a:r>
              <a:rPr lang="en-US" sz="2300" dirty="0"/>
              <a:t>Each thread runs independently but shares the same memory.</a:t>
            </a:r>
          </a:p>
        </p:txBody>
      </p:sp>
    </p:spTree>
    <p:extLst>
      <p:ext uri="{BB962C8B-B14F-4D97-AF65-F5344CB8AC3E}">
        <p14:creationId xmlns:p14="http://schemas.microsoft.com/office/powerpoint/2010/main" val="51562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F6E5-9652-AB38-D1C2-6B1EC968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Imagine a restaurant kitchen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4D2CA-716E-4C5E-7178-4AF83AFE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42D65-B1AD-43AB-7285-18F7B09BF3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Multiple chefs (threads) are preparing different dishes at the same time. </a:t>
            </a:r>
          </a:p>
          <a:p>
            <a:r>
              <a:rPr lang="en-US" dirty="0"/>
              <a:t>This speeds up service and utilizes all available resources (CPU).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7F85EC-F7D3-8B0F-2ED0-F07DA88A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51" y="269615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2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00D9-DC63-63B1-C6E9-81C9F3BA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Threads in Java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2687-B2BB-B3BF-059E-31D6701A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1B520-CD2F-483D-8F58-6CFA4ECB66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Java, there are several ways to create and run threads.</a:t>
            </a:r>
          </a:p>
          <a:p>
            <a:r>
              <a:rPr lang="en-US" dirty="0"/>
              <a:t>Each approach has its own use cases, and choosing the right one depends on how your application is structured. 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Extending the Thread class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Implementing the Runnable interface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Using lambda expressions (Java 8 and later)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2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A8AB-201E-10FC-F35F-D60242DB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Extending the Thread Class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C78572-B261-1921-0873-31DC2EA0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27E89-B2C0-CCB6-160F-2C7A44C3B2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One of the simplest ways to create a thread in Java is by extending the built-in Thread class and overriding its run() method.</a:t>
            </a:r>
          </a:p>
          <a:p>
            <a:r>
              <a:rPr lang="en-US" dirty="0"/>
              <a:t>This method contains the code that should run in the new thread.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78EB9-7F50-36A6-F720-55F0FFB5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152906"/>
            <a:ext cx="5486400" cy="28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5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F749-219C-E378-B917-678F8058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Implementing the Runnable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26A005-5084-A89D-0B23-549CF39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89993-8BBA-A0A4-0FF7-85732044C7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more flexible way to create threads is to implement the Runnable interface.</a:t>
            </a:r>
          </a:p>
          <a:p>
            <a:r>
              <a:rPr lang="en-US" dirty="0"/>
              <a:t>This separates the task from the thread itself, which is useful when you want your class to extend another class.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2D690-92A7-D949-D183-A21F295D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51" y="3683075"/>
            <a:ext cx="5486400" cy="245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59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4BB3-D61A-75B3-42B9-15FC8E24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Using Lambda Expressions (Java 8+)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D96A6-51A9-ADFE-D6B6-5D8C381F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E71AF-A4C6-82FF-4284-4022C26321A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you’re using Java 8 or later, you can simplify thread creation using lambda expressions.</a:t>
            </a:r>
          </a:p>
          <a:p>
            <a:r>
              <a:rPr lang="en-US" dirty="0"/>
              <a:t>This is ideal for short, one-off tasks where you don’t want to write a full class.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B67B80-3A8E-6895-94AA-5B47F75D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51" y="3429000"/>
            <a:ext cx="5486400" cy="18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8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F90A-7247-84B2-CCEF-F85304014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Creation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3BD58-BA85-54AD-4E6F-C9B5F640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88936-6665-3DC1-EDAB-5A767E1B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00579"/>
            <a:ext cx="8778240" cy="388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32F3-2060-1F37-B5A1-A57A697F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Multithreading in Java?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D6A4CD-9CED-45FB-0B9E-69FE1A65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C1631-9C64-1222-C9E3-24ECFE3616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300" dirty="0"/>
              <a:t>Multithreading offers several key advantages:</a:t>
            </a:r>
          </a:p>
          <a:p>
            <a:pPr lvl="1"/>
            <a:r>
              <a:rPr lang="en-US" sz="2300" b="1" dirty="0"/>
              <a:t>Improved Performance:</a:t>
            </a:r>
          </a:p>
          <a:p>
            <a:pPr lvl="2"/>
            <a:r>
              <a:rPr lang="en-US" sz="2300" dirty="0"/>
              <a:t>Threads can run in parallel on multi-core processors, making efficient use of system resources.</a:t>
            </a:r>
          </a:p>
          <a:p>
            <a:pPr lvl="1"/>
            <a:r>
              <a:rPr lang="en-US" sz="2300" b="1" dirty="0"/>
              <a:t>Responsive Applications:</a:t>
            </a:r>
          </a:p>
          <a:p>
            <a:pPr lvl="2"/>
            <a:r>
              <a:rPr lang="en-US" sz="2300" dirty="0"/>
              <a:t>Multithreading helps keep user interfaces responsive by offloading long-running tasks to background threads.</a:t>
            </a:r>
          </a:p>
          <a:p>
            <a:pPr lvl="1"/>
            <a:r>
              <a:rPr lang="en-US" sz="2300" b="1" dirty="0"/>
              <a:t>Resource Sharing:</a:t>
            </a:r>
          </a:p>
          <a:p>
            <a:pPr lvl="2"/>
            <a:r>
              <a:rPr lang="en-US" sz="2300" dirty="0"/>
              <a:t>Threads share memory and resources, enabling faster context switching and inter-thread communication.</a:t>
            </a:r>
          </a:p>
          <a:p>
            <a:pPr lvl="1"/>
            <a:r>
              <a:rPr lang="en-US" sz="2300" b="1" dirty="0"/>
              <a:t>Asynchronous Processing:</a:t>
            </a:r>
          </a:p>
          <a:p>
            <a:pPr lvl="2"/>
            <a:r>
              <a:rPr lang="en-US" sz="2300" dirty="0"/>
              <a:t>Tasks like file I/O, network requests, or database operations can run independently of the main application flow.</a:t>
            </a:r>
          </a:p>
        </p:txBody>
      </p:sp>
    </p:spTree>
    <p:extLst>
      <p:ext uri="{BB962C8B-B14F-4D97-AF65-F5344CB8AC3E}">
        <p14:creationId xmlns:p14="http://schemas.microsoft.com/office/powerpoint/2010/main" val="180795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0B12-EB07-36F3-13F5-3C2A3318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Cases of Multithreading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B0FE67-E1D5-5CBD-CD9A-D9F46869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3E71E-6EDC-6490-E8EC-0BF0DE3F73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Multithreading is widely used in modern Java applications across many domains:</a:t>
            </a:r>
          </a:p>
          <a:p>
            <a:pPr lvl="1"/>
            <a:r>
              <a:rPr lang="en-US" b="1" dirty="0"/>
              <a:t>Web Servers:</a:t>
            </a:r>
          </a:p>
          <a:p>
            <a:pPr lvl="2"/>
            <a:r>
              <a:rPr lang="en-US" dirty="0"/>
              <a:t>Handle multiple client requests concurrently.</a:t>
            </a:r>
          </a:p>
          <a:p>
            <a:pPr lvl="1"/>
            <a:r>
              <a:rPr lang="en-US" b="1" dirty="0"/>
              <a:t>GUI Applications:</a:t>
            </a:r>
          </a:p>
          <a:p>
            <a:pPr lvl="2"/>
            <a:r>
              <a:rPr lang="en-US" dirty="0"/>
              <a:t>Keep the UI responsive during background operations.</a:t>
            </a:r>
          </a:p>
          <a:p>
            <a:pPr lvl="1"/>
            <a:r>
              <a:rPr lang="en-US" b="1" dirty="0"/>
              <a:t>Games:</a:t>
            </a:r>
          </a:p>
          <a:p>
            <a:pPr lvl="2"/>
            <a:r>
              <a:rPr lang="en-US" dirty="0"/>
              <a:t>Manage rendering, physics calculations, and input handling in parallel.</a:t>
            </a:r>
          </a:p>
          <a:p>
            <a:pPr lvl="1"/>
            <a:r>
              <a:rPr lang="en-US" b="1" dirty="0"/>
              <a:t>Real-Time Systems:</a:t>
            </a:r>
          </a:p>
          <a:p>
            <a:pPr lvl="2"/>
            <a:r>
              <a:rPr lang="en-US" dirty="0"/>
              <a:t>Perform time-sensitive tasks simultaneously.</a:t>
            </a:r>
          </a:p>
          <a:p>
            <a:pPr lvl="1"/>
            <a:r>
              <a:rPr lang="en-US" b="1" dirty="0"/>
              <a:t>Data Processing Pipelines:</a:t>
            </a:r>
          </a:p>
          <a:p>
            <a:pPr lvl="2"/>
            <a:r>
              <a:rPr lang="en-US" dirty="0"/>
              <a:t>Parallelize large-scale data computations and I/O operations.</a:t>
            </a:r>
          </a:p>
        </p:txBody>
      </p:sp>
    </p:spTree>
    <p:extLst>
      <p:ext uri="{BB962C8B-B14F-4D97-AF65-F5344CB8AC3E}">
        <p14:creationId xmlns:p14="http://schemas.microsoft.com/office/powerpoint/2010/main" val="1916618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FD282-928A-D8BA-E1E5-CD52C4ED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E17C5-BE4C-40EB-295F-0A753D8EC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19" y="137160"/>
            <a:ext cx="8244362" cy="65836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8069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839B99-F357-E22A-82CD-5529D4EB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FC1ED-908E-2484-1028-D7B11999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99" y="45720"/>
            <a:ext cx="5927001" cy="6766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52902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6937</TotalTime>
  <Words>458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Narrow</vt:lpstr>
      <vt:lpstr>Calibri</vt:lpstr>
      <vt:lpstr>Tw Cen MT</vt:lpstr>
      <vt:lpstr>Wingdings</vt:lpstr>
      <vt:lpstr>Wingdings 2</vt:lpstr>
      <vt:lpstr>Median</vt:lpstr>
      <vt:lpstr>Multithreading in Java</vt:lpstr>
      <vt:lpstr>Example: Imagine a restaurant kitchen</vt:lpstr>
      <vt:lpstr>Creating Threads in Java</vt:lpstr>
      <vt:lpstr>1. Extending the Thread Class</vt:lpstr>
      <vt:lpstr>2. Implementing the Runnable Interface</vt:lpstr>
      <vt:lpstr>3. Using Lambda Expressions (Java 8+)</vt:lpstr>
      <vt:lpstr>Thread Creation Comparison</vt:lpstr>
      <vt:lpstr>Why Use Multithreading in Java?</vt:lpstr>
      <vt:lpstr>Real-World Use Cases of Multithreading</vt:lpstr>
      <vt:lpstr>PowerPoint Presentation</vt:lpstr>
      <vt:lpstr>PowerPoint Presentation</vt:lpstr>
    </vt:vector>
  </TitlesOfParts>
  <Company>WPI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Eltabakh</dc:creator>
  <cp:lastModifiedBy>Ozbek, Yusuf</cp:lastModifiedBy>
  <cp:revision>717</cp:revision>
  <dcterms:created xsi:type="dcterms:W3CDTF">2013-01-13T20:33:29Z</dcterms:created>
  <dcterms:modified xsi:type="dcterms:W3CDTF">2026-03-12T21:59:24Z</dcterms:modified>
</cp:coreProperties>
</file>