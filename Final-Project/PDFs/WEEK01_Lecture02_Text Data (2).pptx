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7" r:id="rId1"/>
  </p:sldMasterIdLst>
  <p:notesMasterIdLst>
    <p:notesMasterId r:id="rId94"/>
  </p:notesMasterIdLst>
  <p:handoutMasterIdLst>
    <p:handoutMasterId r:id="rId95"/>
  </p:handoutMasterIdLst>
  <p:sldIdLst>
    <p:sldId id="289" r:id="rId2"/>
    <p:sldId id="290" r:id="rId3"/>
    <p:sldId id="367" r:id="rId4"/>
    <p:sldId id="368" r:id="rId5"/>
    <p:sldId id="292" r:id="rId6"/>
    <p:sldId id="293" r:id="rId7"/>
    <p:sldId id="369" r:id="rId8"/>
    <p:sldId id="370" r:id="rId9"/>
    <p:sldId id="295" r:id="rId10"/>
    <p:sldId id="371" r:id="rId11"/>
    <p:sldId id="296" r:id="rId12"/>
    <p:sldId id="372" r:id="rId13"/>
    <p:sldId id="298" r:id="rId14"/>
    <p:sldId id="373" r:id="rId15"/>
    <p:sldId id="299" r:id="rId16"/>
    <p:sldId id="374" r:id="rId17"/>
    <p:sldId id="300" r:id="rId18"/>
    <p:sldId id="375" r:id="rId19"/>
    <p:sldId id="301" r:id="rId20"/>
    <p:sldId id="303" r:id="rId21"/>
    <p:sldId id="304" r:id="rId22"/>
    <p:sldId id="305" r:id="rId23"/>
    <p:sldId id="306" r:id="rId24"/>
    <p:sldId id="307" r:id="rId25"/>
    <p:sldId id="308" r:id="rId26"/>
    <p:sldId id="376" r:id="rId27"/>
    <p:sldId id="310" r:id="rId28"/>
    <p:sldId id="311" r:id="rId29"/>
    <p:sldId id="377" r:id="rId30"/>
    <p:sldId id="378" r:id="rId31"/>
    <p:sldId id="379" r:id="rId32"/>
    <p:sldId id="314" r:id="rId33"/>
    <p:sldId id="315" r:id="rId34"/>
    <p:sldId id="316" r:id="rId35"/>
    <p:sldId id="380" r:id="rId36"/>
    <p:sldId id="318" r:id="rId37"/>
    <p:sldId id="381" r:id="rId38"/>
    <p:sldId id="319" r:id="rId39"/>
    <p:sldId id="320" r:id="rId40"/>
    <p:sldId id="382" r:id="rId41"/>
    <p:sldId id="322" r:id="rId42"/>
    <p:sldId id="383" r:id="rId43"/>
    <p:sldId id="324" r:id="rId44"/>
    <p:sldId id="384" r:id="rId45"/>
    <p:sldId id="385" r:id="rId46"/>
    <p:sldId id="326" r:id="rId47"/>
    <p:sldId id="386" r:id="rId48"/>
    <p:sldId id="327" r:id="rId49"/>
    <p:sldId id="328" r:id="rId50"/>
    <p:sldId id="329" r:id="rId51"/>
    <p:sldId id="387" r:id="rId52"/>
    <p:sldId id="330" r:id="rId53"/>
    <p:sldId id="331" r:id="rId54"/>
    <p:sldId id="332" r:id="rId55"/>
    <p:sldId id="333" r:id="rId56"/>
    <p:sldId id="334" r:id="rId57"/>
    <p:sldId id="335" r:id="rId58"/>
    <p:sldId id="336" r:id="rId59"/>
    <p:sldId id="337" r:id="rId60"/>
    <p:sldId id="338" r:id="rId61"/>
    <p:sldId id="339" r:id="rId62"/>
    <p:sldId id="340" r:id="rId63"/>
    <p:sldId id="341" r:id="rId64"/>
    <p:sldId id="342" r:id="rId65"/>
    <p:sldId id="343" r:id="rId66"/>
    <p:sldId id="389" r:id="rId67"/>
    <p:sldId id="388" r:id="rId68"/>
    <p:sldId id="345" r:id="rId69"/>
    <p:sldId id="390" r:id="rId70"/>
    <p:sldId id="391" r:id="rId71"/>
    <p:sldId id="347" r:id="rId72"/>
    <p:sldId id="392" r:id="rId73"/>
    <p:sldId id="393" r:id="rId74"/>
    <p:sldId id="349" r:id="rId75"/>
    <p:sldId id="350" r:id="rId76"/>
    <p:sldId id="351" r:id="rId77"/>
    <p:sldId id="352" r:id="rId78"/>
    <p:sldId id="353" r:id="rId79"/>
    <p:sldId id="354" r:id="rId80"/>
    <p:sldId id="355" r:id="rId81"/>
    <p:sldId id="356" r:id="rId82"/>
    <p:sldId id="357" r:id="rId83"/>
    <p:sldId id="358" r:id="rId84"/>
    <p:sldId id="359" r:id="rId85"/>
    <p:sldId id="360" r:id="rId86"/>
    <p:sldId id="361" r:id="rId87"/>
    <p:sldId id="362" r:id="rId88"/>
    <p:sldId id="363" r:id="rId89"/>
    <p:sldId id="364" r:id="rId90"/>
    <p:sldId id="365" r:id="rId91"/>
    <p:sldId id="366" r:id="rId92"/>
    <p:sldId id="394" r:id="rId9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FFB9"/>
    <a:srgbClr val="FFFFE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snapToObjects="1">
      <p:cViewPr varScale="1">
        <p:scale>
          <a:sx n="104" d="100"/>
          <a:sy n="104" d="100"/>
        </p:scale>
        <p:origin x="1312" y="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handoutMaster" Target="handoutMasters/handout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BD9761D-1F95-3B4C-BE9C-CDD1389A8812}" type="datetimeFigureOut">
              <a:rPr lang="en-US" smtClean="0"/>
              <a:t>9/17/2025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FADCD51-711A-044D-9B2C-C47F74A9A11F}" type="slidenum">
              <a:rPr lang="en-US" smtClean="0"/>
              <a:t>‹#›</a:t>
            </a:fld>
            <a:endParaRPr lang="en-US"/>
          </a:p>
        </p:txBody>
      </p:sp>
    </p:spTree>
    <p:extLst>
      <p:ext uri="{BB962C8B-B14F-4D97-AF65-F5344CB8AC3E}">
        <p14:creationId xmlns:p14="http://schemas.microsoft.com/office/powerpoint/2010/main" val="85489552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95A596-FA52-0448-9C24-EA3FEFB30C0E}" type="datetimeFigureOut">
              <a:rPr lang="en-US" smtClean="0"/>
              <a:t>9/17/2025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64C5791-7364-9E4F-986D-297FD347B6DE}" type="slidenum">
              <a:rPr lang="en-US" smtClean="0"/>
              <a:t>‹#›</a:t>
            </a:fld>
            <a:endParaRPr lang="en-US"/>
          </a:p>
        </p:txBody>
      </p:sp>
    </p:spTree>
    <p:extLst>
      <p:ext uri="{BB962C8B-B14F-4D97-AF65-F5344CB8AC3E}">
        <p14:creationId xmlns:p14="http://schemas.microsoft.com/office/powerpoint/2010/main" val="615199402"/>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CF164A81-75B2-194C-A843-C64EC5C16B31}" type="datetime1">
              <a:rPr lang="en-US" smtClean="0"/>
              <a:t>9/17/2025</a:t>
            </a:fld>
            <a:endParaRPr lang="en-US" dirty="0"/>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dirty="0"/>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FA84A37A-AFC2-4A01-80A1-FC20F2C0D5BB}"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0315" y="228600"/>
            <a:ext cx="8943473" cy="990600"/>
          </a:xfrm>
        </p:spPr>
        <p:txBody>
          <a:bodyPr>
            <a:normAutofit/>
          </a:bodyPr>
          <a:lstStyle>
            <a:lvl1pPr>
              <a:defRPr sz="3800" b="1">
                <a:latin typeface="Arial Narrow" panose="020B0606020202030204" pitchFamily="34" charset="0"/>
              </a:defRPr>
            </a:lvl1pPr>
          </a:lstStyle>
          <a:p>
            <a:r>
              <a:rPr kumimoji="0" lang="en-US" dirty="0"/>
              <a:t>Click to edit Master title style</a:t>
            </a:r>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EBFB1032-EA64-7144-B003-9BCC9D94B503}" type="slidenum">
              <a:rPr lang="en-US" smtClean="0"/>
              <a:t>‹#›</a:t>
            </a:fld>
            <a:endParaRPr lang="en-US" dirty="0"/>
          </a:p>
        </p:txBody>
      </p:sp>
      <p:sp>
        <p:nvSpPr>
          <p:cNvPr id="8" name="Content Placeholder 7"/>
          <p:cNvSpPr>
            <a:spLocks noGrp="1"/>
          </p:cNvSpPr>
          <p:nvPr>
            <p:ph sz="quarter" idx="1"/>
          </p:nvPr>
        </p:nvSpPr>
        <p:spPr>
          <a:xfrm>
            <a:off x="120315" y="1600200"/>
            <a:ext cx="8943473" cy="5153526"/>
          </a:xfrm>
        </p:spPr>
        <p:txBody>
          <a:bodyPr>
            <a:normAutofit/>
          </a:bodyPr>
          <a:lstStyle>
            <a:lvl1pPr>
              <a:defRPr sz="2400">
                <a:latin typeface="Arial Narrow" panose="020B0606020202030204" pitchFamily="34" charset="0"/>
              </a:defRPr>
            </a:lvl1pPr>
            <a:lvl2pPr>
              <a:defRPr sz="2400">
                <a:latin typeface="Arial Narrow" panose="020B0606020202030204" pitchFamily="34" charset="0"/>
              </a:defRPr>
            </a:lvl2pPr>
            <a:lvl3pPr>
              <a:defRPr sz="2400">
                <a:latin typeface="Arial Narrow" panose="020B0606020202030204" pitchFamily="34" charset="0"/>
              </a:defRPr>
            </a:lvl3pPr>
            <a:lvl4pPr>
              <a:defRPr sz="2400">
                <a:latin typeface="Arial Narrow" panose="020B0606020202030204" pitchFamily="34" charset="0"/>
              </a:defRPr>
            </a:lvl4pPr>
            <a:lvl5pPr>
              <a:defRPr sz="2400">
                <a:latin typeface="Arial Narrow" panose="020B0606020202030204" pitchFamily="34" charset="0"/>
              </a:defRPr>
            </a:lvl5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EDF00D79-2A23-4C40-804A-C01F394F0C72}" type="datetime1">
              <a:rPr lang="en-US" smtClean="0"/>
              <a:t>9/17/2025</a:t>
            </a:fld>
            <a:endParaRPr lang="en-US" dirty="0"/>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EBFB1032-EA64-7144-B003-9BCC9D94B503}" type="slidenum">
              <a:rPr lang="en-US" smtClean="0"/>
              <a:t>‹#›</a:t>
            </a:fld>
            <a:endParaRPr lang="en-US" dirty="0"/>
          </a:p>
        </p:txBody>
      </p:sp>
      <p:sp>
        <p:nvSpPr>
          <p:cNvPr id="14" name="Footer Placeholder 13"/>
          <p:cNvSpPr>
            <a:spLocks noGrp="1"/>
          </p:cNvSpPr>
          <p:nvPr>
            <p:ph type="ftr" sz="quarter" idx="12"/>
          </p:nvPr>
        </p:nvSpPr>
        <p:spPr/>
        <p:txBody>
          <a:bodyPr/>
          <a:lstStyle/>
          <a:p>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0674B835-C713-9846-B110-24995DE671EF}" type="datetime1">
              <a:rPr lang="en-US" smtClean="0"/>
              <a:t>9/17/2025</a:t>
            </a:fld>
            <a:endParaRPr lang="en-US" dirty="0"/>
          </a:p>
        </p:txBody>
      </p:sp>
      <p:sp>
        <p:nvSpPr>
          <p:cNvPr id="10" name="Slide Number Placeholder 9"/>
          <p:cNvSpPr>
            <a:spLocks noGrp="1"/>
          </p:cNvSpPr>
          <p:nvPr>
            <p:ph type="sldNum" sz="quarter" idx="16"/>
          </p:nvPr>
        </p:nvSpPr>
        <p:spPr/>
        <p:txBody>
          <a:bodyPr rtlCol="0"/>
          <a:lstStyle/>
          <a:p>
            <a:fld id="{EBFB1032-EA64-7144-B003-9BCC9D94B503}" type="slidenum">
              <a:rPr lang="en-US" smtClean="0"/>
              <a:t>‹#›</a:t>
            </a:fld>
            <a:endParaRPr lang="en-US" dirty="0"/>
          </a:p>
        </p:txBody>
      </p:sp>
      <p:sp>
        <p:nvSpPr>
          <p:cNvPr id="12" name="Footer Placeholder 11"/>
          <p:cNvSpPr>
            <a:spLocks noGrp="1"/>
          </p:cNvSpPr>
          <p:nvPr>
            <p:ph type="ftr" sz="quarter" idx="17"/>
          </p:nvPr>
        </p:nvSpPr>
        <p:spPr/>
        <p:txBody>
          <a:bodyPr rtlCol="0"/>
          <a:lstStyle/>
          <a:p>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D0393BC9-E94F-5B47-BD76-EECA0CBE7CA1}" type="datetime1">
              <a:rPr lang="en-US" smtClean="0"/>
              <a:t>9/17/2025</a:t>
            </a:fld>
            <a:endParaRPr lang="en-US" dirty="0"/>
          </a:p>
        </p:txBody>
      </p:sp>
      <p:sp>
        <p:nvSpPr>
          <p:cNvPr id="12" name="Slide Number Placeholder 11"/>
          <p:cNvSpPr>
            <a:spLocks noGrp="1"/>
          </p:cNvSpPr>
          <p:nvPr>
            <p:ph type="sldNum" sz="quarter" idx="16"/>
          </p:nvPr>
        </p:nvSpPr>
        <p:spPr/>
        <p:txBody>
          <a:bodyPr rtlCol="0"/>
          <a:lstStyle/>
          <a:p>
            <a:fld id="{EBFB1032-EA64-7144-B003-9BCC9D94B503}" type="slidenum">
              <a:rPr lang="en-US" smtClean="0"/>
              <a:t>‹#›</a:t>
            </a:fld>
            <a:endParaRPr lang="en-US" dirty="0"/>
          </a:p>
        </p:txBody>
      </p:sp>
      <p:sp>
        <p:nvSpPr>
          <p:cNvPr id="14" name="Footer Placeholder 13"/>
          <p:cNvSpPr>
            <a:spLocks noGrp="1"/>
          </p:cNvSpPr>
          <p:nvPr>
            <p:ph type="ftr" sz="quarter" idx="17"/>
          </p:nvPr>
        </p:nvSpPr>
        <p:spPr/>
        <p:txBody>
          <a:bodyPr rtlCol="0"/>
          <a:lstStyle/>
          <a:p>
            <a:endParaRPr lang="en-US" dirty="0"/>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57F308A2-EBB5-744B-B5B4-7699A7EC7B98}" type="datetime1">
              <a:rPr lang="en-US" smtClean="0"/>
              <a:t>9/17/2025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EBFB1032-EA64-7144-B003-9BCC9D94B503}"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9872E7-27FD-CA40-8E81-E7A5851A1F00}" type="datetime1">
              <a:rPr lang="en-US" smtClean="0"/>
              <a:t>9/17/2025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EBFB1032-EA64-7144-B003-9BCC9D94B503}"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fld id="{0F37C8EB-B6A2-A747-83AD-60E35A0235F5}" type="datetime1">
              <a:rPr lang="en-US" smtClean="0"/>
              <a:t>9/17/2025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FA84A37A-AFC2-4A01-80A1-FC20F2C0D5BB}" type="slidenum">
              <a:rPr lang="en-US" smtClean="0"/>
              <a:pPr/>
              <a:t>‹#›</a:t>
            </a:fld>
            <a:endParaRPr lang="en-US" dirty="0"/>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CD6682E5-7E97-2F44-B961-B3631B15779F}" type="datetime1">
              <a:rPr lang="en-US" smtClean="0"/>
              <a:t>9/17/2025</a:t>
            </a:fld>
            <a:endParaRPr lang="en-US" dirty="0"/>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EBFB1032-EA64-7144-B003-9BCC9D94B503}" type="slidenum">
              <a:rPr lang="en-US" smtClean="0"/>
              <a:t>‹#›</a:t>
            </a:fld>
            <a:endParaRPr lang="en-US" dirty="0"/>
          </a:p>
        </p:txBody>
      </p:sp>
      <p:sp>
        <p:nvSpPr>
          <p:cNvPr id="14" name="Footer Placeholder 13"/>
          <p:cNvSpPr>
            <a:spLocks noGrp="1"/>
          </p:cNvSpPr>
          <p:nvPr>
            <p:ph type="ftr" sz="quarter" idx="12"/>
          </p:nvPr>
        </p:nvSpPr>
        <p:spPr>
          <a:xfrm>
            <a:off x="1600200" y="6248206"/>
            <a:ext cx="4572000" cy="365125"/>
          </a:xfrm>
        </p:spPr>
        <p:txBody>
          <a:bodyPr rtlCol="0"/>
          <a:lstStyle/>
          <a:p>
            <a:endParaRPr lang="en-US" dirty="0"/>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0DD67E5-F24F-664E-AC9C-26173D2CF6BA}" type="datetime1">
              <a:rPr lang="en-US" smtClean="0"/>
              <a:t>9/17/2025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BFB1032-EA64-7144-B003-9BCC9D94B503}"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E5DF139F-CB8F-D149-BA56-8B0C015E5021}" type="datetime1">
              <a:rPr lang="en-US" smtClean="0"/>
              <a:t>9/17/2025</a:t>
            </a:fld>
            <a:endParaRPr lang="en-US" dirty="0"/>
          </a:p>
        </p:txBody>
      </p:sp>
      <p:sp>
        <p:nvSpPr>
          <p:cNvPr id="5" name="Footer Placeholder 4"/>
          <p:cNvSpPr>
            <a:spLocks noGrp="1"/>
          </p:cNvSpPr>
          <p:nvPr>
            <p:ph type="ftr" sz="quarter" idx="11"/>
          </p:nvPr>
        </p:nvSpPr>
        <p:spPr>
          <a:xfrm>
            <a:off x="457201" y="6248207"/>
            <a:ext cx="5573483" cy="365125"/>
          </a:xfrm>
        </p:spPr>
        <p:txBody>
          <a:bodyPr/>
          <a:lstStyle/>
          <a:p>
            <a:endParaRPr lang="en-US" dirty="0"/>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EBFB1032-EA64-7144-B003-9BCC9D94B503}" type="slidenum">
              <a:rPr lang="en-US" smtClean="0"/>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F6F81F14-9AEC-394B-B8F6-AE69A194437D}" type="datetime1">
              <a:rPr lang="en-US" smtClean="0"/>
              <a:t>9/17/2025</a:t>
            </a:fld>
            <a:endParaRPr lang="en-US" dirty="0"/>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dirty="0"/>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EBFB1032-EA64-7144-B003-9BCC9D94B503}"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hf hdr="0" ftr="0" dt="0"/>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mng.bz/Adng" TargetMode="External"/><Relationship Id="rId2" Type="http://schemas.openxmlformats.org/officeDocument/2006/relationships/hyperlink" Target="https://en.wikisource.org/wiki/The_Verdict"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9AE79-9D74-7953-DBC3-B857B09F365E}"/>
              </a:ext>
            </a:extLst>
          </p:cNvPr>
          <p:cNvSpPr>
            <a:spLocks noGrp="1"/>
          </p:cNvSpPr>
          <p:nvPr>
            <p:ph type="title"/>
          </p:nvPr>
        </p:nvSpPr>
        <p:spPr>
          <a:xfrm>
            <a:off x="120315" y="228600"/>
            <a:ext cx="8943473" cy="990600"/>
          </a:xfrm>
        </p:spPr>
        <p:txBody>
          <a:bodyPr>
            <a:normAutofit/>
          </a:bodyPr>
          <a:lstStyle/>
          <a:p>
            <a:r>
              <a:rPr lang="en-US" dirty="0"/>
              <a:t>Working with text data</a:t>
            </a:r>
          </a:p>
        </p:txBody>
      </p:sp>
      <p:sp>
        <p:nvSpPr>
          <p:cNvPr id="3" name="Slide Number Placeholder 2">
            <a:extLst>
              <a:ext uri="{FF2B5EF4-FFF2-40B4-BE49-F238E27FC236}">
                <a16:creationId xmlns:a16="http://schemas.microsoft.com/office/drawing/2014/main" id="{B524D8BB-4F76-309C-2175-0D98C80F764C}"/>
              </a:ext>
            </a:extLst>
          </p:cNvPr>
          <p:cNvSpPr>
            <a:spLocks noGrp="1"/>
          </p:cNvSpPr>
          <p:nvPr>
            <p:ph type="sldNum" sz="quarter" idx="12"/>
          </p:nvPr>
        </p:nvSpPr>
        <p:spPr>
          <a:xfrm>
            <a:off x="0" y="1272222"/>
            <a:ext cx="533400" cy="244476"/>
          </a:xfrm>
        </p:spPr>
        <p:txBody>
          <a:bodyPr>
            <a:normAutofit fontScale="85000" lnSpcReduction="20000"/>
          </a:bodyPr>
          <a:lstStyle/>
          <a:p>
            <a:fld id="{EBFB1032-EA64-7144-B003-9BCC9D94B503}" type="slidenum">
              <a:rPr lang="en-US" smtClean="0"/>
              <a:pPr/>
              <a:t>1</a:t>
            </a:fld>
            <a:endParaRPr lang="en-US" dirty="0"/>
          </a:p>
        </p:txBody>
      </p:sp>
      <p:sp>
        <p:nvSpPr>
          <p:cNvPr id="7" name="Content Placeholder 6">
            <a:extLst>
              <a:ext uri="{FF2B5EF4-FFF2-40B4-BE49-F238E27FC236}">
                <a16:creationId xmlns:a16="http://schemas.microsoft.com/office/drawing/2014/main" id="{CB49CCDB-AF20-85C7-E1CD-4A7BD98E991F}"/>
              </a:ext>
            </a:extLst>
          </p:cNvPr>
          <p:cNvSpPr>
            <a:spLocks noGrp="1"/>
          </p:cNvSpPr>
          <p:nvPr>
            <p:ph sz="quarter" idx="1"/>
          </p:nvPr>
        </p:nvSpPr>
        <p:spPr/>
        <p:txBody>
          <a:bodyPr>
            <a:noAutofit/>
          </a:bodyPr>
          <a:lstStyle/>
          <a:p>
            <a:r>
              <a:rPr lang="en-US" dirty="0"/>
              <a:t>Preparing text for large language model training</a:t>
            </a:r>
          </a:p>
          <a:p>
            <a:r>
              <a:rPr lang="en-US" dirty="0"/>
              <a:t>Splitting text into word and </a:t>
            </a:r>
            <a:r>
              <a:rPr lang="en-US" dirty="0" err="1"/>
              <a:t>subword</a:t>
            </a:r>
            <a:r>
              <a:rPr lang="en-US" dirty="0"/>
              <a:t> tokens</a:t>
            </a:r>
          </a:p>
          <a:p>
            <a:r>
              <a:rPr lang="en-US" dirty="0"/>
              <a:t>Byte pair encoding as a more advanced way of tokenizing text</a:t>
            </a:r>
          </a:p>
          <a:p>
            <a:r>
              <a:rPr lang="en-US" dirty="0"/>
              <a:t>Sampling training examples with a sliding window approach</a:t>
            </a:r>
          </a:p>
          <a:p>
            <a:r>
              <a:rPr lang="en-US" dirty="0"/>
              <a:t>Converting tokens into vectors that feed into a large language model</a:t>
            </a:r>
          </a:p>
          <a:p>
            <a:endParaRPr lang="en-US" dirty="0"/>
          </a:p>
          <a:p>
            <a:endParaRPr lang="en-US" dirty="0"/>
          </a:p>
        </p:txBody>
      </p:sp>
    </p:spTree>
    <p:extLst>
      <p:ext uri="{BB962C8B-B14F-4D97-AF65-F5344CB8AC3E}">
        <p14:creationId xmlns:p14="http://schemas.microsoft.com/office/powerpoint/2010/main" val="18170624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6E34B-BBDE-F04C-83C3-A90A6F15E84D}"/>
              </a:ext>
            </a:extLst>
          </p:cNvPr>
          <p:cNvSpPr>
            <a:spLocks noGrp="1"/>
          </p:cNvSpPr>
          <p:nvPr>
            <p:ph type="title"/>
          </p:nvPr>
        </p:nvSpPr>
        <p:spPr/>
        <p:txBody>
          <a:bodyPr/>
          <a:lstStyle/>
          <a:p>
            <a:r>
              <a:rPr lang="en-US" dirty="0"/>
              <a:t>LLM Models</a:t>
            </a:r>
          </a:p>
        </p:txBody>
      </p:sp>
      <p:sp>
        <p:nvSpPr>
          <p:cNvPr id="3" name="Slide Number Placeholder 2">
            <a:extLst>
              <a:ext uri="{FF2B5EF4-FFF2-40B4-BE49-F238E27FC236}">
                <a16:creationId xmlns:a16="http://schemas.microsoft.com/office/drawing/2014/main" id="{E6FABF8B-21FD-A202-2686-80240EF5C3B7}"/>
              </a:ext>
            </a:extLst>
          </p:cNvPr>
          <p:cNvSpPr>
            <a:spLocks noGrp="1"/>
          </p:cNvSpPr>
          <p:nvPr>
            <p:ph type="sldNum" sz="quarter" idx="12"/>
          </p:nvPr>
        </p:nvSpPr>
        <p:spPr/>
        <p:txBody>
          <a:bodyPr>
            <a:normAutofit fontScale="85000" lnSpcReduction="20000"/>
          </a:bodyPr>
          <a:lstStyle/>
          <a:p>
            <a:fld id="{EBFB1032-EA64-7144-B003-9BCC9D94B503}" type="slidenum">
              <a:rPr lang="en-US" smtClean="0"/>
              <a:t>2</a:t>
            </a:fld>
            <a:endParaRPr lang="en-US" dirty="0"/>
          </a:p>
        </p:txBody>
      </p:sp>
      <p:sp>
        <p:nvSpPr>
          <p:cNvPr id="4" name="Content Placeholder 3">
            <a:extLst>
              <a:ext uri="{FF2B5EF4-FFF2-40B4-BE49-F238E27FC236}">
                <a16:creationId xmlns:a16="http://schemas.microsoft.com/office/drawing/2014/main" id="{7554CE71-BF97-316A-C106-F90D8F0D6A8A}"/>
              </a:ext>
            </a:extLst>
          </p:cNvPr>
          <p:cNvSpPr>
            <a:spLocks noGrp="1"/>
          </p:cNvSpPr>
          <p:nvPr>
            <p:ph sz="quarter" idx="1"/>
          </p:nvPr>
        </p:nvSpPr>
        <p:spPr/>
        <p:txBody>
          <a:bodyPr>
            <a:normAutofit/>
          </a:bodyPr>
          <a:lstStyle/>
          <a:p>
            <a:pPr algn="just"/>
            <a:r>
              <a:rPr lang="en-US" dirty="0">
                <a:solidFill>
                  <a:srgbClr val="0070C0"/>
                </a:solidFill>
              </a:rPr>
              <a:t>So far, we’ve covered the general structure of large language models (LLMs) and learned that they are pretrained on vast amounts of text. </a:t>
            </a:r>
          </a:p>
          <a:p>
            <a:pPr algn="just"/>
            <a:endParaRPr lang="en-US" dirty="0">
              <a:solidFill>
                <a:srgbClr val="0070C0"/>
              </a:solidFill>
            </a:endParaRPr>
          </a:p>
          <a:p>
            <a:pPr algn="just"/>
            <a:r>
              <a:rPr lang="en-US" dirty="0">
                <a:solidFill>
                  <a:srgbClr val="00B050"/>
                </a:solidFill>
              </a:rPr>
              <a:t>Specifically, our focus was on decoder-only LLMs based on the transformer architecture, which underlies the models used in ChatGPT and other popular GPT-like LLMs.</a:t>
            </a:r>
          </a:p>
          <a:p>
            <a:pPr algn="just"/>
            <a:endParaRPr lang="en-US" dirty="0">
              <a:solidFill>
                <a:schemeClr val="accent2">
                  <a:lumMod val="75000"/>
                </a:schemeClr>
              </a:solidFill>
            </a:endParaRPr>
          </a:p>
          <a:p>
            <a:pPr algn="just"/>
            <a:r>
              <a:rPr lang="en-US" dirty="0">
                <a:solidFill>
                  <a:schemeClr val="accent2">
                    <a:lumMod val="75000"/>
                  </a:schemeClr>
                </a:solidFill>
              </a:rPr>
              <a:t>During the pretraining stage, LLMs process text one word at a time.</a:t>
            </a:r>
          </a:p>
        </p:txBody>
      </p:sp>
    </p:spTree>
    <p:extLst>
      <p:ext uri="{BB962C8B-B14F-4D97-AF65-F5344CB8AC3E}">
        <p14:creationId xmlns:p14="http://schemas.microsoft.com/office/powerpoint/2010/main" val="11976414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2DA44-45A7-D389-009B-DF878D456239}"/>
              </a:ext>
            </a:extLst>
          </p:cNvPr>
          <p:cNvSpPr>
            <a:spLocks noGrp="1"/>
          </p:cNvSpPr>
          <p:nvPr>
            <p:ph type="title"/>
          </p:nvPr>
        </p:nvSpPr>
        <p:spPr/>
        <p:txBody>
          <a:bodyPr/>
          <a:lstStyle/>
          <a:p>
            <a:r>
              <a:rPr lang="en-US" dirty="0"/>
              <a:t>Training LLMs</a:t>
            </a:r>
          </a:p>
        </p:txBody>
      </p:sp>
      <p:sp>
        <p:nvSpPr>
          <p:cNvPr id="3" name="Slide Number Placeholder 2">
            <a:extLst>
              <a:ext uri="{FF2B5EF4-FFF2-40B4-BE49-F238E27FC236}">
                <a16:creationId xmlns:a16="http://schemas.microsoft.com/office/drawing/2014/main" id="{3F356AF4-9B4B-918C-5D1F-B9AF22B1BED1}"/>
              </a:ext>
            </a:extLst>
          </p:cNvPr>
          <p:cNvSpPr>
            <a:spLocks noGrp="1"/>
          </p:cNvSpPr>
          <p:nvPr>
            <p:ph type="sldNum" sz="quarter" idx="12"/>
          </p:nvPr>
        </p:nvSpPr>
        <p:spPr/>
        <p:txBody>
          <a:bodyPr>
            <a:normAutofit fontScale="85000" lnSpcReduction="20000"/>
          </a:bodyPr>
          <a:lstStyle/>
          <a:p>
            <a:fld id="{EBFB1032-EA64-7144-B003-9BCC9D94B503}" type="slidenum">
              <a:rPr lang="en-US" smtClean="0"/>
              <a:t>3</a:t>
            </a:fld>
            <a:endParaRPr lang="en-US" dirty="0"/>
          </a:p>
        </p:txBody>
      </p:sp>
      <p:sp>
        <p:nvSpPr>
          <p:cNvPr id="4" name="Content Placeholder 3">
            <a:extLst>
              <a:ext uri="{FF2B5EF4-FFF2-40B4-BE49-F238E27FC236}">
                <a16:creationId xmlns:a16="http://schemas.microsoft.com/office/drawing/2014/main" id="{3BB4AEEE-537D-BE4E-DAEE-B2EEBE5EA189}"/>
              </a:ext>
            </a:extLst>
          </p:cNvPr>
          <p:cNvSpPr>
            <a:spLocks noGrp="1"/>
          </p:cNvSpPr>
          <p:nvPr>
            <p:ph sz="quarter" idx="1"/>
          </p:nvPr>
        </p:nvSpPr>
        <p:spPr/>
        <p:txBody>
          <a:bodyPr/>
          <a:lstStyle/>
          <a:p>
            <a:pPr algn="just"/>
            <a:r>
              <a:rPr lang="en-US" dirty="0"/>
              <a:t>Training LLMs with millions to billions of parameters using a next-word prediction task yields models with impressive capabilities.</a:t>
            </a:r>
          </a:p>
          <a:p>
            <a:pPr algn="just"/>
            <a:endParaRPr lang="en-US" dirty="0"/>
          </a:p>
          <a:p>
            <a:pPr algn="just"/>
            <a:r>
              <a:rPr lang="en-US" dirty="0"/>
              <a:t>These models can then be further finetuned to follow general instructions or perform specific target tasks.</a:t>
            </a:r>
          </a:p>
          <a:p>
            <a:pPr algn="just"/>
            <a:endParaRPr lang="en-US" dirty="0"/>
          </a:p>
          <a:p>
            <a:pPr algn="just"/>
            <a:r>
              <a:rPr lang="en-US" dirty="0"/>
              <a:t>But before we can implement and train LLMs, we need to prepare the training dataset, as illustrated in figure 2.1.</a:t>
            </a:r>
          </a:p>
          <a:p>
            <a:endParaRPr lang="en-US" dirty="0"/>
          </a:p>
        </p:txBody>
      </p:sp>
    </p:spTree>
    <p:extLst>
      <p:ext uri="{BB962C8B-B14F-4D97-AF65-F5344CB8AC3E}">
        <p14:creationId xmlns:p14="http://schemas.microsoft.com/office/powerpoint/2010/main" val="14122002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4C00423-91B0-8638-1F82-4C7EA1B57F9E}"/>
              </a:ext>
            </a:extLst>
          </p:cNvPr>
          <p:cNvSpPr>
            <a:spLocks noGrp="1"/>
          </p:cNvSpPr>
          <p:nvPr>
            <p:ph type="title"/>
          </p:nvPr>
        </p:nvSpPr>
        <p:spPr/>
        <p:txBody>
          <a:bodyPr>
            <a:normAutofit fontScale="90000"/>
          </a:bodyPr>
          <a:lstStyle/>
          <a:p>
            <a:r>
              <a:rPr lang="en-US" dirty="0"/>
              <a:t>Figure 2.1 The three main stages of coding an LLM</a:t>
            </a:r>
          </a:p>
        </p:txBody>
      </p:sp>
      <p:sp>
        <p:nvSpPr>
          <p:cNvPr id="2" name="Slide Number Placeholder 1">
            <a:extLst>
              <a:ext uri="{FF2B5EF4-FFF2-40B4-BE49-F238E27FC236}">
                <a16:creationId xmlns:a16="http://schemas.microsoft.com/office/drawing/2014/main" id="{8D21DB3A-C1AF-C249-FD2C-A8D3F0DACA03}"/>
              </a:ext>
            </a:extLst>
          </p:cNvPr>
          <p:cNvSpPr>
            <a:spLocks noGrp="1"/>
          </p:cNvSpPr>
          <p:nvPr>
            <p:ph type="sldNum" sz="quarter" idx="12"/>
          </p:nvPr>
        </p:nvSpPr>
        <p:spPr/>
        <p:txBody>
          <a:bodyPr>
            <a:normAutofit fontScale="85000" lnSpcReduction="20000"/>
          </a:bodyPr>
          <a:lstStyle/>
          <a:p>
            <a:fld id="{EBFB1032-EA64-7144-B003-9BCC9D94B503}" type="slidenum">
              <a:rPr lang="en-US" smtClean="0"/>
              <a:t>4</a:t>
            </a:fld>
            <a:endParaRPr lang="en-US" dirty="0"/>
          </a:p>
        </p:txBody>
      </p:sp>
      <p:pic>
        <p:nvPicPr>
          <p:cNvPr id="6" name="Picture 5" descr="A diagram of a foundation model&#10;&#10;AI-generated content may be incorrect.">
            <a:extLst>
              <a:ext uri="{FF2B5EF4-FFF2-40B4-BE49-F238E27FC236}">
                <a16:creationId xmlns:a16="http://schemas.microsoft.com/office/drawing/2014/main" id="{D89D544B-DEE5-1D77-10EC-58D487FC4ED2}"/>
              </a:ext>
            </a:extLst>
          </p:cNvPr>
          <p:cNvPicPr>
            <a:picLocks noChangeAspect="1"/>
          </p:cNvPicPr>
          <p:nvPr/>
        </p:nvPicPr>
        <p:blipFill>
          <a:blip r:embed="rId2"/>
          <a:stretch>
            <a:fillRect/>
          </a:stretch>
        </p:blipFill>
        <p:spPr>
          <a:xfrm>
            <a:off x="182880" y="1778856"/>
            <a:ext cx="8778240" cy="4545256"/>
          </a:xfrm>
          <a:prstGeom prst="rect">
            <a:avLst/>
          </a:prstGeom>
        </p:spPr>
      </p:pic>
    </p:spTree>
    <p:extLst>
      <p:ext uri="{BB962C8B-B14F-4D97-AF65-F5344CB8AC3E}">
        <p14:creationId xmlns:p14="http://schemas.microsoft.com/office/powerpoint/2010/main" val="424388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7C422-714C-1916-0A6B-68692DDF3F06}"/>
              </a:ext>
            </a:extLst>
          </p:cNvPr>
          <p:cNvSpPr>
            <a:spLocks noGrp="1"/>
          </p:cNvSpPr>
          <p:nvPr>
            <p:ph type="title"/>
          </p:nvPr>
        </p:nvSpPr>
        <p:spPr/>
        <p:txBody>
          <a:bodyPr/>
          <a:lstStyle/>
          <a:p>
            <a:r>
              <a:rPr lang="en-US" dirty="0"/>
              <a:t>Preparing input text for training LLMs</a:t>
            </a:r>
          </a:p>
        </p:txBody>
      </p:sp>
      <p:sp>
        <p:nvSpPr>
          <p:cNvPr id="3" name="Slide Number Placeholder 2">
            <a:extLst>
              <a:ext uri="{FF2B5EF4-FFF2-40B4-BE49-F238E27FC236}">
                <a16:creationId xmlns:a16="http://schemas.microsoft.com/office/drawing/2014/main" id="{28389374-F18F-B51A-07DD-5227D77D4DA8}"/>
              </a:ext>
            </a:extLst>
          </p:cNvPr>
          <p:cNvSpPr>
            <a:spLocks noGrp="1"/>
          </p:cNvSpPr>
          <p:nvPr>
            <p:ph type="sldNum" sz="quarter" idx="12"/>
          </p:nvPr>
        </p:nvSpPr>
        <p:spPr/>
        <p:txBody>
          <a:bodyPr>
            <a:normAutofit fontScale="85000" lnSpcReduction="20000"/>
          </a:bodyPr>
          <a:lstStyle/>
          <a:p>
            <a:fld id="{EBFB1032-EA64-7144-B003-9BCC9D94B503}" type="slidenum">
              <a:rPr lang="en-US" smtClean="0"/>
              <a:t>5</a:t>
            </a:fld>
            <a:endParaRPr lang="en-US" dirty="0"/>
          </a:p>
        </p:txBody>
      </p:sp>
      <p:sp>
        <p:nvSpPr>
          <p:cNvPr id="4" name="Content Placeholder 3">
            <a:extLst>
              <a:ext uri="{FF2B5EF4-FFF2-40B4-BE49-F238E27FC236}">
                <a16:creationId xmlns:a16="http://schemas.microsoft.com/office/drawing/2014/main" id="{776C7ED5-5438-A6FA-480E-00E42AE045F9}"/>
              </a:ext>
            </a:extLst>
          </p:cNvPr>
          <p:cNvSpPr>
            <a:spLocks noGrp="1"/>
          </p:cNvSpPr>
          <p:nvPr>
            <p:ph sz="quarter" idx="1"/>
          </p:nvPr>
        </p:nvSpPr>
        <p:spPr/>
        <p:txBody>
          <a:bodyPr/>
          <a:lstStyle/>
          <a:p>
            <a:pPr algn="just"/>
            <a:r>
              <a:rPr lang="en-US" dirty="0"/>
              <a:t>This involves splitting text into individual word and </a:t>
            </a:r>
            <a:r>
              <a:rPr lang="en-US" dirty="0" err="1"/>
              <a:t>subword</a:t>
            </a:r>
            <a:r>
              <a:rPr lang="en-US" dirty="0"/>
              <a:t> tokens, which can then be encoded into vector representations for the LLM.</a:t>
            </a:r>
          </a:p>
          <a:p>
            <a:pPr algn="just"/>
            <a:endParaRPr lang="en-US" dirty="0"/>
          </a:p>
          <a:p>
            <a:pPr algn="just"/>
            <a:r>
              <a:rPr lang="en-US" dirty="0"/>
              <a:t>You’ll also learn about advanced tokenization schemes like byte pair encoding, which is utilized in popular LLMs like GPT.</a:t>
            </a:r>
          </a:p>
          <a:p>
            <a:pPr algn="just"/>
            <a:endParaRPr lang="en-US" dirty="0"/>
          </a:p>
          <a:p>
            <a:pPr algn="just"/>
            <a:r>
              <a:rPr lang="en-US" dirty="0"/>
              <a:t>Lastly, we’ll implement a sampling and data-loading strategy to produce the input-output pairs necessary for training LLMs.</a:t>
            </a:r>
          </a:p>
        </p:txBody>
      </p:sp>
    </p:spTree>
    <p:extLst>
      <p:ext uri="{BB962C8B-B14F-4D97-AF65-F5344CB8AC3E}">
        <p14:creationId xmlns:p14="http://schemas.microsoft.com/office/powerpoint/2010/main" val="1173239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BDDA5-E052-8D85-127B-254A46AB23C2}"/>
              </a:ext>
            </a:extLst>
          </p:cNvPr>
          <p:cNvSpPr>
            <a:spLocks noGrp="1"/>
          </p:cNvSpPr>
          <p:nvPr>
            <p:ph type="title"/>
          </p:nvPr>
        </p:nvSpPr>
        <p:spPr/>
        <p:txBody>
          <a:bodyPr>
            <a:normAutofit/>
          </a:bodyPr>
          <a:lstStyle/>
          <a:p>
            <a:r>
              <a:rPr lang="en-US" dirty="0"/>
              <a:t>Understanding word embeddings</a:t>
            </a:r>
          </a:p>
        </p:txBody>
      </p:sp>
      <p:sp>
        <p:nvSpPr>
          <p:cNvPr id="3" name="Slide Number Placeholder 2">
            <a:extLst>
              <a:ext uri="{FF2B5EF4-FFF2-40B4-BE49-F238E27FC236}">
                <a16:creationId xmlns:a16="http://schemas.microsoft.com/office/drawing/2014/main" id="{F85233E1-8602-1D95-897E-CD9C85FC3386}"/>
              </a:ext>
            </a:extLst>
          </p:cNvPr>
          <p:cNvSpPr>
            <a:spLocks noGrp="1"/>
          </p:cNvSpPr>
          <p:nvPr>
            <p:ph type="sldNum" sz="quarter" idx="12"/>
          </p:nvPr>
        </p:nvSpPr>
        <p:spPr/>
        <p:txBody>
          <a:bodyPr>
            <a:normAutofit fontScale="85000" lnSpcReduction="20000"/>
          </a:bodyPr>
          <a:lstStyle/>
          <a:p>
            <a:fld id="{EBFB1032-EA64-7144-B003-9BCC9D94B503}" type="slidenum">
              <a:rPr lang="en-US" smtClean="0"/>
              <a:t>6</a:t>
            </a:fld>
            <a:endParaRPr lang="en-US" dirty="0"/>
          </a:p>
        </p:txBody>
      </p:sp>
      <p:sp>
        <p:nvSpPr>
          <p:cNvPr id="4" name="Content Placeholder 3">
            <a:extLst>
              <a:ext uri="{FF2B5EF4-FFF2-40B4-BE49-F238E27FC236}">
                <a16:creationId xmlns:a16="http://schemas.microsoft.com/office/drawing/2014/main" id="{014AC373-4383-4FE8-BDA3-92EFCCB441B2}"/>
              </a:ext>
            </a:extLst>
          </p:cNvPr>
          <p:cNvSpPr>
            <a:spLocks noGrp="1"/>
          </p:cNvSpPr>
          <p:nvPr>
            <p:ph sz="quarter" idx="1"/>
          </p:nvPr>
        </p:nvSpPr>
        <p:spPr/>
        <p:txBody>
          <a:bodyPr>
            <a:noAutofit/>
          </a:bodyPr>
          <a:lstStyle/>
          <a:p>
            <a:pPr algn="just">
              <a:spcBef>
                <a:spcPts val="0"/>
              </a:spcBef>
            </a:pPr>
            <a:r>
              <a:rPr lang="en-US" sz="2300" dirty="0"/>
              <a:t>Deep neural network models, including LLMs, cannot process raw text directly. </a:t>
            </a:r>
          </a:p>
          <a:p>
            <a:pPr algn="just">
              <a:spcBef>
                <a:spcPts val="0"/>
              </a:spcBef>
            </a:pPr>
            <a:endParaRPr lang="en-US" sz="2300" dirty="0"/>
          </a:p>
          <a:p>
            <a:pPr algn="just">
              <a:spcBef>
                <a:spcPts val="0"/>
              </a:spcBef>
            </a:pPr>
            <a:r>
              <a:rPr lang="en-US" sz="2300" dirty="0"/>
              <a:t>Since text is categorical, it isn’t compatible with the mathematical operations used to implement and train neural networks.</a:t>
            </a:r>
          </a:p>
          <a:p>
            <a:pPr algn="just">
              <a:spcBef>
                <a:spcPts val="0"/>
              </a:spcBef>
            </a:pPr>
            <a:endParaRPr lang="en-US" sz="2300" dirty="0"/>
          </a:p>
          <a:p>
            <a:pPr algn="just">
              <a:spcBef>
                <a:spcPts val="0"/>
              </a:spcBef>
            </a:pPr>
            <a:r>
              <a:rPr lang="en-US" sz="2300" dirty="0"/>
              <a:t>Therefore, we need a way to represent words as continuous-valued vectors.</a:t>
            </a:r>
          </a:p>
          <a:p>
            <a:pPr algn="just">
              <a:spcBef>
                <a:spcPts val="0"/>
              </a:spcBef>
            </a:pPr>
            <a:endParaRPr lang="en-US" sz="2300" dirty="0"/>
          </a:p>
          <a:p>
            <a:pPr algn="just">
              <a:spcBef>
                <a:spcPts val="0"/>
              </a:spcBef>
            </a:pPr>
            <a:r>
              <a:rPr lang="en-US" sz="2300" dirty="0"/>
              <a:t>The concept of converting data into a vector format is often referred to as embedding.</a:t>
            </a:r>
          </a:p>
        </p:txBody>
      </p:sp>
    </p:spTree>
    <p:extLst>
      <p:ext uri="{BB962C8B-B14F-4D97-AF65-F5344CB8AC3E}">
        <p14:creationId xmlns:p14="http://schemas.microsoft.com/office/powerpoint/2010/main" val="654320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C4E47-9D26-2BDF-4F35-4575C4BD5345}"/>
              </a:ext>
            </a:extLst>
          </p:cNvPr>
          <p:cNvSpPr>
            <a:spLocks noGrp="1"/>
          </p:cNvSpPr>
          <p:nvPr>
            <p:ph type="title"/>
          </p:nvPr>
        </p:nvSpPr>
        <p:spPr/>
        <p:txBody>
          <a:bodyPr/>
          <a:lstStyle/>
          <a:p>
            <a:r>
              <a:rPr lang="en-US" dirty="0"/>
              <a:t>Embedding</a:t>
            </a:r>
          </a:p>
        </p:txBody>
      </p:sp>
      <p:sp>
        <p:nvSpPr>
          <p:cNvPr id="3" name="Slide Number Placeholder 2">
            <a:extLst>
              <a:ext uri="{FF2B5EF4-FFF2-40B4-BE49-F238E27FC236}">
                <a16:creationId xmlns:a16="http://schemas.microsoft.com/office/drawing/2014/main" id="{B0F4B15B-3C34-419A-4C2C-BD6928A908C4}"/>
              </a:ext>
            </a:extLst>
          </p:cNvPr>
          <p:cNvSpPr>
            <a:spLocks noGrp="1"/>
          </p:cNvSpPr>
          <p:nvPr>
            <p:ph type="sldNum" sz="quarter" idx="12"/>
          </p:nvPr>
        </p:nvSpPr>
        <p:spPr/>
        <p:txBody>
          <a:bodyPr>
            <a:normAutofit fontScale="85000" lnSpcReduction="20000"/>
          </a:bodyPr>
          <a:lstStyle/>
          <a:p>
            <a:fld id="{EBFB1032-EA64-7144-B003-9BCC9D94B503}" type="slidenum">
              <a:rPr lang="en-US" smtClean="0"/>
              <a:t>7</a:t>
            </a:fld>
            <a:endParaRPr lang="en-US" dirty="0"/>
          </a:p>
        </p:txBody>
      </p:sp>
      <p:sp>
        <p:nvSpPr>
          <p:cNvPr id="4" name="Content Placeholder 3">
            <a:extLst>
              <a:ext uri="{FF2B5EF4-FFF2-40B4-BE49-F238E27FC236}">
                <a16:creationId xmlns:a16="http://schemas.microsoft.com/office/drawing/2014/main" id="{712150AE-FB89-FB9B-3972-7F7B5E506C55}"/>
              </a:ext>
            </a:extLst>
          </p:cNvPr>
          <p:cNvSpPr>
            <a:spLocks noGrp="1"/>
          </p:cNvSpPr>
          <p:nvPr>
            <p:ph sz="quarter" idx="1"/>
          </p:nvPr>
        </p:nvSpPr>
        <p:spPr/>
        <p:txBody>
          <a:bodyPr/>
          <a:lstStyle/>
          <a:p>
            <a:pPr algn="just">
              <a:spcBef>
                <a:spcPts val="0"/>
              </a:spcBef>
            </a:pPr>
            <a:r>
              <a:rPr lang="en-US" dirty="0"/>
              <a:t>Using a specific neural network layer or another pretrained neural network model, we can embed different data types</a:t>
            </a:r>
          </a:p>
          <a:p>
            <a:pPr lvl="1" algn="just">
              <a:spcBef>
                <a:spcPts val="0"/>
              </a:spcBef>
            </a:pPr>
            <a:r>
              <a:rPr lang="en-US" dirty="0"/>
              <a:t>for example, video, audio, and text, as illustrated in figure 2.2.</a:t>
            </a:r>
          </a:p>
          <a:p>
            <a:pPr algn="just">
              <a:spcBef>
                <a:spcPts val="0"/>
              </a:spcBef>
            </a:pPr>
            <a:endParaRPr lang="en-US" dirty="0"/>
          </a:p>
          <a:p>
            <a:pPr algn="just">
              <a:spcBef>
                <a:spcPts val="0"/>
              </a:spcBef>
            </a:pPr>
            <a:r>
              <a:rPr lang="en-US" dirty="0"/>
              <a:t>However, it’s important to note that different data formats require distinct embedding models.</a:t>
            </a:r>
          </a:p>
          <a:p>
            <a:pPr algn="just">
              <a:spcBef>
                <a:spcPts val="0"/>
              </a:spcBef>
            </a:pPr>
            <a:endParaRPr lang="en-US" dirty="0"/>
          </a:p>
          <a:p>
            <a:pPr algn="just">
              <a:spcBef>
                <a:spcPts val="0"/>
              </a:spcBef>
            </a:pPr>
            <a:r>
              <a:rPr lang="en-US" dirty="0"/>
              <a:t>For example, an embedding model designed for text would not be suitable for embedding audio or video data.</a:t>
            </a:r>
          </a:p>
          <a:p>
            <a:endParaRPr lang="en-US" dirty="0"/>
          </a:p>
        </p:txBody>
      </p:sp>
    </p:spTree>
    <p:extLst>
      <p:ext uri="{BB962C8B-B14F-4D97-AF65-F5344CB8AC3E}">
        <p14:creationId xmlns:p14="http://schemas.microsoft.com/office/powerpoint/2010/main" val="23156933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121E13-F58C-C509-9E5A-7B3BB999BDE0}"/>
              </a:ext>
            </a:extLst>
          </p:cNvPr>
          <p:cNvSpPr>
            <a:spLocks noGrp="1"/>
          </p:cNvSpPr>
          <p:nvPr>
            <p:ph type="title"/>
          </p:nvPr>
        </p:nvSpPr>
        <p:spPr/>
        <p:txBody>
          <a:bodyPr>
            <a:normAutofit/>
          </a:bodyPr>
          <a:lstStyle/>
          <a:p>
            <a:r>
              <a:rPr lang="en-US" dirty="0"/>
              <a:t>Figure 2.2 Vector Representation</a:t>
            </a:r>
          </a:p>
        </p:txBody>
      </p:sp>
      <p:sp>
        <p:nvSpPr>
          <p:cNvPr id="2" name="Slide Number Placeholder 1">
            <a:extLst>
              <a:ext uri="{FF2B5EF4-FFF2-40B4-BE49-F238E27FC236}">
                <a16:creationId xmlns:a16="http://schemas.microsoft.com/office/drawing/2014/main" id="{73D0DAEC-7D52-6DA8-728D-91F7FDED7973}"/>
              </a:ext>
            </a:extLst>
          </p:cNvPr>
          <p:cNvSpPr>
            <a:spLocks noGrp="1"/>
          </p:cNvSpPr>
          <p:nvPr>
            <p:ph type="sldNum" sz="quarter" idx="12"/>
          </p:nvPr>
        </p:nvSpPr>
        <p:spPr/>
        <p:txBody>
          <a:bodyPr>
            <a:normAutofit fontScale="85000" lnSpcReduction="20000"/>
          </a:bodyPr>
          <a:lstStyle/>
          <a:p>
            <a:fld id="{EBFB1032-EA64-7144-B003-9BCC9D94B503}" type="slidenum">
              <a:rPr lang="en-US" smtClean="0"/>
              <a:t>8</a:t>
            </a:fld>
            <a:endParaRPr lang="en-US" dirty="0"/>
          </a:p>
        </p:txBody>
      </p:sp>
      <p:pic>
        <p:nvPicPr>
          <p:cNvPr id="8" name="Picture 7" descr="A diagram of a music model&#10;&#10;AI-generated content may be incorrect.">
            <a:extLst>
              <a:ext uri="{FF2B5EF4-FFF2-40B4-BE49-F238E27FC236}">
                <a16:creationId xmlns:a16="http://schemas.microsoft.com/office/drawing/2014/main" id="{A1D47BFC-7F41-FD4C-D669-127AE929F21E}"/>
              </a:ext>
            </a:extLst>
          </p:cNvPr>
          <p:cNvPicPr>
            <a:picLocks noChangeAspect="1"/>
          </p:cNvPicPr>
          <p:nvPr/>
        </p:nvPicPr>
        <p:blipFill>
          <a:blip r:embed="rId2"/>
          <a:stretch>
            <a:fillRect/>
          </a:stretch>
        </p:blipFill>
        <p:spPr>
          <a:xfrm>
            <a:off x="682425" y="1572392"/>
            <a:ext cx="7819251" cy="4023360"/>
          </a:xfrm>
          <a:prstGeom prst="rect">
            <a:avLst/>
          </a:prstGeom>
          <a:ln>
            <a:solidFill>
              <a:schemeClr val="accent1"/>
            </a:solidFill>
          </a:ln>
        </p:spPr>
      </p:pic>
      <p:sp>
        <p:nvSpPr>
          <p:cNvPr id="10" name="TextBox 9">
            <a:extLst>
              <a:ext uri="{FF2B5EF4-FFF2-40B4-BE49-F238E27FC236}">
                <a16:creationId xmlns:a16="http://schemas.microsoft.com/office/drawing/2014/main" id="{2CA80367-29F6-A169-B5CB-22DE6C991C7C}"/>
              </a:ext>
            </a:extLst>
          </p:cNvPr>
          <p:cNvSpPr txBox="1"/>
          <p:nvPr/>
        </p:nvSpPr>
        <p:spPr>
          <a:xfrm>
            <a:off x="120315" y="5651445"/>
            <a:ext cx="8880250" cy="1089529"/>
          </a:xfrm>
          <a:prstGeom prst="rect">
            <a:avLst/>
          </a:prstGeom>
          <a:noFill/>
        </p:spPr>
        <p:txBody>
          <a:bodyPr wrap="square">
            <a:spAutoFit/>
          </a:bodyPr>
          <a:lstStyle/>
          <a:p>
            <a:pPr algn="just">
              <a:lnSpc>
                <a:spcPct val="90000"/>
              </a:lnSpc>
              <a:buNone/>
            </a:pPr>
            <a:r>
              <a:rPr lang="en-US" dirty="0">
                <a:solidFill>
                  <a:srgbClr val="0070C0"/>
                </a:solidFill>
                <a:latin typeface="Arial Narrow" panose="020B0606020202030204" pitchFamily="34" charset="0"/>
              </a:rPr>
              <a:t>Deep learning models cannot process data formats like video, audio, and text in their raw form.</a:t>
            </a:r>
          </a:p>
          <a:p>
            <a:pPr algn="just">
              <a:lnSpc>
                <a:spcPct val="90000"/>
              </a:lnSpc>
              <a:buNone/>
            </a:pPr>
            <a:r>
              <a:rPr lang="en-US" dirty="0">
                <a:solidFill>
                  <a:schemeClr val="accent2">
                    <a:lumMod val="75000"/>
                  </a:schemeClr>
                </a:solidFill>
                <a:latin typeface="Arial Narrow" panose="020B0606020202030204" pitchFamily="34" charset="0"/>
              </a:rPr>
              <a:t>Thus, we use an embedding model to transform this raw data into a dense vector representation that deep learning architectures can easily understand and process.</a:t>
            </a:r>
          </a:p>
          <a:p>
            <a:pPr algn="just">
              <a:lnSpc>
                <a:spcPct val="90000"/>
              </a:lnSpc>
              <a:buNone/>
            </a:pPr>
            <a:r>
              <a:rPr lang="en-US" dirty="0">
                <a:solidFill>
                  <a:srgbClr val="00B050"/>
                </a:solidFill>
                <a:latin typeface="Arial Narrow" panose="020B0606020202030204" pitchFamily="34" charset="0"/>
              </a:rPr>
              <a:t>Specifically,</a:t>
            </a:r>
            <a:r>
              <a:rPr lang="en-US" sz="1400" dirty="0">
                <a:solidFill>
                  <a:srgbClr val="00B050"/>
                </a:solidFill>
                <a:latin typeface="Arial Narrow" panose="020B0606020202030204" pitchFamily="34" charset="0"/>
              </a:rPr>
              <a:t> </a:t>
            </a:r>
            <a:r>
              <a:rPr lang="en-US" dirty="0">
                <a:solidFill>
                  <a:srgbClr val="00B050"/>
                </a:solidFill>
                <a:latin typeface="Arial Narrow" panose="020B0606020202030204" pitchFamily="34" charset="0"/>
              </a:rPr>
              <a:t>this</a:t>
            </a:r>
            <a:r>
              <a:rPr lang="en-US" sz="1400" dirty="0">
                <a:solidFill>
                  <a:srgbClr val="00B050"/>
                </a:solidFill>
                <a:latin typeface="Arial Narrow" panose="020B0606020202030204" pitchFamily="34" charset="0"/>
              </a:rPr>
              <a:t> </a:t>
            </a:r>
            <a:r>
              <a:rPr lang="en-US" dirty="0">
                <a:solidFill>
                  <a:srgbClr val="00B050"/>
                </a:solidFill>
                <a:latin typeface="Arial Narrow" panose="020B0606020202030204" pitchFamily="34" charset="0"/>
              </a:rPr>
              <a:t>figure</a:t>
            </a:r>
            <a:r>
              <a:rPr lang="en-US" sz="1400" dirty="0">
                <a:solidFill>
                  <a:srgbClr val="00B050"/>
                </a:solidFill>
                <a:latin typeface="Arial Narrow" panose="020B0606020202030204" pitchFamily="34" charset="0"/>
              </a:rPr>
              <a:t> </a:t>
            </a:r>
            <a:r>
              <a:rPr lang="en-US" dirty="0">
                <a:solidFill>
                  <a:srgbClr val="00B050"/>
                </a:solidFill>
                <a:latin typeface="Arial Narrow" panose="020B0606020202030204" pitchFamily="34" charset="0"/>
              </a:rPr>
              <a:t>illustrates</a:t>
            </a:r>
            <a:r>
              <a:rPr lang="en-US" sz="1400" dirty="0">
                <a:solidFill>
                  <a:srgbClr val="00B050"/>
                </a:solidFill>
                <a:latin typeface="Arial Narrow" panose="020B0606020202030204" pitchFamily="34" charset="0"/>
              </a:rPr>
              <a:t> </a:t>
            </a:r>
            <a:r>
              <a:rPr lang="en-US" dirty="0">
                <a:solidFill>
                  <a:srgbClr val="00B050"/>
                </a:solidFill>
                <a:latin typeface="Arial Narrow" panose="020B0606020202030204" pitchFamily="34" charset="0"/>
              </a:rPr>
              <a:t>the</a:t>
            </a:r>
            <a:r>
              <a:rPr lang="en-US" sz="1400" dirty="0">
                <a:solidFill>
                  <a:srgbClr val="00B050"/>
                </a:solidFill>
                <a:latin typeface="Arial Narrow" panose="020B0606020202030204" pitchFamily="34" charset="0"/>
              </a:rPr>
              <a:t> </a:t>
            </a:r>
            <a:r>
              <a:rPr lang="en-US" dirty="0">
                <a:solidFill>
                  <a:srgbClr val="00B050"/>
                </a:solidFill>
                <a:latin typeface="Arial Narrow" panose="020B0606020202030204" pitchFamily="34" charset="0"/>
              </a:rPr>
              <a:t>process</a:t>
            </a:r>
            <a:r>
              <a:rPr lang="en-US" sz="1400" dirty="0">
                <a:solidFill>
                  <a:srgbClr val="00B050"/>
                </a:solidFill>
                <a:latin typeface="Arial Narrow" panose="020B0606020202030204" pitchFamily="34" charset="0"/>
              </a:rPr>
              <a:t> </a:t>
            </a:r>
            <a:r>
              <a:rPr lang="en-US" dirty="0">
                <a:solidFill>
                  <a:srgbClr val="00B050"/>
                </a:solidFill>
                <a:latin typeface="Arial Narrow" panose="020B0606020202030204" pitchFamily="34" charset="0"/>
              </a:rPr>
              <a:t>of</a:t>
            </a:r>
            <a:r>
              <a:rPr lang="en-US" sz="1400" dirty="0">
                <a:solidFill>
                  <a:srgbClr val="00B050"/>
                </a:solidFill>
                <a:latin typeface="Arial Narrow" panose="020B0606020202030204" pitchFamily="34" charset="0"/>
              </a:rPr>
              <a:t> </a:t>
            </a:r>
            <a:r>
              <a:rPr lang="en-US" dirty="0">
                <a:solidFill>
                  <a:srgbClr val="00B050"/>
                </a:solidFill>
                <a:latin typeface="Arial Narrow" panose="020B0606020202030204" pitchFamily="34" charset="0"/>
              </a:rPr>
              <a:t>converting</a:t>
            </a:r>
            <a:r>
              <a:rPr lang="en-US" sz="1400" dirty="0">
                <a:solidFill>
                  <a:srgbClr val="00B050"/>
                </a:solidFill>
                <a:latin typeface="Arial Narrow" panose="020B0606020202030204" pitchFamily="34" charset="0"/>
              </a:rPr>
              <a:t> </a:t>
            </a:r>
            <a:r>
              <a:rPr lang="en-US" dirty="0">
                <a:solidFill>
                  <a:srgbClr val="00B050"/>
                </a:solidFill>
                <a:latin typeface="Arial Narrow" panose="020B0606020202030204" pitchFamily="34" charset="0"/>
              </a:rPr>
              <a:t>raw</a:t>
            </a:r>
            <a:r>
              <a:rPr lang="en-US" sz="1400" dirty="0">
                <a:solidFill>
                  <a:srgbClr val="00B050"/>
                </a:solidFill>
                <a:latin typeface="Arial Narrow" panose="020B0606020202030204" pitchFamily="34" charset="0"/>
              </a:rPr>
              <a:t> </a:t>
            </a:r>
            <a:r>
              <a:rPr lang="en-US" dirty="0">
                <a:solidFill>
                  <a:srgbClr val="00B050"/>
                </a:solidFill>
                <a:latin typeface="Arial Narrow" panose="020B0606020202030204" pitchFamily="34" charset="0"/>
              </a:rPr>
              <a:t>data</a:t>
            </a:r>
            <a:r>
              <a:rPr lang="en-US" sz="1400" dirty="0">
                <a:solidFill>
                  <a:srgbClr val="00B050"/>
                </a:solidFill>
                <a:latin typeface="Arial Narrow" panose="020B0606020202030204" pitchFamily="34" charset="0"/>
              </a:rPr>
              <a:t> </a:t>
            </a:r>
            <a:r>
              <a:rPr lang="en-US" dirty="0">
                <a:solidFill>
                  <a:srgbClr val="00B050"/>
                </a:solidFill>
                <a:latin typeface="Arial Narrow" panose="020B0606020202030204" pitchFamily="34" charset="0"/>
              </a:rPr>
              <a:t>into a 3-dimensional</a:t>
            </a:r>
            <a:r>
              <a:rPr lang="en-US" sz="1400" dirty="0">
                <a:solidFill>
                  <a:srgbClr val="00B050"/>
                </a:solidFill>
                <a:latin typeface="Arial Narrow" panose="020B0606020202030204" pitchFamily="34" charset="0"/>
              </a:rPr>
              <a:t> </a:t>
            </a:r>
            <a:r>
              <a:rPr lang="en-US" dirty="0">
                <a:solidFill>
                  <a:srgbClr val="00B050"/>
                </a:solidFill>
                <a:latin typeface="Arial Narrow" panose="020B0606020202030204" pitchFamily="34" charset="0"/>
              </a:rPr>
              <a:t>numerical</a:t>
            </a:r>
            <a:r>
              <a:rPr lang="en-US" sz="1400" dirty="0">
                <a:solidFill>
                  <a:srgbClr val="00B050"/>
                </a:solidFill>
                <a:latin typeface="Arial Narrow" panose="020B0606020202030204" pitchFamily="34" charset="0"/>
              </a:rPr>
              <a:t> </a:t>
            </a:r>
            <a:r>
              <a:rPr lang="en-US" dirty="0">
                <a:solidFill>
                  <a:srgbClr val="00B050"/>
                </a:solidFill>
                <a:latin typeface="Arial Narrow" panose="020B0606020202030204" pitchFamily="34" charset="0"/>
              </a:rPr>
              <a:t>vector.</a:t>
            </a:r>
          </a:p>
        </p:txBody>
      </p:sp>
    </p:spTree>
    <p:extLst>
      <p:ext uri="{BB962C8B-B14F-4D97-AF65-F5344CB8AC3E}">
        <p14:creationId xmlns:p14="http://schemas.microsoft.com/office/powerpoint/2010/main" val="26871059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1FD29-BBF5-971E-D335-B37F2BA21469}"/>
              </a:ext>
            </a:extLst>
          </p:cNvPr>
          <p:cNvSpPr>
            <a:spLocks noGrp="1"/>
          </p:cNvSpPr>
          <p:nvPr>
            <p:ph type="title"/>
          </p:nvPr>
        </p:nvSpPr>
        <p:spPr/>
        <p:txBody>
          <a:bodyPr/>
          <a:lstStyle/>
          <a:p>
            <a:r>
              <a:rPr lang="en-US" dirty="0"/>
              <a:t>Primary Purpose of Embeddings</a:t>
            </a:r>
          </a:p>
        </p:txBody>
      </p:sp>
      <p:sp>
        <p:nvSpPr>
          <p:cNvPr id="3" name="Slide Number Placeholder 2">
            <a:extLst>
              <a:ext uri="{FF2B5EF4-FFF2-40B4-BE49-F238E27FC236}">
                <a16:creationId xmlns:a16="http://schemas.microsoft.com/office/drawing/2014/main" id="{3DD6362E-0856-8096-E65C-7ECA5975F7FF}"/>
              </a:ext>
            </a:extLst>
          </p:cNvPr>
          <p:cNvSpPr>
            <a:spLocks noGrp="1"/>
          </p:cNvSpPr>
          <p:nvPr>
            <p:ph type="sldNum" sz="quarter" idx="12"/>
          </p:nvPr>
        </p:nvSpPr>
        <p:spPr/>
        <p:txBody>
          <a:bodyPr>
            <a:normAutofit fontScale="85000" lnSpcReduction="20000"/>
          </a:bodyPr>
          <a:lstStyle/>
          <a:p>
            <a:fld id="{EBFB1032-EA64-7144-B003-9BCC9D94B503}" type="slidenum">
              <a:rPr lang="en-US" smtClean="0"/>
              <a:t>9</a:t>
            </a:fld>
            <a:endParaRPr lang="en-US" dirty="0"/>
          </a:p>
        </p:txBody>
      </p:sp>
      <p:sp>
        <p:nvSpPr>
          <p:cNvPr id="4" name="Content Placeholder 3">
            <a:extLst>
              <a:ext uri="{FF2B5EF4-FFF2-40B4-BE49-F238E27FC236}">
                <a16:creationId xmlns:a16="http://schemas.microsoft.com/office/drawing/2014/main" id="{E23156AE-D9B4-0BD1-101F-D2D333291383}"/>
              </a:ext>
            </a:extLst>
          </p:cNvPr>
          <p:cNvSpPr>
            <a:spLocks noGrp="1"/>
          </p:cNvSpPr>
          <p:nvPr>
            <p:ph sz="quarter" idx="1"/>
          </p:nvPr>
        </p:nvSpPr>
        <p:spPr/>
        <p:txBody>
          <a:bodyPr>
            <a:noAutofit/>
          </a:bodyPr>
          <a:lstStyle/>
          <a:p>
            <a:pPr algn="just">
              <a:spcBef>
                <a:spcPts val="0"/>
              </a:spcBef>
            </a:pPr>
            <a:r>
              <a:rPr lang="en-US" dirty="0"/>
              <a:t>At its core, an embedding is a mapping from discrete objects, such as words, images, or even entire documents, to points in a continuous vector space—the primary purpose of embeddings is to convert nonnumeric data into a format that neural networks can process.</a:t>
            </a:r>
          </a:p>
          <a:p>
            <a:pPr algn="just">
              <a:spcBef>
                <a:spcPts val="0"/>
              </a:spcBef>
            </a:pPr>
            <a:endParaRPr lang="en-US" dirty="0"/>
          </a:p>
          <a:p>
            <a:pPr algn="just">
              <a:spcBef>
                <a:spcPts val="0"/>
              </a:spcBef>
            </a:pPr>
            <a:r>
              <a:rPr lang="en-US" dirty="0"/>
              <a:t>While word embeddings are the most common form of text embedding, there are also embeddings for sentences, paragraphs, or whole documents. </a:t>
            </a:r>
          </a:p>
          <a:p>
            <a:pPr algn="just">
              <a:spcBef>
                <a:spcPts val="0"/>
              </a:spcBef>
            </a:pPr>
            <a:endParaRPr lang="en-US" dirty="0"/>
          </a:p>
          <a:p>
            <a:pPr algn="just">
              <a:spcBef>
                <a:spcPts val="0"/>
              </a:spcBef>
            </a:pPr>
            <a:r>
              <a:rPr lang="en-US" dirty="0"/>
              <a:t>Sentence or paragraph embeddings are popular choices for retrieval-augmented generation.</a:t>
            </a:r>
          </a:p>
        </p:txBody>
      </p:sp>
    </p:spTree>
    <p:extLst>
      <p:ext uri="{BB962C8B-B14F-4D97-AF65-F5344CB8AC3E}">
        <p14:creationId xmlns:p14="http://schemas.microsoft.com/office/powerpoint/2010/main" val="1178149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DAEFA-2F36-ED3A-75BE-1D64D4BCDA53}"/>
              </a:ext>
            </a:extLst>
          </p:cNvPr>
          <p:cNvSpPr>
            <a:spLocks noGrp="1"/>
          </p:cNvSpPr>
          <p:nvPr>
            <p:ph type="title"/>
          </p:nvPr>
        </p:nvSpPr>
        <p:spPr/>
        <p:txBody>
          <a:bodyPr/>
          <a:lstStyle/>
          <a:p>
            <a:r>
              <a:rPr lang="en-US" dirty="0"/>
              <a:t>Retrieval-augmented generation</a:t>
            </a:r>
          </a:p>
        </p:txBody>
      </p:sp>
      <p:sp>
        <p:nvSpPr>
          <p:cNvPr id="3" name="Slide Number Placeholder 2">
            <a:extLst>
              <a:ext uri="{FF2B5EF4-FFF2-40B4-BE49-F238E27FC236}">
                <a16:creationId xmlns:a16="http://schemas.microsoft.com/office/drawing/2014/main" id="{00250348-A006-E384-4E36-26E8370DD27A}"/>
              </a:ext>
            </a:extLst>
          </p:cNvPr>
          <p:cNvSpPr>
            <a:spLocks noGrp="1"/>
          </p:cNvSpPr>
          <p:nvPr>
            <p:ph type="sldNum" sz="quarter" idx="12"/>
          </p:nvPr>
        </p:nvSpPr>
        <p:spPr/>
        <p:txBody>
          <a:bodyPr>
            <a:normAutofit fontScale="85000" lnSpcReduction="20000"/>
          </a:bodyPr>
          <a:lstStyle/>
          <a:p>
            <a:fld id="{EBFB1032-EA64-7144-B003-9BCC9D94B503}" type="slidenum">
              <a:rPr lang="en-US" smtClean="0"/>
              <a:t>10</a:t>
            </a:fld>
            <a:endParaRPr lang="en-US" dirty="0"/>
          </a:p>
        </p:txBody>
      </p:sp>
      <p:sp>
        <p:nvSpPr>
          <p:cNvPr id="4" name="Content Placeholder 3">
            <a:extLst>
              <a:ext uri="{FF2B5EF4-FFF2-40B4-BE49-F238E27FC236}">
                <a16:creationId xmlns:a16="http://schemas.microsoft.com/office/drawing/2014/main" id="{550CD76A-1751-CA0C-4007-D3A1A18A6417}"/>
              </a:ext>
            </a:extLst>
          </p:cNvPr>
          <p:cNvSpPr>
            <a:spLocks noGrp="1"/>
          </p:cNvSpPr>
          <p:nvPr>
            <p:ph sz="quarter" idx="1"/>
          </p:nvPr>
        </p:nvSpPr>
        <p:spPr/>
        <p:txBody>
          <a:bodyPr/>
          <a:lstStyle/>
          <a:p>
            <a:pPr algn="just">
              <a:spcBef>
                <a:spcPts val="0"/>
              </a:spcBef>
            </a:pPr>
            <a:r>
              <a:rPr lang="en-US" dirty="0"/>
              <a:t>Retrieval-augmented generation combines generation (like producing text) with retrieval (like searching an external knowledge base) to pull relevant information when generating text, which is a technique that is beyond the scope of this class.</a:t>
            </a:r>
          </a:p>
          <a:p>
            <a:pPr algn="just">
              <a:spcBef>
                <a:spcPts val="0"/>
              </a:spcBef>
            </a:pPr>
            <a:endParaRPr lang="en-US" dirty="0"/>
          </a:p>
          <a:p>
            <a:pPr algn="just">
              <a:spcBef>
                <a:spcPts val="0"/>
              </a:spcBef>
            </a:pPr>
            <a:r>
              <a:rPr lang="en-US" dirty="0"/>
              <a:t>Since our goal is to train GPT-like LLMs, which learn to generate text one word at a time, we will focus on word embeddings.</a:t>
            </a:r>
          </a:p>
          <a:p>
            <a:endParaRPr lang="en-US" dirty="0"/>
          </a:p>
        </p:txBody>
      </p:sp>
    </p:spTree>
    <p:extLst>
      <p:ext uri="{BB962C8B-B14F-4D97-AF65-F5344CB8AC3E}">
        <p14:creationId xmlns:p14="http://schemas.microsoft.com/office/powerpoint/2010/main" val="2464091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566F4-BB3E-5563-874F-6725880FD909}"/>
              </a:ext>
            </a:extLst>
          </p:cNvPr>
          <p:cNvSpPr>
            <a:spLocks noGrp="1"/>
          </p:cNvSpPr>
          <p:nvPr>
            <p:ph type="title"/>
          </p:nvPr>
        </p:nvSpPr>
        <p:spPr/>
        <p:txBody>
          <a:bodyPr/>
          <a:lstStyle/>
          <a:p>
            <a:r>
              <a:rPr lang="en-US" dirty="0"/>
              <a:t>Algorithms</a:t>
            </a:r>
          </a:p>
        </p:txBody>
      </p:sp>
      <p:sp>
        <p:nvSpPr>
          <p:cNvPr id="3" name="Slide Number Placeholder 2">
            <a:extLst>
              <a:ext uri="{FF2B5EF4-FFF2-40B4-BE49-F238E27FC236}">
                <a16:creationId xmlns:a16="http://schemas.microsoft.com/office/drawing/2014/main" id="{349FBFC1-0F00-BA72-F1F7-3E8713146C5C}"/>
              </a:ext>
            </a:extLst>
          </p:cNvPr>
          <p:cNvSpPr>
            <a:spLocks noGrp="1"/>
          </p:cNvSpPr>
          <p:nvPr>
            <p:ph type="sldNum" sz="quarter" idx="12"/>
          </p:nvPr>
        </p:nvSpPr>
        <p:spPr/>
        <p:txBody>
          <a:bodyPr>
            <a:normAutofit fontScale="85000" lnSpcReduction="20000"/>
          </a:bodyPr>
          <a:lstStyle/>
          <a:p>
            <a:fld id="{EBFB1032-EA64-7144-B003-9BCC9D94B503}" type="slidenum">
              <a:rPr lang="en-US" smtClean="0"/>
              <a:t>11</a:t>
            </a:fld>
            <a:endParaRPr lang="en-US" dirty="0"/>
          </a:p>
        </p:txBody>
      </p:sp>
      <p:sp>
        <p:nvSpPr>
          <p:cNvPr id="4" name="Content Placeholder 3">
            <a:extLst>
              <a:ext uri="{FF2B5EF4-FFF2-40B4-BE49-F238E27FC236}">
                <a16:creationId xmlns:a16="http://schemas.microsoft.com/office/drawing/2014/main" id="{5A0671F2-0FDF-EC31-F374-F7B26913401D}"/>
              </a:ext>
            </a:extLst>
          </p:cNvPr>
          <p:cNvSpPr>
            <a:spLocks noGrp="1"/>
          </p:cNvSpPr>
          <p:nvPr>
            <p:ph sz="quarter" idx="1"/>
          </p:nvPr>
        </p:nvSpPr>
        <p:spPr/>
        <p:txBody>
          <a:bodyPr>
            <a:normAutofit/>
          </a:bodyPr>
          <a:lstStyle/>
          <a:p>
            <a:pPr algn="just"/>
            <a:r>
              <a:rPr lang="en-US" sz="2300" dirty="0"/>
              <a:t>Several algorithms and frameworks have been developed to generate word embeddings.</a:t>
            </a:r>
          </a:p>
          <a:p>
            <a:pPr algn="just"/>
            <a:endParaRPr lang="en-US" sz="1100" dirty="0"/>
          </a:p>
          <a:p>
            <a:pPr algn="just"/>
            <a:r>
              <a:rPr lang="en-US" sz="2300" dirty="0"/>
              <a:t>One of the earlier and most popular examples is the Word2Vec approach. </a:t>
            </a:r>
          </a:p>
          <a:p>
            <a:pPr algn="just"/>
            <a:endParaRPr lang="en-US" sz="1000" dirty="0"/>
          </a:p>
          <a:p>
            <a:pPr algn="just"/>
            <a:r>
              <a:rPr lang="en-US" sz="2300" dirty="0"/>
              <a:t>Word2Vec trained neural network architecture to generate word embeddings by predicting the context of a word given the target word or vice versa.</a:t>
            </a:r>
          </a:p>
          <a:p>
            <a:pPr algn="just"/>
            <a:endParaRPr lang="en-US" sz="1000" dirty="0"/>
          </a:p>
          <a:p>
            <a:pPr algn="just"/>
            <a:r>
              <a:rPr lang="en-US" sz="2300" dirty="0"/>
              <a:t>The main idea behind Word2Vec is that words that appear in similar contexts tend to have similar meanings.</a:t>
            </a:r>
          </a:p>
          <a:p>
            <a:pPr algn="just"/>
            <a:endParaRPr lang="en-US" sz="1000" dirty="0"/>
          </a:p>
          <a:p>
            <a:pPr algn="just"/>
            <a:r>
              <a:rPr lang="en-US" sz="2300" dirty="0"/>
              <a:t>Consequently, when projected into two-dimensional word embeddings for visualization purposes, similar terms are clustered together, shown in figure 2.3</a:t>
            </a:r>
          </a:p>
        </p:txBody>
      </p:sp>
    </p:spTree>
    <p:extLst>
      <p:ext uri="{BB962C8B-B14F-4D97-AF65-F5344CB8AC3E}">
        <p14:creationId xmlns:p14="http://schemas.microsoft.com/office/powerpoint/2010/main" val="4431580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F8107A9-6ECA-E56F-7C54-EF0FA00EF289}"/>
              </a:ext>
            </a:extLst>
          </p:cNvPr>
          <p:cNvSpPr>
            <a:spLocks noGrp="1"/>
          </p:cNvSpPr>
          <p:nvPr>
            <p:ph type="title"/>
          </p:nvPr>
        </p:nvSpPr>
        <p:spPr/>
        <p:txBody>
          <a:bodyPr>
            <a:noAutofit/>
          </a:bodyPr>
          <a:lstStyle/>
          <a:p>
            <a:r>
              <a:rPr lang="en-US" sz="3000" dirty="0"/>
              <a:t>Figure 2.3 Two-dimensional scatterplot for visualization</a:t>
            </a:r>
          </a:p>
        </p:txBody>
      </p:sp>
      <p:sp>
        <p:nvSpPr>
          <p:cNvPr id="2" name="Slide Number Placeholder 1">
            <a:extLst>
              <a:ext uri="{FF2B5EF4-FFF2-40B4-BE49-F238E27FC236}">
                <a16:creationId xmlns:a16="http://schemas.microsoft.com/office/drawing/2014/main" id="{574737B5-9383-04CC-68B7-B345C6BD9152}"/>
              </a:ext>
            </a:extLst>
          </p:cNvPr>
          <p:cNvSpPr>
            <a:spLocks noGrp="1"/>
          </p:cNvSpPr>
          <p:nvPr>
            <p:ph type="sldNum" sz="quarter" idx="12"/>
          </p:nvPr>
        </p:nvSpPr>
        <p:spPr/>
        <p:txBody>
          <a:bodyPr>
            <a:normAutofit fontScale="85000" lnSpcReduction="20000"/>
          </a:bodyPr>
          <a:lstStyle/>
          <a:p>
            <a:fld id="{EBFB1032-EA64-7144-B003-9BCC9D94B503}" type="slidenum">
              <a:rPr lang="en-US" smtClean="0"/>
              <a:t>12</a:t>
            </a:fld>
            <a:endParaRPr lang="en-US" dirty="0"/>
          </a:p>
        </p:txBody>
      </p:sp>
      <p:pic>
        <p:nvPicPr>
          <p:cNvPr id="8" name="Picture 7" descr="A diagram of different types of bird species&#10;&#10;AI-generated content may be incorrect.">
            <a:extLst>
              <a:ext uri="{FF2B5EF4-FFF2-40B4-BE49-F238E27FC236}">
                <a16:creationId xmlns:a16="http://schemas.microsoft.com/office/drawing/2014/main" id="{F8AF15A8-F9A9-C052-E5A5-B4E23E065E97}"/>
              </a:ext>
            </a:extLst>
          </p:cNvPr>
          <p:cNvPicPr>
            <a:picLocks noChangeAspect="1"/>
          </p:cNvPicPr>
          <p:nvPr/>
        </p:nvPicPr>
        <p:blipFill>
          <a:blip r:embed="rId2"/>
          <a:stretch>
            <a:fillRect/>
          </a:stretch>
        </p:blipFill>
        <p:spPr>
          <a:xfrm>
            <a:off x="1974152" y="1516698"/>
            <a:ext cx="5195695" cy="3657600"/>
          </a:xfrm>
          <a:prstGeom prst="rect">
            <a:avLst/>
          </a:prstGeom>
        </p:spPr>
      </p:pic>
      <p:sp>
        <p:nvSpPr>
          <p:cNvPr id="10" name="TextBox 9">
            <a:extLst>
              <a:ext uri="{FF2B5EF4-FFF2-40B4-BE49-F238E27FC236}">
                <a16:creationId xmlns:a16="http://schemas.microsoft.com/office/drawing/2014/main" id="{979B5953-8023-5039-D532-0A6D894A842C}"/>
              </a:ext>
            </a:extLst>
          </p:cNvPr>
          <p:cNvSpPr txBox="1"/>
          <p:nvPr/>
        </p:nvSpPr>
        <p:spPr>
          <a:xfrm>
            <a:off x="120315" y="5376190"/>
            <a:ext cx="8943473" cy="1477328"/>
          </a:xfrm>
          <a:prstGeom prst="rect">
            <a:avLst/>
          </a:prstGeom>
          <a:noFill/>
        </p:spPr>
        <p:txBody>
          <a:bodyPr wrap="square">
            <a:spAutoFit/>
          </a:bodyPr>
          <a:lstStyle/>
          <a:p>
            <a:pPr algn="just">
              <a:buNone/>
            </a:pPr>
            <a:r>
              <a:rPr lang="en-US" dirty="0">
                <a:solidFill>
                  <a:srgbClr val="C00000"/>
                </a:solidFill>
                <a:latin typeface="Arial Narrow" panose="020B0606020202030204" pitchFamily="34" charset="0"/>
              </a:rPr>
              <a:t>If word embeddings are two-dimensional, we can plot them in a two-dimensional scatterplot for visualization purposes as shown here.</a:t>
            </a:r>
          </a:p>
          <a:p>
            <a:pPr algn="just">
              <a:buNone/>
            </a:pPr>
            <a:r>
              <a:rPr lang="en-US" dirty="0">
                <a:solidFill>
                  <a:srgbClr val="0070C0"/>
                </a:solidFill>
                <a:latin typeface="Arial Narrow" panose="020B0606020202030204" pitchFamily="34" charset="0"/>
              </a:rPr>
              <a:t>When using word embedding techniques, such as Word2Vec, words corresponding to similar concepts often appear close to each other in the embedding space.</a:t>
            </a:r>
          </a:p>
          <a:p>
            <a:pPr algn="just">
              <a:buNone/>
            </a:pPr>
            <a:r>
              <a:rPr lang="en-US" dirty="0">
                <a:solidFill>
                  <a:srgbClr val="00B050"/>
                </a:solidFill>
                <a:latin typeface="Arial Narrow" panose="020B0606020202030204" pitchFamily="34" charset="0"/>
              </a:rPr>
              <a:t>For instance, different types of birds appear closer to each other than in countries and cities.</a:t>
            </a:r>
          </a:p>
        </p:txBody>
      </p:sp>
    </p:spTree>
    <p:extLst>
      <p:ext uri="{BB962C8B-B14F-4D97-AF65-F5344CB8AC3E}">
        <p14:creationId xmlns:p14="http://schemas.microsoft.com/office/powerpoint/2010/main" val="12737688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A901F-5C4F-5AEF-A80F-E961A9132A1A}"/>
              </a:ext>
            </a:extLst>
          </p:cNvPr>
          <p:cNvSpPr>
            <a:spLocks noGrp="1"/>
          </p:cNvSpPr>
          <p:nvPr>
            <p:ph type="title"/>
          </p:nvPr>
        </p:nvSpPr>
        <p:spPr/>
        <p:txBody>
          <a:bodyPr>
            <a:normAutofit fontScale="90000"/>
          </a:bodyPr>
          <a:lstStyle/>
          <a:p>
            <a:r>
              <a:rPr lang="en-US" dirty="0"/>
              <a:t>Word embeddings can have varying dimensions</a:t>
            </a:r>
          </a:p>
        </p:txBody>
      </p:sp>
      <p:sp>
        <p:nvSpPr>
          <p:cNvPr id="3" name="Slide Number Placeholder 2">
            <a:extLst>
              <a:ext uri="{FF2B5EF4-FFF2-40B4-BE49-F238E27FC236}">
                <a16:creationId xmlns:a16="http://schemas.microsoft.com/office/drawing/2014/main" id="{DA2B3DCE-6DDD-B7FF-7BC7-0A64F737EFA1}"/>
              </a:ext>
            </a:extLst>
          </p:cNvPr>
          <p:cNvSpPr>
            <a:spLocks noGrp="1"/>
          </p:cNvSpPr>
          <p:nvPr>
            <p:ph type="sldNum" sz="quarter" idx="12"/>
          </p:nvPr>
        </p:nvSpPr>
        <p:spPr/>
        <p:txBody>
          <a:bodyPr>
            <a:normAutofit fontScale="85000" lnSpcReduction="20000"/>
          </a:bodyPr>
          <a:lstStyle/>
          <a:p>
            <a:fld id="{EBFB1032-EA64-7144-B003-9BCC9D94B503}" type="slidenum">
              <a:rPr lang="en-US" smtClean="0"/>
              <a:t>13</a:t>
            </a:fld>
            <a:endParaRPr lang="en-US" dirty="0"/>
          </a:p>
        </p:txBody>
      </p:sp>
      <p:sp>
        <p:nvSpPr>
          <p:cNvPr id="4" name="Content Placeholder 3">
            <a:extLst>
              <a:ext uri="{FF2B5EF4-FFF2-40B4-BE49-F238E27FC236}">
                <a16:creationId xmlns:a16="http://schemas.microsoft.com/office/drawing/2014/main" id="{393ECB7F-09FA-CF48-5E15-B0BFE7914548}"/>
              </a:ext>
            </a:extLst>
          </p:cNvPr>
          <p:cNvSpPr>
            <a:spLocks noGrp="1"/>
          </p:cNvSpPr>
          <p:nvPr>
            <p:ph sz="quarter" idx="1"/>
          </p:nvPr>
        </p:nvSpPr>
        <p:spPr/>
        <p:txBody>
          <a:bodyPr>
            <a:noAutofit/>
          </a:bodyPr>
          <a:lstStyle/>
          <a:p>
            <a:pPr algn="just">
              <a:spcBef>
                <a:spcPts val="0"/>
              </a:spcBef>
            </a:pPr>
            <a:r>
              <a:rPr lang="en-US" dirty="0"/>
              <a:t>Word embeddings can have varying dimensions, from one to thousands.</a:t>
            </a:r>
          </a:p>
          <a:p>
            <a:pPr algn="just">
              <a:spcBef>
                <a:spcPts val="0"/>
              </a:spcBef>
            </a:pPr>
            <a:endParaRPr lang="en-US" dirty="0"/>
          </a:p>
          <a:p>
            <a:pPr algn="just">
              <a:spcBef>
                <a:spcPts val="0"/>
              </a:spcBef>
            </a:pPr>
            <a:r>
              <a:rPr lang="en-US" dirty="0"/>
              <a:t>A higher dimensionality might capture more nuanced relationships but at the cost of computational efficiency.</a:t>
            </a:r>
          </a:p>
          <a:p>
            <a:pPr algn="just">
              <a:spcBef>
                <a:spcPts val="0"/>
              </a:spcBef>
            </a:pPr>
            <a:endParaRPr lang="en-US" dirty="0"/>
          </a:p>
          <a:p>
            <a:pPr algn="just">
              <a:spcBef>
                <a:spcPts val="0"/>
              </a:spcBef>
            </a:pPr>
            <a:r>
              <a:rPr lang="en-US" dirty="0"/>
              <a:t>While we can use pretrained models such as Word2Vec to generate embeddings for machine learning models, LLMs commonly produce their own embeddings that are part of the input layer and are updated during training.</a:t>
            </a:r>
          </a:p>
        </p:txBody>
      </p:sp>
    </p:spTree>
    <p:extLst>
      <p:ext uri="{BB962C8B-B14F-4D97-AF65-F5344CB8AC3E}">
        <p14:creationId xmlns:p14="http://schemas.microsoft.com/office/powerpoint/2010/main" val="34555363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99327-0564-6115-37F4-6C20246833E0}"/>
              </a:ext>
            </a:extLst>
          </p:cNvPr>
          <p:cNvSpPr>
            <a:spLocks noGrp="1"/>
          </p:cNvSpPr>
          <p:nvPr>
            <p:ph type="title"/>
          </p:nvPr>
        </p:nvSpPr>
        <p:spPr/>
        <p:txBody>
          <a:bodyPr>
            <a:noAutofit/>
          </a:bodyPr>
          <a:lstStyle/>
          <a:p>
            <a:r>
              <a:rPr lang="en-US" sz="2900" b="0" dirty="0"/>
              <a:t>Embeddings are optimized to the specific task and data at hand</a:t>
            </a:r>
          </a:p>
        </p:txBody>
      </p:sp>
      <p:sp>
        <p:nvSpPr>
          <p:cNvPr id="3" name="Slide Number Placeholder 2">
            <a:extLst>
              <a:ext uri="{FF2B5EF4-FFF2-40B4-BE49-F238E27FC236}">
                <a16:creationId xmlns:a16="http://schemas.microsoft.com/office/drawing/2014/main" id="{482FFCE3-C5A5-08B9-6E47-0484F713F34F}"/>
              </a:ext>
            </a:extLst>
          </p:cNvPr>
          <p:cNvSpPr>
            <a:spLocks noGrp="1"/>
          </p:cNvSpPr>
          <p:nvPr>
            <p:ph type="sldNum" sz="quarter" idx="12"/>
          </p:nvPr>
        </p:nvSpPr>
        <p:spPr/>
        <p:txBody>
          <a:bodyPr>
            <a:normAutofit fontScale="85000" lnSpcReduction="20000"/>
          </a:bodyPr>
          <a:lstStyle/>
          <a:p>
            <a:fld id="{EBFB1032-EA64-7144-B003-9BCC9D94B503}" type="slidenum">
              <a:rPr lang="en-US" smtClean="0"/>
              <a:t>14</a:t>
            </a:fld>
            <a:endParaRPr lang="en-US" dirty="0"/>
          </a:p>
        </p:txBody>
      </p:sp>
      <p:sp>
        <p:nvSpPr>
          <p:cNvPr id="4" name="Content Placeholder 3">
            <a:extLst>
              <a:ext uri="{FF2B5EF4-FFF2-40B4-BE49-F238E27FC236}">
                <a16:creationId xmlns:a16="http://schemas.microsoft.com/office/drawing/2014/main" id="{202F6B3E-A754-48FF-4449-CE5E97642992}"/>
              </a:ext>
            </a:extLst>
          </p:cNvPr>
          <p:cNvSpPr>
            <a:spLocks noGrp="1"/>
          </p:cNvSpPr>
          <p:nvPr>
            <p:ph sz="quarter" idx="1"/>
          </p:nvPr>
        </p:nvSpPr>
        <p:spPr/>
        <p:txBody>
          <a:bodyPr/>
          <a:lstStyle/>
          <a:p>
            <a:pPr algn="just">
              <a:spcBef>
                <a:spcPts val="0"/>
              </a:spcBef>
            </a:pPr>
            <a:r>
              <a:rPr lang="en-US" dirty="0"/>
              <a:t>The advantage of optimizing the embeddings as part of the LLM training instead of using Word2Vec is that the embeddings are optimized to the specific task and data at hand.</a:t>
            </a:r>
          </a:p>
          <a:p>
            <a:pPr algn="just">
              <a:spcBef>
                <a:spcPts val="0"/>
              </a:spcBef>
            </a:pPr>
            <a:endParaRPr lang="en-US" dirty="0"/>
          </a:p>
          <a:p>
            <a:pPr algn="just">
              <a:spcBef>
                <a:spcPts val="0"/>
              </a:spcBef>
            </a:pPr>
            <a:r>
              <a:rPr lang="en-US" dirty="0"/>
              <a:t>We will implement such embedding layers later.</a:t>
            </a:r>
          </a:p>
          <a:p>
            <a:pPr algn="just">
              <a:spcBef>
                <a:spcPts val="0"/>
              </a:spcBef>
            </a:pPr>
            <a:endParaRPr lang="en-US" dirty="0"/>
          </a:p>
          <a:p>
            <a:pPr algn="just">
              <a:spcBef>
                <a:spcPts val="0"/>
              </a:spcBef>
            </a:pPr>
            <a:r>
              <a:rPr lang="en-US" dirty="0"/>
              <a:t>LLMs can also create contextualized output embeddings, as we discuss in the next lecture.</a:t>
            </a:r>
          </a:p>
          <a:p>
            <a:pPr algn="just"/>
            <a:endParaRPr lang="en-US" dirty="0"/>
          </a:p>
        </p:txBody>
      </p:sp>
    </p:spTree>
    <p:extLst>
      <p:ext uri="{BB962C8B-B14F-4D97-AF65-F5344CB8AC3E}">
        <p14:creationId xmlns:p14="http://schemas.microsoft.com/office/powerpoint/2010/main" val="6304069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C531D-5624-2946-18D5-2038E5DA3E68}"/>
              </a:ext>
            </a:extLst>
          </p:cNvPr>
          <p:cNvSpPr>
            <a:spLocks noGrp="1"/>
          </p:cNvSpPr>
          <p:nvPr>
            <p:ph type="title"/>
          </p:nvPr>
        </p:nvSpPr>
        <p:spPr/>
        <p:txBody>
          <a:bodyPr>
            <a:normAutofit fontScale="90000"/>
          </a:bodyPr>
          <a:lstStyle/>
          <a:p>
            <a:r>
              <a:rPr lang="en-US" dirty="0"/>
              <a:t>High-dimensional embeddings present a challenge</a:t>
            </a:r>
          </a:p>
        </p:txBody>
      </p:sp>
      <p:sp>
        <p:nvSpPr>
          <p:cNvPr id="3" name="Slide Number Placeholder 2">
            <a:extLst>
              <a:ext uri="{FF2B5EF4-FFF2-40B4-BE49-F238E27FC236}">
                <a16:creationId xmlns:a16="http://schemas.microsoft.com/office/drawing/2014/main" id="{48F007AC-043D-90D1-453E-A67AA18240AD}"/>
              </a:ext>
            </a:extLst>
          </p:cNvPr>
          <p:cNvSpPr>
            <a:spLocks noGrp="1"/>
          </p:cNvSpPr>
          <p:nvPr>
            <p:ph type="sldNum" sz="quarter" idx="12"/>
          </p:nvPr>
        </p:nvSpPr>
        <p:spPr/>
        <p:txBody>
          <a:bodyPr>
            <a:normAutofit fontScale="85000" lnSpcReduction="20000"/>
          </a:bodyPr>
          <a:lstStyle/>
          <a:p>
            <a:fld id="{EBFB1032-EA64-7144-B003-9BCC9D94B503}" type="slidenum">
              <a:rPr lang="en-US" smtClean="0"/>
              <a:t>15</a:t>
            </a:fld>
            <a:endParaRPr lang="en-US" dirty="0"/>
          </a:p>
        </p:txBody>
      </p:sp>
      <p:sp>
        <p:nvSpPr>
          <p:cNvPr id="4" name="Content Placeholder 3">
            <a:extLst>
              <a:ext uri="{FF2B5EF4-FFF2-40B4-BE49-F238E27FC236}">
                <a16:creationId xmlns:a16="http://schemas.microsoft.com/office/drawing/2014/main" id="{7BC41630-4A7B-D591-56C6-DB36A581F55E}"/>
              </a:ext>
            </a:extLst>
          </p:cNvPr>
          <p:cNvSpPr>
            <a:spLocks noGrp="1"/>
          </p:cNvSpPr>
          <p:nvPr>
            <p:ph sz="quarter" idx="1"/>
          </p:nvPr>
        </p:nvSpPr>
        <p:spPr/>
        <p:txBody>
          <a:bodyPr>
            <a:noAutofit/>
          </a:bodyPr>
          <a:lstStyle/>
          <a:p>
            <a:pPr algn="just">
              <a:lnSpc>
                <a:spcPct val="90000"/>
              </a:lnSpc>
              <a:spcBef>
                <a:spcPts val="0"/>
              </a:spcBef>
            </a:pPr>
            <a:r>
              <a:rPr lang="en-US" sz="2300" dirty="0">
                <a:solidFill>
                  <a:srgbClr val="0070C0"/>
                </a:solidFill>
              </a:rPr>
              <a:t>Unfortunately, high-dimensional embeddings present a challenge for visualization because our sensory perception and common graphical representations are inherently limited to 3 dimensions or fewer.</a:t>
            </a:r>
          </a:p>
          <a:p>
            <a:pPr algn="just">
              <a:lnSpc>
                <a:spcPct val="90000"/>
              </a:lnSpc>
              <a:spcBef>
                <a:spcPts val="0"/>
              </a:spcBef>
            </a:pPr>
            <a:endParaRPr lang="en-US" sz="2300" dirty="0">
              <a:solidFill>
                <a:srgbClr val="0070C0"/>
              </a:solidFill>
            </a:endParaRPr>
          </a:p>
          <a:p>
            <a:pPr algn="just">
              <a:lnSpc>
                <a:spcPct val="90000"/>
              </a:lnSpc>
              <a:spcBef>
                <a:spcPts val="0"/>
              </a:spcBef>
            </a:pPr>
            <a:r>
              <a:rPr lang="en-US" sz="2300" dirty="0">
                <a:solidFill>
                  <a:srgbClr val="C00000"/>
                </a:solidFill>
              </a:rPr>
              <a:t>This is why figure 2.3 shows 2-dimensional embeddings in a 2-dimensional plot</a:t>
            </a:r>
          </a:p>
          <a:p>
            <a:pPr algn="just">
              <a:lnSpc>
                <a:spcPct val="90000"/>
              </a:lnSpc>
              <a:spcBef>
                <a:spcPts val="0"/>
              </a:spcBef>
            </a:pPr>
            <a:endParaRPr lang="en-US" sz="2300" dirty="0">
              <a:solidFill>
                <a:srgbClr val="00B050"/>
              </a:solidFill>
            </a:endParaRPr>
          </a:p>
          <a:p>
            <a:pPr algn="just">
              <a:lnSpc>
                <a:spcPct val="90000"/>
              </a:lnSpc>
              <a:spcBef>
                <a:spcPts val="0"/>
              </a:spcBef>
            </a:pPr>
            <a:r>
              <a:rPr lang="en-US" sz="2300" dirty="0">
                <a:solidFill>
                  <a:srgbClr val="00B050"/>
                </a:solidFill>
              </a:rPr>
              <a:t>However, when working with LLMs, we typically use embeddings with a much higher dimensionality.</a:t>
            </a:r>
          </a:p>
          <a:p>
            <a:pPr algn="just">
              <a:lnSpc>
                <a:spcPct val="90000"/>
              </a:lnSpc>
              <a:spcBef>
                <a:spcPts val="0"/>
              </a:spcBef>
            </a:pPr>
            <a:endParaRPr lang="en-US" sz="2300" dirty="0">
              <a:solidFill>
                <a:schemeClr val="accent2">
                  <a:lumMod val="75000"/>
                </a:schemeClr>
              </a:solidFill>
            </a:endParaRPr>
          </a:p>
          <a:p>
            <a:pPr algn="just">
              <a:lnSpc>
                <a:spcPct val="90000"/>
              </a:lnSpc>
              <a:spcBef>
                <a:spcPts val="0"/>
              </a:spcBef>
            </a:pPr>
            <a:r>
              <a:rPr lang="en-US" sz="2300" dirty="0">
                <a:solidFill>
                  <a:schemeClr val="accent2">
                    <a:lumMod val="75000"/>
                  </a:schemeClr>
                </a:solidFill>
              </a:rPr>
              <a:t>For both GPT-2 and GPT-3, the embedding size (often referred to as the dimensionality of the model’s hidden states) varies based on the specific model variant and size.</a:t>
            </a:r>
          </a:p>
          <a:p>
            <a:pPr algn="just">
              <a:lnSpc>
                <a:spcPct val="90000"/>
              </a:lnSpc>
              <a:spcBef>
                <a:spcPts val="0"/>
              </a:spcBef>
            </a:pPr>
            <a:endParaRPr lang="en-US" sz="2300" dirty="0">
              <a:solidFill>
                <a:srgbClr val="7030A0"/>
              </a:solidFill>
            </a:endParaRPr>
          </a:p>
          <a:p>
            <a:pPr algn="just">
              <a:lnSpc>
                <a:spcPct val="90000"/>
              </a:lnSpc>
              <a:spcBef>
                <a:spcPts val="0"/>
              </a:spcBef>
            </a:pPr>
            <a:r>
              <a:rPr lang="en-US" sz="2300" dirty="0">
                <a:solidFill>
                  <a:srgbClr val="7030A0"/>
                </a:solidFill>
              </a:rPr>
              <a:t>It is a tradeoff between performance and efficiency.</a:t>
            </a:r>
          </a:p>
        </p:txBody>
      </p:sp>
    </p:spTree>
    <p:extLst>
      <p:ext uri="{BB962C8B-B14F-4D97-AF65-F5344CB8AC3E}">
        <p14:creationId xmlns:p14="http://schemas.microsoft.com/office/powerpoint/2010/main" val="24264160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EE611-81E1-4313-0B48-E2B183285EB5}"/>
              </a:ext>
            </a:extLst>
          </p:cNvPr>
          <p:cNvSpPr>
            <a:spLocks noGrp="1"/>
          </p:cNvSpPr>
          <p:nvPr>
            <p:ph type="title"/>
          </p:nvPr>
        </p:nvSpPr>
        <p:spPr/>
        <p:txBody>
          <a:bodyPr/>
          <a:lstStyle/>
          <a:p>
            <a:r>
              <a:rPr lang="en-US" dirty="0"/>
              <a:t>Embedding Size</a:t>
            </a:r>
          </a:p>
        </p:txBody>
      </p:sp>
      <p:sp>
        <p:nvSpPr>
          <p:cNvPr id="3" name="Slide Number Placeholder 2">
            <a:extLst>
              <a:ext uri="{FF2B5EF4-FFF2-40B4-BE49-F238E27FC236}">
                <a16:creationId xmlns:a16="http://schemas.microsoft.com/office/drawing/2014/main" id="{0239A96F-2DED-E885-72C5-6136423342B6}"/>
              </a:ext>
            </a:extLst>
          </p:cNvPr>
          <p:cNvSpPr>
            <a:spLocks noGrp="1"/>
          </p:cNvSpPr>
          <p:nvPr>
            <p:ph type="sldNum" sz="quarter" idx="12"/>
          </p:nvPr>
        </p:nvSpPr>
        <p:spPr/>
        <p:txBody>
          <a:bodyPr>
            <a:normAutofit fontScale="85000" lnSpcReduction="20000"/>
          </a:bodyPr>
          <a:lstStyle/>
          <a:p>
            <a:fld id="{EBFB1032-EA64-7144-B003-9BCC9D94B503}" type="slidenum">
              <a:rPr lang="en-US" smtClean="0"/>
              <a:t>16</a:t>
            </a:fld>
            <a:endParaRPr lang="en-US" dirty="0"/>
          </a:p>
        </p:txBody>
      </p:sp>
      <p:sp>
        <p:nvSpPr>
          <p:cNvPr id="4" name="Content Placeholder 3">
            <a:extLst>
              <a:ext uri="{FF2B5EF4-FFF2-40B4-BE49-F238E27FC236}">
                <a16:creationId xmlns:a16="http://schemas.microsoft.com/office/drawing/2014/main" id="{E0EFBAD1-1735-2195-D7C1-FAE5864A3AE2}"/>
              </a:ext>
            </a:extLst>
          </p:cNvPr>
          <p:cNvSpPr>
            <a:spLocks noGrp="1"/>
          </p:cNvSpPr>
          <p:nvPr>
            <p:ph sz="quarter" idx="1"/>
          </p:nvPr>
        </p:nvSpPr>
        <p:spPr/>
        <p:txBody>
          <a:bodyPr/>
          <a:lstStyle/>
          <a:p>
            <a:pPr algn="just">
              <a:lnSpc>
                <a:spcPct val="90000"/>
              </a:lnSpc>
              <a:spcBef>
                <a:spcPts val="0"/>
              </a:spcBef>
            </a:pPr>
            <a:r>
              <a:rPr lang="en-US" dirty="0"/>
              <a:t>The smallest GPT-2 models (117M and 125M parameters) use an embedding size of 768 dimensions to provide concrete examples.</a:t>
            </a:r>
          </a:p>
          <a:p>
            <a:pPr algn="just">
              <a:lnSpc>
                <a:spcPct val="90000"/>
              </a:lnSpc>
              <a:spcBef>
                <a:spcPts val="0"/>
              </a:spcBef>
            </a:pPr>
            <a:endParaRPr lang="en-US" dirty="0"/>
          </a:p>
          <a:p>
            <a:pPr algn="just">
              <a:lnSpc>
                <a:spcPct val="90000"/>
              </a:lnSpc>
              <a:spcBef>
                <a:spcPts val="0"/>
              </a:spcBef>
            </a:pPr>
            <a:r>
              <a:rPr lang="en-US" dirty="0"/>
              <a:t>The largest GPT-3 model (175B parameters) uses an embedding size of 12,288 dimensions. </a:t>
            </a:r>
          </a:p>
          <a:p>
            <a:endParaRPr lang="en-US" dirty="0"/>
          </a:p>
        </p:txBody>
      </p:sp>
    </p:spTree>
    <p:extLst>
      <p:ext uri="{BB962C8B-B14F-4D97-AF65-F5344CB8AC3E}">
        <p14:creationId xmlns:p14="http://schemas.microsoft.com/office/powerpoint/2010/main" val="12854637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A2C62-B08C-9795-65F3-274C9561367B}"/>
              </a:ext>
            </a:extLst>
          </p:cNvPr>
          <p:cNvSpPr>
            <a:spLocks noGrp="1"/>
          </p:cNvSpPr>
          <p:nvPr>
            <p:ph type="title"/>
          </p:nvPr>
        </p:nvSpPr>
        <p:spPr/>
        <p:txBody>
          <a:bodyPr>
            <a:normAutofit/>
          </a:bodyPr>
          <a:lstStyle/>
          <a:p>
            <a:r>
              <a:rPr lang="en-US" dirty="0"/>
              <a:t>Tokenizing text</a:t>
            </a:r>
          </a:p>
        </p:txBody>
      </p:sp>
      <p:sp>
        <p:nvSpPr>
          <p:cNvPr id="3" name="Slide Number Placeholder 2">
            <a:extLst>
              <a:ext uri="{FF2B5EF4-FFF2-40B4-BE49-F238E27FC236}">
                <a16:creationId xmlns:a16="http://schemas.microsoft.com/office/drawing/2014/main" id="{B8A75AF2-7CBE-AC7B-F0DB-3E91A3421C11}"/>
              </a:ext>
            </a:extLst>
          </p:cNvPr>
          <p:cNvSpPr>
            <a:spLocks noGrp="1"/>
          </p:cNvSpPr>
          <p:nvPr>
            <p:ph type="sldNum" sz="quarter" idx="12"/>
          </p:nvPr>
        </p:nvSpPr>
        <p:spPr/>
        <p:txBody>
          <a:bodyPr>
            <a:normAutofit fontScale="85000" lnSpcReduction="20000"/>
          </a:bodyPr>
          <a:lstStyle/>
          <a:p>
            <a:fld id="{EBFB1032-EA64-7144-B003-9BCC9D94B503}" type="slidenum">
              <a:rPr lang="en-US" smtClean="0"/>
              <a:t>17</a:t>
            </a:fld>
            <a:endParaRPr lang="en-US" dirty="0"/>
          </a:p>
        </p:txBody>
      </p:sp>
      <p:sp>
        <p:nvSpPr>
          <p:cNvPr id="4" name="Content Placeholder 3">
            <a:extLst>
              <a:ext uri="{FF2B5EF4-FFF2-40B4-BE49-F238E27FC236}">
                <a16:creationId xmlns:a16="http://schemas.microsoft.com/office/drawing/2014/main" id="{582D4A63-1FCB-EA26-191A-E33EBD7EA773}"/>
              </a:ext>
            </a:extLst>
          </p:cNvPr>
          <p:cNvSpPr>
            <a:spLocks noGrp="1"/>
          </p:cNvSpPr>
          <p:nvPr>
            <p:ph sz="quarter" idx="1"/>
          </p:nvPr>
        </p:nvSpPr>
        <p:spPr/>
        <p:txBody>
          <a:bodyPr/>
          <a:lstStyle/>
          <a:p>
            <a:r>
              <a:rPr lang="en-US" dirty="0"/>
              <a:t>Let’s discuss how we split input text into individual tokens, a required preprocessing step for creating embeddings for an LLM.</a:t>
            </a:r>
          </a:p>
          <a:p>
            <a:endParaRPr lang="en-US" dirty="0"/>
          </a:p>
          <a:p>
            <a:r>
              <a:rPr lang="en-US" dirty="0"/>
              <a:t>These tokens are either individual words or special characters, including punctuation characters, as shown in figure 2.4.</a:t>
            </a:r>
          </a:p>
        </p:txBody>
      </p:sp>
    </p:spTree>
    <p:extLst>
      <p:ext uri="{BB962C8B-B14F-4D97-AF65-F5344CB8AC3E}">
        <p14:creationId xmlns:p14="http://schemas.microsoft.com/office/powerpoint/2010/main" val="6837371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E0EDA26-11E4-6A5D-7B39-89AED8887CD7}"/>
              </a:ext>
            </a:extLst>
          </p:cNvPr>
          <p:cNvSpPr>
            <a:spLocks noGrp="1"/>
          </p:cNvSpPr>
          <p:nvPr>
            <p:ph type="title"/>
          </p:nvPr>
        </p:nvSpPr>
        <p:spPr/>
        <p:txBody>
          <a:bodyPr>
            <a:noAutofit/>
          </a:bodyPr>
          <a:lstStyle/>
          <a:p>
            <a:r>
              <a:rPr lang="en-US" sz="2600" b="0" dirty="0"/>
              <a:t>Figure 2.4</a:t>
            </a:r>
            <a:r>
              <a:rPr lang="en-US" sz="2800" b="0" dirty="0"/>
              <a:t> View of the text processing steps in the context of an LLM</a:t>
            </a:r>
          </a:p>
        </p:txBody>
      </p:sp>
      <p:sp>
        <p:nvSpPr>
          <p:cNvPr id="2" name="Slide Number Placeholder 1">
            <a:extLst>
              <a:ext uri="{FF2B5EF4-FFF2-40B4-BE49-F238E27FC236}">
                <a16:creationId xmlns:a16="http://schemas.microsoft.com/office/drawing/2014/main" id="{12B0DC17-DD04-151B-591E-ABE2AC2F228C}"/>
              </a:ext>
            </a:extLst>
          </p:cNvPr>
          <p:cNvSpPr>
            <a:spLocks noGrp="1"/>
          </p:cNvSpPr>
          <p:nvPr>
            <p:ph type="sldNum" sz="quarter" idx="12"/>
          </p:nvPr>
        </p:nvSpPr>
        <p:spPr/>
        <p:txBody>
          <a:bodyPr>
            <a:normAutofit fontScale="85000" lnSpcReduction="20000"/>
          </a:bodyPr>
          <a:lstStyle/>
          <a:p>
            <a:fld id="{EBFB1032-EA64-7144-B003-9BCC9D94B503}" type="slidenum">
              <a:rPr lang="en-US" smtClean="0"/>
              <a:t>18</a:t>
            </a:fld>
            <a:endParaRPr lang="en-US" dirty="0"/>
          </a:p>
        </p:txBody>
      </p:sp>
      <p:pic>
        <p:nvPicPr>
          <p:cNvPr id="6" name="Picture 5" descr="A diagram of a process&#10;&#10;AI-generated content may be incorrect.">
            <a:extLst>
              <a:ext uri="{FF2B5EF4-FFF2-40B4-BE49-F238E27FC236}">
                <a16:creationId xmlns:a16="http://schemas.microsoft.com/office/drawing/2014/main" id="{A9E1D4B5-D47B-C266-3AB4-2A474359613C}"/>
              </a:ext>
            </a:extLst>
          </p:cNvPr>
          <p:cNvPicPr>
            <a:picLocks noChangeAspect="1"/>
          </p:cNvPicPr>
          <p:nvPr/>
        </p:nvPicPr>
        <p:blipFill>
          <a:blip r:embed="rId2"/>
          <a:stretch>
            <a:fillRect/>
          </a:stretch>
        </p:blipFill>
        <p:spPr>
          <a:xfrm>
            <a:off x="1848851" y="1588415"/>
            <a:ext cx="5486400" cy="4405042"/>
          </a:xfrm>
          <a:prstGeom prst="rect">
            <a:avLst/>
          </a:prstGeom>
        </p:spPr>
      </p:pic>
      <p:sp>
        <p:nvSpPr>
          <p:cNvPr id="8" name="TextBox 7">
            <a:extLst>
              <a:ext uri="{FF2B5EF4-FFF2-40B4-BE49-F238E27FC236}">
                <a16:creationId xmlns:a16="http://schemas.microsoft.com/office/drawing/2014/main" id="{BBF0A12F-EFD6-5BD1-4DF5-A09E3A867855}"/>
              </a:ext>
            </a:extLst>
          </p:cNvPr>
          <p:cNvSpPr txBox="1"/>
          <p:nvPr/>
        </p:nvSpPr>
        <p:spPr>
          <a:xfrm>
            <a:off x="120315" y="6104982"/>
            <a:ext cx="8943472" cy="646331"/>
          </a:xfrm>
          <a:prstGeom prst="rect">
            <a:avLst/>
          </a:prstGeom>
          <a:noFill/>
        </p:spPr>
        <p:txBody>
          <a:bodyPr wrap="square">
            <a:spAutoFit/>
          </a:bodyPr>
          <a:lstStyle/>
          <a:p>
            <a:pPr algn="just">
              <a:buNone/>
            </a:pPr>
            <a:r>
              <a:rPr lang="en-US" dirty="0">
                <a:solidFill>
                  <a:srgbClr val="C00000"/>
                </a:solidFill>
                <a:latin typeface="Arial Narrow" panose="020B0606020202030204" pitchFamily="34" charset="0"/>
              </a:rPr>
              <a:t>Here, we split an input text into individual tokens, which are either words or special characters, such as punctuation characters.</a:t>
            </a:r>
          </a:p>
        </p:txBody>
      </p:sp>
    </p:spTree>
    <p:extLst>
      <p:ext uri="{BB962C8B-B14F-4D97-AF65-F5344CB8AC3E}">
        <p14:creationId xmlns:p14="http://schemas.microsoft.com/office/powerpoint/2010/main" val="31178347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20B6A-A1EE-A914-0053-F389F345E04A}"/>
              </a:ext>
            </a:extLst>
          </p:cNvPr>
          <p:cNvSpPr>
            <a:spLocks noGrp="1"/>
          </p:cNvSpPr>
          <p:nvPr>
            <p:ph type="title"/>
          </p:nvPr>
        </p:nvSpPr>
        <p:spPr/>
        <p:txBody>
          <a:bodyPr/>
          <a:lstStyle/>
          <a:p>
            <a:r>
              <a:rPr lang="en-US" dirty="0"/>
              <a:t>The text to be tokenized for LLM training</a:t>
            </a:r>
          </a:p>
        </p:txBody>
      </p:sp>
      <p:sp>
        <p:nvSpPr>
          <p:cNvPr id="3" name="Slide Number Placeholder 2">
            <a:extLst>
              <a:ext uri="{FF2B5EF4-FFF2-40B4-BE49-F238E27FC236}">
                <a16:creationId xmlns:a16="http://schemas.microsoft.com/office/drawing/2014/main" id="{084335A9-4A21-210A-ED27-0DEB9B7CCECA}"/>
              </a:ext>
            </a:extLst>
          </p:cNvPr>
          <p:cNvSpPr>
            <a:spLocks noGrp="1"/>
          </p:cNvSpPr>
          <p:nvPr>
            <p:ph type="sldNum" sz="quarter" idx="12"/>
          </p:nvPr>
        </p:nvSpPr>
        <p:spPr/>
        <p:txBody>
          <a:bodyPr>
            <a:normAutofit fontScale="85000" lnSpcReduction="20000"/>
          </a:bodyPr>
          <a:lstStyle/>
          <a:p>
            <a:fld id="{EBFB1032-EA64-7144-B003-9BCC9D94B503}" type="slidenum">
              <a:rPr lang="en-US" smtClean="0"/>
              <a:t>19</a:t>
            </a:fld>
            <a:endParaRPr lang="en-US" dirty="0"/>
          </a:p>
        </p:txBody>
      </p:sp>
      <p:sp>
        <p:nvSpPr>
          <p:cNvPr id="4" name="Content Placeholder 3">
            <a:extLst>
              <a:ext uri="{FF2B5EF4-FFF2-40B4-BE49-F238E27FC236}">
                <a16:creationId xmlns:a16="http://schemas.microsoft.com/office/drawing/2014/main" id="{EAE84306-C968-3EF1-2160-3FE06FC45199}"/>
              </a:ext>
            </a:extLst>
          </p:cNvPr>
          <p:cNvSpPr>
            <a:spLocks noGrp="1"/>
          </p:cNvSpPr>
          <p:nvPr>
            <p:ph sz="quarter" idx="1"/>
          </p:nvPr>
        </p:nvSpPr>
        <p:spPr/>
        <p:txBody>
          <a:bodyPr>
            <a:normAutofit/>
          </a:bodyPr>
          <a:lstStyle/>
          <a:p>
            <a:pPr algn="just"/>
            <a:r>
              <a:rPr lang="en-US" sz="2300" dirty="0"/>
              <a:t>The text we will tokenize for LLM training is “The Verdict,” a short story by Edith Wharton, which has been released into the public domain and is thus permitted to be used for LLM training tasks.</a:t>
            </a:r>
          </a:p>
          <a:p>
            <a:pPr algn="just"/>
            <a:endParaRPr lang="en-US" sz="2300" dirty="0"/>
          </a:p>
          <a:p>
            <a:pPr algn="just"/>
            <a:r>
              <a:rPr lang="en-US" sz="2300" dirty="0"/>
              <a:t>The text is available on </a:t>
            </a:r>
            <a:r>
              <a:rPr lang="en-US" sz="2300" dirty="0" err="1"/>
              <a:t>Wikisource</a:t>
            </a:r>
            <a:r>
              <a:rPr lang="en-US" sz="2300" dirty="0"/>
              <a:t> at </a:t>
            </a:r>
            <a:r>
              <a:rPr lang="en-US" sz="2300" dirty="0">
                <a:hlinkClick r:id="rId2"/>
              </a:rPr>
              <a:t>https://en.wikisource.org/wiki/The_Verdict</a:t>
            </a:r>
            <a:r>
              <a:rPr lang="en-US" sz="2300" dirty="0"/>
              <a:t> and you can copy-paste it into a text file "the-verdict.txt".</a:t>
            </a:r>
          </a:p>
          <a:p>
            <a:pPr algn="just"/>
            <a:endParaRPr lang="en-US" sz="2300" dirty="0"/>
          </a:p>
          <a:p>
            <a:pPr algn="just"/>
            <a:r>
              <a:rPr lang="en-US" sz="2300" dirty="0"/>
              <a:t>Alternatively, you can find this "the-verdict.txt" file in this book’s GitHub repository at </a:t>
            </a:r>
            <a:r>
              <a:rPr lang="en-US" sz="2300" dirty="0">
                <a:hlinkClick r:id="rId3"/>
              </a:rPr>
              <a:t>https://mng.bz/Adng</a:t>
            </a:r>
            <a:endParaRPr lang="en-US" sz="2300" dirty="0"/>
          </a:p>
        </p:txBody>
      </p:sp>
    </p:spTree>
    <p:extLst>
      <p:ext uri="{BB962C8B-B14F-4D97-AF65-F5344CB8AC3E}">
        <p14:creationId xmlns:p14="http://schemas.microsoft.com/office/powerpoint/2010/main" val="22202383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84319-1F58-A1A6-23C2-0B5AFA1C4EA4}"/>
              </a:ext>
            </a:extLst>
          </p:cNvPr>
          <p:cNvSpPr>
            <a:spLocks noGrp="1"/>
          </p:cNvSpPr>
          <p:nvPr>
            <p:ph type="title"/>
          </p:nvPr>
        </p:nvSpPr>
        <p:spPr/>
        <p:txBody>
          <a:bodyPr>
            <a:normAutofit fontScale="90000"/>
          </a:bodyPr>
          <a:lstStyle/>
          <a:p>
            <a:r>
              <a:rPr lang="en-US" dirty="0"/>
              <a:t>Listing 2.1 Reading in a short story as text sample</a:t>
            </a:r>
          </a:p>
        </p:txBody>
      </p:sp>
      <p:sp>
        <p:nvSpPr>
          <p:cNvPr id="3" name="Slide Number Placeholder 2">
            <a:extLst>
              <a:ext uri="{FF2B5EF4-FFF2-40B4-BE49-F238E27FC236}">
                <a16:creationId xmlns:a16="http://schemas.microsoft.com/office/drawing/2014/main" id="{19AF2AFE-FCDB-CB4A-76ED-8D284A5C54FC}"/>
              </a:ext>
            </a:extLst>
          </p:cNvPr>
          <p:cNvSpPr>
            <a:spLocks noGrp="1"/>
          </p:cNvSpPr>
          <p:nvPr>
            <p:ph type="sldNum" sz="quarter" idx="12"/>
          </p:nvPr>
        </p:nvSpPr>
        <p:spPr/>
        <p:txBody>
          <a:bodyPr>
            <a:normAutofit fontScale="85000" lnSpcReduction="20000"/>
          </a:bodyPr>
          <a:lstStyle/>
          <a:p>
            <a:fld id="{EBFB1032-EA64-7144-B003-9BCC9D94B503}" type="slidenum">
              <a:rPr lang="en-US" smtClean="0"/>
              <a:t>20</a:t>
            </a:fld>
            <a:endParaRPr lang="en-US" dirty="0"/>
          </a:p>
        </p:txBody>
      </p:sp>
      <p:pic>
        <p:nvPicPr>
          <p:cNvPr id="5" name="Picture 4">
            <a:extLst>
              <a:ext uri="{FF2B5EF4-FFF2-40B4-BE49-F238E27FC236}">
                <a16:creationId xmlns:a16="http://schemas.microsoft.com/office/drawing/2014/main" id="{5BBEED6F-C911-DF9E-2148-1B553573D122}"/>
              </a:ext>
            </a:extLst>
          </p:cNvPr>
          <p:cNvPicPr>
            <a:picLocks noChangeAspect="1"/>
          </p:cNvPicPr>
          <p:nvPr/>
        </p:nvPicPr>
        <p:blipFill>
          <a:blip r:embed="rId2"/>
          <a:stretch>
            <a:fillRect/>
          </a:stretch>
        </p:blipFill>
        <p:spPr>
          <a:xfrm>
            <a:off x="457200" y="1569720"/>
            <a:ext cx="8229600" cy="5182076"/>
          </a:xfrm>
          <a:prstGeom prst="rect">
            <a:avLst/>
          </a:prstGeom>
        </p:spPr>
      </p:pic>
    </p:spTree>
    <p:extLst>
      <p:ext uri="{BB962C8B-B14F-4D97-AF65-F5344CB8AC3E}">
        <p14:creationId xmlns:p14="http://schemas.microsoft.com/office/powerpoint/2010/main" val="21220809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5AFFF-BD40-666A-6640-75DD4B7C330D}"/>
              </a:ext>
            </a:extLst>
          </p:cNvPr>
          <p:cNvSpPr>
            <a:spLocks noGrp="1"/>
          </p:cNvSpPr>
          <p:nvPr>
            <p:ph type="title"/>
          </p:nvPr>
        </p:nvSpPr>
        <p:spPr/>
        <p:txBody>
          <a:bodyPr>
            <a:normAutofit/>
          </a:bodyPr>
          <a:lstStyle/>
          <a:p>
            <a:r>
              <a:rPr lang="en-US" sz="3100" dirty="0"/>
              <a:t>How can we best split this text to obtain a list of tokens?</a:t>
            </a:r>
          </a:p>
        </p:txBody>
      </p:sp>
      <p:sp>
        <p:nvSpPr>
          <p:cNvPr id="3" name="Slide Number Placeholder 2">
            <a:extLst>
              <a:ext uri="{FF2B5EF4-FFF2-40B4-BE49-F238E27FC236}">
                <a16:creationId xmlns:a16="http://schemas.microsoft.com/office/drawing/2014/main" id="{8E8DA9E8-D82E-5350-FDCE-D3E391A92D1C}"/>
              </a:ext>
            </a:extLst>
          </p:cNvPr>
          <p:cNvSpPr>
            <a:spLocks noGrp="1"/>
          </p:cNvSpPr>
          <p:nvPr>
            <p:ph type="sldNum" sz="quarter" idx="12"/>
          </p:nvPr>
        </p:nvSpPr>
        <p:spPr/>
        <p:txBody>
          <a:bodyPr>
            <a:normAutofit fontScale="85000" lnSpcReduction="20000"/>
          </a:bodyPr>
          <a:lstStyle/>
          <a:p>
            <a:fld id="{EBFB1032-EA64-7144-B003-9BCC9D94B503}" type="slidenum">
              <a:rPr lang="en-US" smtClean="0"/>
              <a:t>21</a:t>
            </a:fld>
            <a:endParaRPr lang="en-US" dirty="0"/>
          </a:p>
        </p:txBody>
      </p:sp>
      <p:sp>
        <p:nvSpPr>
          <p:cNvPr id="4" name="Content Placeholder 3">
            <a:extLst>
              <a:ext uri="{FF2B5EF4-FFF2-40B4-BE49-F238E27FC236}">
                <a16:creationId xmlns:a16="http://schemas.microsoft.com/office/drawing/2014/main" id="{C1E1530F-B764-3BC5-6530-A6BC4BC5D30B}"/>
              </a:ext>
            </a:extLst>
          </p:cNvPr>
          <p:cNvSpPr>
            <a:spLocks noGrp="1"/>
          </p:cNvSpPr>
          <p:nvPr>
            <p:ph sz="quarter" idx="1"/>
          </p:nvPr>
        </p:nvSpPr>
        <p:spPr/>
        <p:txBody>
          <a:bodyPr/>
          <a:lstStyle/>
          <a:p>
            <a:pPr algn="just"/>
            <a:r>
              <a:rPr lang="en-US" dirty="0"/>
              <a:t>It’s common to process millions of articles and hundreds of thousands of books—many gigabytes of text—when working with LLMs.</a:t>
            </a:r>
          </a:p>
          <a:p>
            <a:pPr algn="just"/>
            <a:endParaRPr lang="en-US" dirty="0"/>
          </a:p>
          <a:p>
            <a:pPr algn="just"/>
            <a:r>
              <a:rPr lang="en-US" dirty="0"/>
              <a:t>However, for educational purposes, it’s sufficient to work with smaller text samples like a single book to illustrate the main ideas behind the text processing steps and to make it possible to run it in a reasonable time on consumer hardware.</a:t>
            </a:r>
          </a:p>
          <a:p>
            <a:pPr algn="just"/>
            <a:endParaRPr lang="en-US" dirty="0"/>
          </a:p>
          <a:p>
            <a:pPr algn="just"/>
            <a:r>
              <a:rPr lang="en-US" dirty="0">
                <a:solidFill>
                  <a:srgbClr val="C00000"/>
                </a:solidFill>
              </a:rPr>
              <a:t>How can we best split this text to obtain a list of tokens?</a:t>
            </a:r>
          </a:p>
          <a:p>
            <a:pPr lvl="1" algn="just"/>
            <a:r>
              <a:rPr lang="en-US" dirty="0"/>
              <a:t>For this, we go on a small excursion and use Python’s regular expression library re for illustration purposes.</a:t>
            </a:r>
          </a:p>
        </p:txBody>
      </p:sp>
    </p:spTree>
    <p:extLst>
      <p:ext uri="{BB962C8B-B14F-4D97-AF65-F5344CB8AC3E}">
        <p14:creationId xmlns:p14="http://schemas.microsoft.com/office/powerpoint/2010/main" val="10145254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1701967-4F3C-0391-AF50-2249D7AEC211}"/>
              </a:ext>
            </a:extLst>
          </p:cNvPr>
          <p:cNvSpPr>
            <a:spLocks noGrp="1"/>
          </p:cNvSpPr>
          <p:nvPr>
            <p:ph type="sldNum" sz="quarter" idx="12"/>
          </p:nvPr>
        </p:nvSpPr>
        <p:spPr/>
        <p:txBody>
          <a:bodyPr/>
          <a:lstStyle/>
          <a:p>
            <a:fld id="{EBFB1032-EA64-7144-B003-9BCC9D94B503}" type="slidenum">
              <a:rPr lang="en-US" smtClean="0"/>
              <a:t>22</a:t>
            </a:fld>
            <a:endParaRPr lang="en-US" dirty="0"/>
          </a:p>
        </p:txBody>
      </p:sp>
      <p:pic>
        <p:nvPicPr>
          <p:cNvPr id="6" name="Picture 5">
            <a:extLst>
              <a:ext uri="{FF2B5EF4-FFF2-40B4-BE49-F238E27FC236}">
                <a16:creationId xmlns:a16="http://schemas.microsoft.com/office/drawing/2014/main" id="{EF6C63F7-15A8-DB87-3297-8B941F15C9F3}"/>
              </a:ext>
            </a:extLst>
          </p:cNvPr>
          <p:cNvPicPr>
            <a:picLocks noChangeAspect="1"/>
          </p:cNvPicPr>
          <p:nvPr/>
        </p:nvPicPr>
        <p:blipFill>
          <a:blip r:embed="rId2"/>
          <a:stretch>
            <a:fillRect/>
          </a:stretch>
        </p:blipFill>
        <p:spPr>
          <a:xfrm>
            <a:off x="674763" y="137160"/>
            <a:ext cx="7794473" cy="6583680"/>
          </a:xfrm>
          <a:prstGeom prst="rect">
            <a:avLst/>
          </a:prstGeom>
          <a:ln>
            <a:solidFill>
              <a:schemeClr val="accent1"/>
            </a:solidFill>
          </a:ln>
        </p:spPr>
      </p:pic>
    </p:spTree>
    <p:extLst>
      <p:ext uri="{BB962C8B-B14F-4D97-AF65-F5344CB8AC3E}">
        <p14:creationId xmlns:p14="http://schemas.microsoft.com/office/powerpoint/2010/main" val="16561564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3A9B6B-ABC5-2A80-F6F8-F2089D3D51E9}"/>
              </a:ext>
            </a:extLst>
          </p:cNvPr>
          <p:cNvSpPr>
            <a:spLocks noGrp="1"/>
          </p:cNvSpPr>
          <p:nvPr>
            <p:ph type="sldNum" sz="quarter" idx="12"/>
          </p:nvPr>
        </p:nvSpPr>
        <p:spPr/>
        <p:txBody>
          <a:bodyPr/>
          <a:lstStyle/>
          <a:p>
            <a:fld id="{EBFB1032-EA64-7144-B003-9BCC9D94B503}" type="slidenum">
              <a:rPr lang="en-US" smtClean="0"/>
              <a:t>23</a:t>
            </a:fld>
            <a:endParaRPr lang="en-US" dirty="0"/>
          </a:p>
        </p:txBody>
      </p:sp>
      <p:pic>
        <p:nvPicPr>
          <p:cNvPr id="4" name="Picture 3">
            <a:extLst>
              <a:ext uri="{FF2B5EF4-FFF2-40B4-BE49-F238E27FC236}">
                <a16:creationId xmlns:a16="http://schemas.microsoft.com/office/drawing/2014/main" id="{E12FC97A-E02E-2A0A-C950-BF206F4109C1}"/>
              </a:ext>
            </a:extLst>
          </p:cNvPr>
          <p:cNvPicPr>
            <a:picLocks noChangeAspect="1"/>
          </p:cNvPicPr>
          <p:nvPr/>
        </p:nvPicPr>
        <p:blipFill>
          <a:blip r:embed="rId2"/>
          <a:stretch>
            <a:fillRect/>
          </a:stretch>
        </p:blipFill>
        <p:spPr>
          <a:xfrm>
            <a:off x="1366787" y="137160"/>
            <a:ext cx="6410425" cy="6583680"/>
          </a:xfrm>
          <a:prstGeom prst="rect">
            <a:avLst/>
          </a:prstGeom>
          <a:ln>
            <a:solidFill>
              <a:schemeClr val="accent1"/>
            </a:solidFill>
          </a:ln>
        </p:spPr>
      </p:pic>
    </p:spTree>
    <p:extLst>
      <p:ext uri="{BB962C8B-B14F-4D97-AF65-F5344CB8AC3E}">
        <p14:creationId xmlns:p14="http://schemas.microsoft.com/office/powerpoint/2010/main" val="30287422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1B2EFEB-9B04-3719-5383-DB4C99D9F371}"/>
              </a:ext>
            </a:extLst>
          </p:cNvPr>
          <p:cNvSpPr>
            <a:spLocks noGrp="1"/>
          </p:cNvSpPr>
          <p:nvPr>
            <p:ph type="title"/>
          </p:nvPr>
        </p:nvSpPr>
        <p:spPr/>
        <p:txBody>
          <a:bodyPr>
            <a:normAutofit/>
          </a:bodyPr>
          <a:lstStyle/>
          <a:p>
            <a:r>
              <a:rPr lang="en-US" dirty="0"/>
              <a:t>Encoding whitespaces as separate characters</a:t>
            </a:r>
          </a:p>
        </p:txBody>
      </p:sp>
      <p:sp>
        <p:nvSpPr>
          <p:cNvPr id="2" name="Slide Number Placeholder 1">
            <a:extLst>
              <a:ext uri="{FF2B5EF4-FFF2-40B4-BE49-F238E27FC236}">
                <a16:creationId xmlns:a16="http://schemas.microsoft.com/office/drawing/2014/main" id="{BF4CCB9E-0D8B-BA61-DF24-2AA800C6822C}"/>
              </a:ext>
            </a:extLst>
          </p:cNvPr>
          <p:cNvSpPr>
            <a:spLocks noGrp="1"/>
          </p:cNvSpPr>
          <p:nvPr>
            <p:ph type="sldNum" sz="quarter" idx="12"/>
          </p:nvPr>
        </p:nvSpPr>
        <p:spPr/>
        <p:txBody>
          <a:bodyPr>
            <a:normAutofit fontScale="85000" lnSpcReduction="20000"/>
          </a:bodyPr>
          <a:lstStyle/>
          <a:p>
            <a:fld id="{EBFB1032-EA64-7144-B003-9BCC9D94B503}" type="slidenum">
              <a:rPr lang="en-US" smtClean="0"/>
              <a:t>24</a:t>
            </a:fld>
            <a:endParaRPr lang="en-US" dirty="0"/>
          </a:p>
        </p:txBody>
      </p:sp>
      <p:sp>
        <p:nvSpPr>
          <p:cNvPr id="4" name="Content Placeholder 3">
            <a:extLst>
              <a:ext uri="{FF2B5EF4-FFF2-40B4-BE49-F238E27FC236}">
                <a16:creationId xmlns:a16="http://schemas.microsoft.com/office/drawing/2014/main" id="{7AAF6779-4164-107A-3F11-2F8168162B1C}"/>
              </a:ext>
            </a:extLst>
          </p:cNvPr>
          <p:cNvSpPr>
            <a:spLocks noGrp="1"/>
          </p:cNvSpPr>
          <p:nvPr>
            <p:ph sz="quarter" idx="1"/>
          </p:nvPr>
        </p:nvSpPr>
        <p:spPr/>
        <p:txBody>
          <a:bodyPr>
            <a:normAutofit/>
          </a:bodyPr>
          <a:lstStyle/>
          <a:p>
            <a:pPr algn="just"/>
            <a:r>
              <a:rPr lang="en-US" dirty="0">
                <a:solidFill>
                  <a:srgbClr val="0070C0"/>
                </a:solidFill>
              </a:rPr>
              <a:t>When developing a simple tokenizer, whether we should encode whitespaces as separate characters or just remove them depends on our application and its requirements.</a:t>
            </a:r>
          </a:p>
          <a:p>
            <a:pPr algn="just"/>
            <a:endParaRPr lang="en-US" sz="800" dirty="0"/>
          </a:p>
          <a:p>
            <a:pPr algn="just"/>
            <a:r>
              <a:rPr lang="en-US" dirty="0">
                <a:solidFill>
                  <a:schemeClr val="accent2">
                    <a:lumMod val="75000"/>
                  </a:schemeClr>
                </a:solidFill>
              </a:rPr>
              <a:t>Removing whitespaces reduces the memory and computing requirements. </a:t>
            </a:r>
          </a:p>
          <a:p>
            <a:pPr algn="just"/>
            <a:endParaRPr lang="en-US" sz="800" dirty="0"/>
          </a:p>
          <a:p>
            <a:pPr algn="just"/>
            <a:r>
              <a:rPr lang="en-US" dirty="0">
                <a:solidFill>
                  <a:srgbClr val="00B050"/>
                </a:solidFill>
              </a:rPr>
              <a:t>However, keeping whitespaces can be useful if we train models that are sensitive to the exact structure of the text (for example, Python code, which is sensitive to indentation and spacing).</a:t>
            </a:r>
          </a:p>
          <a:p>
            <a:pPr algn="just"/>
            <a:endParaRPr lang="en-US" sz="800" dirty="0">
              <a:solidFill>
                <a:srgbClr val="00B050"/>
              </a:solidFill>
            </a:endParaRPr>
          </a:p>
          <a:p>
            <a:pPr algn="just"/>
            <a:r>
              <a:rPr lang="en-US" dirty="0">
                <a:solidFill>
                  <a:srgbClr val="7030A0"/>
                </a:solidFill>
              </a:rPr>
              <a:t>Here, we remove whitespaces for simplicity and brevity of the tokenized outputs.</a:t>
            </a:r>
          </a:p>
          <a:p>
            <a:pPr algn="just"/>
            <a:endParaRPr lang="en-US" sz="800" dirty="0">
              <a:solidFill>
                <a:srgbClr val="7030A0"/>
              </a:solidFill>
            </a:endParaRPr>
          </a:p>
          <a:p>
            <a:pPr algn="just"/>
            <a:r>
              <a:rPr lang="en-US" dirty="0">
                <a:solidFill>
                  <a:srgbClr val="C00000"/>
                </a:solidFill>
              </a:rPr>
              <a:t>Later, we will switch to a tokenization scheme that includes whitespaces.</a:t>
            </a:r>
          </a:p>
        </p:txBody>
      </p:sp>
    </p:spTree>
    <p:extLst>
      <p:ext uri="{BB962C8B-B14F-4D97-AF65-F5344CB8AC3E}">
        <p14:creationId xmlns:p14="http://schemas.microsoft.com/office/powerpoint/2010/main" val="8107681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B50EFAD-0FAA-7A8D-E038-8BB09219D612}"/>
              </a:ext>
            </a:extLst>
          </p:cNvPr>
          <p:cNvSpPr>
            <a:spLocks noGrp="1"/>
          </p:cNvSpPr>
          <p:nvPr>
            <p:ph type="sldNum" sz="quarter" idx="12"/>
          </p:nvPr>
        </p:nvSpPr>
        <p:spPr/>
        <p:txBody>
          <a:bodyPr/>
          <a:lstStyle/>
          <a:p>
            <a:fld id="{EBFB1032-EA64-7144-B003-9BCC9D94B503}" type="slidenum">
              <a:rPr lang="en-US" smtClean="0"/>
              <a:t>25</a:t>
            </a:fld>
            <a:endParaRPr lang="en-US" dirty="0"/>
          </a:p>
        </p:txBody>
      </p:sp>
      <p:pic>
        <p:nvPicPr>
          <p:cNvPr id="6" name="Picture 5">
            <a:extLst>
              <a:ext uri="{FF2B5EF4-FFF2-40B4-BE49-F238E27FC236}">
                <a16:creationId xmlns:a16="http://schemas.microsoft.com/office/drawing/2014/main" id="{577AD8B6-643E-E9AE-2096-E5B4F210D26F}"/>
              </a:ext>
            </a:extLst>
          </p:cNvPr>
          <p:cNvPicPr>
            <a:picLocks noChangeAspect="1"/>
          </p:cNvPicPr>
          <p:nvPr/>
        </p:nvPicPr>
        <p:blipFill>
          <a:blip r:embed="rId2"/>
          <a:stretch>
            <a:fillRect/>
          </a:stretch>
        </p:blipFill>
        <p:spPr>
          <a:xfrm>
            <a:off x="182880" y="429058"/>
            <a:ext cx="8778240" cy="5999884"/>
          </a:xfrm>
          <a:prstGeom prst="rect">
            <a:avLst/>
          </a:prstGeom>
          <a:ln>
            <a:solidFill>
              <a:schemeClr val="accent1"/>
            </a:solidFill>
          </a:ln>
        </p:spPr>
      </p:pic>
    </p:spTree>
    <p:extLst>
      <p:ext uri="{BB962C8B-B14F-4D97-AF65-F5344CB8AC3E}">
        <p14:creationId xmlns:p14="http://schemas.microsoft.com/office/powerpoint/2010/main" val="27903696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349F31E-EA5C-E1F2-8ED1-E995D4D15142}"/>
              </a:ext>
            </a:extLst>
          </p:cNvPr>
          <p:cNvSpPr>
            <a:spLocks noGrp="1"/>
          </p:cNvSpPr>
          <p:nvPr>
            <p:ph type="title"/>
          </p:nvPr>
        </p:nvSpPr>
        <p:spPr/>
        <p:txBody>
          <a:bodyPr/>
          <a:lstStyle/>
          <a:p>
            <a:r>
              <a:rPr lang="en-US" dirty="0"/>
              <a:t>Figure 2.5 The tokenization scheme</a:t>
            </a:r>
          </a:p>
        </p:txBody>
      </p:sp>
      <p:sp>
        <p:nvSpPr>
          <p:cNvPr id="2" name="Slide Number Placeholder 1">
            <a:extLst>
              <a:ext uri="{FF2B5EF4-FFF2-40B4-BE49-F238E27FC236}">
                <a16:creationId xmlns:a16="http://schemas.microsoft.com/office/drawing/2014/main" id="{1D707C02-277C-D76D-C0E4-5F47FD4709EE}"/>
              </a:ext>
            </a:extLst>
          </p:cNvPr>
          <p:cNvSpPr>
            <a:spLocks noGrp="1"/>
          </p:cNvSpPr>
          <p:nvPr>
            <p:ph type="sldNum" sz="quarter" idx="12"/>
          </p:nvPr>
        </p:nvSpPr>
        <p:spPr/>
        <p:txBody>
          <a:bodyPr>
            <a:normAutofit fontScale="85000" lnSpcReduction="20000"/>
          </a:bodyPr>
          <a:lstStyle/>
          <a:p>
            <a:fld id="{EBFB1032-EA64-7144-B003-9BCC9D94B503}" type="slidenum">
              <a:rPr lang="en-US" smtClean="0"/>
              <a:t>26</a:t>
            </a:fld>
            <a:endParaRPr lang="en-US" dirty="0"/>
          </a:p>
        </p:txBody>
      </p:sp>
      <p:pic>
        <p:nvPicPr>
          <p:cNvPr id="6" name="Picture 5" descr="A diagram of a person's hand&#10;&#10;AI-generated content may be incorrect.">
            <a:extLst>
              <a:ext uri="{FF2B5EF4-FFF2-40B4-BE49-F238E27FC236}">
                <a16:creationId xmlns:a16="http://schemas.microsoft.com/office/drawing/2014/main" id="{F69B0756-8833-BC84-8AF3-2DAE45713407}"/>
              </a:ext>
            </a:extLst>
          </p:cNvPr>
          <p:cNvPicPr>
            <a:picLocks noChangeAspect="1"/>
          </p:cNvPicPr>
          <p:nvPr/>
        </p:nvPicPr>
        <p:blipFill>
          <a:blip r:embed="rId2"/>
          <a:stretch>
            <a:fillRect/>
          </a:stretch>
        </p:blipFill>
        <p:spPr>
          <a:xfrm>
            <a:off x="934451" y="1657350"/>
            <a:ext cx="7315200" cy="1572071"/>
          </a:xfrm>
          <a:prstGeom prst="rect">
            <a:avLst/>
          </a:prstGeom>
          <a:ln>
            <a:solidFill>
              <a:schemeClr val="accent1"/>
            </a:solidFill>
          </a:ln>
        </p:spPr>
      </p:pic>
      <p:sp>
        <p:nvSpPr>
          <p:cNvPr id="8" name="TextBox 7">
            <a:extLst>
              <a:ext uri="{FF2B5EF4-FFF2-40B4-BE49-F238E27FC236}">
                <a16:creationId xmlns:a16="http://schemas.microsoft.com/office/drawing/2014/main" id="{08BE03EB-B4E3-CE4B-FF7B-BBAAD5D9DCEC}"/>
              </a:ext>
            </a:extLst>
          </p:cNvPr>
          <p:cNvSpPr txBox="1"/>
          <p:nvPr/>
        </p:nvSpPr>
        <p:spPr>
          <a:xfrm>
            <a:off x="120314" y="4259160"/>
            <a:ext cx="8943473" cy="2462213"/>
          </a:xfrm>
          <a:prstGeom prst="rect">
            <a:avLst/>
          </a:prstGeom>
          <a:noFill/>
        </p:spPr>
        <p:txBody>
          <a:bodyPr wrap="square">
            <a:spAutoFit/>
          </a:bodyPr>
          <a:lstStyle/>
          <a:p>
            <a:pPr algn="just">
              <a:buNone/>
            </a:pPr>
            <a:r>
              <a:rPr lang="en-US" sz="2200" dirty="0">
                <a:solidFill>
                  <a:srgbClr val="0070C0"/>
                </a:solidFill>
                <a:latin typeface="Arial Narrow" panose="020B0606020202030204" pitchFamily="34" charset="0"/>
              </a:rPr>
              <a:t>As we can see based on the results summarized above, the tokenization scheme can now handle the various special characters in the text successfully.</a:t>
            </a:r>
          </a:p>
          <a:p>
            <a:pPr algn="just">
              <a:buNone/>
            </a:pPr>
            <a:endParaRPr lang="en-US" sz="2200" dirty="0">
              <a:solidFill>
                <a:srgbClr val="0070C0"/>
              </a:solidFill>
              <a:latin typeface="Arial Narrow" panose="020B0606020202030204" pitchFamily="34" charset="0"/>
            </a:endParaRPr>
          </a:p>
          <a:p>
            <a:pPr algn="just">
              <a:buNone/>
            </a:pPr>
            <a:r>
              <a:rPr lang="en-US" sz="2200" dirty="0">
                <a:solidFill>
                  <a:srgbClr val="0070C0"/>
                </a:solidFill>
                <a:latin typeface="Arial Narrow" panose="020B0606020202030204" pitchFamily="34" charset="0"/>
              </a:rPr>
              <a:t>The tokenization scheme we implemented so far splits text into individual words and punctuation characters.</a:t>
            </a:r>
          </a:p>
          <a:p>
            <a:pPr algn="just">
              <a:buNone/>
            </a:pPr>
            <a:endParaRPr lang="en-US" sz="2200" dirty="0">
              <a:solidFill>
                <a:srgbClr val="0070C0"/>
              </a:solidFill>
              <a:latin typeface="Arial Narrow" panose="020B0606020202030204" pitchFamily="34" charset="0"/>
            </a:endParaRPr>
          </a:p>
          <a:p>
            <a:pPr algn="just">
              <a:buNone/>
            </a:pPr>
            <a:r>
              <a:rPr lang="en-US" sz="2200" dirty="0">
                <a:solidFill>
                  <a:srgbClr val="0070C0"/>
                </a:solidFill>
                <a:latin typeface="Arial Narrow" panose="020B0606020202030204" pitchFamily="34" charset="0"/>
              </a:rPr>
              <a:t>In this specific example, the sample text gets split into 10 individual tokens.</a:t>
            </a:r>
          </a:p>
        </p:txBody>
      </p:sp>
    </p:spTree>
    <p:extLst>
      <p:ext uri="{BB962C8B-B14F-4D97-AF65-F5344CB8AC3E}">
        <p14:creationId xmlns:p14="http://schemas.microsoft.com/office/powerpoint/2010/main" val="21280852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1D2543B-A266-F322-18F4-5371A03B3F26}"/>
              </a:ext>
            </a:extLst>
          </p:cNvPr>
          <p:cNvSpPr>
            <a:spLocks noGrp="1"/>
          </p:cNvSpPr>
          <p:nvPr>
            <p:ph type="sldNum" sz="quarter" idx="12"/>
          </p:nvPr>
        </p:nvSpPr>
        <p:spPr/>
        <p:txBody>
          <a:bodyPr/>
          <a:lstStyle/>
          <a:p>
            <a:fld id="{EBFB1032-EA64-7144-B003-9BCC9D94B503}" type="slidenum">
              <a:rPr lang="en-US" smtClean="0"/>
              <a:t>27</a:t>
            </a:fld>
            <a:endParaRPr lang="en-US" dirty="0"/>
          </a:p>
        </p:txBody>
      </p:sp>
      <p:pic>
        <p:nvPicPr>
          <p:cNvPr id="4" name="Picture 3">
            <a:extLst>
              <a:ext uri="{FF2B5EF4-FFF2-40B4-BE49-F238E27FC236}">
                <a16:creationId xmlns:a16="http://schemas.microsoft.com/office/drawing/2014/main" id="{AE06B919-97FC-790B-7C72-D0A5A27EA251}"/>
              </a:ext>
            </a:extLst>
          </p:cNvPr>
          <p:cNvPicPr>
            <a:picLocks noChangeAspect="1"/>
          </p:cNvPicPr>
          <p:nvPr/>
        </p:nvPicPr>
        <p:blipFill>
          <a:blip r:embed="rId2"/>
          <a:stretch>
            <a:fillRect/>
          </a:stretch>
        </p:blipFill>
        <p:spPr>
          <a:xfrm>
            <a:off x="1062067" y="137160"/>
            <a:ext cx="7019866" cy="6583680"/>
          </a:xfrm>
          <a:prstGeom prst="rect">
            <a:avLst/>
          </a:prstGeom>
          <a:ln>
            <a:solidFill>
              <a:schemeClr val="accent1"/>
            </a:solidFill>
          </a:ln>
        </p:spPr>
      </p:pic>
    </p:spTree>
    <p:extLst>
      <p:ext uri="{BB962C8B-B14F-4D97-AF65-F5344CB8AC3E}">
        <p14:creationId xmlns:p14="http://schemas.microsoft.com/office/powerpoint/2010/main" val="18855899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CF30C3E-C34D-4D53-568D-41648064A78E}"/>
              </a:ext>
            </a:extLst>
          </p:cNvPr>
          <p:cNvSpPr>
            <a:spLocks noGrp="1"/>
          </p:cNvSpPr>
          <p:nvPr>
            <p:ph type="title"/>
          </p:nvPr>
        </p:nvSpPr>
        <p:spPr/>
        <p:txBody>
          <a:bodyPr>
            <a:normAutofit/>
          </a:bodyPr>
          <a:lstStyle/>
          <a:p>
            <a:r>
              <a:rPr lang="en-US" dirty="0"/>
              <a:t>Converting tokens into token IDs</a:t>
            </a:r>
          </a:p>
        </p:txBody>
      </p:sp>
      <p:sp>
        <p:nvSpPr>
          <p:cNvPr id="2" name="Slide Number Placeholder 1">
            <a:extLst>
              <a:ext uri="{FF2B5EF4-FFF2-40B4-BE49-F238E27FC236}">
                <a16:creationId xmlns:a16="http://schemas.microsoft.com/office/drawing/2014/main" id="{478F4475-5735-1B82-EA31-4C9599F2647B}"/>
              </a:ext>
            </a:extLst>
          </p:cNvPr>
          <p:cNvSpPr>
            <a:spLocks noGrp="1"/>
          </p:cNvSpPr>
          <p:nvPr>
            <p:ph type="sldNum" sz="quarter" idx="12"/>
          </p:nvPr>
        </p:nvSpPr>
        <p:spPr/>
        <p:txBody>
          <a:bodyPr>
            <a:normAutofit fontScale="85000" lnSpcReduction="20000"/>
          </a:bodyPr>
          <a:lstStyle/>
          <a:p>
            <a:fld id="{EBFB1032-EA64-7144-B003-9BCC9D94B503}" type="slidenum">
              <a:rPr lang="en-US" smtClean="0"/>
              <a:t>28</a:t>
            </a:fld>
            <a:endParaRPr lang="en-US" dirty="0"/>
          </a:p>
        </p:txBody>
      </p:sp>
      <p:sp>
        <p:nvSpPr>
          <p:cNvPr id="4" name="Content Placeholder 3">
            <a:extLst>
              <a:ext uri="{FF2B5EF4-FFF2-40B4-BE49-F238E27FC236}">
                <a16:creationId xmlns:a16="http://schemas.microsoft.com/office/drawing/2014/main" id="{44A49C2F-9A9D-3630-CB7D-C88B18321300}"/>
              </a:ext>
            </a:extLst>
          </p:cNvPr>
          <p:cNvSpPr>
            <a:spLocks noGrp="1"/>
          </p:cNvSpPr>
          <p:nvPr>
            <p:ph sz="quarter" idx="1"/>
          </p:nvPr>
        </p:nvSpPr>
        <p:spPr/>
        <p:txBody>
          <a:bodyPr/>
          <a:lstStyle/>
          <a:p>
            <a:pPr algn="just"/>
            <a:r>
              <a:rPr lang="en-US" dirty="0"/>
              <a:t>Next, let’s convert these tokens from a string to an integer representation to produce the token IDs.</a:t>
            </a:r>
          </a:p>
          <a:p>
            <a:pPr algn="just"/>
            <a:endParaRPr lang="en-US" dirty="0"/>
          </a:p>
          <a:p>
            <a:pPr algn="just"/>
            <a:r>
              <a:rPr lang="en-US" dirty="0"/>
              <a:t>This conversion is an intermediate step before converting the token IDs into embedding vectors.</a:t>
            </a:r>
          </a:p>
          <a:p>
            <a:pPr algn="just"/>
            <a:endParaRPr lang="en-US" dirty="0"/>
          </a:p>
          <a:p>
            <a:pPr algn="just"/>
            <a:r>
              <a:rPr lang="en-US" dirty="0"/>
              <a:t>To map the previously generated tokens into token IDs, we have to build a vocabulary first.</a:t>
            </a:r>
          </a:p>
          <a:p>
            <a:pPr algn="just"/>
            <a:endParaRPr lang="en-US" dirty="0"/>
          </a:p>
          <a:p>
            <a:pPr algn="just"/>
            <a:r>
              <a:rPr lang="en-US" dirty="0"/>
              <a:t>This vocabulary defines how we map each unique word and special character to a unique integer, as shown in figure 2.6.</a:t>
            </a:r>
          </a:p>
        </p:txBody>
      </p:sp>
    </p:spTree>
    <p:extLst>
      <p:ext uri="{BB962C8B-B14F-4D97-AF65-F5344CB8AC3E}">
        <p14:creationId xmlns:p14="http://schemas.microsoft.com/office/powerpoint/2010/main" val="4825409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930E30E-DD89-E6B3-17D2-BCB5E26548D6}"/>
              </a:ext>
            </a:extLst>
          </p:cNvPr>
          <p:cNvSpPr>
            <a:spLocks noGrp="1"/>
          </p:cNvSpPr>
          <p:nvPr>
            <p:ph type="title"/>
          </p:nvPr>
        </p:nvSpPr>
        <p:spPr/>
        <p:txBody>
          <a:bodyPr>
            <a:noAutofit/>
          </a:bodyPr>
          <a:lstStyle/>
          <a:p>
            <a:r>
              <a:rPr lang="en-US" sz="3100" b="0" dirty="0"/>
              <a:t>Figure 2.6 Building a vocabulary by tokenizing the entire text</a:t>
            </a:r>
          </a:p>
        </p:txBody>
      </p:sp>
      <p:sp>
        <p:nvSpPr>
          <p:cNvPr id="2" name="Slide Number Placeholder 1">
            <a:extLst>
              <a:ext uri="{FF2B5EF4-FFF2-40B4-BE49-F238E27FC236}">
                <a16:creationId xmlns:a16="http://schemas.microsoft.com/office/drawing/2014/main" id="{5849198F-FBEF-6A67-D8C1-CC7293CEEA0C}"/>
              </a:ext>
            </a:extLst>
          </p:cNvPr>
          <p:cNvSpPr>
            <a:spLocks noGrp="1"/>
          </p:cNvSpPr>
          <p:nvPr>
            <p:ph type="sldNum" sz="quarter" idx="12"/>
          </p:nvPr>
        </p:nvSpPr>
        <p:spPr/>
        <p:txBody>
          <a:bodyPr>
            <a:normAutofit fontScale="85000" lnSpcReduction="20000"/>
          </a:bodyPr>
          <a:lstStyle/>
          <a:p>
            <a:fld id="{EBFB1032-EA64-7144-B003-9BCC9D94B503}" type="slidenum">
              <a:rPr lang="en-US" smtClean="0"/>
              <a:t>29</a:t>
            </a:fld>
            <a:endParaRPr lang="en-US" dirty="0"/>
          </a:p>
        </p:txBody>
      </p:sp>
      <p:pic>
        <p:nvPicPr>
          <p:cNvPr id="6" name="Picture 5" descr="A diagram of a training system&#10;&#10;AI-generated content may be incorrect.">
            <a:extLst>
              <a:ext uri="{FF2B5EF4-FFF2-40B4-BE49-F238E27FC236}">
                <a16:creationId xmlns:a16="http://schemas.microsoft.com/office/drawing/2014/main" id="{079F90CF-099E-A3B6-8626-5F79E28B8F29}"/>
              </a:ext>
            </a:extLst>
          </p:cNvPr>
          <p:cNvPicPr>
            <a:picLocks noChangeAspect="1"/>
          </p:cNvPicPr>
          <p:nvPr/>
        </p:nvPicPr>
        <p:blipFill>
          <a:blip r:embed="rId2"/>
          <a:stretch>
            <a:fillRect/>
          </a:stretch>
        </p:blipFill>
        <p:spPr>
          <a:xfrm>
            <a:off x="1456639" y="1023254"/>
            <a:ext cx="6270824" cy="4572000"/>
          </a:xfrm>
          <a:prstGeom prst="rect">
            <a:avLst/>
          </a:prstGeom>
          <a:ln>
            <a:solidFill>
              <a:schemeClr val="accent1"/>
            </a:solidFill>
          </a:ln>
        </p:spPr>
      </p:pic>
      <p:sp>
        <p:nvSpPr>
          <p:cNvPr id="8" name="TextBox 7">
            <a:extLst>
              <a:ext uri="{FF2B5EF4-FFF2-40B4-BE49-F238E27FC236}">
                <a16:creationId xmlns:a16="http://schemas.microsoft.com/office/drawing/2014/main" id="{FA7CD9D1-DA62-4D0E-7E54-76B05A0BF6F2}"/>
              </a:ext>
            </a:extLst>
          </p:cNvPr>
          <p:cNvSpPr txBox="1"/>
          <p:nvPr/>
        </p:nvSpPr>
        <p:spPr>
          <a:xfrm>
            <a:off x="100263" y="5595254"/>
            <a:ext cx="8943473" cy="1200329"/>
          </a:xfrm>
          <a:prstGeom prst="rect">
            <a:avLst/>
          </a:prstGeom>
          <a:noFill/>
        </p:spPr>
        <p:txBody>
          <a:bodyPr wrap="square">
            <a:spAutoFit/>
          </a:bodyPr>
          <a:lstStyle/>
          <a:p>
            <a:pPr algn="just">
              <a:buNone/>
            </a:pPr>
            <a:r>
              <a:rPr lang="en-US" dirty="0">
                <a:solidFill>
                  <a:srgbClr val="0070C0"/>
                </a:solidFill>
                <a:latin typeface="Arial Narrow" panose="020B0606020202030204" pitchFamily="34" charset="0"/>
              </a:rPr>
              <a:t>We build a vocabulary by tokenizing the entire text in a training dataset into individual tokens.</a:t>
            </a:r>
          </a:p>
          <a:p>
            <a:pPr algn="just">
              <a:buNone/>
            </a:pPr>
            <a:r>
              <a:rPr lang="en-US" dirty="0">
                <a:solidFill>
                  <a:schemeClr val="accent2">
                    <a:lumMod val="75000"/>
                  </a:schemeClr>
                </a:solidFill>
                <a:latin typeface="Arial Narrow" panose="020B0606020202030204" pitchFamily="34" charset="0"/>
              </a:rPr>
              <a:t>These individual tokens are then sorted alphabetically, and duplicate tokens are removed.</a:t>
            </a:r>
          </a:p>
          <a:p>
            <a:pPr algn="just">
              <a:buNone/>
            </a:pPr>
            <a:r>
              <a:rPr lang="en-US" dirty="0">
                <a:solidFill>
                  <a:srgbClr val="0070C0"/>
                </a:solidFill>
                <a:latin typeface="Arial Narrow" panose="020B0606020202030204" pitchFamily="34" charset="0"/>
              </a:rPr>
              <a:t>The tokens are then aggregated into a vocabulary to map each unique token to a unique integer value.</a:t>
            </a:r>
          </a:p>
          <a:p>
            <a:pPr algn="just">
              <a:buNone/>
            </a:pPr>
            <a:r>
              <a:rPr lang="en-US" dirty="0">
                <a:solidFill>
                  <a:schemeClr val="accent2">
                    <a:lumMod val="75000"/>
                  </a:schemeClr>
                </a:solidFill>
                <a:latin typeface="Arial Narrow" panose="020B0606020202030204" pitchFamily="34" charset="0"/>
              </a:rPr>
              <a:t>The vocabulary is purposely small and contains no punctuation or special characters for simplicity.</a:t>
            </a:r>
          </a:p>
        </p:txBody>
      </p:sp>
    </p:spTree>
    <p:extLst>
      <p:ext uri="{BB962C8B-B14F-4D97-AF65-F5344CB8AC3E}">
        <p14:creationId xmlns:p14="http://schemas.microsoft.com/office/powerpoint/2010/main" val="41154559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F85DAA7-9CFD-715A-826A-B37B503CBC6D}"/>
              </a:ext>
            </a:extLst>
          </p:cNvPr>
          <p:cNvSpPr>
            <a:spLocks noGrp="1"/>
          </p:cNvSpPr>
          <p:nvPr>
            <p:ph type="title"/>
          </p:nvPr>
        </p:nvSpPr>
        <p:spPr/>
        <p:txBody>
          <a:bodyPr/>
          <a:lstStyle/>
          <a:p>
            <a:r>
              <a:rPr lang="en-US" dirty="0"/>
              <a:t>Creating a list of unique tokens</a:t>
            </a:r>
          </a:p>
        </p:txBody>
      </p:sp>
      <p:sp>
        <p:nvSpPr>
          <p:cNvPr id="2" name="Slide Number Placeholder 1">
            <a:extLst>
              <a:ext uri="{FF2B5EF4-FFF2-40B4-BE49-F238E27FC236}">
                <a16:creationId xmlns:a16="http://schemas.microsoft.com/office/drawing/2014/main" id="{2F433BC1-7A79-B9A1-5AAC-0967A67DBAFB}"/>
              </a:ext>
            </a:extLst>
          </p:cNvPr>
          <p:cNvSpPr>
            <a:spLocks noGrp="1"/>
          </p:cNvSpPr>
          <p:nvPr>
            <p:ph type="sldNum" sz="quarter" idx="12"/>
          </p:nvPr>
        </p:nvSpPr>
        <p:spPr/>
        <p:txBody>
          <a:bodyPr>
            <a:normAutofit fontScale="85000" lnSpcReduction="20000"/>
          </a:bodyPr>
          <a:lstStyle/>
          <a:p>
            <a:fld id="{EBFB1032-EA64-7144-B003-9BCC9D94B503}" type="slidenum">
              <a:rPr lang="en-US" smtClean="0"/>
              <a:t>30</a:t>
            </a:fld>
            <a:endParaRPr lang="en-US" dirty="0"/>
          </a:p>
        </p:txBody>
      </p:sp>
      <p:pic>
        <p:nvPicPr>
          <p:cNvPr id="6" name="Picture 5">
            <a:extLst>
              <a:ext uri="{FF2B5EF4-FFF2-40B4-BE49-F238E27FC236}">
                <a16:creationId xmlns:a16="http://schemas.microsoft.com/office/drawing/2014/main" id="{B1679721-4800-0B0C-4C93-01233CB36BB3}"/>
              </a:ext>
            </a:extLst>
          </p:cNvPr>
          <p:cNvPicPr>
            <a:picLocks noChangeAspect="1"/>
          </p:cNvPicPr>
          <p:nvPr/>
        </p:nvPicPr>
        <p:blipFill>
          <a:blip r:embed="rId2"/>
          <a:stretch>
            <a:fillRect/>
          </a:stretch>
        </p:blipFill>
        <p:spPr>
          <a:xfrm>
            <a:off x="182880" y="1688727"/>
            <a:ext cx="8778240" cy="3961740"/>
          </a:xfrm>
          <a:prstGeom prst="rect">
            <a:avLst/>
          </a:prstGeom>
        </p:spPr>
      </p:pic>
    </p:spTree>
    <p:extLst>
      <p:ext uri="{BB962C8B-B14F-4D97-AF65-F5344CB8AC3E}">
        <p14:creationId xmlns:p14="http://schemas.microsoft.com/office/powerpoint/2010/main" val="9135711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015CD-31A5-605E-819D-9009EC6E1998}"/>
              </a:ext>
            </a:extLst>
          </p:cNvPr>
          <p:cNvSpPr>
            <a:spLocks noGrp="1"/>
          </p:cNvSpPr>
          <p:nvPr>
            <p:ph type="title"/>
          </p:nvPr>
        </p:nvSpPr>
        <p:spPr/>
        <p:txBody>
          <a:bodyPr/>
          <a:lstStyle/>
          <a:p>
            <a:r>
              <a:rPr lang="en-US" dirty="0"/>
              <a:t>Listing 2.2 Creating a vocabulary</a:t>
            </a:r>
          </a:p>
        </p:txBody>
      </p:sp>
      <p:sp>
        <p:nvSpPr>
          <p:cNvPr id="3" name="Slide Number Placeholder 2">
            <a:extLst>
              <a:ext uri="{FF2B5EF4-FFF2-40B4-BE49-F238E27FC236}">
                <a16:creationId xmlns:a16="http://schemas.microsoft.com/office/drawing/2014/main" id="{03C6FFB2-610C-32B2-1F84-8293CACC3C82}"/>
              </a:ext>
            </a:extLst>
          </p:cNvPr>
          <p:cNvSpPr>
            <a:spLocks noGrp="1"/>
          </p:cNvSpPr>
          <p:nvPr>
            <p:ph type="sldNum" sz="quarter" idx="12"/>
          </p:nvPr>
        </p:nvSpPr>
        <p:spPr/>
        <p:txBody>
          <a:bodyPr>
            <a:normAutofit fontScale="85000" lnSpcReduction="20000"/>
          </a:bodyPr>
          <a:lstStyle/>
          <a:p>
            <a:fld id="{EBFB1032-EA64-7144-B003-9BCC9D94B503}" type="slidenum">
              <a:rPr lang="en-US" smtClean="0"/>
              <a:t>31</a:t>
            </a:fld>
            <a:endParaRPr lang="en-US" dirty="0"/>
          </a:p>
        </p:txBody>
      </p:sp>
      <p:pic>
        <p:nvPicPr>
          <p:cNvPr id="6" name="Picture 5">
            <a:extLst>
              <a:ext uri="{FF2B5EF4-FFF2-40B4-BE49-F238E27FC236}">
                <a16:creationId xmlns:a16="http://schemas.microsoft.com/office/drawing/2014/main" id="{90291D2D-C108-C0E5-ECD6-E912C61D96BA}"/>
              </a:ext>
            </a:extLst>
          </p:cNvPr>
          <p:cNvPicPr>
            <a:picLocks noChangeAspect="1"/>
          </p:cNvPicPr>
          <p:nvPr/>
        </p:nvPicPr>
        <p:blipFill>
          <a:blip r:embed="rId2"/>
          <a:srcRect t="3282" b="23842"/>
          <a:stretch>
            <a:fillRect/>
          </a:stretch>
        </p:blipFill>
        <p:spPr>
          <a:xfrm>
            <a:off x="618303" y="1516698"/>
            <a:ext cx="7947496" cy="4572000"/>
          </a:xfrm>
          <a:prstGeom prst="rect">
            <a:avLst/>
          </a:prstGeom>
        </p:spPr>
      </p:pic>
      <p:sp>
        <p:nvSpPr>
          <p:cNvPr id="8" name="TextBox 7">
            <a:extLst>
              <a:ext uri="{FF2B5EF4-FFF2-40B4-BE49-F238E27FC236}">
                <a16:creationId xmlns:a16="http://schemas.microsoft.com/office/drawing/2014/main" id="{2DF6B3BD-0032-DC1B-AF76-D52B97995828}"/>
              </a:ext>
            </a:extLst>
          </p:cNvPr>
          <p:cNvSpPr txBox="1"/>
          <p:nvPr/>
        </p:nvSpPr>
        <p:spPr>
          <a:xfrm>
            <a:off x="100263" y="6088698"/>
            <a:ext cx="8943473" cy="707886"/>
          </a:xfrm>
          <a:prstGeom prst="rect">
            <a:avLst/>
          </a:prstGeom>
          <a:noFill/>
        </p:spPr>
        <p:txBody>
          <a:bodyPr wrap="square">
            <a:spAutoFit/>
          </a:bodyPr>
          <a:lstStyle/>
          <a:p>
            <a:r>
              <a:rPr lang="en-US" sz="2000" dirty="0">
                <a:solidFill>
                  <a:schemeClr val="accent2">
                    <a:lumMod val="75000"/>
                  </a:schemeClr>
                </a:solidFill>
                <a:latin typeface="Arial Narrow" panose="020B0606020202030204" pitchFamily="34" charset="0"/>
              </a:rPr>
              <a:t>As we can see, the dictionary contains individual tokens associated with unique integer labels. Our next goal is to apply this vocabulary to convert new text into token IDs (figure 2.7).</a:t>
            </a:r>
          </a:p>
        </p:txBody>
      </p:sp>
    </p:spTree>
    <p:extLst>
      <p:ext uri="{BB962C8B-B14F-4D97-AF65-F5344CB8AC3E}">
        <p14:creationId xmlns:p14="http://schemas.microsoft.com/office/powerpoint/2010/main" val="5245167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CFEDC7F-45C2-5FA6-3F88-CEFD08AB7B28}"/>
              </a:ext>
            </a:extLst>
          </p:cNvPr>
          <p:cNvSpPr>
            <a:spLocks noGrp="1"/>
          </p:cNvSpPr>
          <p:nvPr>
            <p:ph type="title"/>
          </p:nvPr>
        </p:nvSpPr>
        <p:spPr/>
        <p:txBody>
          <a:bodyPr>
            <a:normAutofit fontScale="90000"/>
          </a:bodyPr>
          <a:lstStyle/>
          <a:p>
            <a:r>
              <a:rPr lang="en-US" dirty="0"/>
              <a:t>Figure 2.7 Converting the text tokens into token IDs</a:t>
            </a:r>
          </a:p>
        </p:txBody>
      </p:sp>
      <p:sp>
        <p:nvSpPr>
          <p:cNvPr id="2" name="Slide Number Placeholder 1">
            <a:extLst>
              <a:ext uri="{FF2B5EF4-FFF2-40B4-BE49-F238E27FC236}">
                <a16:creationId xmlns:a16="http://schemas.microsoft.com/office/drawing/2014/main" id="{FF779CAA-457A-B4C1-5D60-F32990BC9CEB}"/>
              </a:ext>
            </a:extLst>
          </p:cNvPr>
          <p:cNvSpPr>
            <a:spLocks noGrp="1"/>
          </p:cNvSpPr>
          <p:nvPr>
            <p:ph type="sldNum" sz="quarter" idx="12"/>
          </p:nvPr>
        </p:nvSpPr>
        <p:spPr/>
        <p:txBody>
          <a:bodyPr>
            <a:normAutofit fontScale="85000" lnSpcReduction="20000"/>
          </a:bodyPr>
          <a:lstStyle/>
          <a:p>
            <a:fld id="{EBFB1032-EA64-7144-B003-9BCC9D94B503}" type="slidenum">
              <a:rPr lang="en-US" smtClean="0"/>
              <a:t>32</a:t>
            </a:fld>
            <a:endParaRPr lang="en-US" dirty="0"/>
          </a:p>
        </p:txBody>
      </p:sp>
      <p:pic>
        <p:nvPicPr>
          <p:cNvPr id="5" name="Picture 4" descr="A diagram of a word&#10;&#10;AI-generated content may be incorrect.">
            <a:extLst>
              <a:ext uri="{FF2B5EF4-FFF2-40B4-BE49-F238E27FC236}">
                <a16:creationId xmlns:a16="http://schemas.microsoft.com/office/drawing/2014/main" id="{DBD2BC7A-3759-CDB6-35E1-98192FCE0774}"/>
              </a:ext>
            </a:extLst>
          </p:cNvPr>
          <p:cNvPicPr>
            <a:picLocks noChangeAspect="1"/>
          </p:cNvPicPr>
          <p:nvPr/>
        </p:nvPicPr>
        <p:blipFill>
          <a:blip r:embed="rId2"/>
          <a:stretch>
            <a:fillRect/>
          </a:stretch>
        </p:blipFill>
        <p:spPr>
          <a:xfrm>
            <a:off x="1470983" y="1516698"/>
            <a:ext cx="6242136" cy="4572000"/>
          </a:xfrm>
          <a:prstGeom prst="rect">
            <a:avLst/>
          </a:prstGeom>
        </p:spPr>
      </p:pic>
      <p:sp>
        <p:nvSpPr>
          <p:cNvPr id="8" name="TextBox 7">
            <a:extLst>
              <a:ext uri="{FF2B5EF4-FFF2-40B4-BE49-F238E27FC236}">
                <a16:creationId xmlns:a16="http://schemas.microsoft.com/office/drawing/2014/main" id="{1C99BA55-7039-41DA-7E27-F2EA9EB84854}"/>
              </a:ext>
            </a:extLst>
          </p:cNvPr>
          <p:cNvSpPr txBox="1"/>
          <p:nvPr/>
        </p:nvSpPr>
        <p:spPr>
          <a:xfrm>
            <a:off x="100263" y="6157284"/>
            <a:ext cx="8943473" cy="615553"/>
          </a:xfrm>
          <a:prstGeom prst="rect">
            <a:avLst/>
          </a:prstGeom>
          <a:noFill/>
        </p:spPr>
        <p:txBody>
          <a:bodyPr wrap="square">
            <a:spAutoFit/>
          </a:bodyPr>
          <a:lstStyle/>
          <a:p>
            <a:pPr>
              <a:buNone/>
            </a:pPr>
            <a:r>
              <a:rPr lang="en-US" sz="1700" dirty="0">
                <a:solidFill>
                  <a:schemeClr val="accent2">
                    <a:lumMod val="75000"/>
                  </a:schemeClr>
                </a:solidFill>
                <a:latin typeface="Arial Narrow" panose="020B0606020202030204" pitchFamily="34" charset="0"/>
              </a:rPr>
              <a:t>The vocabulary is built from the entire training set and can be applied to the training set itself and any new text.</a:t>
            </a:r>
          </a:p>
          <a:p>
            <a:pPr>
              <a:buNone/>
            </a:pPr>
            <a:r>
              <a:rPr lang="en-US" sz="1700" dirty="0">
                <a:solidFill>
                  <a:schemeClr val="accent2">
                    <a:lumMod val="75000"/>
                  </a:schemeClr>
                </a:solidFill>
                <a:latin typeface="Arial Narrow" panose="020B0606020202030204" pitchFamily="34" charset="0"/>
              </a:rPr>
              <a:t>The depicted vocabulary contains no punctuation or special characters for simplicity.</a:t>
            </a:r>
          </a:p>
        </p:txBody>
      </p:sp>
    </p:spTree>
    <p:extLst>
      <p:ext uri="{BB962C8B-B14F-4D97-AF65-F5344CB8AC3E}">
        <p14:creationId xmlns:p14="http://schemas.microsoft.com/office/powerpoint/2010/main" val="11033807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0242C-A8A4-8F51-4077-FE2208178772}"/>
              </a:ext>
            </a:extLst>
          </p:cNvPr>
          <p:cNvSpPr>
            <a:spLocks noGrp="1"/>
          </p:cNvSpPr>
          <p:nvPr>
            <p:ph type="title"/>
          </p:nvPr>
        </p:nvSpPr>
        <p:spPr/>
        <p:txBody>
          <a:bodyPr/>
          <a:lstStyle/>
          <a:p>
            <a:r>
              <a:rPr lang="en-US" dirty="0"/>
              <a:t>Inverse Version</a:t>
            </a:r>
          </a:p>
        </p:txBody>
      </p:sp>
      <p:sp>
        <p:nvSpPr>
          <p:cNvPr id="3" name="Slide Number Placeholder 2">
            <a:extLst>
              <a:ext uri="{FF2B5EF4-FFF2-40B4-BE49-F238E27FC236}">
                <a16:creationId xmlns:a16="http://schemas.microsoft.com/office/drawing/2014/main" id="{5E857D55-AF92-450F-3250-57F8016C1217}"/>
              </a:ext>
            </a:extLst>
          </p:cNvPr>
          <p:cNvSpPr>
            <a:spLocks noGrp="1"/>
          </p:cNvSpPr>
          <p:nvPr>
            <p:ph type="sldNum" sz="quarter" idx="12"/>
          </p:nvPr>
        </p:nvSpPr>
        <p:spPr/>
        <p:txBody>
          <a:bodyPr>
            <a:normAutofit fontScale="85000" lnSpcReduction="20000"/>
          </a:bodyPr>
          <a:lstStyle/>
          <a:p>
            <a:fld id="{EBFB1032-EA64-7144-B003-9BCC9D94B503}" type="slidenum">
              <a:rPr lang="en-US" smtClean="0"/>
              <a:t>33</a:t>
            </a:fld>
            <a:endParaRPr lang="en-US" dirty="0"/>
          </a:p>
        </p:txBody>
      </p:sp>
      <p:sp>
        <p:nvSpPr>
          <p:cNvPr id="4" name="Content Placeholder 3">
            <a:extLst>
              <a:ext uri="{FF2B5EF4-FFF2-40B4-BE49-F238E27FC236}">
                <a16:creationId xmlns:a16="http://schemas.microsoft.com/office/drawing/2014/main" id="{C9E2B639-476E-F01F-BF56-42CB8B058C23}"/>
              </a:ext>
            </a:extLst>
          </p:cNvPr>
          <p:cNvSpPr>
            <a:spLocks noGrp="1"/>
          </p:cNvSpPr>
          <p:nvPr>
            <p:ph sz="quarter" idx="1"/>
          </p:nvPr>
        </p:nvSpPr>
        <p:spPr/>
        <p:txBody>
          <a:bodyPr/>
          <a:lstStyle/>
          <a:p>
            <a:pPr algn="just"/>
            <a:r>
              <a:rPr lang="en-US" dirty="0">
                <a:solidFill>
                  <a:schemeClr val="accent2">
                    <a:lumMod val="75000"/>
                  </a:schemeClr>
                </a:solidFill>
              </a:rPr>
              <a:t>When we want to convert the outputs of an LLM from numbers back into text, we need a way to turn token IDs into text.</a:t>
            </a:r>
          </a:p>
          <a:p>
            <a:pPr algn="just"/>
            <a:endParaRPr lang="en-US" dirty="0"/>
          </a:p>
          <a:p>
            <a:pPr algn="just"/>
            <a:r>
              <a:rPr lang="en-US" dirty="0">
                <a:solidFill>
                  <a:srgbClr val="0070C0"/>
                </a:solidFill>
              </a:rPr>
              <a:t>For this, we can create an inverse version of the vocabulary that maps token IDs back to the corresponding text tokens.</a:t>
            </a:r>
          </a:p>
          <a:p>
            <a:pPr algn="just"/>
            <a:endParaRPr lang="en-US" dirty="0"/>
          </a:p>
          <a:p>
            <a:pPr algn="just"/>
            <a:r>
              <a:rPr lang="en-US" dirty="0">
                <a:solidFill>
                  <a:srgbClr val="00B050"/>
                </a:solidFill>
              </a:rPr>
              <a:t>Let’s implement a complete tokenizer class with an encode method that splits text into tokens and carries out the string-to-integer mapping to produce token IDs via the vocabulary.</a:t>
            </a:r>
          </a:p>
          <a:p>
            <a:pPr algn="just"/>
            <a:endParaRPr lang="en-US" dirty="0"/>
          </a:p>
          <a:p>
            <a:pPr algn="just"/>
            <a:r>
              <a:rPr lang="en-US" dirty="0">
                <a:solidFill>
                  <a:srgbClr val="7030A0"/>
                </a:solidFill>
              </a:rPr>
              <a:t>In addition, we’ll implement a decode method that carries out the reverse integer-to-string mapping to convert the token IDs back into text.</a:t>
            </a:r>
          </a:p>
        </p:txBody>
      </p:sp>
    </p:spTree>
    <p:extLst>
      <p:ext uri="{BB962C8B-B14F-4D97-AF65-F5344CB8AC3E}">
        <p14:creationId xmlns:p14="http://schemas.microsoft.com/office/powerpoint/2010/main" val="22410976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83745F1-C245-B60E-E203-18DDAEE3F9D6}"/>
              </a:ext>
            </a:extLst>
          </p:cNvPr>
          <p:cNvSpPr>
            <a:spLocks noGrp="1"/>
          </p:cNvSpPr>
          <p:nvPr>
            <p:ph type="sldNum" sz="quarter" idx="12"/>
          </p:nvPr>
        </p:nvSpPr>
        <p:spPr/>
        <p:txBody>
          <a:bodyPr/>
          <a:lstStyle/>
          <a:p>
            <a:fld id="{EBFB1032-EA64-7144-B003-9BCC9D94B503}" type="slidenum">
              <a:rPr lang="en-US" smtClean="0"/>
              <a:t>34</a:t>
            </a:fld>
            <a:endParaRPr lang="en-US" dirty="0"/>
          </a:p>
        </p:txBody>
      </p:sp>
      <p:pic>
        <p:nvPicPr>
          <p:cNvPr id="6" name="Picture 5">
            <a:extLst>
              <a:ext uri="{FF2B5EF4-FFF2-40B4-BE49-F238E27FC236}">
                <a16:creationId xmlns:a16="http://schemas.microsoft.com/office/drawing/2014/main" id="{2E6D8856-5CC1-31E9-6313-2A801B098535}"/>
              </a:ext>
            </a:extLst>
          </p:cNvPr>
          <p:cNvPicPr>
            <a:picLocks noChangeAspect="1"/>
          </p:cNvPicPr>
          <p:nvPr/>
        </p:nvPicPr>
        <p:blipFill>
          <a:blip r:embed="rId2"/>
          <a:stretch>
            <a:fillRect/>
          </a:stretch>
        </p:blipFill>
        <p:spPr>
          <a:xfrm>
            <a:off x="1433411" y="137160"/>
            <a:ext cx="6277177" cy="6583680"/>
          </a:xfrm>
          <a:prstGeom prst="rect">
            <a:avLst/>
          </a:prstGeom>
          <a:ln>
            <a:solidFill>
              <a:schemeClr val="accent1"/>
            </a:solidFill>
          </a:ln>
        </p:spPr>
      </p:pic>
    </p:spTree>
    <p:extLst>
      <p:ext uri="{BB962C8B-B14F-4D97-AF65-F5344CB8AC3E}">
        <p14:creationId xmlns:p14="http://schemas.microsoft.com/office/powerpoint/2010/main" val="12717059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0E0AB4-2B51-1F0C-3282-69DABE1807B2}"/>
              </a:ext>
            </a:extLst>
          </p:cNvPr>
          <p:cNvSpPr>
            <a:spLocks noGrp="1"/>
          </p:cNvSpPr>
          <p:nvPr>
            <p:ph type="title"/>
          </p:nvPr>
        </p:nvSpPr>
        <p:spPr/>
        <p:txBody>
          <a:bodyPr>
            <a:normAutofit/>
          </a:bodyPr>
          <a:lstStyle/>
          <a:p>
            <a:r>
              <a:rPr lang="en-US" dirty="0"/>
              <a:t>Figure 2.8 Encode and Decode Methods</a:t>
            </a:r>
          </a:p>
        </p:txBody>
      </p:sp>
      <p:sp>
        <p:nvSpPr>
          <p:cNvPr id="2" name="Slide Number Placeholder 1">
            <a:extLst>
              <a:ext uri="{FF2B5EF4-FFF2-40B4-BE49-F238E27FC236}">
                <a16:creationId xmlns:a16="http://schemas.microsoft.com/office/drawing/2014/main" id="{49C29A99-1F4F-F979-CF40-D77FDE9DCF1E}"/>
              </a:ext>
            </a:extLst>
          </p:cNvPr>
          <p:cNvSpPr>
            <a:spLocks noGrp="1"/>
          </p:cNvSpPr>
          <p:nvPr>
            <p:ph type="sldNum" sz="quarter" idx="12"/>
          </p:nvPr>
        </p:nvSpPr>
        <p:spPr/>
        <p:txBody>
          <a:bodyPr>
            <a:normAutofit fontScale="85000" lnSpcReduction="20000"/>
          </a:bodyPr>
          <a:lstStyle/>
          <a:p>
            <a:fld id="{EBFB1032-EA64-7144-B003-9BCC9D94B503}" type="slidenum">
              <a:rPr lang="en-US" smtClean="0"/>
              <a:t>35</a:t>
            </a:fld>
            <a:endParaRPr lang="en-US" dirty="0"/>
          </a:p>
        </p:txBody>
      </p:sp>
      <p:pic>
        <p:nvPicPr>
          <p:cNvPr id="6" name="Picture 5" descr="A screenshot of a computer&#10;&#10;AI-generated content may be incorrect.">
            <a:extLst>
              <a:ext uri="{FF2B5EF4-FFF2-40B4-BE49-F238E27FC236}">
                <a16:creationId xmlns:a16="http://schemas.microsoft.com/office/drawing/2014/main" id="{5129C3F9-69CA-E634-E591-4379DC7AFF43}"/>
              </a:ext>
            </a:extLst>
          </p:cNvPr>
          <p:cNvPicPr>
            <a:picLocks noChangeAspect="1"/>
          </p:cNvPicPr>
          <p:nvPr/>
        </p:nvPicPr>
        <p:blipFill>
          <a:blip r:embed="rId2"/>
          <a:stretch>
            <a:fillRect/>
          </a:stretch>
        </p:blipFill>
        <p:spPr>
          <a:xfrm>
            <a:off x="1163051" y="1579451"/>
            <a:ext cx="6858000" cy="4270664"/>
          </a:xfrm>
          <a:prstGeom prst="rect">
            <a:avLst/>
          </a:prstGeom>
        </p:spPr>
      </p:pic>
      <p:sp>
        <p:nvSpPr>
          <p:cNvPr id="8" name="TextBox 7">
            <a:extLst>
              <a:ext uri="{FF2B5EF4-FFF2-40B4-BE49-F238E27FC236}">
                <a16:creationId xmlns:a16="http://schemas.microsoft.com/office/drawing/2014/main" id="{0DFB6A02-C865-C57E-F4CD-9D5F6617AAED}"/>
              </a:ext>
            </a:extLst>
          </p:cNvPr>
          <p:cNvSpPr txBox="1"/>
          <p:nvPr/>
        </p:nvSpPr>
        <p:spPr>
          <a:xfrm>
            <a:off x="100264" y="6157891"/>
            <a:ext cx="8943472" cy="615553"/>
          </a:xfrm>
          <a:prstGeom prst="rect">
            <a:avLst/>
          </a:prstGeom>
          <a:noFill/>
          <a:ln>
            <a:solidFill>
              <a:schemeClr val="accent1"/>
            </a:solidFill>
          </a:ln>
        </p:spPr>
        <p:txBody>
          <a:bodyPr wrap="square">
            <a:spAutoFit/>
          </a:bodyPr>
          <a:lstStyle/>
          <a:p>
            <a:r>
              <a:rPr lang="en-US" sz="1700" b="1" dirty="0">
                <a:solidFill>
                  <a:srgbClr val="0070C0"/>
                </a:solidFill>
                <a:latin typeface="Arial Narrow" panose="020B0606020202030204" pitchFamily="34" charset="0"/>
              </a:rPr>
              <a:t>encode(text) </a:t>
            </a:r>
            <a:r>
              <a:rPr lang="en-US" sz="1700" dirty="0">
                <a:solidFill>
                  <a:srgbClr val="0070C0"/>
                </a:solidFill>
                <a:latin typeface="Arial Narrow" panose="020B0606020202030204" pitchFamily="34" charset="0"/>
              </a:rPr>
              <a:t>splits the text into individual tokens, and converts the tokens into token IDs via the vocabulary.</a:t>
            </a:r>
          </a:p>
          <a:p>
            <a:r>
              <a:rPr lang="en-US" sz="1700" b="1" dirty="0">
                <a:solidFill>
                  <a:srgbClr val="C00000"/>
                </a:solidFill>
                <a:latin typeface="Arial Narrow" panose="020B0606020202030204" pitchFamily="34" charset="0"/>
              </a:rPr>
              <a:t>decode(ids) </a:t>
            </a:r>
            <a:r>
              <a:rPr lang="en-US" sz="1700" dirty="0">
                <a:solidFill>
                  <a:srgbClr val="C00000"/>
                </a:solidFill>
                <a:latin typeface="Arial Narrow" panose="020B0606020202030204" pitchFamily="34" charset="0"/>
              </a:rPr>
              <a:t>converts the token IDs back into text tokens, and concatenates the text tokens into natural text.</a:t>
            </a:r>
          </a:p>
        </p:txBody>
      </p:sp>
    </p:spTree>
    <p:extLst>
      <p:ext uri="{BB962C8B-B14F-4D97-AF65-F5344CB8AC3E}">
        <p14:creationId xmlns:p14="http://schemas.microsoft.com/office/powerpoint/2010/main" val="38519741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D8C2E37-7693-EAC6-0144-F0FB8EE94EEE}"/>
              </a:ext>
            </a:extLst>
          </p:cNvPr>
          <p:cNvSpPr>
            <a:spLocks noGrp="1"/>
          </p:cNvSpPr>
          <p:nvPr>
            <p:ph type="sldNum" sz="quarter" idx="12"/>
          </p:nvPr>
        </p:nvSpPr>
        <p:spPr/>
        <p:txBody>
          <a:bodyPr/>
          <a:lstStyle/>
          <a:p>
            <a:fld id="{EBFB1032-EA64-7144-B003-9BCC9D94B503}" type="slidenum">
              <a:rPr lang="en-US" smtClean="0"/>
              <a:t>36</a:t>
            </a:fld>
            <a:endParaRPr lang="en-US" dirty="0"/>
          </a:p>
        </p:txBody>
      </p:sp>
      <p:pic>
        <p:nvPicPr>
          <p:cNvPr id="4" name="Picture 3">
            <a:extLst>
              <a:ext uri="{FF2B5EF4-FFF2-40B4-BE49-F238E27FC236}">
                <a16:creationId xmlns:a16="http://schemas.microsoft.com/office/drawing/2014/main" id="{C9CE5484-0277-2C87-C257-3A8F3215F690}"/>
              </a:ext>
            </a:extLst>
          </p:cNvPr>
          <p:cNvPicPr>
            <a:picLocks noChangeAspect="1"/>
          </p:cNvPicPr>
          <p:nvPr/>
        </p:nvPicPr>
        <p:blipFill>
          <a:blip r:embed="rId2"/>
          <a:srcRect t="658" b="50000"/>
          <a:stretch>
            <a:fillRect/>
          </a:stretch>
        </p:blipFill>
        <p:spPr>
          <a:xfrm>
            <a:off x="182880" y="880402"/>
            <a:ext cx="8778240" cy="5097196"/>
          </a:xfrm>
          <a:prstGeom prst="rect">
            <a:avLst/>
          </a:prstGeom>
          <a:ln>
            <a:noFill/>
          </a:ln>
        </p:spPr>
      </p:pic>
    </p:spTree>
    <p:extLst>
      <p:ext uri="{BB962C8B-B14F-4D97-AF65-F5344CB8AC3E}">
        <p14:creationId xmlns:p14="http://schemas.microsoft.com/office/powerpoint/2010/main" val="41995495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CAF5F-8F56-6E6C-1F94-045F6148707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34EFEA0-B198-B36A-AAD4-40880667B17E}"/>
              </a:ext>
            </a:extLst>
          </p:cNvPr>
          <p:cNvSpPr>
            <a:spLocks noGrp="1"/>
          </p:cNvSpPr>
          <p:nvPr>
            <p:ph type="sldNum" sz="quarter" idx="12"/>
          </p:nvPr>
        </p:nvSpPr>
        <p:spPr/>
        <p:txBody>
          <a:bodyPr/>
          <a:lstStyle/>
          <a:p>
            <a:fld id="{EBFB1032-EA64-7144-B003-9BCC9D94B503}" type="slidenum">
              <a:rPr lang="en-US" smtClean="0"/>
              <a:t>37</a:t>
            </a:fld>
            <a:endParaRPr lang="en-US" dirty="0"/>
          </a:p>
        </p:txBody>
      </p:sp>
      <p:pic>
        <p:nvPicPr>
          <p:cNvPr id="4" name="Picture 3">
            <a:extLst>
              <a:ext uri="{FF2B5EF4-FFF2-40B4-BE49-F238E27FC236}">
                <a16:creationId xmlns:a16="http://schemas.microsoft.com/office/drawing/2014/main" id="{82F97539-1FBF-DDE5-0CD7-4A6972A43C51}"/>
              </a:ext>
            </a:extLst>
          </p:cNvPr>
          <p:cNvPicPr>
            <a:picLocks noChangeAspect="1"/>
          </p:cNvPicPr>
          <p:nvPr/>
        </p:nvPicPr>
        <p:blipFill>
          <a:blip r:embed="rId2"/>
          <a:srcRect t="52383"/>
          <a:stretch>
            <a:fillRect/>
          </a:stretch>
        </p:blipFill>
        <p:spPr>
          <a:xfrm>
            <a:off x="182880" y="969484"/>
            <a:ext cx="8778240" cy="4919031"/>
          </a:xfrm>
          <a:prstGeom prst="rect">
            <a:avLst/>
          </a:prstGeom>
          <a:ln>
            <a:noFill/>
          </a:ln>
        </p:spPr>
      </p:pic>
    </p:spTree>
    <p:extLst>
      <p:ext uri="{BB962C8B-B14F-4D97-AF65-F5344CB8AC3E}">
        <p14:creationId xmlns:p14="http://schemas.microsoft.com/office/powerpoint/2010/main" val="34509210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52ABB9C-F0AD-AB86-73BA-C8B5FB2F7D4B}"/>
              </a:ext>
            </a:extLst>
          </p:cNvPr>
          <p:cNvSpPr>
            <a:spLocks noGrp="1"/>
          </p:cNvSpPr>
          <p:nvPr>
            <p:ph type="sldNum" sz="quarter" idx="12"/>
          </p:nvPr>
        </p:nvSpPr>
        <p:spPr/>
        <p:txBody>
          <a:bodyPr/>
          <a:lstStyle/>
          <a:p>
            <a:fld id="{EBFB1032-EA64-7144-B003-9BCC9D94B503}" type="slidenum">
              <a:rPr lang="en-US" smtClean="0"/>
              <a:t>38</a:t>
            </a:fld>
            <a:endParaRPr lang="en-US" dirty="0"/>
          </a:p>
        </p:txBody>
      </p:sp>
      <p:pic>
        <p:nvPicPr>
          <p:cNvPr id="4" name="Picture 3">
            <a:extLst>
              <a:ext uri="{FF2B5EF4-FFF2-40B4-BE49-F238E27FC236}">
                <a16:creationId xmlns:a16="http://schemas.microsoft.com/office/drawing/2014/main" id="{03ADCA1B-8E9D-E081-1A1C-1F85049A6D60}"/>
              </a:ext>
            </a:extLst>
          </p:cNvPr>
          <p:cNvPicPr>
            <a:picLocks noChangeAspect="1"/>
          </p:cNvPicPr>
          <p:nvPr/>
        </p:nvPicPr>
        <p:blipFill>
          <a:blip r:embed="rId2"/>
          <a:stretch>
            <a:fillRect/>
          </a:stretch>
        </p:blipFill>
        <p:spPr>
          <a:xfrm>
            <a:off x="182880" y="374582"/>
            <a:ext cx="8778240" cy="6108836"/>
          </a:xfrm>
          <a:prstGeom prst="rect">
            <a:avLst/>
          </a:prstGeom>
          <a:ln>
            <a:solidFill>
              <a:schemeClr val="accent1"/>
            </a:solidFill>
          </a:ln>
        </p:spPr>
      </p:pic>
    </p:spTree>
    <p:extLst>
      <p:ext uri="{BB962C8B-B14F-4D97-AF65-F5344CB8AC3E}">
        <p14:creationId xmlns:p14="http://schemas.microsoft.com/office/powerpoint/2010/main" val="2449485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E1BEBD6-121C-6D0F-A880-FE40ECA344F9}"/>
              </a:ext>
            </a:extLst>
          </p:cNvPr>
          <p:cNvSpPr>
            <a:spLocks noGrp="1"/>
          </p:cNvSpPr>
          <p:nvPr>
            <p:ph type="title"/>
          </p:nvPr>
        </p:nvSpPr>
        <p:spPr/>
        <p:txBody>
          <a:bodyPr>
            <a:normAutofit/>
          </a:bodyPr>
          <a:lstStyle/>
          <a:p>
            <a:r>
              <a:rPr lang="en-US" dirty="0"/>
              <a:t>Adding special context tokens</a:t>
            </a:r>
          </a:p>
        </p:txBody>
      </p:sp>
      <p:sp>
        <p:nvSpPr>
          <p:cNvPr id="2" name="Slide Number Placeholder 1">
            <a:extLst>
              <a:ext uri="{FF2B5EF4-FFF2-40B4-BE49-F238E27FC236}">
                <a16:creationId xmlns:a16="http://schemas.microsoft.com/office/drawing/2014/main" id="{0780AEA5-E98E-79C2-D4DA-95563B4EA317}"/>
              </a:ext>
            </a:extLst>
          </p:cNvPr>
          <p:cNvSpPr>
            <a:spLocks noGrp="1"/>
          </p:cNvSpPr>
          <p:nvPr>
            <p:ph type="sldNum" sz="quarter" idx="12"/>
          </p:nvPr>
        </p:nvSpPr>
        <p:spPr/>
        <p:txBody>
          <a:bodyPr>
            <a:normAutofit fontScale="85000" lnSpcReduction="20000"/>
          </a:bodyPr>
          <a:lstStyle/>
          <a:p>
            <a:fld id="{EBFB1032-EA64-7144-B003-9BCC9D94B503}" type="slidenum">
              <a:rPr lang="en-US" smtClean="0"/>
              <a:t>39</a:t>
            </a:fld>
            <a:endParaRPr lang="en-US" dirty="0"/>
          </a:p>
        </p:txBody>
      </p:sp>
      <p:sp>
        <p:nvSpPr>
          <p:cNvPr id="4" name="Content Placeholder 3">
            <a:extLst>
              <a:ext uri="{FF2B5EF4-FFF2-40B4-BE49-F238E27FC236}">
                <a16:creationId xmlns:a16="http://schemas.microsoft.com/office/drawing/2014/main" id="{295562B9-95B1-1454-1965-6E477682A2A3}"/>
              </a:ext>
            </a:extLst>
          </p:cNvPr>
          <p:cNvSpPr>
            <a:spLocks noGrp="1"/>
          </p:cNvSpPr>
          <p:nvPr>
            <p:ph sz="quarter" idx="1"/>
          </p:nvPr>
        </p:nvSpPr>
        <p:spPr/>
        <p:txBody>
          <a:bodyPr/>
          <a:lstStyle/>
          <a:p>
            <a:pPr algn="just"/>
            <a:r>
              <a:rPr lang="en-US" dirty="0"/>
              <a:t>We need to modify the tokenizer to handle unknown words.</a:t>
            </a:r>
          </a:p>
          <a:p>
            <a:pPr algn="just"/>
            <a:endParaRPr lang="en-US" dirty="0"/>
          </a:p>
          <a:p>
            <a:pPr algn="just"/>
            <a:r>
              <a:rPr lang="en-US" dirty="0"/>
              <a:t>We also need to address the usage and addition of special context tokens that can enhance a model’s understanding of context or other relevant information in the text.</a:t>
            </a:r>
          </a:p>
          <a:p>
            <a:pPr algn="just"/>
            <a:endParaRPr lang="en-US" dirty="0"/>
          </a:p>
          <a:p>
            <a:pPr algn="just"/>
            <a:r>
              <a:rPr lang="en-US" dirty="0"/>
              <a:t>These special tokens can include markers for unknown words and document boundaries, for example.</a:t>
            </a:r>
          </a:p>
          <a:p>
            <a:pPr algn="just"/>
            <a:endParaRPr lang="en-US" dirty="0"/>
          </a:p>
          <a:p>
            <a:pPr algn="just"/>
            <a:r>
              <a:rPr lang="en-US" dirty="0"/>
              <a:t>In particular, we will modify the vocabulary and tokenizer, SimpleTokenizerV2, to support two new tokens, </a:t>
            </a:r>
            <a:r>
              <a:rPr lang="en-US" b="1" dirty="0">
                <a:solidFill>
                  <a:srgbClr val="0070C0"/>
                </a:solidFill>
                <a:latin typeface="Courier New" panose="02070309020205020404" pitchFamily="49" charset="0"/>
                <a:cs typeface="Courier New" panose="02070309020205020404" pitchFamily="49" charset="0"/>
              </a:rPr>
              <a:t>&lt;|</a:t>
            </a:r>
            <a:r>
              <a:rPr lang="en-US" b="1" dirty="0" err="1">
                <a:solidFill>
                  <a:srgbClr val="0070C0"/>
                </a:solidFill>
                <a:latin typeface="Courier New" panose="02070309020205020404" pitchFamily="49" charset="0"/>
                <a:cs typeface="Courier New" panose="02070309020205020404" pitchFamily="49" charset="0"/>
              </a:rPr>
              <a:t>unk</a:t>
            </a:r>
            <a:r>
              <a:rPr lang="en-US" b="1" dirty="0">
                <a:solidFill>
                  <a:srgbClr val="0070C0"/>
                </a:solidFill>
                <a:latin typeface="Courier New" panose="02070309020205020404" pitchFamily="49" charset="0"/>
                <a:cs typeface="Courier New" panose="02070309020205020404" pitchFamily="49" charset="0"/>
              </a:rPr>
              <a:t>|&gt;</a:t>
            </a:r>
            <a:r>
              <a:rPr lang="en-US" dirty="0"/>
              <a:t> and </a:t>
            </a:r>
            <a:r>
              <a:rPr lang="en-US" b="1" dirty="0">
                <a:solidFill>
                  <a:srgbClr val="0070C0"/>
                </a:solidFill>
                <a:latin typeface="Courier New" panose="02070309020205020404" pitchFamily="49" charset="0"/>
                <a:cs typeface="Courier New" panose="02070309020205020404" pitchFamily="49" charset="0"/>
              </a:rPr>
              <a:t>&lt;|</a:t>
            </a:r>
            <a:r>
              <a:rPr lang="en-US" b="1" dirty="0" err="1">
                <a:solidFill>
                  <a:srgbClr val="0070C0"/>
                </a:solidFill>
                <a:latin typeface="Courier New" panose="02070309020205020404" pitchFamily="49" charset="0"/>
                <a:cs typeface="Courier New" panose="02070309020205020404" pitchFamily="49" charset="0"/>
              </a:rPr>
              <a:t>endoftext</a:t>
            </a:r>
            <a:r>
              <a:rPr lang="en-US" b="1" dirty="0">
                <a:solidFill>
                  <a:srgbClr val="0070C0"/>
                </a:solidFill>
                <a:latin typeface="Courier New" panose="02070309020205020404" pitchFamily="49" charset="0"/>
                <a:cs typeface="Courier New" panose="02070309020205020404" pitchFamily="49" charset="0"/>
              </a:rPr>
              <a:t>|&gt;</a:t>
            </a:r>
            <a:r>
              <a:rPr lang="en-US" dirty="0"/>
              <a:t>, as illustrated in figure 2.9.</a:t>
            </a:r>
          </a:p>
        </p:txBody>
      </p:sp>
    </p:spTree>
    <p:extLst>
      <p:ext uri="{BB962C8B-B14F-4D97-AF65-F5344CB8AC3E}">
        <p14:creationId xmlns:p14="http://schemas.microsoft.com/office/powerpoint/2010/main" val="34763146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E063F1-C1FC-2E31-CFC3-576BF2998816}"/>
              </a:ext>
            </a:extLst>
          </p:cNvPr>
          <p:cNvSpPr>
            <a:spLocks noGrp="1"/>
          </p:cNvSpPr>
          <p:nvPr>
            <p:ph type="title"/>
          </p:nvPr>
        </p:nvSpPr>
        <p:spPr/>
        <p:txBody>
          <a:bodyPr>
            <a:normAutofit fontScale="90000"/>
          </a:bodyPr>
          <a:lstStyle/>
          <a:p>
            <a:r>
              <a:rPr lang="en-US" dirty="0"/>
              <a:t>Figure 2.9 Adding special tokens to a vocabulary</a:t>
            </a:r>
          </a:p>
        </p:txBody>
      </p:sp>
      <p:sp>
        <p:nvSpPr>
          <p:cNvPr id="2" name="Slide Number Placeholder 1">
            <a:extLst>
              <a:ext uri="{FF2B5EF4-FFF2-40B4-BE49-F238E27FC236}">
                <a16:creationId xmlns:a16="http://schemas.microsoft.com/office/drawing/2014/main" id="{EA427FC4-7A1B-8FE0-E29A-953500555F94}"/>
              </a:ext>
            </a:extLst>
          </p:cNvPr>
          <p:cNvSpPr>
            <a:spLocks noGrp="1"/>
          </p:cNvSpPr>
          <p:nvPr>
            <p:ph type="sldNum" sz="quarter" idx="12"/>
          </p:nvPr>
        </p:nvSpPr>
        <p:spPr/>
        <p:txBody>
          <a:bodyPr>
            <a:normAutofit fontScale="85000" lnSpcReduction="20000"/>
          </a:bodyPr>
          <a:lstStyle/>
          <a:p>
            <a:fld id="{EBFB1032-EA64-7144-B003-9BCC9D94B503}" type="slidenum">
              <a:rPr lang="en-US" smtClean="0"/>
              <a:t>40</a:t>
            </a:fld>
            <a:endParaRPr lang="en-US" dirty="0"/>
          </a:p>
        </p:txBody>
      </p:sp>
      <p:pic>
        <p:nvPicPr>
          <p:cNvPr id="6" name="Picture 5" descr="A diagram of a word&#10;&#10;AI-generated content may be incorrect.">
            <a:extLst>
              <a:ext uri="{FF2B5EF4-FFF2-40B4-BE49-F238E27FC236}">
                <a16:creationId xmlns:a16="http://schemas.microsoft.com/office/drawing/2014/main" id="{FF24DF75-FB22-7D6F-79A8-88DA4E028240}"/>
              </a:ext>
            </a:extLst>
          </p:cNvPr>
          <p:cNvPicPr>
            <a:picLocks noChangeAspect="1"/>
          </p:cNvPicPr>
          <p:nvPr/>
        </p:nvPicPr>
        <p:blipFill>
          <a:blip r:embed="rId2"/>
          <a:stretch>
            <a:fillRect/>
          </a:stretch>
        </p:blipFill>
        <p:spPr>
          <a:xfrm>
            <a:off x="1021052" y="1557122"/>
            <a:ext cx="7101895" cy="4572000"/>
          </a:xfrm>
          <a:prstGeom prst="rect">
            <a:avLst/>
          </a:prstGeom>
        </p:spPr>
      </p:pic>
      <p:sp>
        <p:nvSpPr>
          <p:cNvPr id="8" name="TextBox 7">
            <a:extLst>
              <a:ext uri="{FF2B5EF4-FFF2-40B4-BE49-F238E27FC236}">
                <a16:creationId xmlns:a16="http://schemas.microsoft.com/office/drawing/2014/main" id="{B08B9537-696A-F954-7D3C-60E00F12A0DD}"/>
              </a:ext>
            </a:extLst>
          </p:cNvPr>
          <p:cNvSpPr txBox="1"/>
          <p:nvPr/>
        </p:nvSpPr>
        <p:spPr>
          <a:xfrm>
            <a:off x="100262" y="6169546"/>
            <a:ext cx="8943473" cy="646331"/>
          </a:xfrm>
          <a:prstGeom prst="rect">
            <a:avLst/>
          </a:prstGeom>
          <a:noFill/>
        </p:spPr>
        <p:txBody>
          <a:bodyPr wrap="square">
            <a:spAutoFit/>
          </a:bodyPr>
          <a:lstStyle/>
          <a:p>
            <a:pPr>
              <a:buNone/>
            </a:pPr>
            <a:r>
              <a:rPr lang="en-US" dirty="0">
                <a:solidFill>
                  <a:srgbClr val="0070C0"/>
                </a:solidFill>
                <a:latin typeface="Arial Narrow" panose="020B0606020202030204" pitchFamily="34" charset="0"/>
              </a:rPr>
              <a:t>We add an </a:t>
            </a:r>
            <a:r>
              <a:rPr lang="en-US" b="1" dirty="0">
                <a:solidFill>
                  <a:srgbClr val="0070C0"/>
                </a:solidFill>
                <a:latin typeface="Arial Narrow" panose="020B0606020202030204" pitchFamily="34" charset="0"/>
                <a:cs typeface="Courier New" panose="02070309020205020404" pitchFamily="49" charset="0"/>
              </a:rPr>
              <a:t>&lt;|</a:t>
            </a:r>
            <a:r>
              <a:rPr lang="en-US" b="1" dirty="0" err="1">
                <a:solidFill>
                  <a:srgbClr val="0070C0"/>
                </a:solidFill>
                <a:latin typeface="Arial Narrow" panose="020B0606020202030204" pitchFamily="34" charset="0"/>
                <a:cs typeface="Courier New" panose="02070309020205020404" pitchFamily="49" charset="0"/>
              </a:rPr>
              <a:t>unk</a:t>
            </a:r>
            <a:r>
              <a:rPr lang="en-US" b="1" dirty="0">
                <a:solidFill>
                  <a:srgbClr val="0070C0"/>
                </a:solidFill>
                <a:latin typeface="Arial Narrow" panose="020B0606020202030204" pitchFamily="34" charset="0"/>
                <a:cs typeface="Courier New" panose="02070309020205020404" pitchFamily="49" charset="0"/>
              </a:rPr>
              <a:t>|&gt;</a:t>
            </a:r>
            <a:r>
              <a:rPr lang="en-US" dirty="0">
                <a:solidFill>
                  <a:srgbClr val="0070C0"/>
                </a:solidFill>
                <a:latin typeface="Arial Narrow" panose="020B0606020202030204" pitchFamily="34" charset="0"/>
              </a:rPr>
              <a:t> token to represent new and unknown words that were not part of the training data.</a:t>
            </a:r>
          </a:p>
          <a:p>
            <a:pPr>
              <a:buNone/>
            </a:pPr>
            <a:r>
              <a:rPr lang="en-US" dirty="0">
                <a:solidFill>
                  <a:srgbClr val="0070C0"/>
                </a:solidFill>
                <a:latin typeface="Arial Narrow" panose="020B0606020202030204" pitchFamily="34" charset="0"/>
              </a:rPr>
              <a:t>Furthermore, we add an </a:t>
            </a:r>
            <a:r>
              <a:rPr lang="en-US" b="1" dirty="0">
                <a:solidFill>
                  <a:srgbClr val="0070C0"/>
                </a:solidFill>
                <a:latin typeface="Arial Narrow" panose="020B0606020202030204" pitchFamily="34" charset="0"/>
                <a:cs typeface="Courier New" panose="02070309020205020404" pitchFamily="49" charset="0"/>
              </a:rPr>
              <a:t>&lt;|</a:t>
            </a:r>
            <a:r>
              <a:rPr lang="en-US" b="1" dirty="0" err="1">
                <a:solidFill>
                  <a:srgbClr val="0070C0"/>
                </a:solidFill>
                <a:latin typeface="Arial Narrow" panose="020B0606020202030204" pitchFamily="34" charset="0"/>
                <a:cs typeface="Courier New" panose="02070309020205020404" pitchFamily="49" charset="0"/>
              </a:rPr>
              <a:t>endoftext</a:t>
            </a:r>
            <a:r>
              <a:rPr lang="en-US" b="1" dirty="0">
                <a:solidFill>
                  <a:srgbClr val="0070C0"/>
                </a:solidFill>
                <a:latin typeface="Arial Narrow" panose="020B0606020202030204" pitchFamily="34" charset="0"/>
                <a:cs typeface="Courier New" panose="02070309020205020404" pitchFamily="49" charset="0"/>
              </a:rPr>
              <a:t>|&gt;</a:t>
            </a:r>
            <a:r>
              <a:rPr lang="en-US" dirty="0">
                <a:solidFill>
                  <a:srgbClr val="0070C0"/>
                </a:solidFill>
                <a:latin typeface="Arial Narrow" panose="020B0606020202030204" pitchFamily="34" charset="0"/>
              </a:rPr>
              <a:t> token that we can use to separate two unrelated text sources.</a:t>
            </a:r>
          </a:p>
        </p:txBody>
      </p:sp>
    </p:spTree>
    <p:extLst>
      <p:ext uri="{BB962C8B-B14F-4D97-AF65-F5344CB8AC3E}">
        <p14:creationId xmlns:p14="http://schemas.microsoft.com/office/powerpoint/2010/main" val="38916890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4ABFE-2770-E208-99F2-D47E15D3C92A}"/>
              </a:ext>
            </a:extLst>
          </p:cNvPr>
          <p:cNvSpPr>
            <a:spLocks noGrp="1"/>
          </p:cNvSpPr>
          <p:nvPr>
            <p:ph type="title"/>
          </p:nvPr>
        </p:nvSpPr>
        <p:spPr/>
        <p:txBody>
          <a:bodyPr/>
          <a:lstStyle/>
          <a:p>
            <a:r>
              <a:rPr lang="en-US" dirty="0">
                <a:latin typeface="Courier New" panose="02070309020205020404" pitchFamily="49" charset="0"/>
                <a:cs typeface="Courier New" panose="02070309020205020404" pitchFamily="49" charset="0"/>
              </a:rPr>
              <a:t>&lt;|</a:t>
            </a:r>
            <a:r>
              <a:rPr lang="en-US" dirty="0" err="1">
                <a:latin typeface="Courier New" panose="02070309020205020404" pitchFamily="49" charset="0"/>
                <a:cs typeface="Courier New" panose="02070309020205020404" pitchFamily="49" charset="0"/>
              </a:rPr>
              <a:t>unk</a:t>
            </a:r>
            <a:r>
              <a:rPr lang="en-US" dirty="0">
                <a:latin typeface="Courier New" panose="02070309020205020404" pitchFamily="49" charset="0"/>
                <a:cs typeface="Courier New" panose="02070309020205020404" pitchFamily="49" charset="0"/>
              </a:rPr>
              <a:t>|&gt;</a:t>
            </a:r>
            <a:r>
              <a:rPr lang="en-US" dirty="0"/>
              <a:t> token</a:t>
            </a:r>
          </a:p>
        </p:txBody>
      </p:sp>
      <p:sp>
        <p:nvSpPr>
          <p:cNvPr id="3" name="Slide Number Placeholder 2">
            <a:extLst>
              <a:ext uri="{FF2B5EF4-FFF2-40B4-BE49-F238E27FC236}">
                <a16:creationId xmlns:a16="http://schemas.microsoft.com/office/drawing/2014/main" id="{31EF7281-504E-0F8D-20E2-6642116DFE0D}"/>
              </a:ext>
            </a:extLst>
          </p:cNvPr>
          <p:cNvSpPr>
            <a:spLocks noGrp="1"/>
          </p:cNvSpPr>
          <p:nvPr>
            <p:ph type="sldNum" sz="quarter" idx="12"/>
          </p:nvPr>
        </p:nvSpPr>
        <p:spPr/>
        <p:txBody>
          <a:bodyPr>
            <a:normAutofit fontScale="85000" lnSpcReduction="20000"/>
          </a:bodyPr>
          <a:lstStyle/>
          <a:p>
            <a:fld id="{EBFB1032-EA64-7144-B003-9BCC9D94B503}" type="slidenum">
              <a:rPr lang="en-US" smtClean="0"/>
              <a:t>41</a:t>
            </a:fld>
            <a:endParaRPr lang="en-US" dirty="0"/>
          </a:p>
        </p:txBody>
      </p:sp>
      <p:sp>
        <p:nvSpPr>
          <p:cNvPr id="4" name="Content Placeholder 3">
            <a:extLst>
              <a:ext uri="{FF2B5EF4-FFF2-40B4-BE49-F238E27FC236}">
                <a16:creationId xmlns:a16="http://schemas.microsoft.com/office/drawing/2014/main" id="{E0AA9721-253D-9384-1EF9-F0297791856B}"/>
              </a:ext>
            </a:extLst>
          </p:cNvPr>
          <p:cNvSpPr>
            <a:spLocks noGrp="1"/>
          </p:cNvSpPr>
          <p:nvPr>
            <p:ph sz="quarter" idx="1"/>
          </p:nvPr>
        </p:nvSpPr>
        <p:spPr/>
        <p:txBody>
          <a:bodyPr/>
          <a:lstStyle/>
          <a:p>
            <a:pPr algn="just"/>
            <a:r>
              <a:rPr lang="en-US" dirty="0"/>
              <a:t>We can modify the tokenizer to use an </a:t>
            </a:r>
            <a:r>
              <a:rPr lang="en-US" dirty="0">
                <a:solidFill>
                  <a:srgbClr val="0070C0"/>
                </a:solidFill>
                <a:latin typeface="Courier New" panose="02070309020205020404" pitchFamily="49" charset="0"/>
                <a:cs typeface="Courier New" panose="02070309020205020404" pitchFamily="49" charset="0"/>
              </a:rPr>
              <a:t>&lt;|</a:t>
            </a:r>
            <a:r>
              <a:rPr lang="en-US" dirty="0" err="1">
                <a:solidFill>
                  <a:srgbClr val="0070C0"/>
                </a:solidFill>
                <a:latin typeface="Courier New" panose="02070309020205020404" pitchFamily="49" charset="0"/>
                <a:cs typeface="Courier New" panose="02070309020205020404" pitchFamily="49" charset="0"/>
              </a:rPr>
              <a:t>unk</a:t>
            </a:r>
            <a:r>
              <a:rPr lang="en-US" dirty="0">
                <a:solidFill>
                  <a:srgbClr val="0070C0"/>
                </a:solidFill>
                <a:latin typeface="Courier New" panose="02070309020205020404" pitchFamily="49" charset="0"/>
                <a:cs typeface="Courier New" panose="02070309020205020404" pitchFamily="49" charset="0"/>
              </a:rPr>
              <a:t>|&gt;</a:t>
            </a:r>
            <a:r>
              <a:rPr lang="en-US" dirty="0"/>
              <a:t> token if it encounters a word that is not part of the vocabulary.</a:t>
            </a:r>
          </a:p>
          <a:p>
            <a:pPr algn="just"/>
            <a:endParaRPr lang="en-US" dirty="0"/>
          </a:p>
          <a:p>
            <a:pPr algn="just"/>
            <a:r>
              <a:rPr lang="en-US" dirty="0"/>
              <a:t>Furthermore, we add a token between unrelated texts.</a:t>
            </a:r>
          </a:p>
          <a:p>
            <a:pPr algn="just"/>
            <a:endParaRPr lang="en-US" dirty="0"/>
          </a:p>
          <a:p>
            <a:pPr algn="just"/>
            <a:r>
              <a:rPr lang="en-US" dirty="0"/>
              <a:t>For example, when training GPT-like LLMs on multiple independent documents or books, it is common to insert a token before each document or book that follows a previous text source, as illustrated in figure 2.10.</a:t>
            </a:r>
          </a:p>
          <a:p>
            <a:pPr algn="just"/>
            <a:endParaRPr lang="en-US" dirty="0"/>
          </a:p>
          <a:p>
            <a:pPr algn="just"/>
            <a:r>
              <a:rPr lang="en-US" dirty="0"/>
              <a:t>This helps the LLM understand that although these text sources are concatenated for training, they are, in fact, unrelated.</a:t>
            </a:r>
          </a:p>
        </p:txBody>
      </p:sp>
    </p:spTree>
    <p:extLst>
      <p:ext uri="{BB962C8B-B14F-4D97-AF65-F5344CB8AC3E}">
        <p14:creationId xmlns:p14="http://schemas.microsoft.com/office/powerpoint/2010/main" val="9961459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358DB9D-8E10-0082-AA6F-9047D8F30A46}"/>
              </a:ext>
            </a:extLst>
          </p:cNvPr>
          <p:cNvSpPr>
            <a:spLocks noGrp="1"/>
          </p:cNvSpPr>
          <p:nvPr>
            <p:ph type="title"/>
          </p:nvPr>
        </p:nvSpPr>
        <p:spPr/>
        <p:txBody>
          <a:bodyPr>
            <a:noAutofit/>
          </a:bodyPr>
          <a:lstStyle/>
          <a:p>
            <a:r>
              <a:rPr lang="en-US" sz="3000" b="0" dirty="0"/>
              <a:t>Figure 2.10 &lt;|</a:t>
            </a:r>
            <a:r>
              <a:rPr lang="en-US" sz="3000" b="0" dirty="0" err="1"/>
              <a:t>endoftext</a:t>
            </a:r>
            <a:r>
              <a:rPr lang="en-US" sz="3000" b="0" dirty="0"/>
              <a:t>|&gt; token between multiple text sources</a:t>
            </a:r>
          </a:p>
        </p:txBody>
      </p:sp>
      <p:sp>
        <p:nvSpPr>
          <p:cNvPr id="2" name="Slide Number Placeholder 1">
            <a:extLst>
              <a:ext uri="{FF2B5EF4-FFF2-40B4-BE49-F238E27FC236}">
                <a16:creationId xmlns:a16="http://schemas.microsoft.com/office/drawing/2014/main" id="{FF8288DC-D868-2B23-4C02-7446F26916DE}"/>
              </a:ext>
            </a:extLst>
          </p:cNvPr>
          <p:cNvSpPr>
            <a:spLocks noGrp="1"/>
          </p:cNvSpPr>
          <p:nvPr>
            <p:ph type="sldNum" sz="quarter" idx="12"/>
          </p:nvPr>
        </p:nvSpPr>
        <p:spPr/>
        <p:txBody>
          <a:bodyPr>
            <a:normAutofit fontScale="85000" lnSpcReduction="20000"/>
          </a:bodyPr>
          <a:lstStyle/>
          <a:p>
            <a:fld id="{EBFB1032-EA64-7144-B003-9BCC9D94B503}" type="slidenum">
              <a:rPr lang="en-US" smtClean="0"/>
              <a:t>42</a:t>
            </a:fld>
            <a:endParaRPr lang="en-US" dirty="0"/>
          </a:p>
        </p:txBody>
      </p:sp>
      <p:pic>
        <p:nvPicPr>
          <p:cNvPr id="6" name="Picture 5" descr="A diagram of text source&#10;&#10;AI-generated content may be incorrect.">
            <a:extLst>
              <a:ext uri="{FF2B5EF4-FFF2-40B4-BE49-F238E27FC236}">
                <a16:creationId xmlns:a16="http://schemas.microsoft.com/office/drawing/2014/main" id="{765F72E8-2A53-2DB9-7D7F-44906569DFE2}"/>
              </a:ext>
            </a:extLst>
          </p:cNvPr>
          <p:cNvPicPr>
            <a:picLocks noChangeAspect="1"/>
          </p:cNvPicPr>
          <p:nvPr/>
        </p:nvPicPr>
        <p:blipFill>
          <a:blip r:embed="rId2"/>
          <a:stretch>
            <a:fillRect/>
          </a:stretch>
        </p:blipFill>
        <p:spPr>
          <a:xfrm>
            <a:off x="1165039" y="1575492"/>
            <a:ext cx="6854024" cy="4206240"/>
          </a:xfrm>
          <a:prstGeom prst="rect">
            <a:avLst/>
          </a:prstGeom>
        </p:spPr>
      </p:pic>
      <p:sp>
        <p:nvSpPr>
          <p:cNvPr id="8" name="TextBox 7">
            <a:extLst>
              <a:ext uri="{FF2B5EF4-FFF2-40B4-BE49-F238E27FC236}">
                <a16:creationId xmlns:a16="http://schemas.microsoft.com/office/drawing/2014/main" id="{A21F8B0E-5AC7-6513-63AC-67C2C30E69B9}"/>
              </a:ext>
            </a:extLst>
          </p:cNvPr>
          <p:cNvSpPr txBox="1"/>
          <p:nvPr/>
        </p:nvSpPr>
        <p:spPr>
          <a:xfrm>
            <a:off x="120315" y="5840525"/>
            <a:ext cx="8943473" cy="923330"/>
          </a:xfrm>
          <a:prstGeom prst="rect">
            <a:avLst/>
          </a:prstGeom>
          <a:noFill/>
        </p:spPr>
        <p:txBody>
          <a:bodyPr wrap="square">
            <a:spAutoFit/>
          </a:bodyPr>
          <a:lstStyle/>
          <a:p>
            <a:pPr>
              <a:buNone/>
            </a:pPr>
            <a:r>
              <a:rPr lang="en-US" dirty="0">
                <a:solidFill>
                  <a:srgbClr val="0070C0"/>
                </a:solidFill>
                <a:latin typeface="Arial Narrow" panose="020B0606020202030204" pitchFamily="34" charset="0"/>
              </a:rPr>
              <a:t>When working with multiple independent text source, we add &lt;|</a:t>
            </a:r>
            <a:r>
              <a:rPr lang="en-US" dirty="0" err="1">
                <a:solidFill>
                  <a:srgbClr val="0070C0"/>
                </a:solidFill>
                <a:latin typeface="Arial Narrow" panose="020B0606020202030204" pitchFamily="34" charset="0"/>
              </a:rPr>
              <a:t>endoftext</a:t>
            </a:r>
            <a:r>
              <a:rPr lang="en-US" dirty="0">
                <a:solidFill>
                  <a:srgbClr val="0070C0"/>
                </a:solidFill>
                <a:latin typeface="Arial Narrow" panose="020B0606020202030204" pitchFamily="34" charset="0"/>
              </a:rPr>
              <a:t>|&gt; tokens between these texts. These &lt;|</a:t>
            </a:r>
            <a:r>
              <a:rPr lang="en-US" dirty="0" err="1">
                <a:solidFill>
                  <a:srgbClr val="0070C0"/>
                </a:solidFill>
                <a:latin typeface="Arial Narrow" panose="020B0606020202030204" pitchFamily="34" charset="0"/>
              </a:rPr>
              <a:t>endoftext</a:t>
            </a:r>
            <a:r>
              <a:rPr lang="en-US" dirty="0">
                <a:solidFill>
                  <a:srgbClr val="0070C0"/>
                </a:solidFill>
                <a:latin typeface="Arial Narrow" panose="020B0606020202030204" pitchFamily="34" charset="0"/>
              </a:rPr>
              <a:t>|&gt; tokens act as markers, signaling the start or end of a particular segment.</a:t>
            </a:r>
          </a:p>
          <a:p>
            <a:pPr>
              <a:buNone/>
            </a:pPr>
            <a:r>
              <a:rPr lang="en-US" dirty="0">
                <a:solidFill>
                  <a:srgbClr val="0070C0"/>
                </a:solidFill>
                <a:latin typeface="Arial Narrow" panose="020B0606020202030204" pitchFamily="34" charset="0"/>
              </a:rPr>
              <a:t>This allows for more effective processing and understanding by the LLM.</a:t>
            </a:r>
          </a:p>
        </p:txBody>
      </p:sp>
    </p:spTree>
    <p:extLst>
      <p:ext uri="{BB962C8B-B14F-4D97-AF65-F5344CB8AC3E}">
        <p14:creationId xmlns:p14="http://schemas.microsoft.com/office/powerpoint/2010/main" val="9771441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8C97A64-1298-0127-8601-DE109517681E}"/>
              </a:ext>
            </a:extLst>
          </p:cNvPr>
          <p:cNvSpPr>
            <a:spLocks noGrp="1"/>
          </p:cNvSpPr>
          <p:nvPr>
            <p:ph type="sldNum" sz="quarter" idx="12"/>
          </p:nvPr>
        </p:nvSpPr>
        <p:spPr/>
        <p:txBody>
          <a:bodyPr/>
          <a:lstStyle/>
          <a:p>
            <a:fld id="{EBFB1032-EA64-7144-B003-9BCC9D94B503}" type="slidenum">
              <a:rPr lang="en-US" smtClean="0"/>
              <a:t>43</a:t>
            </a:fld>
            <a:endParaRPr lang="en-US" dirty="0"/>
          </a:p>
        </p:txBody>
      </p:sp>
      <p:pic>
        <p:nvPicPr>
          <p:cNvPr id="6" name="Picture 5">
            <a:extLst>
              <a:ext uri="{FF2B5EF4-FFF2-40B4-BE49-F238E27FC236}">
                <a16:creationId xmlns:a16="http://schemas.microsoft.com/office/drawing/2014/main" id="{28BC2AD2-BD61-4E48-0BF0-38985371F4CB}"/>
              </a:ext>
            </a:extLst>
          </p:cNvPr>
          <p:cNvPicPr>
            <a:picLocks noChangeAspect="1"/>
          </p:cNvPicPr>
          <p:nvPr/>
        </p:nvPicPr>
        <p:blipFill>
          <a:blip r:embed="rId2"/>
          <a:srcRect b="54153"/>
          <a:stretch>
            <a:fillRect/>
          </a:stretch>
        </p:blipFill>
        <p:spPr>
          <a:xfrm>
            <a:off x="91440" y="1091600"/>
            <a:ext cx="8961120" cy="4674800"/>
          </a:xfrm>
          <a:prstGeom prst="rect">
            <a:avLst/>
          </a:prstGeom>
          <a:ln>
            <a:noFill/>
          </a:ln>
        </p:spPr>
      </p:pic>
    </p:spTree>
    <p:extLst>
      <p:ext uri="{BB962C8B-B14F-4D97-AF65-F5344CB8AC3E}">
        <p14:creationId xmlns:p14="http://schemas.microsoft.com/office/powerpoint/2010/main" val="30423172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30D69-32F6-8EB5-9EEE-935DAB68347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AE26474-F3E6-16DF-325E-129D42CE9DA7}"/>
              </a:ext>
            </a:extLst>
          </p:cNvPr>
          <p:cNvSpPr>
            <a:spLocks noGrp="1"/>
          </p:cNvSpPr>
          <p:nvPr>
            <p:ph type="sldNum" sz="quarter" idx="12"/>
          </p:nvPr>
        </p:nvSpPr>
        <p:spPr/>
        <p:txBody>
          <a:bodyPr/>
          <a:lstStyle/>
          <a:p>
            <a:fld id="{EBFB1032-EA64-7144-B003-9BCC9D94B503}" type="slidenum">
              <a:rPr lang="en-US" smtClean="0"/>
              <a:t>44</a:t>
            </a:fld>
            <a:endParaRPr lang="en-US" dirty="0"/>
          </a:p>
        </p:txBody>
      </p:sp>
      <p:pic>
        <p:nvPicPr>
          <p:cNvPr id="6" name="Picture 5">
            <a:extLst>
              <a:ext uri="{FF2B5EF4-FFF2-40B4-BE49-F238E27FC236}">
                <a16:creationId xmlns:a16="http://schemas.microsoft.com/office/drawing/2014/main" id="{C411993F-86FD-B08D-22DD-B40CEA6A70AF}"/>
              </a:ext>
            </a:extLst>
          </p:cNvPr>
          <p:cNvPicPr>
            <a:picLocks noChangeAspect="1"/>
          </p:cNvPicPr>
          <p:nvPr/>
        </p:nvPicPr>
        <p:blipFill>
          <a:blip r:embed="rId2"/>
          <a:srcRect t="48025"/>
          <a:stretch>
            <a:fillRect/>
          </a:stretch>
        </p:blipFill>
        <p:spPr>
          <a:xfrm>
            <a:off x="91440" y="228600"/>
            <a:ext cx="8961120" cy="5299588"/>
          </a:xfrm>
          <a:prstGeom prst="rect">
            <a:avLst/>
          </a:prstGeom>
          <a:ln>
            <a:noFill/>
          </a:ln>
        </p:spPr>
      </p:pic>
      <p:sp>
        <p:nvSpPr>
          <p:cNvPr id="4" name="TextBox 3">
            <a:extLst>
              <a:ext uri="{FF2B5EF4-FFF2-40B4-BE49-F238E27FC236}">
                <a16:creationId xmlns:a16="http://schemas.microsoft.com/office/drawing/2014/main" id="{5C1889C6-4359-A933-CA47-FAABB844E6FC}"/>
              </a:ext>
            </a:extLst>
          </p:cNvPr>
          <p:cNvSpPr txBox="1"/>
          <p:nvPr/>
        </p:nvSpPr>
        <p:spPr>
          <a:xfrm>
            <a:off x="91441" y="5552064"/>
            <a:ext cx="8961119" cy="769441"/>
          </a:xfrm>
          <a:prstGeom prst="rect">
            <a:avLst/>
          </a:prstGeom>
          <a:noFill/>
        </p:spPr>
        <p:txBody>
          <a:bodyPr wrap="square">
            <a:spAutoFit/>
          </a:bodyPr>
          <a:lstStyle/>
          <a:p>
            <a:pPr algn="just"/>
            <a:r>
              <a:rPr lang="en-US" sz="2200" dirty="0">
                <a:solidFill>
                  <a:srgbClr val="0070C0"/>
                </a:solidFill>
                <a:latin typeface="Times New Roman" panose="02020603050405020304" pitchFamily="18" charset="0"/>
                <a:cs typeface="Times New Roman" panose="02020603050405020304" pitchFamily="18" charset="0"/>
              </a:rPr>
              <a:t>Based on the code output, we can confirm that the two new special tokens were indeed successfully incorporated into the vocabulary.</a:t>
            </a:r>
          </a:p>
        </p:txBody>
      </p:sp>
    </p:spTree>
    <p:extLst>
      <p:ext uri="{BB962C8B-B14F-4D97-AF65-F5344CB8AC3E}">
        <p14:creationId xmlns:p14="http://schemas.microsoft.com/office/powerpoint/2010/main" val="29629514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A120707-4AD4-B258-B432-581B893B1B59}"/>
              </a:ext>
            </a:extLst>
          </p:cNvPr>
          <p:cNvSpPr>
            <a:spLocks noGrp="1"/>
          </p:cNvSpPr>
          <p:nvPr>
            <p:ph type="title"/>
          </p:nvPr>
        </p:nvSpPr>
        <p:spPr/>
        <p:txBody>
          <a:bodyPr>
            <a:noAutofit/>
          </a:bodyPr>
          <a:lstStyle/>
          <a:p>
            <a:r>
              <a:rPr lang="en-US" sz="3000" b="0" dirty="0"/>
              <a:t>Listing 2.4 A simple text tokenizer that handles unknown words</a:t>
            </a:r>
          </a:p>
        </p:txBody>
      </p:sp>
      <p:sp>
        <p:nvSpPr>
          <p:cNvPr id="2" name="Slide Number Placeholder 1">
            <a:extLst>
              <a:ext uri="{FF2B5EF4-FFF2-40B4-BE49-F238E27FC236}">
                <a16:creationId xmlns:a16="http://schemas.microsoft.com/office/drawing/2014/main" id="{465B0F70-9D6C-0BC3-7E67-C0DCB6E4F6F4}"/>
              </a:ext>
            </a:extLst>
          </p:cNvPr>
          <p:cNvSpPr>
            <a:spLocks noGrp="1"/>
          </p:cNvSpPr>
          <p:nvPr>
            <p:ph type="sldNum" sz="quarter" idx="12"/>
          </p:nvPr>
        </p:nvSpPr>
        <p:spPr/>
        <p:txBody>
          <a:bodyPr>
            <a:normAutofit fontScale="85000" lnSpcReduction="20000"/>
          </a:bodyPr>
          <a:lstStyle/>
          <a:p>
            <a:fld id="{EBFB1032-EA64-7144-B003-9BCC9D94B503}" type="slidenum">
              <a:rPr lang="en-US" smtClean="0"/>
              <a:t>45</a:t>
            </a:fld>
            <a:endParaRPr lang="en-US" dirty="0"/>
          </a:p>
        </p:txBody>
      </p:sp>
      <p:pic>
        <p:nvPicPr>
          <p:cNvPr id="6" name="Picture 5">
            <a:extLst>
              <a:ext uri="{FF2B5EF4-FFF2-40B4-BE49-F238E27FC236}">
                <a16:creationId xmlns:a16="http://schemas.microsoft.com/office/drawing/2014/main" id="{28ED7EAC-0D94-6C4E-AFC0-03AB2425DF3A}"/>
              </a:ext>
            </a:extLst>
          </p:cNvPr>
          <p:cNvPicPr>
            <a:picLocks noChangeAspect="1"/>
          </p:cNvPicPr>
          <p:nvPr/>
        </p:nvPicPr>
        <p:blipFill>
          <a:blip r:embed="rId2"/>
          <a:stretch>
            <a:fillRect/>
          </a:stretch>
        </p:blipFill>
        <p:spPr>
          <a:xfrm>
            <a:off x="1691480" y="1516698"/>
            <a:ext cx="5801141" cy="4754880"/>
          </a:xfrm>
          <a:prstGeom prst="rect">
            <a:avLst/>
          </a:prstGeom>
        </p:spPr>
      </p:pic>
      <p:sp>
        <p:nvSpPr>
          <p:cNvPr id="8" name="TextBox 7">
            <a:extLst>
              <a:ext uri="{FF2B5EF4-FFF2-40B4-BE49-F238E27FC236}">
                <a16:creationId xmlns:a16="http://schemas.microsoft.com/office/drawing/2014/main" id="{469F1A0B-5469-2CD7-CF2C-AB4D4AFB5C22}"/>
              </a:ext>
            </a:extLst>
          </p:cNvPr>
          <p:cNvSpPr txBox="1"/>
          <p:nvPr/>
        </p:nvSpPr>
        <p:spPr>
          <a:xfrm>
            <a:off x="1691480" y="6271578"/>
            <a:ext cx="5147981" cy="537070"/>
          </a:xfrm>
          <a:prstGeom prst="rect">
            <a:avLst/>
          </a:prstGeom>
          <a:noFill/>
        </p:spPr>
        <p:txBody>
          <a:bodyPr wrap="square">
            <a:spAutoFit/>
          </a:bodyPr>
          <a:lstStyle/>
          <a:p>
            <a:pPr>
              <a:lnSpc>
                <a:spcPct val="85000"/>
              </a:lnSpc>
            </a:pPr>
            <a:r>
              <a:rPr lang="en-US" sz="1700" b="1" dirty="0">
                <a:solidFill>
                  <a:srgbClr val="0070C0"/>
                </a:solidFill>
                <a:latin typeface="Arial Narrow" panose="020B0606020202030204" pitchFamily="34" charset="0"/>
              </a:rPr>
              <a:t>#1 Replaces unknown words by &lt;|</a:t>
            </a:r>
            <a:r>
              <a:rPr lang="en-US" sz="1700" b="1" dirty="0" err="1">
                <a:solidFill>
                  <a:srgbClr val="0070C0"/>
                </a:solidFill>
                <a:latin typeface="Arial Narrow" panose="020B0606020202030204" pitchFamily="34" charset="0"/>
              </a:rPr>
              <a:t>unk</a:t>
            </a:r>
            <a:r>
              <a:rPr lang="en-US" sz="1700" b="1" dirty="0">
                <a:solidFill>
                  <a:srgbClr val="0070C0"/>
                </a:solidFill>
                <a:latin typeface="Arial Narrow" panose="020B0606020202030204" pitchFamily="34" charset="0"/>
              </a:rPr>
              <a:t>|&gt; tokens </a:t>
            </a:r>
            <a:br>
              <a:rPr lang="en-US" sz="1700" b="1" dirty="0">
                <a:solidFill>
                  <a:srgbClr val="0070C0"/>
                </a:solidFill>
                <a:latin typeface="Arial Narrow" panose="020B0606020202030204" pitchFamily="34" charset="0"/>
              </a:rPr>
            </a:br>
            <a:r>
              <a:rPr lang="en-US" sz="1700" b="1" dirty="0">
                <a:solidFill>
                  <a:srgbClr val="0070C0"/>
                </a:solidFill>
                <a:latin typeface="Arial Narrow" panose="020B0606020202030204" pitchFamily="34" charset="0"/>
              </a:rPr>
              <a:t>#2 Replaces spaces before the specified punctuations </a:t>
            </a:r>
          </a:p>
        </p:txBody>
      </p:sp>
    </p:spTree>
    <p:extLst>
      <p:ext uri="{BB962C8B-B14F-4D97-AF65-F5344CB8AC3E}">
        <p14:creationId xmlns:p14="http://schemas.microsoft.com/office/powerpoint/2010/main" val="26889000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AA286C-6E2B-E13C-890A-957E3C8D8BD3}"/>
              </a:ext>
            </a:extLst>
          </p:cNvPr>
          <p:cNvSpPr>
            <a:spLocks noGrp="1"/>
          </p:cNvSpPr>
          <p:nvPr>
            <p:ph type="sldNum" sz="quarter" idx="12"/>
          </p:nvPr>
        </p:nvSpPr>
        <p:spPr/>
        <p:txBody>
          <a:bodyPr/>
          <a:lstStyle/>
          <a:p>
            <a:fld id="{EBFB1032-EA64-7144-B003-9BCC9D94B503}" type="slidenum">
              <a:rPr lang="en-US" smtClean="0"/>
              <a:t>46</a:t>
            </a:fld>
            <a:endParaRPr lang="en-US" dirty="0"/>
          </a:p>
        </p:txBody>
      </p:sp>
      <p:pic>
        <p:nvPicPr>
          <p:cNvPr id="4" name="Picture 3">
            <a:extLst>
              <a:ext uri="{FF2B5EF4-FFF2-40B4-BE49-F238E27FC236}">
                <a16:creationId xmlns:a16="http://schemas.microsoft.com/office/drawing/2014/main" id="{785033A4-B5EF-D2AB-7B01-8E556508DA49}"/>
              </a:ext>
            </a:extLst>
          </p:cNvPr>
          <p:cNvPicPr>
            <a:picLocks noChangeAspect="1"/>
          </p:cNvPicPr>
          <p:nvPr/>
        </p:nvPicPr>
        <p:blipFill>
          <a:blip r:embed="rId2"/>
          <a:srcRect b="53336"/>
          <a:stretch>
            <a:fillRect/>
          </a:stretch>
        </p:blipFill>
        <p:spPr>
          <a:xfrm>
            <a:off x="182880" y="1022240"/>
            <a:ext cx="8778240" cy="4813520"/>
          </a:xfrm>
          <a:prstGeom prst="rect">
            <a:avLst/>
          </a:prstGeom>
          <a:ln>
            <a:noFill/>
          </a:ln>
        </p:spPr>
      </p:pic>
    </p:spTree>
    <p:extLst>
      <p:ext uri="{BB962C8B-B14F-4D97-AF65-F5344CB8AC3E}">
        <p14:creationId xmlns:p14="http://schemas.microsoft.com/office/powerpoint/2010/main" val="39051427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B19E9-36C5-DB9D-A906-E206EA74117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8B3890-FC99-53CE-898D-1C62BC2E168D}"/>
              </a:ext>
            </a:extLst>
          </p:cNvPr>
          <p:cNvSpPr>
            <a:spLocks noGrp="1"/>
          </p:cNvSpPr>
          <p:nvPr>
            <p:ph type="sldNum" sz="quarter" idx="12"/>
          </p:nvPr>
        </p:nvSpPr>
        <p:spPr/>
        <p:txBody>
          <a:bodyPr/>
          <a:lstStyle/>
          <a:p>
            <a:fld id="{EBFB1032-EA64-7144-B003-9BCC9D94B503}" type="slidenum">
              <a:rPr lang="en-US" smtClean="0"/>
              <a:t>47</a:t>
            </a:fld>
            <a:endParaRPr lang="en-US" dirty="0"/>
          </a:p>
        </p:txBody>
      </p:sp>
      <p:pic>
        <p:nvPicPr>
          <p:cNvPr id="4" name="Picture 3">
            <a:extLst>
              <a:ext uri="{FF2B5EF4-FFF2-40B4-BE49-F238E27FC236}">
                <a16:creationId xmlns:a16="http://schemas.microsoft.com/office/drawing/2014/main" id="{10AFDCF8-307C-3CD9-95C7-3AD0140B083E}"/>
              </a:ext>
            </a:extLst>
          </p:cNvPr>
          <p:cNvPicPr>
            <a:picLocks noChangeAspect="1"/>
          </p:cNvPicPr>
          <p:nvPr/>
        </p:nvPicPr>
        <p:blipFill>
          <a:blip r:embed="rId2"/>
          <a:srcRect t="48979"/>
          <a:stretch>
            <a:fillRect/>
          </a:stretch>
        </p:blipFill>
        <p:spPr>
          <a:xfrm>
            <a:off x="182880" y="797506"/>
            <a:ext cx="8778240" cy="5262987"/>
          </a:xfrm>
          <a:prstGeom prst="rect">
            <a:avLst/>
          </a:prstGeom>
          <a:ln>
            <a:noFill/>
          </a:ln>
        </p:spPr>
      </p:pic>
    </p:spTree>
    <p:extLst>
      <p:ext uri="{BB962C8B-B14F-4D97-AF65-F5344CB8AC3E}">
        <p14:creationId xmlns:p14="http://schemas.microsoft.com/office/powerpoint/2010/main" val="21215118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FDC8B7-8E6E-CF8F-F79A-C1421FC32F4E}"/>
              </a:ext>
            </a:extLst>
          </p:cNvPr>
          <p:cNvSpPr>
            <a:spLocks noGrp="1"/>
          </p:cNvSpPr>
          <p:nvPr>
            <p:ph type="sldNum" sz="quarter" idx="12"/>
          </p:nvPr>
        </p:nvSpPr>
        <p:spPr/>
        <p:txBody>
          <a:bodyPr/>
          <a:lstStyle/>
          <a:p>
            <a:fld id="{EBFB1032-EA64-7144-B003-9BCC9D94B503}" type="slidenum">
              <a:rPr lang="en-US" smtClean="0"/>
              <a:t>48</a:t>
            </a:fld>
            <a:endParaRPr lang="en-US" dirty="0"/>
          </a:p>
        </p:txBody>
      </p:sp>
      <p:pic>
        <p:nvPicPr>
          <p:cNvPr id="4" name="Picture 3">
            <a:extLst>
              <a:ext uri="{FF2B5EF4-FFF2-40B4-BE49-F238E27FC236}">
                <a16:creationId xmlns:a16="http://schemas.microsoft.com/office/drawing/2014/main" id="{B4FA046E-7F1A-92A6-AFAC-ECFA6890F153}"/>
              </a:ext>
            </a:extLst>
          </p:cNvPr>
          <p:cNvPicPr>
            <a:picLocks noChangeAspect="1"/>
          </p:cNvPicPr>
          <p:nvPr/>
        </p:nvPicPr>
        <p:blipFill>
          <a:blip r:embed="rId2"/>
          <a:stretch>
            <a:fillRect/>
          </a:stretch>
        </p:blipFill>
        <p:spPr>
          <a:xfrm>
            <a:off x="182880" y="848163"/>
            <a:ext cx="8778240" cy="5161673"/>
          </a:xfrm>
          <a:prstGeom prst="rect">
            <a:avLst/>
          </a:prstGeom>
          <a:ln>
            <a:solidFill>
              <a:schemeClr val="accent1"/>
            </a:solidFill>
          </a:ln>
        </p:spPr>
      </p:pic>
    </p:spTree>
    <p:extLst>
      <p:ext uri="{BB962C8B-B14F-4D97-AF65-F5344CB8AC3E}">
        <p14:creationId xmlns:p14="http://schemas.microsoft.com/office/powerpoint/2010/main" val="32785181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4881B5-EB8E-8CB4-7C90-9134446A0020}"/>
              </a:ext>
            </a:extLst>
          </p:cNvPr>
          <p:cNvSpPr>
            <a:spLocks noGrp="1"/>
          </p:cNvSpPr>
          <p:nvPr>
            <p:ph type="title"/>
          </p:nvPr>
        </p:nvSpPr>
        <p:spPr/>
        <p:txBody>
          <a:bodyPr>
            <a:noAutofit/>
          </a:bodyPr>
          <a:lstStyle/>
          <a:p>
            <a:r>
              <a:rPr lang="en-US" sz="3000" dirty="0"/>
              <a:t>Some researchers also consider additional special tokens</a:t>
            </a:r>
          </a:p>
        </p:txBody>
      </p:sp>
      <p:sp>
        <p:nvSpPr>
          <p:cNvPr id="2" name="Slide Number Placeholder 1">
            <a:extLst>
              <a:ext uri="{FF2B5EF4-FFF2-40B4-BE49-F238E27FC236}">
                <a16:creationId xmlns:a16="http://schemas.microsoft.com/office/drawing/2014/main" id="{3CC3A72E-2FAC-BC9F-F9FF-0EAFF44C4B00}"/>
              </a:ext>
            </a:extLst>
          </p:cNvPr>
          <p:cNvSpPr>
            <a:spLocks noGrp="1"/>
          </p:cNvSpPr>
          <p:nvPr>
            <p:ph type="sldNum" sz="quarter" idx="12"/>
          </p:nvPr>
        </p:nvSpPr>
        <p:spPr/>
        <p:txBody>
          <a:bodyPr>
            <a:normAutofit fontScale="85000" lnSpcReduction="20000"/>
          </a:bodyPr>
          <a:lstStyle/>
          <a:p>
            <a:fld id="{EBFB1032-EA64-7144-B003-9BCC9D94B503}" type="slidenum">
              <a:rPr lang="en-US" smtClean="0"/>
              <a:t>49</a:t>
            </a:fld>
            <a:endParaRPr lang="en-US" dirty="0"/>
          </a:p>
        </p:txBody>
      </p:sp>
      <p:sp>
        <p:nvSpPr>
          <p:cNvPr id="4" name="Content Placeholder 3">
            <a:extLst>
              <a:ext uri="{FF2B5EF4-FFF2-40B4-BE49-F238E27FC236}">
                <a16:creationId xmlns:a16="http://schemas.microsoft.com/office/drawing/2014/main" id="{42B6BAF2-B065-F564-A924-50398ED762FC}"/>
              </a:ext>
            </a:extLst>
          </p:cNvPr>
          <p:cNvSpPr>
            <a:spLocks noGrp="1"/>
          </p:cNvSpPr>
          <p:nvPr>
            <p:ph sz="quarter" idx="1"/>
          </p:nvPr>
        </p:nvSpPr>
        <p:spPr/>
        <p:txBody>
          <a:bodyPr>
            <a:normAutofit/>
          </a:bodyPr>
          <a:lstStyle/>
          <a:p>
            <a:pPr algn="just">
              <a:spcBef>
                <a:spcPts val="0"/>
              </a:spcBef>
            </a:pPr>
            <a:r>
              <a:rPr lang="en-US" b="1" dirty="0">
                <a:solidFill>
                  <a:srgbClr val="0070C0"/>
                </a:solidFill>
              </a:rPr>
              <a:t>[BOS] (beginning of sequence)</a:t>
            </a:r>
          </a:p>
          <a:p>
            <a:pPr lvl="1" algn="just">
              <a:spcBef>
                <a:spcPts val="0"/>
              </a:spcBef>
            </a:pPr>
            <a:r>
              <a:rPr lang="en-US" sz="2200" dirty="0"/>
              <a:t>This token marks the start of a text.</a:t>
            </a:r>
          </a:p>
          <a:p>
            <a:pPr lvl="1" algn="just">
              <a:spcBef>
                <a:spcPts val="0"/>
              </a:spcBef>
            </a:pPr>
            <a:r>
              <a:rPr lang="en-US" sz="2200" dirty="0"/>
              <a:t>It signifies to the LLM where a piece of content begins.</a:t>
            </a:r>
          </a:p>
          <a:p>
            <a:pPr lvl="1" algn="just">
              <a:spcBef>
                <a:spcPts val="0"/>
              </a:spcBef>
            </a:pPr>
            <a:endParaRPr lang="en-US" sz="1000" dirty="0"/>
          </a:p>
          <a:p>
            <a:pPr algn="just">
              <a:spcBef>
                <a:spcPts val="0"/>
              </a:spcBef>
            </a:pPr>
            <a:r>
              <a:rPr lang="en-US" b="1" dirty="0">
                <a:solidFill>
                  <a:srgbClr val="C00000"/>
                </a:solidFill>
              </a:rPr>
              <a:t>[EOS] (end of sequence)</a:t>
            </a:r>
          </a:p>
          <a:p>
            <a:pPr lvl="1" algn="just">
              <a:spcBef>
                <a:spcPts val="0"/>
              </a:spcBef>
            </a:pPr>
            <a:r>
              <a:rPr lang="en-US" sz="2200" dirty="0"/>
              <a:t>This token is positioned at the end of a text and is especially useful when concatenating multiple unrelated texts, similar to &lt;|</a:t>
            </a:r>
            <a:r>
              <a:rPr lang="en-US" sz="2200" dirty="0" err="1"/>
              <a:t>endoftext</a:t>
            </a:r>
            <a:r>
              <a:rPr lang="en-US" sz="2200" dirty="0"/>
              <a:t>|&gt;. </a:t>
            </a:r>
          </a:p>
          <a:p>
            <a:pPr lvl="1" algn="just">
              <a:spcBef>
                <a:spcPts val="0"/>
              </a:spcBef>
            </a:pPr>
            <a:r>
              <a:rPr lang="en-US" sz="2200" dirty="0"/>
              <a:t>For instance, when combining two different Wikipedia articles or books, the [EOS] token indicates where one ends and the next begins.</a:t>
            </a:r>
          </a:p>
          <a:p>
            <a:pPr lvl="1" algn="just">
              <a:spcBef>
                <a:spcPts val="0"/>
              </a:spcBef>
            </a:pPr>
            <a:endParaRPr lang="en-US" sz="1000" dirty="0"/>
          </a:p>
          <a:p>
            <a:pPr algn="just">
              <a:spcBef>
                <a:spcPts val="0"/>
              </a:spcBef>
            </a:pPr>
            <a:r>
              <a:rPr lang="en-US" b="1" dirty="0">
                <a:solidFill>
                  <a:srgbClr val="00B050"/>
                </a:solidFill>
              </a:rPr>
              <a:t>[PAD] (padding)</a:t>
            </a:r>
          </a:p>
          <a:p>
            <a:pPr lvl="1" algn="just">
              <a:spcBef>
                <a:spcPts val="0"/>
              </a:spcBef>
            </a:pPr>
            <a:r>
              <a:rPr lang="en-US" sz="2200" dirty="0"/>
              <a:t>When training LLMs with batch sizes larger than one, the batch might contain texts of varying lengths.</a:t>
            </a:r>
          </a:p>
          <a:p>
            <a:pPr lvl="1" algn="just">
              <a:spcBef>
                <a:spcPts val="0"/>
              </a:spcBef>
            </a:pPr>
            <a:r>
              <a:rPr lang="en-US" sz="2200" dirty="0"/>
              <a:t>To ensure all texts have the same length, the shorter texts are extended or “padded” using the [PAD] token, up to the length of the longest text in the batch.</a:t>
            </a:r>
          </a:p>
        </p:txBody>
      </p:sp>
    </p:spTree>
    <p:extLst>
      <p:ext uri="{BB962C8B-B14F-4D97-AF65-F5344CB8AC3E}">
        <p14:creationId xmlns:p14="http://schemas.microsoft.com/office/powerpoint/2010/main" val="22711046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41C2A-FAAD-72FC-B5D4-ED69E3A5A2C7}"/>
              </a:ext>
            </a:extLst>
          </p:cNvPr>
          <p:cNvSpPr>
            <a:spLocks noGrp="1"/>
          </p:cNvSpPr>
          <p:nvPr>
            <p:ph type="title"/>
          </p:nvPr>
        </p:nvSpPr>
        <p:spPr/>
        <p:txBody>
          <a:bodyPr/>
          <a:lstStyle/>
          <a:p>
            <a:r>
              <a:rPr lang="en-US" dirty="0"/>
              <a:t>Tokens in GPT models</a:t>
            </a:r>
          </a:p>
        </p:txBody>
      </p:sp>
      <p:sp>
        <p:nvSpPr>
          <p:cNvPr id="3" name="Slide Number Placeholder 2">
            <a:extLst>
              <a:ext uri="{FF2B5EF4-FFF2-40B4-BE49-F238E27FC236}">
                <a16:creationId xmlns:a16="http://schemas.microsoft.com/office/drawing/2014/main" id="{398EAE43-772B-D280-24C7-AB95ACE17E58}"/>
              </a:ext>
            </a:extLst>
          </p:cNvPr>
          <p:cNvSpPr>
            <a:spLocks noGrp="1"/>
          </p:cNvSpPr>
          <p:nvPr>
            <p:ph type="sldNum" sz="quarter" idx="12"/>
          </p:nvPr>
        </p:nvSpPr>
        <p:spPr/>
        <p:txBody>
          <a:bodyPr>
            <a:normAutofit fontScale="85000" lnSpcReduction="20000"/>
          </a:bodyPr>
          <a:lstStyle/>
          <a:p>
            <a:fld id="{EBFB1032-EA64-7144-B003-9BCC9D94B503}" type="slidenum">
              <a:rPr lang="en-US" smtClean="0"/>
              <a:t>50</a:t>
            </a:fld>
            <a:endParaRPr lang="en-US" dirty="0"/>
          </a:p>
        </p:txBody>
      </p:sp>
      <p:sp>
        <p:nvSpPr>
          <p:cNvPr id="4" name="Content Placeholder 3">
            <a:extLst>
              <a:ext uri="{FF2B5EF4-FFF2-40B4-BE49-F238E27FC236}">
                <a16:creationId xmlns:a16="http://schemas.microsoft.com/office/drawing/2014/main" id="{4853A668-FA24-555E-ED0E-31471976CC2E}"/>
              </a:ext>
            </a:extLst>
          </p:cNvPr>
          <p:cNvSpPr>
            <a:spLocks noGrp="1"/>
          </p:cNvSpPr>
          <p:nvPr>
            <p:ph sz="quarter" idx="1"/>
          </p:nvPr>
        </p:nvSpPr>
        <p:spPr/>
        <p:txBody>
          <a:bodyPr>
            <a:normAutofit/>
          </a:bodyPr>
          <a:lstStyle/>
          <a:p>
            <a:pPr algn="just"/>
            <a:r>
              <a:rPr lang="en-US" sz="2300" dirty="0"/>
              <a:t>The tokenizer used for GPT models does not need any of these tokens; it only uses an &lt;|</a:t>
            </a:r>
            <a:r>
              <a:rPr lang="en-US" sz="2300" dirty="0" err="1"/>
              <a:t>endoftext</a:t>
            </a:r>
            <a:r>
              <a:rPr lang="en-US" sz="2300" dirty="0"/>
              <a:t>|&gt; token for simplicity.</a:t>
            </a:r>
          </a:p>
          <a:p>
            <a:pPr algn="just"/>
            <a:endParaRPr lang="en-US" sz="2300" dirty="0"/>
          </a:p>
          <a:p>
            <a:pPr algn="just"/>
            <a:r>
              <a:rPr lang="en-US" sz="2300" dirty="0"/>
              <a:t>&lt;|</a:t>
            </a:r>
            <a:r>
              <a:rPr lang="en-US" sz="2300" dirty="0" err="1"/>
              <a:t>endoftext</a:t>
            </a:r>
            <a:r>
              <a:rPr lang="en-US" sz="2300" dirty="0"/>
              <a:t>|&gt; is analogous to the [EOS] token.</a:t>
            </a:r>
          </a:p>
          <a:p>
            <a:pPr algn="just"/>
            <a:endParaRPr lang="en-US" sz="2300" dirty="0"/>
          </a:p>
          <a:p>
            <a:pPr algn="just"/>
            <a:r>
              <a:rPr lang="en-US" sz="2300" dirty="0"/>
              <a:t>&lt;|</a:t>
            </a:r>
            <a:r>
              <a:rPr lang="en-US" sz="2300" dirty="0" err="1"/>
              <a:t>endoftext</a:t>
            </a:r>
            <a:r>
              <a:rPr lang="en-US" sz="2300" dirty="0"/>
              <a:t>|&gt; is also used for padding.</a:t>
            </a:r>
          </a:p>
          <a:p>
            <a:pPr algn="just"/>
            <a:endParaRPr lang="en-US" sz="2300" dirty="0"/>
          </a:p>
          <a:p>
            <a:pPr algn="just"/>
            <a:r>
              <a:rPr lang="en-US" sz="2300" dirty="0"/>
              <a:t>However, as we’ll explore in subsequent lectures, when training on batched inputs, we typically use a mask, meaning we don’t attend to padded tokens.</a:t>
            </a:r>
          </a:p>
          <a:p>
            <a:pPr algn="just"/>
            <a:endParaRPr lang="en-US" sz="2300" dirty="0"/>
          </a:p>
          <a:p>
            <a:pPr algn="just"/>
            <a:r>
              <a:rPr lang="en-US" sz="2300" dirty="0"/>
              <a:t>Thus, the specific token chosen for padding becomes insignificant.</a:t>
            </a:r>
          </a:p>
        </p:txBody>
      </p:sp>
    </p:spTree>
    <p:extLst>
      <p:ext uri="{BB962C8B-B14F-4D97-AF65-F5344CB8AC3E}">
        <p14:creationId xmlns:p14="http://schemas.microsoft.com/office/powerpoint/2010/main" val="4081397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39A1F-35EC-985C-E4DB-B2912B5BFEEF}"/>
              </a:ext>
            </a:extLst>
          </p:cNvPr>
          <p:cNvSpPr>
            <a:spLocks noGrp="1"/>
          </p:cNvSpPr>
          <p:nvPr>
            <p:ph type="title"/>
          </p:nvPr>
        </p:nvSpPr>
        <p:spPr/>
        <p:txBody>
          <a:bodyPr/>
          <a:lstStyle/>
          <a:p>
            <a:r>
              <a:rPr lang="en-US" dirty="0"/>
              <a:t>The Tokenizer used for GPT Models</a:t>
            </a:r>
          </a:p>
        </p:txBody>
      </p:sp>
      <p:sp>
        <p:nvSpPr>
          <p:cNvPr id="3" name="Slide Number Placeholder 2">
            <a:extLst>
              <a:ext uri="{FF2B5EF4-FFF2-40B4-BE49-F238E27FC236}">
                <a16:creationId xmlns:a16="http://schemas.microsoft.com/office/drawing/2014/main" id="{C6ACD59A-FE73-1BCE-5A4C-726C1BBE285C}"/>
              </a:ext>
            </a:extLst>
          </p:cNvPr>
          <p:cNvSpPr>
            <a:spLocks noGrp="1"/>
          </p:cNvSpPr>
          <p:nvPr>
            <p:ph type="sldNum" sz="quarter" idx="12"/>
          </p:nvPr>
        </p:nvSpPr>
        <p:spPr/>
        <p:txBody>
          <a:bodyPr>
            <a:normAutofit fontScale="85000" lnSpcReduction="20000"/>
          </a:bodyPr>
          <a:lstStyle/>
          <a:p>
            <a:fld id="{EBFB1032-EA64-7144-B003-9BCC9D94B503}" type="slidenum">
              <a:rPr lang="en-US" smtClean="0"/>
              <a:t>51</a:t>
            </a:fld>
            <a:endParaRPr lang="en-US" dirty="0"/>
          </a:p>
        </p:txBody>
      </p:sp>
      <p:sp>
        <p:nvSpPr>
          <p:cNvPr id="4" name="Content Placeholder 3">
            <a:extLst>
              <a:ext uri="{FF2B5EF4-FFF2-40B4-BE49-F238E27FC236}">
                <a16:creationId xmlns:a16="http://schemas.microsoft.com/office/drawing/2014/main" id="{9A129DDE-9538-663F-58CF-B5CC927C647B}"/>
              </a:ext>
            </a:extLst>
          </p:cNvPr>
          <p:cNvSpPr>
            <a:spLocks noGrp="1"/>
          </p:cNvSpPr>
          <p:nvPr>
            <p:ph sz="quarter" idx="1"/>
          </p:nvPr>
        </p:nvSpPr>
        <p:spPr/>
        <p:txBody>
          <a:bodyPr/>
          <a:lstStyle/>
          <a:p>
            <a:pPr algn="just"/>
            <a:r>
              <a:rPr lang="en-US" dirty="0"/>
              <a:t>Moreover, the tokenizer used for GPT models also doesn’t use an &lt;|</a:t>
            </a:r>
            <a:r>
              <a:rPr lang="en-US" dirty="0" err="1"/>
              <a:t>unk</a:t>
            </a:r>
            <a:r>
              <a:rPr lang="en-US" dirty="0"/>
              <a:t>|&gt; token for out-of-vocabulary words.</a:t>
            </a:r>
          </a:p>
          <a:p>
            <a:pPr algn="just"/>
            <a:endParaRPr lang="en-US" dirty="0"/>
          </a:p>
          <a:p>
            <a:pPr algn="just"/>
            <a:r>
              <a:rPr lang="en-US" dirty="0"/>
              <a:t>Instead, GPT models use a byte pair encoding tokenizer, which breaks words down into </a:t>
            </a:r>
            <a:r>
              <a:rPr lang="en-US" dirty="0" err="1"/>
              <a:t>subword</a:t>
            </a:r>
            <a:r>
              <a:rPr lang="en-US" dirty="0"/>
              <a:t> units, which we will discuss next.</a:t>
            </a:r>
          </a:p>
          <a:p>
            <a:endParaRPr lang="en-US" dirty="0"/>
          </a:p>
        </p:txBody>
      </p:sp>
    </p:spTree>
    <p:extLst>
      <p:ext uri="{BB962C8B-B14F-4D97-AF65-F5344CB8AC3E}">
        <p14:creationId xmlns:p14="http://schemas.microsoft.com/office/powerpoint/2010/main" val="22195057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BF6B8-2A3E-910D-639C-112B8A2C5A77}"/>
              </a:ext>
            </a:extLst>
          </p:cNvPr>
          <p:cNvSpPr>
            <a:spLocks noGrp="1"/>
          </p:cNvSpPr>
          <p:nvPr>
            <p:ph type="title"/>
          </p:nvPr>
        </p:nvSpPr>
        <p:spPr/>
        <p:txBody>
          <a:bodyPr/>
          <a:lstStyle/>
          <a:p>
            <a:r>
              <a:rPr lang="en-US" dirty="0"/>
              <a:t>Tokenization</a:t>
            </a:r>
          </a:p>
        </p:txBody>
      </p:sp>
      <p:sp>
        <p:nvSpPr>
          <p:cNvPr id="3" name="Slide Number Placeholder 2">
            <a:extLst>
              <a:ext uri="{FF2B5EF4-FFF2-40B4-BE49-F238E27FC236}">
                <a16:creationId xmlns:a16="http://schemas.microsoft.com/office/drawing/2014/main" id="{9F665CBC-9503-CE44-7E11-0E0EF9A93E51}"/>
              </a:ext>
            </a:extLst>
          </p:cNvPr>
          <p:cNvSpPr>
            <a:spLocks noGrp="1"/>
          </p:cNvSpPr>
          <p:nvPr>
            <p:ph type="sldNum" sz="quarter" idx="12"/>
          </p:nvPr>
        </p:nvSpPr>
        <p:spPr/>
        <p:txBody>
          <a:bodyPr>
            <a:normAutofit fontScale="85000" lnSpcReduction="20000"/>
          </a:bodyPr>
          <a:lstStyle/>
          <a:p>
            <a:fld id="{EBFB1032-EA64-7144-B003-9BCC9D94B503}" type="slidenum">
              <a:rPr lang="en-US" smtClean="0"/>
              <a:t>52</a:t>
            </a:fld>
            <a:endParaRPr lang="en-US" dirty="0"/>
          </a:p>
        </p:txBody>
      </p:sp>
      <p:sp>
        <p:nvSpPr>
          <p:cNvPr id="4" name="Content Placeholder 3">
            <a:extLst>
              <a:ext uri="{FF2B5EF4-FFF2-40B4-BE49-F238E27FC236}">
                <a16:creationId xmlns:a16="http://schemas.microsoft.com/office/drawing/2014/main" id="{C072E200-6C13-3A6D-4807-1031B7D181A3}"/>
              </a:ext>
            </a:extLst>
          </p:cNvPr>
          <p:cNvSpPr>
            <a:spLocks noGrp="1"/>
          </p:cNvSpPr>
          <p:nvPr>
            <p:ph sz="quarter" idx="1"/>
          </p:nvPr>
        </p:nvSpPr>
        <p:spPr/>
        <p:txBody>
          <a:bodyPr>
            <a:normAutofit/>
          </a:bodyPr>
          <a:lstStyle/>
          <a:p>
            <a:pPr algn="just"/>
            <a:r>
              <a:rPr lang="en-US" sz="2300" dirty="0">
                <a:solidFill>
                  <a:schemeClr val="accent2">
                    <a:lumMod val="75000"/>
                  </a:schemeClr>
                </a:solidFill>
              </a:rPr>
              <a:t>Natural Language Processing (NLP) is a subfield of artificial intelligence that gives the ability to machine understand and process human languages.</a:t>
            </a:r>
          </a:p>
          <a:p>
            <a:pPr algn="just"/>
            <a:r>
              <a:rPr lang="en-US" sz="2300" dirty="0">
                <a:solidFill>
                  <a:srgbClr val="7030A0"/>
                </a:solidFill>
              </a:rPr>
              <a:t>Tokenization is the process of dividing the text into a collection of tokens from a string of text.</a:t>
            </a:r>
          </a:p>
          <a:p>
            <a:pPr algn="just"/>
            <a:r>
              <a:rPr lang="en-US" sz="2300" dirty="0">
                <a:solidFill>
                  <a:srgbClr val="0070C0"/>
                </a:solidFill>
              </a:rPr>
              <a:t>Tokenization is often the first step in natural language processing tasks such as text classification, named entity recognition, and sentiment analysis.</a:t>
            </a:r>
          </a:p>
          <a:p>
            <a:pPr algn="just"/>
            <a:r>
              <a:rPr lang="en-US" sz="2300" dirty="0">
                <a:solidFill>
                  <a:srgbClr val="00B050"/>
                </a:solidFill>
              </a:rPr>
              <a:t>The resulting tokens are typically used as input to further processing steps, such as vectorization, where the tokens are converted into numerical representations for machine learning models to use.</a:t>
            </a:r>
          </a:p>
          <a:p>
            <a:pPr algn="just"/>
            <a:r>
              <a:rPr lang="en-US" sz="2300" dirty="0">
                <a:solidFill>
                  <a:srgbClr val="C00000"/>
                </a:solidFill>
              </a:rPr>
              <a:t>The BPE tokenizer was used to train LLMs such as GPT-2, GPT-3, and the original model used in ChatGPT.</a:t>
            </a:r>
          </a:p>
        </p:txBody>
      </p:sp>
    </p:spTree>
    <p:extLst>
      <p:ext uri="{BB962C8B-B14F-4D97-AF65-F5344CB8AC3E}">
        <p14:creationId xmlns:p14="http://schemas.microsoft.com/office/powerpoint/2010/main" val="4507499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81A35-C86E-A227-C654-9D447205B35E}"/>
              </a:ext>
            </a:extLst>
          </p:cNvPr>
          <p:cNvSpPr>
            <a:spLocks noGrp="1"/>
          </p:cNvSpPr>
          <p:nvPr>
            <p:ph type="title"/>
          </p:nvPr>
        </p:nvSpPr>
        <p:spPr/>
        <p:txBody>
          <a:bodyPr>
            <a:normAutofit/>
          </a:bodyPr>
          <a:lstStyle/>
          <a:p>
            <a:r>
              <a:rPr lang="en-US" sz="3200" dirty="0"/>
              <a:t>Byte-Pair Encoding (BPE) is a compression algorithm</a:t>
            </a:r>
          </a:p>
        </p:txBody>
      </p:sp>
      <p:sp>
        <p:nvSpPr>
          <p:cNvPr id="3" name="Slide Number Placeholder 2">
            <a:extLst>
              <a:ext uri="{FF2B5EF4-FFF2-40B4-BE49-F238E27FC236}">
                <a16:creationId xmlns:a16="http://schemas.microsoft.com/office/drawing/2014/main" id="{C3F66C06-350F-A00C-C081-BCE8F322F549}"/>
              </a:ext>
            </a:extLst>
          </p:cNvPr>
          <p:cNvSpPr>
            <a:spLocks noGrp="1"/>
          </p:cNvSpPr>
          <p:nvPr>
            <p:ph type="sldNum" sz="quarter" idx="12"/>
          </p:nvPr>
        </p:nvSpPr>
        <p:spPr/>
        <p:txBody>
          <a:bodyPr>
            <a:normAutofit fontScale="85000" lnSpcReduction="20000"/>
          </a:bodyPr>
          <a:lstStyle/>
          <a:p>
            <a:fld id="{EBFB1032-EA64-7144-B003-9BCC9D94B503}" type="slidenum">
              <a:rPr lang="en-US" smtClean="0"/>
              <a:t>53</a:t>
            </a:fld>
            <a:endParaRPr lang="en-US" dirty="0"/>
          </a:p>
        </p:txBody>
      </p:sp>
      <p:sp>
        <p:nvSpPr>
          <p:cNvPr id="4" name="Content Placeholder 3">
            <a:extLst>
              <a:ext uri="{FF2B5EF4-FFF2-40B4-BE49-F238E27FC236}">
                <a16:creationId xmlns:a16="http://schemas.microsoft.com/office/drawing/2014/main" id="{A534A550-2491-C589-7FC4-8AD197C997DE}"/>
              </a:ext>
            </a:extLst>
          </p:cNvPr>
          <p:cNvSpPr>
            <a:spLocks noGrp="1"/>
          </p:cNvSpPr>
          <p:nvPr>
            <p:ph sz="quarter" idx="1"/>
          </p:nvPr>
        </p:nvSpPr>
        <p:spPr/>
        <p:txBody>
          <a:bodyPr>
            <a:normAutofit/>
          </a:bodyPr>
          <a:lstStyle/>
          <a:p>
            <a:pPr algn="just">
              <a:spcBef>
                <a:spcPts val="0"/>
              </a:spcBef>
            </a:pPr>
            <a:r>
              <a:rPr lang="en-US" sz="2200" dirty="0"/>
              <a:t>BPE is a compression algorithm used in Natural Language Processing (NLP) to represent large vocabulary with a small set of </a:t>
            </a:r>
            <a:r>
              <a:rPr lang="en-US" sz="2200" dirty="0" err="1"/>
              <a:t>subword</a:t>
            </a:r>
            <a:r>
              <a:rPr lang="en-US" sz="2200" dirty="0"/>
              <a:t> units.</a:t>
            </a:r>
          </a:p>
          <a:p>
            <a:pPr algn="just">
              <a:spcBef>
                <a:spcPts val="0"/>
              </a:spcBef>
            </a:pPr>
            <a:endParaRPr lang="en-US" sz="2200" dirty="0"/>
          </a:p>
          <a:p>
            <a:pPr algn="just">
              <a:spcBef>
                <a:spcPts val="0"/>
              </a:spcBef>
            </a:pPr>
            <a:r>
              <a:rPr lang="en-US" sz="2200" dirty="0"/>
              <a:t>It was introduced by </a:t>
            </a:r>
            <a:r>
              <a:rPr lang="en-US" sz="2200" dirty="0" err="1"/>
              <a:t>Sennrich</a:t>
            </a:r>
            <a:r>
              <a:rPr lang="en-US" sz="2200" dirty="0"/>
              <a:t> et al. in 2016 and has been widely used in various NLP tasks such as machine translation, text classification, and text generation.</a:t>
            </a:r>
          </a:p>
          <a:p>
            <a:pPr algn="just">
              <a:spcBef>
                <a:spcPts val="0"/>
              </a:spcBef>
            </a:pPr>
            <a:endParaRPr lang="en-US" sz="2200" dirty="0"/>
          </a:p>
          <a:p>
            <a:pPr algn="just">
              <a:spcBef>
                <a:spcPts val="0"/>
              </a:spcBef>
            </a:pPr>
            <a:r>
              <a:rPr lang="en-US" sz="2200" dirty="0"/>
              <a:t>The basic idea of BPE is to iteratively merge the most frequent pair of consecutive bytes or characters in a text corpus until a predefined vocabulary size is reached.</a:t>
            </a:r>
          </a:p>
          <a:p>
            <a:pPr algn="just">
              <a:spcBef>
                <a:spcPts val="0"/>
              </a:spcBef>
            </a:pPr>
            <a:endParaRPr lang="en-US" sz="2200" dirty="0"/>
          </a:p>
          <a:p>
            <a:pPr algn="just">
              <a:spcBef>
                <a:spcPts val="0"/>
              </a:spcBef>
            </a:pPr>
            <a:r>
              <a:rPr lang="en-US" sz="2200" dirty="0"/>
              <a:t>The resulting </a:t>
            </a:r>
            <a:r>
              <a:rPr lang="en-US" sz="2200" dirty="0" err="1"/>
              <a:t>subword</a:t>
            </a:r>
            <a:r>
              <a:rPr lang="en-US" sz="2200" dirty="0"/>
              <a:t> units can be used to represent the original text in a more compact and efficient way.</a:t>
            </a:r>
          </a:p>
        </p:txBody>
      </p:sp>
    </p:spTree>
    <p:extLst>
      <p:ext uri="{BB962C8B-B14F-4D97-AF65-F5344CB8AC3E}">
        <p14:creationId xmlns:p14="http://schemas.microsoft.com/office/powerpoint/2010/main" val="19361336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82384-AA75-70B2-737E-832995EC7E91}"/>
              </a:ext>
            </a:extLst>
          </p:cNvPr>
          <p:cNvSpPr>
            <a:spLocks noGrp="1"/>
          </p:cNvSpPr>
          <p:nvPr>
            <p:ph type="title"/>
          </p:nvPr>
        </p:nvSpPr>
        <p:spPr/>
        <p:txBody>
          <a:bodyPr>
            <a:normAutofit/>
          </a:bodyPr>
          <a:lstStyle/>
          <a:p>
            <a:r>
              <a:rPr lang="en-US" dirty="0"/>
              <a:t>Concepts related to BPE:</a:t>
            </a:r>
          </a:p>
        </p:txBody>
      </p:sp>
      <p:sp>
        <p:nvSpPr>
          <p:cNvPr id="3" name="Slide Number Placeholder 2">
            <a:extLst>
              <a:ext uri="{FF2B5EF4-FFF2-40B4-BE49-F238E27FC236}">
                <a16:creationId xmlns:a16="http://schemas.microsoft.com/office/drawing/2014/main" id="{199C2811-1C41-F206-101F-08A95BF95F44}"/>
              </a:ext>
            </a:extLst>
          </p:cNvPr>
          <p:cNvSpPr>
            <a:spLocks noGrp="1"/>
          </p:cNvSpPr>
          <p:nvPr>
            <p:ph type="sldNum" sz="quarter" idx="12"/>
          </p:nvPr>
        </p:nvSpPr>
        <p:spPr/>
        <p:txBody>
          <a:bodyPr>
            <a:normAutofit fontScale="85000" lnSpcReduction="20000"/>
          </a:bodyPr>
          <a:lstStyle/>
          <a:p>
            <a:fld id="{EBFB1032-EA64-7144-B003-9BCC9D94B503}" type="slidenum">
              <a:rPr lang="en-US" smtClean="0"/>
              <a:t>54</a:t>
            </a:fld>
            <a:endParaRPr lang="en-US" dirty="0"/>
          </a:p>
        </p:txBody>
      </p:sp>
      <p:sp>
        <p:nvSpPr>
          <p:cNvPr id="4" name="Content Placeholder 3">
            <a:extLst>
              <a:ext uri="{FF2B5EF4-FFF2-40B4-BE49-F238E27FC236}">
                <a16:creationId xmlns:a16="http://schemas.microsoft.com/office/drawing/2014/main" id="{7FFD0F6A-003E-D91F-8F93-74D90E802C1D}"/>
              </a:ext>
            </a:extLst>
          </p:cNvPr>
          <p:cNvSpPr>
            <a:spLocks noGrp="1"/>
          </p:cNvSpPr>
          <p:nvPr>
            <p:ph sz="quarter" idx="1"/>
          </p:nvPr>
        </p:nvSpPr>
        <p:spPr/>
        <p:txBody>
          <a:bodyPr/>
          <a:lstStyle/>
          <a:p>
            <a:r>
              <a:rPr lang="en-US" b="1" dirty="0"/>
              <a:t>Vocabulary:</a:t>
            </a:r>
          </a:p>
          <a:p>
            <a:pPr lvl="1"/>
            <a:r>
              <a:rPr lang="en-US" dirty="0"/>
              <a:t>A set of </a:t>
            </a:r>
            <a:r>
              <a:rPr lang="en-US" dirty="0" err="1"/>
              <a:t>subword</a:t>
            </a:r>
            <a:r>
              <a:rPr lang="en-US" dirty="0"/>
              <a:t> units that can be used to represent a text corpus.</a:t>
            </a:r>
          </a:p>
          <a:p>
            <a:r>
              <a:rPr lang="en-US" b="1" dirty="0"/>
              <a:t>Byte:</a:t>
            </a:r>
          </a:p>
          <a:p>
            <a:pPr lvl="1"/>
            <a:r>
              <a:rPr lang="en-US" dirty="0"/>
              <a:t>A unit of digital information that typically consists of eight bits.</a:t>
            </a:r>
          </a:p>
          <a:p>
            <a:r>
              <a:rPr lang="en-US" b="1" dirty="0"/>
              <a:t>Character:</a:t>
            </a:r>
          </a:p>
          <a:p>
            <a:pPr lvl="1"/>
            <a:r>
              <a:rPr lang="en-US" dirty="0"/>
              <a:t>A symbol that represents a written or printed letter or numeral.</a:t>
            </a:r>
          </a:p>
          <a:p>
            <a:r>
              <a:rPr lang="en-US" b="1" dirty="0"/>
              <a:t>Frequency:</a:t>
            </a:r>
          </a:p>
          <a:p>
            <a:pPr lvl="1"/>
            <a:r>
              <a:rPr lang="en-US" dirty="0"/>
              <a:t>The number of times a byte or character occurs in a text corpus.</a:t>
            </a:r>
          </a:p>
          <a:p>
            <a:r>
              <a:rPr lang="en-US" b="1" dirty="0"/>
              <a:t>Merge:</a:t>
            </a:r>
          </a:p>
          <a:p>
            <a:pPr lvl="1"/>
            <a:r>
              <a:rPr lang="en-US" dirty="0"/>
              <a:t>The process of combining two consecutive bytes or characters to create a new </a:t>
            </a:r>
            <a:r>
              <a:rPr lang="en-US" dirty="0" err="1"/>
              <a:t>subword</a:t>
            </a:r>
            <a:r>
              <a:rPr lang="en-US" dirty="0"/>
              <a:t> unit.</a:t>
            </a:r>
          </a:p>
        </p:txBody>
      </p:sp>
    </p:spTree>
    <p:extLst>
      <p:ext uri="{BB962C8B-B14F-4D97-AF65-F5344CB8AC3E}">
        <p14:creationId xmlns:p14="http://schemas.microsoft.com/office/powerpoint/2010/main" val="294534426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A6F46-FB94-F77F-740D-7772E5AB37B9}"/>
              </a:ext>
            </a:extLst>
          </p:cNvPr>
          <p:cNvSpPr>
            <a:spLocks noGrp="1"/>
          </p:cNvSpPr>
          <p:nvPr>
            <p:ph type="title"/>
          </p:nvPr>
        </p:nvSpPr>
        <p:spPr/>
        <p:txBody>
          <a:bodyPr>
            <a:normAutofit/>
          </a:bodyPr>
          <a:lstStyle/>
          <a:p>
            <a:r>
              <a:rPr lang="en-US" dirty="0"/>
              <a:t>Steps involved in BPE:</a:t>
            </a:r>
          </a:p>
        </p:txBody>
      </p:sp>
      <p:sp>
        <p:nvSpPr>
          <p:cNvPr id="3" name="Slide Number Placeholder 2">
            <a:extLst>
              <a:ext uri="{FF2B5EF4-FFF2-40B4-BE49-F238E27FC236}">
                <a16:creationId xmlns:a16="http://schemas.microsoft.com/office/drawing/2014/main" id="{2A3D0F31-6288-3651-E6A0-88B4C97A342E}"/>
              </a:ext>
            </a:extLst>
          </p:cNvPr>
          <p:cNvSpPr>
            <a:spLocks noGrp="1"/>
          </p:cNvSpPr>
          <p:nvPr>
            <p:ph type="sldNum" sz="quarter" idx="12"/>
          </p:nvPr>
        </p:nvSpPr>
        <p:spPr/>
        <p:txBody>
          <a:bodyPr>
            <a:normAutofit fontScale="85000" lnSpcReduction="20000"/>
          </a:bodyPr>
          <a:lstStyle/>
          <a:p>
            <a:fld id="{EBFB1032-EA64-7144-B003-9BCC9D94B503}" type="slidenum">
              <a:rPr lang="en-US" smtClean="0"/>
              <a:t>55</a:t>
            </a:fld>
            <a:endParaRPr lang="en-US" dirty="0"/>
          </a:p>
        </p:txBody>
      </p:sp>
      <p:sp>
        <p:nvSpPr>
          <p:cNvPr id="4" name="Content Placeholder 3">
            <a:extLst>
              <a:ext uri="{FF2B5EF4-FFF2-40B4-BE49-F238E27FC236}">
                <a16:creationId xmlns:a16="http://schemas.microsoft.com/office/drawing/2014/main" id="{5B4E96B1-5DAE-B67D-B735-2292BF38E0B6}"/>
              </a:ext>
            </a:extLst>
          </p:cNvPr>
          <p:cNvSpPr>
            <a:spLocks noGrp="1"/>
          </p:cNvSpPr>
          <p:nvPr>
            <p:ph sz="quarter" idx="1"/>
          </p:nvPr>
        </p:nvSpPr>
        <p:spPr/>
        <p:txBody>
          <a:bodyPr>
            <a:normAutofit/>
          </a:bodyPr>
          <a:lstStyle/>
          <a:p>
            <a:r>
              <a:rPr lang="en-US" dirty="0"/>
              <a:t>Initialize the vocabulary with all the bytes or characters in the text corpus</a:t>
            </a:r>
          </a:p>
          <a:p>
            <a:endParaRPr lang="en-US" sz="1200" dirty="0"/>
          </a:p>
          <a:p>
            <a:r>
              <a:rPr lang="en-US" dirty="0"/>
              <a:t>Calculate the frequency of each byte (or character) in the text corpus.</a:t>
            </a:r>
          </a:p>
          <a:p>
            <a:endParaRPr lang="en-US" sz="1200" dirty="0"/>
          </a:p>
          <a:p>
            <a:r>
              <a:rPr lang="en-US" dirty="0"/>
              <a:t>Repeat the following steps until the desired vocabulary size is reached:</a:t>
            </a:r>
          </a:p>
          <a:p>
            <a:pPr marL="822960" lvl="1" indent="-457200">
              <a:buSzPct val="100000"/>
              <a:buFont typeface="+mj-lt"/>
              <a:buAutoNum type="arabicParenR"/>
            </a:pPr>
            <a:r>
              <a:rPr lang="en-US" sz="2200" dirty="0"/>
              <a:t>Find the most frequent pair of consecutive bytes in the text corpus</a:t>
            </a:r>
          </a:p>
          <a:p>
            <a:pPr marL="822960" lvl="1" indent="-457200">
              <a:buSzPct val="100000"/>
              <a:buFont typeface="+mj-lt"/>
              <a:buAutoNum type="arabicParenR"/>
            </a:pPr>
            <a:r>
              <a:rPr lang="en-US" sz="2200" dirty="0"/>
              <a:t>Merge the pair to create a new </a:t>
            </a:r>
            <a:r>
              <a:rPr lang="en-US" sz="2200" dirty="0" err="1"/>
              <a:t>subword</a:t>
            </a:r>
            <a:r>
              <a:rPr lang="en-US" sz="2200" dirty="0"/>
              <a:t> unit</a:t>
            </a:r>
          </a:p>
          <a:p>
            <a:pPr marL="822960" lvl="1" indent="-457200">
              <a:buSzPct val="100000"/>
              <a:buFont typeface="+mj-lt"/>
              <a:buAutoNum type="arabicParenR"/>
            </a:pPr>
            <a:r>
              <a:rPr lang="en-US" sz="2200" dirty="0"/>
              <a:t>Update the frequency counts of all the bytes containing the merged pair</a:t>
            </a:r>
          </a:p>
          <a:p>
            <a:pPr marL="822960" lvl="1" indent="-457200">
              <a:buSzPct val="100000"/>
              <a:buFont typeface="+mj-lt"/>
              <a:buAutoNum type="arabicParenR"/>
            </a:pPr>
            <a:r>
              <a:rPr lang="en-US" sz="2200" dirty="0"/>
              <a:t>Add the new </a:t>
            </a:r>
            <a:r>
              <a:rPr lang="en-US" sz="2200" dirty="0" err="1"/>
              <a:t>subword</a:t>
            </a:r>
            <a:r>
              <a:rPr lang="en-US" sz="2200" dirty="0"/>
              <a:t> unit to the vocabulary</a:t>
            </a:r>
          </a:p>
          <a:p>
            <a:endParaRPr lang="en-US" sz="1200" dirty="0"/>
          </a:p>
          <a:p>
            <a:r>
              <a:rPr lang="en-US" dirty="0"/>
              <a:t>Represent the text corpus using the </a:t>
            </a:r>
            <a:r>
              <a:rPr lang="en-US" dirty="0" err="1"/>
              <a:t>subword</a:t>
            </a:r>
            <a:r>
              <a:rPr lang="en-US" dirty="0"/>
              <a:t> units in the vocabulary.</a:t>
            </a:r>
          </a:p>
        </p:txBody>
      </p:sp>
    </p:spTree>
    <p:extLst>
      <p:ext uri="{BB962C8B-B14F-4D97-AF65-F5344CB8AC3E}">
        <p14:creationId xmlns:p14="http://schemas.microsoft.com/office/powerpoint/2010/main" val="91799901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0829D-3F05-9004-5364-8B964EDB8D44}"/>
              </a:ext>
            </a:extLst>
          </p:cNvPr>
          <p:cNvSpPr>
            <a:spLocks noGrp="1"/>
          </p:cNvSpPr>
          <p:nvPr>
            <p:ph type="title"/>
          </p:nvPr>
        </p:nvSpPr>
        <p:spPr/>
        <p:txBody>
          <a:bodyPr/>
          <a:lstStyle/>
          <a:p>
            <a:r>
              <a:rPr lang="en-US" dirty="0"/>
              <a:t>How Byte-Pair Encoding (BPE) works:</a:t>
            </a:r>
          </a:p>
        </p:txBody>
      </p:sp>
      <p:sp>
        <p:nvSpPr>
          <p:cNvPr id="3" name="Slide Number Placeholder 2">
            <a:extLst>
              <a:ext uri="{FF2B5EF4-FFF2-40B4-BE49-F238E27FC236}">
                <a16:creationId xmlns:a16="http://schemas.microsoft.com/office/drawing/2014/main" id="{0967FD9A-F080-8A84-716D-51AB6FD60EE9}"/>
              </a:ext>
            </a:extLst>
          </p:cNvPr>
          <p:cNvSpPr>
            <a:spLocks noGrp="1"/>
          </p:cNvSpPr>
          <p:nvPr>
            <p:ph type="sldNum" sz="quarter" idx="12"/>
          </p:nvPr>
        </p:nvSpPr>
        <p:spPr/>
        <p:txBody>
          <a:bodyPr>
            <a:normAutofit fontScale="85000" lnSpcReduction="20000"/>
          </a:bodyPr>
          <a:lstStyle/>
          <a:p>
            <a:fld id="{EBFB1032-EA64-7144-B003-9BCC9D94B503}" type="slidenum">
              <a:rPr lang="en-US" smtClean="0"/>
              <a:t>56</a:t>
            </a:fld>
            <a:endParaRPr lang="en-US" dirty="0"/>
          </a:p>
        </p:txBody>
      </p:sp>
      <p:sp>
        <p:nvSpPr>
          <p:cNvPr id="4" name="Content Placeholder 3">
            <a:extLst>
              <a:ext uri="{FF2B5EF4-FFF2-40B4-BE49-F238E27FC236}">
                <a16:creationId xmlns:a16="http://schemas.microsoft.com/office/drawing/2014/main" id="{94C01C26-CA59-9CF8-2415-30A18AE4D7E5}"/>
              </a:ext>
            </a:extLst>
          </p:cNvPr>
          <p:cNvSpPr>
            <a:spLocks noGrp="1"/>
          </p:cNvSpPr>
          <p:nvPr>
            <p:ph sz="quarter" idx="1"/>
          </p:nvPr>
        </p:nvSpPr>
        <p:spPr/>
        <p:txBody>
          <a:bodyPr/>
          <a:lstStyle/>
          <a:p>
            <a:r>
              <a:rPr lang="en-US" dirty="0"/>
              <a:t>Suppose we have a text corpus with the following four words: “ab”, “</a:t>
            </a:r>
            <a:r>
              <a:rPr lang="en-US" dirty="0" err="1"/>
              <a:t>bc</a:t>
            </a:r>
            <a:r>
              <a:rPr lang="en-US" dirty="0"/>
              <a:t>”, “</a:t>
            </a:r>
            <a:r>
              <a:rPr lang="en-US" dirty="0" err="1"/>
              <a:t>bcd</a:t>
            </a:r>
            <a:r>
              <a:rPr lang="en-US" dirty="0"/>
              <a:t>”, and “</a:t>
            </a:r>
            <a:r>
              <a:rPr lang="en-US" dirty="0" err="1"/>
              <a:t>cde</a:t>
            </a:r>
            <a:r>
              <a:rPr lang="en-US" dirty="0"/>
              <a:t>”.</a:t>
            </a:r>
          </a:p>
          <a:p>
            <a:endParaRPr lang="en-US" dirty="0"/>
          </a:p>
          <a:p>
            <a:r>
              <a:rPr lang="en-US" dirty="0"/>
              <a:t>The initial vocabulary consists of all the bytes or characters in the text corpus: {“a”, “b”, “c”, “d”, “e”}.</a:t>
            </a:r>
          </a:p>
        </p:txBody>
      </p:sp>
    </p:spTree>
    <p:extLst>
      <p:ext uri="{BB962C8B-B14F-4D97-AF65-F5344CB8AC3E}">
        <p14:creationId xmlns:p14="http://schemas.microsoft.com/office/powerpoint/2010/main" val="10118767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1BA38CD-4609-2B4A-1C25-065056F4347D}"/>
              </a:ext>
            </a:extLst>
          </p:cNvPr>
          <p:cNvSpPr>
            <a:spLocks noGrp="1"/>
          </p:cNvSpPr>
          <p:nvPr>
            <p:ph type="sldNum" sz="quarter" idx="12"/>
          </p:nvPr>
        </p:nvSpPr>
        <p:spPr/>
        <p:txBody>
          <a:bodyPr/>
          <a:lstStyle/>
          <a:p>
            <a:fld id="{EBFB1032-EA64-7144-B003-9BCC9D94B503}" type="slidenum">
              <a:rPr lang="en-US" smtClean="0"/>
              <a:t>57</a:t>
            </a:fld>
            <a:endParaRPr lang="en-US" dirty="0"/>
          </a:p>
        </p:txBody>
      </p:sp>
      <p:pic>
        <p:nvPicPr>
          <p:cNvPr id="6" name="Picture 5">
            <a:extLst>
              <a:ext uri="{FF2B5EF4-FFF2-40B4-BE49-F238E27FC236}">
                <a16:creationId xmlns:a16="http://schemas.microsoft.com/office/drawing/2014/main" id="{4E776357-21A4-BE24-5781-003B26510175}"/>
              </a:ext>
            </a:extLst>
          </p:cNvPr>
          <p:cNvPicPr>
            <a:picLocks noChangeAspect="1"/>
          </p:cNvPicPr>
          <p:nvPr/>
        </p:nvPicPr>
        <p:blipFill>
          <a:blip r:embed="rId2"/>
          <a:stretch>
            <a:fillRect/>
          </a:stretch>
        </p:blipFill>
        <p:spPr>
          <a:xfrm>
            <a:off x="91440" y="2194686"/>
            <a:ext cx="8961120" cy="2468628"/>
          </a:xfrm>
          <a:prstGeom prst="rect">
            <a:avLst/>
          </a:prstGeom>
          <a:ln>
            <a:solidFill>
              <a:schemeClr val="accent1"/>
            </a:solidFill>
          </a:ln>
        </p:spPr>
      </p:pic>
    </p:spTree>
    <p:extLst>
      <p:ext uri="{BB962C8B-B14F-4D97-AF65-F5344CB8AC3E}">
        <p14:creationId xmlns:p14="http://schemas.microsoft.com/office/powerpoint/2010/main" val="367384356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E5385E-BA2E-8DED-D0EA-942D44AA3E67}"/>
              </a:ext>
            </a:extLst>
          </p:cNvPr>
          <p:cNvSpPr>
            <a:spLocks noGrp="1"/>
          </p:cNvSpPr>
          <p:nvPr>
            <p:ph type="sldNum" sz="quarter" idx="12"/>
          </p:nvPr>
        </p:nvSpPr>
        <p:spPr/>
        <p:txBody>
          <a:bodyPr/>
          <a:lstStyle/>
          <a:p>
            <a:fld id="{EBFB1032-EA64-7144-B003-9BCC9D94B503}" type="slidenum">
              <a:rPr lang="en-US" smtClean="0"/>
              <a:t>58</a:t>
            </a:fld>
            <a:endParaRPr lang="en-US" dirty="0"/>
          </a:p>
        </p:txBody>
      </p:sp>
      <p:pic>
        <p:nvPicPr>
          <p:cNvPr id="4" name="Picture 3">
            <a:extLst>
              <a:ext uri="{FF2B5EF4-FFF2-40B4-BE49-F238E27FC236}">
                <a16:creationId xmlns:a16="http://schemas.microsoft.com/office/drawing/2014/main" id="{57852986-DDE3-451C-BD93-31ADC3A96F04}"/>
              </a:ext>
            </a:extLst>
          </p:cNvPr>
          <p:cNvPicPr>
            <a:picLocks noChangeAspect="1"/>
          </p:cNvPicPr>
          <p:nvPr/>
        </p:nvPicPr>
        <p:blipFill>
          <a:blip r:embed="rId2"/>
          <a:stretch>
            <a:fillRect/>
          </a:stretch>
        </p:blipFill>
        <p:spPr>
          <a:xfrm>
            <a:off x="91440" y="375157"/>
            <a:ext cx="8961120" cy="6254243"/>
          </a:xfrm>
          <a:prstGeom prst="rect">
            <a:avLst/>
          </a:prstGeom>
          <a:ln>
            <a:solidFill>
              <a:schemeClr val="accent1"/>
            </a:solidFill>
          </a:ln>
        </p:spPr>
      </p:pic>
    </p:spTree>
    <p:extLst>
      <p:ext uri="{BB962C8B-B14F-4D97-AF65-F5344CB8AC3E}">
        <p14:creationId xmlns:p14="http://schemas.microsoft.com/office/powerpoint/2010/main" val="155157108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392D191-884C-5DE6-FF71-B9DE9BBBC645}"/>
              </a:ext>
            </a:extLst>
          </p:cNvPr>
          <p:cNvSpPr>
            <a:spLocks noGrp="1"/>
          </p:cNvSpPr>
          <p:nvPr>
            <p:ph type="sldNum" sz="quarter" idx="12"/>
          </p:nvPr>
        </p:nvSpPr>
        <p:spPr/>
        <p:txBody>
          <a:bodyPr/>
          <a:lstStyle/>
          <a:p>
            <a:fld id="{EBFB1032-EA64-7144-B003-9BCC9D94B503}" type="slidenum">
              <a:rPr lang="en-US" smtClean="0"/>
              <a:t>59</a:t>
            </a:fld>
            <a:endParaRPr lang="en-US" dirty="0"/>
          </a:p>
        </p:txBody>
      </p:sp>
      <p:pic>
        <p:nvPicPr>
          <p:cNvPr id="4" name="Picture 3">
            <a:extLst>
              <a:ext uri="{FF2B5EF4-FFF2-40B4-BE49-F238E27FC236}">
                <a16:creationId xmlns:a16="http://schemas.microsoft.com/office/drawing/2014/main" id="{9D078B5E-BE8C-72E2-6024-756F9984182D}"/>
              </a:ext>
            </a:extLst>
          </p:cNvPr>
          <p:cNvPicPr>
            <a:picLocks noChangeAspect="1"/>
          </p:cNvPicPr>
          <p:nvPr/>
        </p:nvPicPr>
        <p:blipFill>
          <a:blip r:embed="rId2"/>
          <a:stretch>
            <a:fillRect/>
          </a:stretch>
        </p:blipFill>
        <p:spPr>
          <a:xfrm>
            <a:off x="91440" y="1567749"/>
            <a:ext cx="8961120" cy="3722502"/>
          </a:xfrm>
          <a:prstGeom prst="rect">
            <a:avLst/>
          </a:prstGeom>
          <a:ln>
            <a:solidFill>
              <a:schemeClr val="accent1"/>
            </a:solidFill>
          </a:ln>
        </p:spPr>
      </p:pic>
    </p:spTree>
    <p:extLst>
      <p:ext uri="{BB962C8B-B14F-4D97-AF65-F5344CB8AC3E}">
        <p14:creationId xmlns:p14="http://schemas.microsoft.com/office/powerpoint/2010/main" val="345000862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5641AD6-A405-84A7-77A5-F17246DDF848}"/>
              </a:ext>
            </a:extLst>
          </p:cNvPr>
          <p:cNvSpPr>
            <a:spLocks noGrp="1"/>
          </p:cNvSpPr>
          <p:nvPr>
            <p:ph type="sldNum" sz="quarter" idx="12"/>
          </p:nvPr>
        </p:nvSpPr>
        <p:spPr/>
        <p:txBody>
          <a:bodyPr/>
          <a:lstStyle/>
          <a:p>
            <a:fld id="{EBFB1032-EA64-7144-B003-9BCC9D94B503}" type="slidenum">
              <a:rPr lang="en-US" smtClean="0"/>
              <a:t>60</a:t>
            </a:fld>
            <a:endParaRPr lang="en-US" dirty="0"/>
          </a:p>
        </p:txBody>
      </p:sp>
      <p:pic>
        <p:nvPicPr>
          <p:cNvPr id="6" name="Picture 5">
            <a:extLst>
              <a:ext uri="{FF2B5EF4-FFF2-40B4-BE49-F238E27FC236}">
                <a16:creationId xmlns:a16="http://schemas.microsoft.com/office/drawing/2014/main" id="{0F89D721-A7AB-3F11-AB94-0D1723B179AF}"/>
              </a:ext>
            </a:extLst>
          </p:cNvPr>
          <p:cNvPicPr>
            <a:picLocks noChangeAspect="1"/>
          </p:cNvPicPr>
          <p:nvPr/>
        </p:nvPicPr>
        <p:blipFill>
          <a:blip r:embed="rId2"/>
          <a:srcRect l="1161" r="9783"/>
          <a:stretch>
            <a:fillRect/>
          </a:stretch>
        </p:blipFill>
        <p:spPr>
          <a:xfrm>
            <a:off x="182880" y="1286747"/>
            <a:ext cx="8778240" cy="4284506"/>
          </a:xfrm>
          <a:prstGeom prst="rect">
            <a:avLst/>
          </a:prstGeom>
        </p:spPr>
      </p:pic>
    </p:spTree>
    <p:extLst>
      <p:ext uri="{BB962C8B-B14F-4D97-AF65-F5344CB8AC3E}">
        <p14:creationId xmlns:p14="http://schemas.microsoft.com/office/powerpoint/2010/main" val="72613586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7797AEA-7B3A-85BC-306A-502D9F4F5140}"/>
              </a:ext>
            </a:extLst>
          </p:cNvPr>
          <p:cNvSpPr>
            <a:spLocks noGrp="1"/>
          </p:cNvSpPr>
          <p:nvPr>
            <p:ph type="sldNum" sz="quarter" idx="12"/>
          </p:nvPr>
        </p:nvSpPr>
        <p:spPr/>
        <p:txBody>
          <a:bodyPr/>
          <a:lstStyle/>
          <a:p>
            <a:fld id="{EBFB1032-EA64-7144-B003-9BCC9D94B503}" type="slidenum">
              <a:rPr lang="en-US" smtClean="0"/>
              <a:t>61</a:t>
            </a:fld>
            <a:endParaRPr lang="en-US" dirty="0"/>
          </a:p>
        </p:txBody>
      </p:sp>
      <p:pic>
        <p:nvPicPr>
          <p:cNvPr id="4" name="Picture 3">
            <a:extLst>
              <a:ext uri="{FF2B5EF4-FFF2-40B4-BE49-F238E27FC236}">
                <a16:creationId xmlns:a16="http://schemas.microsoft.com/office/drawing/2014/main" id="{F7EFAA65-156F-4755-6688-937F04488751}"/>
              </a:ext>
            </a:extLst>
          </p:cNvPr>
          <p:cNvPicPr>
            <a:picLocks noChangeAspect="1"/>
          </p:cNvPicPr>
          <p:nvPr/>
        </p:nvPicPr>
        <p:blipFill>
          <a:blip r:embed="rId2"/>
          <a:srcRect l="2181" r="8383"/>
          <a:stretch>
            <a:fillRect/>
          </a:stretch>
        </p:blipFill>
        <p:spPr>
          <a:xfrm>
            <a:off x="182880" y="1928900"/>
            <a:ext cx="8778240" cy="3000200"/>
          </a:xfrm>
          <a:prstGeom prst="rect">
            <a:avLst/>
          </a:prstGeom>
        </p:spPr>
      </p:pic>
    </p:spTree>
    <p:extLst>
      <p:ext uri="{BB962C8B-B14F-4D97-AF65-F5344CB8AC3E}">
        <p14:creationId xmlns:p14="http://schemas.microsoft.com/office/powerpoint/2010/main" val="237935052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C647EBB-5D0C-40DE-0FFF-0FBDEEA0CE93}"/>
              </a:ext>
            </a:extLst>
          </p:cNvPr>
          <p:cNvSpPr>
            <a:spLocks noGrp="1"/>
          </p:cNvSpPr>
          <p:nvPr>
            <p:ph type="sldNum" sz="quarter" idx="12"/>
          </p:nvPr>
        </p:nvSpPr>
        <p:spPr/>
        <p:txBody>
          <a:bodyPr/>
          <a:lstStyle/>
          <a:p>
            <a:fld id="{EBFB1032-EA64-7144-B003-9BCC9D94B503}" type="slidenum">
              <a:rPr lang="en-US" smtClean="0"/>
              <a:t>62</a:t>
            </a:fld>
            <a:endParaRPr lang="en-US" dirty="0"/>
          </a:p>
        </p:txBody>
      </p:sp>
      <p:pic>
        <p:nvPicPr>
          <p:cNvPr id="4" name="Picture 3">
            <a:extLst>
              <a:ext uri="{FF2B5EF4-FFF2-40B4-BE49-F238E27FC236}">
                <a16:creationId xmlns:a16="http://schemas.microsoft.com/office/drawing/2014/main" id="{83B428A9-2AC5-5AB3-9BDB-9676413EDD35}"/>
              </a:ext>
            </a:extLst>
          </p:cNvPr>
          <p:cNvPicPr>
            <a:picLocks noChangeAspect="1"/>
          </p:cNvPicPr>
          <p:nvPr/>
        </p:nvPicPr>
        <p:blipFill>
          <a:blip r:embed="rId2"/>
          <a:srcRect l="2282" r="4782"/>
          <a:stretch>
            <a:fillRect/>
          </a:stretch>
        </p:blipFill>
        <p:spPr>
          <a:xfrm>
            <a:off x="182880" y="849442"/>
            <a:ext cx="8778240" cy="5159115"/>
          </a:xfrm>
          <a:prstGeom prst="rect">
            <a:avLst/>
          </a:prstGeom>
        </p:spPr>
      </p:pic>
    </p:spTree>
    <p:extLst>
      <p:ext uri="{BB962C8B-B14F-4D97-AF65-F5344CB8AC3E}">
        <p14:creationId xmlns:p14="http://schemas.microsoft.com/office/powerpoint/2010/main" val="135726968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3DFCC36-E58A-770B-40D4-1730AB463D82}"/>
              </a:ext>
            </a:extLst>
          </p:cNvPr>
          <p:cNvSpPr>
            <a:spLocks noGrp="1"/>
          </p:cNvSpPr>
          <p:nvPr>
            <p:ph type="sldNum" sz="quarter" idx="12"/>
          </p:nvPr>
        </p:nvSpPr>
        <p:spPr/>
        <p:txBody>
          <a:bodyPr/>
          <a:lstStyle/>
          <a:p>
            <a:fld id="{EBFB1032-EA64-7144-B003-9BCC9D94B503}" type="slidenum">
              <a:rPr lang="en-US" smtClean="0"/>
              <a:t>63</a:t>
            </a:fld>
            <a:endParaRPr lang="en-US" dirty="0"/>
          </a:p>
        </p:txBody>
      </p:sp>
      <p:pic>
        <p:nvPicPr>
          <p:cNvPr id="4" name="Picture 3">
            <a:extLst>
              <a:ext uri="{FF2B5EF4-FFF2-40B4-BE49-F238E27FC236}">
                <a16:creationId xmlns:a16="http://schemas.microsoft.com/office/drawing/2014/main" id="{F733767A-43E7-0BA3-279C-37926FB91440}"/>
              </a:ext>
            </a:extLst>
          </p:cNvPr>
          <p:cNvPicPr>
            <a:picLocks noChangeAspect="1"/>
          </p:cNvPicPr>
          <p:nvPr/>
        </p:nvPicPr>
        <p:blipFill>
          <a:blip r:embed="rId2"/>
          <a:srcRect l="1881" r="11585"/>
          <a:stretch>
            <a:fillRect/>
          </a:stretch>
        </p:blipFill>
        <p:spPr>
          <a:xfrm>
            <a:off x="182880" y="1645022"/>
            <a:ext cx="8778240" cy="3567955"/>
          </a:xfrm>
          <a:prstGeom prst="rect">
            <a:avLst/>
          </a:prstGeom>
        </p:spPr>
      </p:pic>
    </p:spTree>
    <p:extLst>
      <p:ext uri="{BB962C8B-B14F-4D97-AF65-F5344CB8AC3E}">
        <p14:creationId xmlns:p14="http://schemas.microsoft.com/office/powerpoint/2010/main" val="242345734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D59D0D-6CEE-1CCF-BAC6-CFDC1C6F65B2}"/>
              </a:ext>
            </a:extLst>
          </p:cNvPr>
          <p:cNvSpPr>
            <a:spLocks noGrp="1"/>
          </p:cNvSpPr>
          <p:nvPr>
            <p:ph type="sldNum" sz="quarter" idx="12"/>
          </p:nvPr>
        </p:nvSpPr>
        <p:spPr/>
        <p:txBody>
          <a:bodyPr/>
          <a:lstStyle/>
          <a:p>
            <a:fld id="{EBFB1032-EA64-7144-B003-9BCC9D94B503}" type="slidenum">
              <a:rPr lang="en-US" smtClean="0"/>
              <a:t>64</a:t>
            </a:fld>
            <a:endParaRPr lang="en-US" dirty="0"/>
          </a:p>
        </p:txBody>
      </p:sp>
      <p:pic>
        <p:nvPicPr>
          <p:cNvPr id="4" name="Picture 3">
            <a:extLst>
              <a:ext uri="{FF2B5EF4-FFF2-40B4-BE49-F238E27FC236}">
                <a16:creationId xmlns:a16="http://schemas.microsoft.com/office/drawing/2014/main" id="{2266E598-1F4D-4134-C1DC-8223093147A7}"/>
              </a:ext>
            </a:extLst>
          </p:cNvPr>
          <p:cNvPicPr>
            <a:picLocks noChangeAspect="1"/>
          </p:cNvPicPr>
          <p:nvPr/>
        </p:nvPicPr>
        <p:blipFill>
          <a:blip r:embed="rId2"/>
          <a:stretch>
            <a:fillRect/>
          </a:stretch>
        </p:blipFill>
        <p:spPr>
          <a:xfrm>
            <a:off x="533400" y="137160"/>
            <a:ext cx="8438238" cy="6583680"/>
          </a:xfrm>
          <a:prstGeom prst="rect">
            <a:avLst/>
          </a:prstGeom>
          <a:ln>
            <a:solidFill>
              <a:schemeClr val="accent1"/>
            </a:solidFill>
          </a:ln>
        </p:spPr>
      </p:pic>
    </p:spTree>
    <p:extLst>
      <p:ext uri="{BB962C8B-B14F-4D97-AF65-F5344CB8AC3E}">
        <p14:creationId xmlns:p14="http://schemas.microsoft.com/office/powerpoint/2010/main" val="123685911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A48520D-1A91-4B7B-0FEA-F532C2A62351}"/>
              </a:ext>
            </a:extLst>
          </p:cNvPr>
          <p:cNvSpPr>
            <a:spLocks noGrp="1"/>
          </p:cNvSpPr>
          <p:nvPr>
            <p:ph type="title"/>
          </p:nvPr>
        </p:nvSpPr>
        <p:spPr/>
        <p:txBody>
          <a:bodyPr/>
          <a:lstStyle/>
          <a:p>
            <a:r>
              <a:rPr lang="en-US" dirty="0"/>
              <a:t>The output represents the frequency count</a:t>
            </a:r>
          </a:p>
        </p:txBody>
      </p:sp>
      <p:sp>
        <p:nvSpPr>
          <p:cNvPr id="2" name="Slide Number Placeholder 1">
            <a:extLst>
              <a:ext uri="{FF2B5EF4-FFF2-40B4-BE49-F238E27FC236}">
                <a16:creationId xmlns:a16="http://schemas.microsoft.com/office/drawing/2014/main" id="{9DF0B261-7E99-65A4-0CBC-672F63300E5F}"/>
              </a:ext>
            </a:extLst>
          </p:cNvPr>
          <p:cNvSpPr>
            <a:spLocks noGrp="1"/>
          </p:cNvSpPr>
          <p:nvPr>
            <p:ph type="sldNum" sz="quarter" idx="12"/>
          </p:nvPr>
        </p:nvSpPr>
        <p:spPr/>
        <p:txBody>
          <a:bodyPr>
            <a:normAutofit fontScale="85000" lnSpcReduction="20000"/>
          </a:bodyPr>
          <a:lstStyle/>
          <a:p>
            <a:fld id="{EBFB1032-EA64-7144-B003-9BCC9D94B503}" type="slidenum">
              <a:rPr lang="en-US" smtClean="0"/>
              <a:t>65</a:t>
            </a:fld>
            <a:endParaRPr lang="en-US" dirty="0"/>
          </a:p>
        </p:txBody>
      </p:sp>
      <p:sp>
        <p:nvSpPr>
          <p:cNvPr id="4" name="Content Placeholder 3">
            <a:extLst>
              <a:ext uri="{FF2B5EF4-FFF2-40B4-BE49-F238E27FC236}">
                <a16:creationId xmlns:a16="http://schemas.microsoft.com/office/drawing/2014/main" id="{42D25EAD-4698-EE2B-88D7-25226D477CD5}"/>
              </a:ext>
            </a:extLst>
          </p:cNvPr>
          <p:cNvSpPr>
            <a:spLocks noGrp="1"/>
          </p:cNvSpPr>
          <p:nvPr>
            <p:ph sz="quarter" idx="1"/>
          </p:nvPr>
        </p:nvSpPr>
        <p:spPr/>
        <p:txBody>
          <a:bodyPr>
            <a:normAutofit/>
          </a:bodyPr>
          <a:lstStyle/>
          <a:p>
            <a:pPr algn="just"/>
            <a:r>
              <a:rPr lang="en-US" sz="2300" dirty="0"/>
              <a:t>The output represents the frequency count of merged pairs of characters found in the given corpus using byte pair encoding (BPE) with 230 iterations.</a:t>
            </a:r>
          </a:p>
          <a:p>
            <a:pPr algn="just"/>
            <a:endParaRPr lang="en-US" sz="2300" dirty="0"/>
          </a:p>
          <a:p>
            <a:pPr algn="just"/>
            <a:r>
              <a:rPr lang="en-US" sz="2300" dirty="0"/>
              <a:t>Each key-value pair in the dictionary indicates a merged pair of characters along with its frequency count in the corpus.</a:t>
            </a:r>
          </a:p>
          <a:p>
            <a:pPr algn="just"/>
            <a:endParaRPr lang="en-US" sz="2300" dirty="0"/>
          </a:p>
          <a:p>
            <a:pPr algn="just"/>
            <a:r>
              <a:rPr lang="en-US" sz="2300" dirty="0"/>
              <a:t>This process iteratively merges the most frequent pair of characters until the specified number of iterations is reached.</a:t>
            </a:r>
          </a:p>
        </p:txBody>
      </p:sp>
    </p:spTree>
    <p:extLst>
      <p:ext uri="{BB962C8B-B14F-4D97-AF65-F5344CB8AC3E}">
        <p14:creationId xmlns:p14="http://schemas.microsoft.com/office/powerpoint/2010/main" val="385403981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C5FB5-9534-CF74-9A68-49BE9630D7FF}"/>
              </a:ext>
            </a:extLst>
          </p:cNvPr>
          <p:cNvSpPr>
            <a:spLocks noGrp="1"/>
          </p:cNvSpPr>
          <p:nvPr>
            <p:ph type="title"/>
          </p:nvPr>
        </p:nvSpPr>
        <p:spPr/>
        <p:txBody>
          <a:bodyPr/>
          <a:lstStyle/>
          <a:p>
            <a:r>
              <a:rPr lang="en-US" dirty="0"/>
              <a:t>BPE Algorithm</a:t>
            </a:r>
          </a:p>
        </p:txBody>
      </p:sp>
      <p:sp>
        <p:nvSpPr>
          <p:cNvPr id="3" name="Slide Number Placeholder 2">
            <a:extLst>
              <a:ext uri="{FF2B5EF4-FFF2-40B4-BE49-F238E27FC236}">
                <a16:creationId xmlns:a16="http://schemas.microsoft.com/office/drawing/2014/main" id="{B6D44710-B3BC-2ABB-A779-9200038E220E}"/>
              </a:ext>
            </a:extLst>
          </p:cNvPr>
          <p:cNvSpPr>
            <a:spLocks noGrp="1"/>
          </p:cNvSpPr>
          <p:nvPr>
            <p:ph type="sldNum" sz="quarter" idx="12"/>
          </p:nvPr>
        </p:nvSpPr>
        <p:spPr/>
        <p:txBody>
          <a:bodyPr>
            <a:normAutofit fontScale="85000" lnSpcReduction="20000"/>
          </a:bodyPr>
          <a:lstStyle/>
          <a:p>
            <a:fld id="{EBFB1032-EA64-7144-B003-9BCC9D94B503}" type="slidenum">
              <a:rPr lang="en-US" smtClean="0"/>
              <a:t>66</a:t>
            </a:fld>
            <a:endParaRPr lang="en-US" dirty="0"/>
          </a:p>
        </p:txBody>
      </p:sp>
      <p:sp>
        <p:nvSpPr>
          <p:cNvPr id="4" name="Content Placeholder 3">
            <a:extLst>
              <a:ext uri="{FF2B5EF4-FFF2-40B4-BE49-F238E27FC236}">
                <a16:creationId xmlns:a16="http://schemas.microsoft.com/office/drawing/2014/main" id="{945727C4-28D8-343C-13FD-421B0F0D4B69}"/>
              </a:ext>
            </a:extLst>
          </p:cNvPr>
          <p:cNvSpPr>
            <a:spLocks noGrp="1"/>
          </p:cNvSpPr>
          <p:nvPr>
            <p:ph sz="quarter" idx="1"/>
          </p:nvPr>
        </p:nvSpPr>
        <p:spPr/>
        <p:txBody>
          <a:bodyPr/>
          <a:lstStyle/>
          <a:p>
            <a:pPr algn="just"/>
            <a:r>
              <a:rPr lang="en-US" dirty="0"/>
              <a:t>The algorithm underlying BPE breaks down words that aren’t in its predefined vocabulary into smaller </a:t>
            </a:r>
            <a:r>
              <a:rPr lang="en-US" dirty="0" err="1"/>
              <a:t>subword</a:t>
            </a:r>
            <a:r>
              <a:rPr lang="en-US" dirty="0"/>
              <a:t> units or even individual characters, enabling it to handle out-of-vocabulary words.</a:t>
            </a:r>
          </a:p>
          <a:p>
            <a:pPr algn="just"/>
            <a:endParaRPr lang="en-US" dirty="0"/>
          </a:p>
          <a:p>
            <a:pPr algn="just"/>
            <a:r>
              <a:rPr lang="en-US" dirty="0"/>
              <a:t>So, thanks to the BPE algorithm, if the tokenizer encounters an unfamiliar word during tokenization, it can represent it as a sequence of </a:t>
            </a:r>
            <a:r>
              <a:rPr lang="en-US" dirty="0" err="1"/>
              <a:t>subword</a:t>
            </a:r>
            <a:r>
              <a:rPr lang="en-US" dirty="0"/>
              <a:t> tokens or characters, as illustrated in figure 2.11.</a:t>
            </a:r>
          </a:p>
        </p:txBody>
      </p:sp>
    </p:spTree>
    <p:extLst>
      <p:ext uri="{BB962C8B-B14F-4D97-AF65-F5344CB8AC3E}">
        <p14:creationId xmlns:p14="http://schemas.microsoft.com/office/powerpoint/2010/main" val="309745934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9DE517-D2CB-4330-7E2E-5191C05847A4}"/>
              </a:ext>
            </a:extLst>
          </p:cNvPr>
          <p:cNvSpPr>
            <a:spLocks noGrp="1"/>
          </p:cNvSpPr>
          <p:nvPr>
            <p:ph type="title"/>
          </p:nvPr>
        </p:nvSpPr>
        <p:spPr>
          <a:xfrm>
            <a:off x="120315" y="228600"/>
            <a:ext cx="8943473" cy="990600"/>
          </a:xfrm>
        </p:spPr>
        <p:txBody>
          <a:bodyPr>
            <a:noAutofit/>
          </a:bodyPr>
          <a:lstStyle/>
          <a:p>
            <a:r>
              <a:rPr lang="en-US" sz="3000" b="0" dirty="0"/>
              <a:t>Figure 2.11 BPE breaks down unknown words into </a:t>
            </a:r>
            <a:r>
              <a:rPr lang="en-US" sz="3000" b="0" dirty="0" err="1"/>
              <a:t>subwords</a:t>
            </a:r>
            <a:endParaRPr lang="en-US" sz="3000" b="0" dirty="0"/>
          </a:p>
        </p:txBody>
      </p:sp>
      <p:sp>
        <p:nvSpPr>
          <p:cNvPr id="2" name="Slide Number Placeholder 1">
            <a:extLst>
              <a:ext uri="{FF2B5EF4-FFF2-40B4-BE49-F238E27FC236}">
                <a16:creationId xmlns:a16="http://schemas.microsoft.com/office/drawing/2014/main" id="{1CAE0E48-4668-FA60-7FB6-075BFBDA787B}"/>
              </a:ext>
            </a:extLst>
          </p:cNvPr>
          <p:cNvSpPr>
            <a:spLocks noGrp="1"/>
          </p:cNvSpPr>
          <p:nvPr>
            <p:ph type="sldNum" sz="quarter" idx="12"/>
          </p:nvPr>
        </p:nvSpPr>
        <p:spPr/>
        <p:txBody>
          <a:bodyPr>
            <a:normAutofit fontScale="85000" lnSpcReduction="20000"/>
          </a:bodyPr>
          <a:lstStyle/>
          <a:p>
            <a:fld id="{EBFB1032-EA64-7144-B003-9BCC9D94B503}" type="slidenum">
              <a:rPr lang="en-US" smtClean="0"/>
              <a:t>67</a:t>
            </a:fld>
            <a:endParaRPr lang="en-US" dirty="0"/>
          </a:p>
        </p:txBody>
      </p:sp>
      <p:pic>
        <p:nvPicPr>
          <p:cNvPr id="6" name="Picture 5" descr="A diagram of a word&#10;&#10;AI-generated content may be incorrect.">
            <a:extLst>
              <a:ext uri="{FF2B5EF4-FFF2-40B4-BE49-F238E27FC236}">
                <a16:creationId xmlns:a16="http://schemas.microsoft.com/office/drawing/2014/main" id="{026DFE86-964E-1FD6-804E-432067E9BFE9}"/>
              </a:ext>
            </a:extLst>
          </p:cNvPr>
          <p:cNvPicPr>
            <a:picLocks noChangeAspect="1"/>
          </p:cNvPicPr>
          <p:nvPr/>
        </p:nvPicPr>
        <p:blipFill>
          <a:blip r:embed="rId2"/>
          <a:stretch>
            <a:fillRect/>
          </a:stretch>
        </p:blipFill>
        <p:spPr>
          <a:xfrm>
            <a:off x="1020587" y="1580308"/>
            <a:ext cx="7102825" cy="3291840"/>
          </a:xfrm>
          <a:prstGeom prst="rect">
            <a:avLst/>
          </a:prstGeom>
        </p:spPr>
      </p:pic>
      <p:sp>
        <p:nvSpPr>
          <p:cNvPr id="8" name="TextBox 7">
            <a:extLst>
              <a:ext uri="{FF2B5EF4-FFF2-40B4-BE49-F238E27FC236}">
                <a16:creationId xmlns:a16="http://schemas.microsoft.com/office/drawing/2014/main" id="{9D6D1F6D-FDFC-A6BD-A137-EE089F120255}"/>
              </a:ext>
            </a:extLst>
          </p:cNvPr>
          <p:cNvSpPr txBox="1"/>
          <p:nvPr/>
        </p:nvSpPr>
        <p:spPr>
          <a:xfrm>
            <a:off x="100262" y="5008254"/>
            <a:ext cx="8943473" cy="1754326"/>
          </a:xfrm>
          <a:prstGeom prst="rect">
            <a:avLst/>
          </a:prstGeom>
          <a:noFill/>
        </p:spPr>
        <p:txBody>
          <a:bodyPr wrap="square">
            <a:spAutoFit/>
          </a:bodyPr>
          <a:lstStyle/>
          <a:p>
            <a:pPr algn="just">
              <a:buNone/>
            </a:pPr>
            <a:r>
              <a:rPr lang="en-US" dirty="0">
                <a:solidFill>
                  <a:srgbClr val="0070C0"/>
                </a:solidFill>
                <a:latin typeface="Arial Narrow" panose="020B0606020202030204" pitchFamily="34" charset="0"/>
              </a:rPr>
              <a:t>BPE tokenizers break down unknown words into </a:t>
            </a:r>
            <a:r>
              <a:rPr lang="en-US" dirty="0" err="1">
                <a:solidFill>
                  <a:srgbClr val="0070C0"/>
                </a:solidFill>
                <a:latin typeface="Arial Narrow" panose="020B0606020202030204" pitchFamily="34" charset="0"/>
              </a:rPr>
              <a:t>subwords</a:t>
            </a:r>
            <a:r>
              <a:rPr lang="en-US" dirty="0">
                <a:solidFill>
                  <a:srgbClr val="0070C0"/>
                </a:solidFill>
                <a:latin typeface="Arial Narrow" panose="020B0606020202030204" pitchFamily="34" charset="0"/>
              </a:rPr>
              <a:t> and individual characters.</a:t>
            </a:r>
          </a:p>
          <a:p>
            <a:pPr algn="just">
              <a:buNone/>
            </a:pPr>
            <a:r>
              <a:rPr lang="en-US" dirty="0">
                <a:solidFill>
                  <a:schemeClr val="accent2">
                    <a:lumMod val="75000"/>
                  </a:schemeClr>
                </a:solidFill>
                <a:latin typeface="Arial Narrow" panose="020B0606020202030204" pitchFamily="34" charset="0"/>
              </a:rPr>
              <a:t>This way, a BPE tokenizer can parse any word and doesn’t need to replace unknown words with special tokens, such as &lt;|</a:t>
            </a:r>
            <a:r>
              <a:rPr lang="en-US" dirty="0" err="1">
                <a:solidFill>
                  <a:schemeClr val="accent2">
                    <a:lumMod val="75000"/>
                  </a:schemeClr>
                </a:solidFill>
                <a:latin typeface="Arial Narrow" panose="020B0606020202030204" pitchFamily="34" charset="0"/>
              </a:rPr>
              <a:t>unk</a:t>
            </a:r>
            <a:r>
              <a:rPr lang="en-US" dirty="0">
                <a:solidFill>
                  <a:schemeClr val="accent2">
                    <a:lumMod val="75000"/>
                  </a:schemeClr>
                </a:solidFill>
                <a:latin typeface="Arial Narrow" panose="020B0606020202030204" pitchFamily="34" charset="0"/>
              </a:rPr>
              <a:t>|&gt;.</a:t>
            </a:r>
          </a:p>
          <a:p>
            <a:pPr algn="just">
              <a:buNone/>
            </a:pPr>
            <a:r>
              <a:rPr lang="en-US" dirty="0">
                <a:solidFill>
                  <a:srgbClr val="00B050"/>
                </a:solidFill>
                <a:latin typeface="Arial Narrow" panose="020B0606020202030204" pitchFamily="34" charset="0"/>
              </a:rPr>
              <a:t>The ability to break down unknown words into individual characters ensures that the tokenizer and, consequently, the LLM that is trained with it can process any text, even if it contains words that were not present in its training data.</a:t>
            </a:r>
          </a:p>
        </p:txBody>
      </p:sp>
    </p:spTree>
    <p:extLst>
      <p:ext uri="{BB962C8B-B14F-4D97-AF65-F5344CB8AC3E}">
        <p14:creationId xmlns:p14="http://schemas.microsoft.com/office/powerpoint/2010/main" val="368993727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3E1DBAE-B984-FACA-0702-E732966882D6}"/>
              </a:ext>
            </a:extLst>
          </p:cNvPr>
          <p:cNvSpPr>
            <a:spLocks noGrp="1"/>
          </p:cNvSpPr>
          <p:nvPr>
            <p:ph type="title"/>
          </p:nvPr>
        </p:nvSpPr>
        <p:spPr/>
        <p:txBody>
          <a:bodyPr/>
          <a:lstStyle/>
          <a:p>
            <a:r>
              <a:rPr lang="en-US" sz="4000" dirty="0"/>
              <a:t>BPE builds its vocabulary</a:t>
            </a:r>
            <a:endParaRPr lang="en-US" dirty="0"/>
          </a:p>
        </p:txBody>
      </p:sp>
      <p:sp>
        <p:nvSpPr>
          <p:cNvPr id="2" name="Slide Number Placeholder 1">
            <a:extLst>
              <a:ext uri="{FF2B5EF4-FFF2-40B4-BE49-F238E27FC236}">
                <a16:creationId xmlns:a16="http://schemas.microsoft.com/office/drawing/2014/main" id="{BA90715C-CC5C-8DFC-0A3C-5E1222B93AE2}"/>
              </a:ext>
            </a:extLst>
          </p:cNvPr>
          <p:cNvSpPr>
            <a:spLocks noGrp="1"/>
          </p:cNvSpPr>
          <p:nvPr>
            <p:ph type="sldNum" sz="quarter" idx="12"/>
          </p:nvPr>
        </p:nvSpPr>
        <p:spPr/>
        <p:txBody>
          <a:bodyPr>
            <a:normAutofit fontScale="85000" lnSpcReduction="20000"/>
          </a:bodyPr>
          <a:lstStyle/>
          <a:p>
            <a:fld id="{EBFB1032-EA64-7144-B003-9BCC9D94B503}" type="slidenum">
              <a:rPr lang="en-US" smtClean="0"/>
              <a:t>68</a:t>
            </a:fld>
            <a:endParaRPr lang="en-US" dirty="0"/>
          </a:p>
        </p:txBody>
      </p:sp>
      <p:sp>
        <p:nvSpPr>
          <p:cNvPr id="4" name="Content Placeholder 3">
            <a:extLst>
              <a:ext uri="{FF2B5EF4-FFF2-40B4-BE49-F238E27FC236}">
                <a16:creationId xmlns:a16="http://schemas.microsoft.com/office/drawing/2014/main" id="{F49F2095-9145-77A8-2DA4-2A05A673BA9D}"/>
              </a:ext>
            </a:extLst>
          </p:cNvPr>
          <p:cNvSpPr>
            <a:spLocks noGrp="1"/>
          </p:cNvSpPr>
          <p:nvPr>
            <p:ph sz="quarter" idx="1"/>
          </p:nvPr>
        </p:nvSpPr>
        <p:spPr/>
        <p:txBody>
          <a:bodyPr>
            <a:normAutofit/>
          </a:bodyPr>
          <a:lstStyle/>
          <a:p>
            <a:pPr algn="just">
              <a:spcBef>
                <a:spcPts val="0"/>
              </a:spcBef>
            </a:pPr>
            <a:r>
              <a:rPr lang="en-US" sz="2300" dirty="0"/>
              <a:t>BPE builds its vocabulary by iteratively merging frequent characters into </a:t>
            </a:r>
            <a:r>
              <a:rPr lang="en-US" sz="2300" dirty="0" err="1"/>
              <a:t>subwords</a:t>
            </a:r>
            <a:r>
              <a:rPr lang="en-US" sz="2300" dirty="0"/>
              <a:t> and frequent </a:t>
            </a:r>
            <a:r>
              <a:rPr lang="en-US" sz="2300" dirty="0" err="1"/>
              <a:t>subwords</a:t>
            </a:r>
            <a:r>
              <a:rPr lang="en-US" sz="2300" dirty="0"/>
              <a:t> into words.</a:t>
            </a:r>
          </a:p>
          <a:p>
            <a:pPr algn="just">
              <a:spcBef>
                <a:spcPts val="0"/>
              </a:spcBef>
            </a:pPr>
            <a:endParaRPr lang="en-US" sz="2300" dirty="0"/>
          </a:p>
          <a:p>
            <a:pPr algn="just">
              <a:spcBef>
                <a:spcPts val="0"/>
              </a:spcBef>
            </a:pPr>
            <a:r>
              <a:rPr lang="en-US" sz="2300" dirty="0"/>
              <a:t>For example, BPE starts with adding all individual single characters to its vocabulary (“a,” “b,” etc.).</a:t>
            </a:r>
          </a:p>
          <a:p>
            <a:pPr algn="just">
              <a:spcBef>
                <a:spcPts val="0"/>
              </a:spcBef>
            </a:pPr>
            <a:endParaRPr lang="en-US" sz="2300" dirty="0"/>
          </a:p>
          <a:p>
            <a:pPr algn="just">
              <a:spcBef>
                <a:spcPts val="0"/>
              </a:spcBef>
            </a:pPr>
            <a:r>
              <a:rPr lang="en-US" sz="2300" dirty="0"/>
              <a:t>In the next stage, it merges character combinations that frequently occur together into </a:t>
            </a:r>
            <a:r>
              <a:rPr lang="en-US" sz="2300" dirty="0" err="1"/>
              <a:t>subwords</a:t>
            </a:r>
            <a:r>
              <a:rPr lang="en-US" sz="2300" dirty="0"/>
              <a:t>.</a:t>
            </a:r>
          </a:p>
          <a:p>
            <a:pPr algn="just">
              <a:spcBef>
                <a:spcPts val="0"/>
              </a:spcBef>
            </a:pPr>
            <a:endParaRPr lang="en-US" sz="2300" dirty="0"/>
          </a:p>
          <a:p>
            <a:pPr algn="just">
              <a:spcBef>
                <a:spcPts val="0"/>
              </a:spcBef>
            </a:pPr>
            <a:r>
              <a:rPr lang="en-US" sz="2300" dirty="0"/>
              <a:t>For example, “d” and “e” may be merged into the </a:t>
            </a:r>
            <a:r>
              <a:rPr lang="en-US" sz="2300" dirty="0" err="1"/>
              <a:t>subword</a:t>
            </a:r>
            <a:r>
              <a:rPr lang="en-US" sz="2300" dirty="0"/>
              <a:t> “de,” which is common in many English words like “define,” “depend,” “made,” and “hidden.”</a:t>
            </a:r>
          </a:p>
          <a:p>
            <a:pPr algn="just">
              <a:spcBef>
                <a:spcPts val="0"/>
              </a:spcBef>
            </a:pPr>
            <a:endParaRPr lang="en-US" sz="2300" dirty="0"/>
          </a:p>
          <a:p>
            <a:pPr algn="just">
              <a:spcBef>
                <a:spcPts val="0"/>
              </a:spcBef>
            </a:pPr>
            <a:r>
              <a:rPr lang="en-US" sz="2300" dirty="0"/>
              <a:t>The merges are determined by a frequency cutoff.</a:t>
            </a:r>
          </a:p>
        </p:txBody>
      </p:sp>
    </p:spTree>
    <p:extLst>
      <p:ext uri="{BB962C8B-B14F-4D97-AF65-F5344CB8AC3E}">
        <p14:creationId xmlns:p14="http://schemas.microsoft.com/office/powerpoint/2010/main" val="50841205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70D689-3E98-4435-B48A-CE0BBC07F14E}"/>
              </a:ext>
            </a:extLst>
          </p:cNvPr>
          <p:cNvSpPr>
            <a:spLocks noGrp="1"/>
          </p:cNvSpPr>
          <p:nvPr>
            <p:ph type="title"/>
          </p:nvPr>
        </p:nvSpPr>
        <p:spPr/>
        <p:txBody>
          <a:bodyPr>
            <a:normAutofit/>
          </a:bodyPr>
          <a:lstStyle/>
          <a:p>
            <a:r>
              <a:rPr lang="en-US" dirty="0"/>
              <a:t>Data sampling with a sliding window</a:t>
            </a:r>
          </a:p>
        </p:txBody>
      </p:sp>
      <p:sp>
        <p:nvSpPr>
          <p:cNvPr id="2" name="Slide Number Placeholder 1">
            <a:extLst>
              <a:ext uri="{FF2B5EF4-FFF2-40B4-BE49-F238E27FC236}">
                <a16:creationId xmlns:a16="http://schemas.microsoft.com/office/drawing/2014/main" id="{2C306DD2-61E2-D120-1256-AD898E30C9D1}"/>
              </a:ext>
            </a:extLst>
          </p:cNvPr>
          <p:cNvSpPr>
            <a:spLocks noGrp="1"/>
          </p:cNvSpPr>
          <p:nvPr>
            <p:ph type="sldNum" sz="quarter" idx="12"/>
          </p:nvPr>
        </p:nvSpPr>
        <p:spPr/>
        <p:txBody>
          <a:bodyPr>
            <a:normAutofit fontScale="85000" lnSpcReduction="20000"/>
          </a:bodyPr>
          <a:lstStyle/>
          <a:p>
            <a:fld id="{EBFB1032-EA64-7144-B003-9BCC9D94B503}" type="slidenum">
              <a:rPr lang="en-US" smtClean="0"/>
              <a:t>69</a:t>
            </a:fld>
            <a:endParaRPr lang="en-US" dirty="0"/>
          </a:p>
        </p:txBody>
      </p:sp>
      <p:sp>
        <p:nvSpPr>
          <p:cNvPr id="4" name="Content Placeholder 3">
            <a:extLst>
              <a:ext uri="{FF2B5EF4-FFF2-40B4-BE49-F238E27FC236}">
                <a16:creationId xmlns:a16="http://schemas.microsoft.com/office/drawing/2014/main" id="{098BB7BE-B35B-6651-B6C6-1787707E86B8}"/>
              </a:ext>
            </a:extLst>
          </p:cNvPr>
          <p:cNvSpPr>
            <a:spLocks noGrp="1"/>
          </p:cNvSpPr>
          <p:nvPr>
            <p:ph sz="quarter" idx="1"/>
          </p:nvPr>
        </p:nvSpPr>
        <p:spPr/>
        <p:txBody>
          <a:bodyPr>
            <a:normAutofit/>
          </a:bodyPr>
          <a:lstStyle/>
          <a:p>
            <a:pPr algn="just"/>
            <a:r>
              <a:rPr lang="en-US" sz="2300" dirty="0"/>
              <a:t>The next step in creating the embeddings for the LLM is to generate the input–target pairs required for training an LLM.</a:t>
            </a:r>
          </a:p>
          <a:p>
            <a:pPr algn="just"/>
            <a:endParaRPr lang="en-US" sz="2300" dirty="0"/>
          </a:p>
          <a:p>
            <a:pPr algn="just"/>
            <a:r>
              <a:rPr lang="en-US" sz="2300" dirty="0"/>
              <a:t>What do these input–target pairs look like? As we already learned, LLMs are pretrained by predicting the next word in a text, as depicted in figure 2.12.</a:t>
            </a:r>
          </a:p>
        </p:txBody>
      </p:sp>
    </p:spTree>
    <p:extLst>
      <p:ext uri="{BB962C8B-B14F-4D97-AF65-F5344CB8AC3E}">
        <p14:creationId xmlns:p14="http://schemas.microsoft.com/office/powerpoint/2010/main" val="382214415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3ABDE-BDFD-FDD7-E735-0256CDFF1884}"/>
              </a:ext>
            </a:extLst>
          </p:cNvPr>
          <p:cNvSpPr>
            <a:spLocks noGrp="1"/>
          </p:cNvSpPr>
          <p:nvPr>
            <p:ph type="title"/>
          </p:nvPr>
        </p:nvSpPr>
        <p:spPr/>
        <p:txBody>
          <a:bodyPr>
            <a:normAutofit/>
          </a:bodyPr>
          <a:lstStyle/>
          <a:p>
            <a:r>
              <a:rPr lang="en-US" sz="2500" b="0" dirty="0"/>
              <a:t>Figure 2.12 LLM’s prediction task during training is to predict the next word</a:t>
            </a:r>
          </a:p>
        </p:txBody>
      </p:sp>
      <p:sp>
        <p:nvSpPr>
          <p:cNvPr id="3" name="Slide Number Placeholder 2">
            <a:extLst>
              <a:ext uri="{FF2B5EF4-FFF2-40B4-BE49-F238E27FC236}">
                <a16:creationId xmlns:a16="http://schemas.microsoft.com/office/drawing/2014/main" id="{1618AD66-566E-2B48-8246-B2E7B6C19557}"/>
              </a:ext>
            </a:extLst>
          </p:cNvPr>
          <p:cNvSpPr>
            <a:spLocks noGrp="1"/>
          </p:cNvSpPr>
          <p:nvPr>
            <p:ph type="sldNum" sz="quarter" idx="12"/>
          </p:nvPr>
        </p:nvSpPr>
        <p:spPr/>
        <p:txBody>
          <a:bodyPr>
            <a:normAutofit fontScale="85000" lnSpcReduction="20000"/>
          </a:bodyPr>
          <a:lstStyle/>
          <a:p>
            <a:fld id="{EBFB1032-EA64-7144-B003-9BCC9D94B503}" type="slidenum">
              <a:rPr lang="en-US" smtClean="0"/>
              <a:t>70</a:t>
            </a:fld>
            <a:endParaRPr lang="en-US" dirty="0"/>
          </a:p>
        </p:txBody>
      </p:sp>
      <p:pic>
        <p:nvPicPr>
          <p:cNvPr id="8" name="Picture 7" descr="A screenshot of a computer&#10;&#10;AI-generated content may be incorrect.">
            <a:extLst>
              <a:ext uri="{FF2B5EF4-FFF2-40B4-BE49-F238E27FC236}">
                <a16:creationId xmlns:a16="http://schemas.microsoft.com/office/drawing/2014/main" id="{A57B89D6-4481-AE51-E14E-9594AD6307E8}"/>
              </a:ext>
            </a:extLst>
          </p:cNvPr>
          <p:cNvPicPr>
            <a:picLocks noChangeAspect="1"/>
          </p:cNvPicPr>
          <p:nvPr/>
        </p:nvPicPr>
        <p:blipFill>
          <a:blip r:embed="rId2"/>
          <a:stretch>
            <a:fillRect/>
          </a:stretch>
        </p:blipFill>
        <p:spPr>
          <a:xfrm>
            <a:off x="707143" y="1557114"/>
            <a:ext cx="7769816" cy="3657600"/>
          </a:xfrm>
          <a:prstGeom prst="rect">
            <a:avLst/>
          </a:prstGeom>
          <a:ln>
            <a:solidFill>
              <a:schemeClr val="accent1"/>
            </a:solidFill>
          </a:ln>
        </p:spPr>
      </p:pic>
      <p:sp>
        <p:nvSpPr>
          <p:cNvPr id="10" name="TextBox 9">
            <a:extLst>
              <a:ext uri="{FF2B5EF4-FFF2-40B4-BE49-F238E27FC236}">
                <a16:creationId xmlns:a16="http://schemas.microsoft.com/office/drawing/2014/main" id="{03A48E3C-A271-1CC5-40DF-BCBB7264D97E}"/>
              </a:ext>
            </a:extLst>
          </p:cNvPr>
          <p:cNvSpPr txBox="1"/>
          <p:nvPr/>
        </p:nvSpPr>
        <p:spPr>
          <a:xfrm>
            <a:off x="100263" y="5255130"/>
            <a:ext cx="8943473" cy="1477328"/>
          </a:xfrm>
          <a:prstGeom prst="rect">
            <a:avLst/>
          </a:prstGeom>
          <a:noFill/>
        </p:spPr>
        <p:txBody>
          <a:bodyPr wrap="square">
            <a:spAutoFit/>
          </a:bodyPr>
          <a:lstStyle/>
          <a:p>
            <a:pPr algn="just">
              <a:buNone/>
            </a:pPr>
            <a:r>
              <a:rPr lang="en-US" dirty="0">
                <a:solidFill>
                  <a:srgbClr val="0070C0"/>
                </a:solidFill>
                <a:latin typeface="Arial Narrow" panose="020B0606020202030204" pitchFamily="34" charset="0"/>
              </a:rPr>
              <a:t>Given a text sample, extract input blocks as subsamples that serve as input to the LLM, and the LLM’s prediction task during training is to predict the next word that follows the input block.</a:t>
            </a:r>
          </a:p>
          <a:p>
            <a:pPr algn="just">
              <a:buNone/>
            </a:pPr>
            <a:r>
              <a:rPr lang="en-US" dirty="0">
                <a:solidFill>
                  <a:schemeClr val="accent2">
                    <a:lumMod val="75000"/>
                  </a:schemeClr>
                </a:solidFill>
                <a:latin typeface="Arial Narrow" panose="020B0606020202030204" pitchFamily="34" charset="0"/>
              </a:rPr>
              <a:t>During training, we mask out all words that are past the target.</a:t>
            </a:r>
          </a:p>
          <a:p>
            <a:pPr algn="just">
              <a:buNone/>
            </a:pPr>
            <a:r>
              <a:rPr lang="en-US" dirty="0">
                <a:solidFill>
                  <a:srgbClr val="00B050"/>
                </a:solidFill>
                <a:latin typeface="Arial Narrow" panose="020B0606020202030204" pitchFamily="34" charset="0"/>
              </a:rPr>
              <a:t>Note that the text shown in this figure must undergo tokenization before the LLM can process it; however, this figure omits the tokenization step for clarity.</a:t>
            </a:r>
          </a:p>
        </p:txBody>
      </p:sp>
    </p:spTree>
    <p:extLst>
      <p:ext uri="{BB962C8B-B14F-4D97-AF65-F5344CB8AC3E}">
        <p14:creationId xmlns:p14="http://schemas.microsoft.com/office/powerpoint/2010/main" val="285543240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D36EF8C-D5A2-DF1B-DB52-2D67AFE5DD26}"/>
              </a:ext>
            </a:extLst>
          </p:cNvPr>
          <p:cNvSpPr>
            <a:spLocks noGrp="1"/>
          </p:cNvSpPr>
          <p:nvPr>
            <p:ph type="title"/>
          </p:nvPr>
        </p:nvSpPr>
        <p:spPr/>
        <p:txBody>
          <a:bodyPr>
            <a:normAutofit/>
          </a:bodyPr>
          <a:lstStyle/>
          <a:p>
            <a:r>
              <a:rPr lang="en-US" dirty="0"/>
              <a:t>Creating token embeddings</a:t>
            </a:r>
          </a:p>
        </p:txBody>
      </p:sp>
      <p:sp>
        <p:nvSpPr>
          <p:cNvPr id="2" name="Slide Number Placeholder 1">
            <a:extLst>
              <a:ext uri="{FF2B5EF4-FFF2-40B4-BE49-F238E27FC236}">
                <a16:creationId xmlns:a16="http://schemas.microsoft.com/office/drawing/2014/main" id="{0284FFD4-FCCB-501E-24C9-61EEAE75E175}"/>
              </a:ext>
            </a:extLst>
          </p:cNvPr>
          <p:cNvSpPr>
            <a:spLocks noGrp="1"/>
          </p:cNvSpPr>
          <p:nvPr>
            <p:ph type="sldNum" sz="quarter" idx="12"/>
          </p:nvPr>
        </p:nvSpPr>
        <p:spPr/>
        <p:txBody>
          <a:bodyPr>
            <a:normAutofit fontScale="85000" lnSpcReduction="20000"/>
          </a:bodyPr>
          <a:lstStyle/>
          <a:p>
            <a:fld id="{EBFB1032-EA64-7144-B003-9BCC9D94B503}" type="slidenum">
              <a:rPr lang="en-US" smtClean="0"/>
              <a:t>71</a:t>
            </a:fld>
            <a:endParaRPr lang="en-US" dirty="0"/>
          </a:p>
        </p:txBody>
      </p:sp>
      <p:sp>
        <p:nvSpPr>
          <p:cNvPr id="4" name="Content Placeholder 3">
            <a:extLst>
              <a:ext uri="{FF2B5EF4-FFF2-40B4-BE49-F238E27FC236}">
                <a16:creationId xmlns:a16="http://schemas.microsoft.com/office/drawing/2014/main" id="{77A237F4-8016-EDA5-D710-D9B601B4C939}"/>
              </a:ext>
            </a:extLst>
          </p:cNvPr>
          <p:cNvSpPr>
            <a:spLocks noGrp="1"/>
          </p:cNvSpPr>
          <p:nvPr>
            <p:ph sz="quarter" idx="1"/>
          </p:nvPr>
        </p:nvSpPr>
        <p:spPr/>
        <p:txBody>
          <a:bodyPr/>
          <a:lstStyle/>
          <a:p>
            <a:r>
              <a:rPr lang="en-US" dirty="0"/>
              <a:t>The last step in preparing the input text for LLM training is to convert the token IDs into embedding vectors, as shown in figure 2.15.</a:t>
            </a:r>
          </a:p>
          <a:p>
            <a:endParaRPr lang="en-US" dirty="0"/>
          </a:p>
          <a:p>
            <a:r>
              <a:rPr lang="en-US" dirty="0"/>
              <a:t>As a preliminary step, we must initialize these embedding weights with random values.</a:t>
            </a:r>
          </a:p>
          <a:p>
            <a:endParaRPr lang="en-US" dirty="0"/>
          </a:p>
          <a:p>
            <a:r>
              <a:rPr lang="en-US" dirty="0"/>
              <a:t>This initialization serves as the starting point for the LLM’s learning process. </a:t>
            </a:r>
          </a:p>
          <a:p>
            <a:endParaRPr lang="en-US" dirty="0"/>
          </a:p>
          <a:p>
            <a:r>
              <a:rPr lang="en-US" dirty="0"/>
              <a:t>In the following lectures, we will optimize the embedding weights as part of the LLM training.</a:t>
            </a:r>
          </a:p>
          <a:p>
            <a:endParaRPr lang="en-US" dirty="0"/>
          </a:p>
        </p:txBody>
      </p:sp>
    </p:spTree>
    <p:extLst>
      <p:ext uri="{BB962C8B-B14F-4D97-AF65-F5344CB8AC3E}">
        <p14:creationId xmlns:p14="http://schemas.microsoft.com/office/powerpoint/2010/main" val="14245734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2084E-5AED-2BE7-A6AC-538D67D9FA90}"/>
              </a:ext>
            </a:extLst>
          </p:cNvPr>
          <p:cNvSpPr>
            <a:spLocks noGrp="1"/>
          </p:cNvSpPr>
          <p:nvPr>
            <p:ph type="title"/>
          </p:nvPr>
        </p:nvSpPr>
        <p:spPr/>
        <p:txBody>
          <a:bodyPr>
            <a:normAutofit/>
          </a:bodyPr>
          <a:lstStyle/>
          <a:p>
            <a:r>
              <a:rPr lang="en-US" sz="3000" dirty="0"/>
              <a:t>Figure 2.15 Converting token IDs into embedding vectors</a:t>
            </a:r>
          </a:p>
        </p:txBody>
      </p:sp>
      <p:sp>
        <p:nvSpPr>
          <p:cNvPr id="3" name="Slide Number Placeholder 2">
            <a:extLst>
              <a:ext uri="{FF2B5EF4-FFF2-40B4-BE49-F238E27FC236}">
                <a16:creationId xmlns:a16="http://schemas.microsoft.com/office/drawing/2014/main" id="{4800EAE9-3865-3DDD-5630-C8D179896E61}"/>
              </a:ext>
            </a:extLst>
          </p:cNvPr>
          <p:cNvSpPr>
            <a:spLocks noGrp="1"/>
          </p:cNvSpPr>
          <p:nvPr>
            <p:ph type="sldNum" sz="quarter" idx="12"/>
          </p:nvPr>
        </p:nvSpPr>
        <p:spPr/>
        <p:txBody>
          <a:bodyPr>
            <a:normAutofit fontScale="85000" lnSpcReduction="20000"/>
          </a:bodyPr>
          <a:lstStyle/>
          <a:p>
            <a:fld id="{EBFB1032-EA64-7144-B003-9BCC9D94B503}" type="slidenum">
              <a:rPr lang="en-US" smtClean="0"/>
              <a:t>72</a:t>
            </a:fld>
            <a:endParaRPr lang="en-US" dirty="0"/>
          </a:p>
        </p:txBody>
      </p:sp>
      <p:pic>
        <p:nvPicPr>
          <p:cNvPr id="8" name="Picture 7" descr="A diagram of a process flow&#10;&#10;AI-generated content may be incorrect.">
            <a:extLst>
              <a:ext uri="{FF2B5EF4-FFF2-40B4-BE49-F238E27FC236}">
                <a16:creationId xmlns:a16="http://schemas.microsoft.com/office/drawing/2014/main" id="{5C5DD0BC-7657-6F84-025E-0AE5773B6FB0}"/>
              </a:ext>
            </a:extLst>
          </p:cNvPr>
          <p:cNvPicPr>
            <a:picLocks noChangeAspect="1"/>
          </p:cNvPicPr>
          <p:nvPr/>
        </p:nvPicPr>
        <p:blipFill>
          <a:blip r:embed="rId2"/>
          <a:stretch>
            <a:fillRect/>
          </a:stretch>
        </p:blipFill>
        <p:spPr>
          <a:xfrm>
            <a:off x="1848851" y="1579451"/>
            <a:ext cx="5486400" cy="4305532"/>
          </a:xfrm>
          <a:prstGeom prst="rect">
            <a:avLst/>
          </a:prstGeom>
        </p:spPr>
      </p:pic>
      <p:sp>
        <p:nvSpPr>
          <p:cNvPr id="12" name="TextBox 11">
            <a:extLst>
              <a:ext uri="{FF2B5EF4-FFF2-40B4-BE49-F238E27FC236}">
                <a16:creationId xmlns:a16="http://schemas.microsoft.com/office/drawing/2014/main" id="{15E93390-E921-E0A1-38F8-6479B8817F4C}"/>
              </a:ext>
            </a:extLst>
          </p:cNvPr>
          <p:cNvSpPr txBox="1"/>
          <p:nvPr/>
        </p:nvSpPr>
        <p:spPr>
          <a:xfrm>
            <a:off x="100264" y="6083965"/>
            <a:ext cx="8943472" cy="646331"/>
          </a:xfrm>
          <a:prstGeom prst="rect">
            <a:avLst/>
          </a:prstGeom>
          <a:noFill/>
        </p:spPr>
        <p:txBody>
          <a:bodyPr wrap="square">
            <a:spAutoFit/>
          </a:bodyPr>
          <a:lstStyle/>
          <a:p>
            <a:pPr>
              <a:buNone/>
            </a:pPr>
            <a:r>
              <a:rPr lang="en-US" dirty="0">
                <a:solidFill>
                  <a:srgbClr val="0070C0"/>
                </a:solidFill>
                <a:latin typeface="Arial Narrow" panose="020B0606020202030204" pitchFamily="34" charset="0"/>
              </a:rPr>
              <a:t>Preparation involves tokenizing text, converting tokens to IDs, and converting IDs into embedding vectors</a:t>
            </a:r>
          </a:p>
          <a:p>
            <a:pPr>
              <a:buNone/>
            </a:pPr>
            <a:r>
              <a:rPr lang="en-US" dirty="0">
                <a:solidFill>
                  <a:srgbClr val="00B050"/>
                </a:solidFill>
                <a:latin typeface="Arial Narrow" panose="020B0606020202030204" pitchFamily="34" charset="0"/>
              </a:rPr>
              <a:t>Here, we consider the previously created token IDs to create the token embedding vectors.</a:t>
            </a:r>
          </a:p>
        </p:txBody>
      </p:sp>
    </p:spTree>
    <p:extLst>
      <p:ext uri="{BB962C8B-B14F-4D97-AF65-F5344CB8AC3E}">
        <p14:creationId xmlns:p14="http://schemas.microsoft.com/office/powerpoint/2010/main" val="210229147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92D07-CED7-5395-D709-287904D2985C}"/>
              </a:ext>
            </a:extLst>
          </p:cNvPr>
          <p:cNvSpPr>
            <a:spLocks noGrp="1"/>
          </p:cNvSpPr>
          <p:nvPr>
            <p:ph type="title"/>
          </p:nvPr>
        </p:nvSpPr>
        <p:spPr/>
        <p:txBody>
          <a:bodyPr/>
          <a:lstStyle/>
          <a:p>
            <a:r>
              <a:rPr lang="en-US" dirty="0"/>
              <a:t>Embedding is necessary</a:t>
            </a:r>
          </a:p>
        </p:txBody>
      </p:sp>
      <p:sp>
        <p:nvSpPr>
          <p:cNvPr id="3" name="Slide Number Placeholder 2">
            <a:extLst>
              <a:ext uri="{FF2B5EF4-FFF2-40B4-BE49-F238E27FC236}">
                <a16:creationId xmlns:a16="http://schemas.microsoft.com/office/drawing/2014/main" id="{83B3FE77-0E12-B406-C5D2-DC585700D6AD}"/>
              </a:ext>
            </a:extLst>
          </p:cNvPr>
          <p:cNvSpPr>
            <a:spLocks noGrp="1"/>
          </p:cNvSpPr>
          <p:nvPr>
            <p:ph type="sldNum" sz="quarter" idx="12"/>
          </p:nvPr>
        </p:nvSpPr>
        <p:spPr/>
        <p:txBody>
          <a:bodyPr/>
          <a:lstStyle/>
          <a:p>
            <a:fld id="{EBFB1032-EA64-7144-B003-9BCC9D94B503}" type="slidenum">
              <a:rPr lang="en-US" smtClean="0"/>
              <a:t>73</a:t>
            </a:fld>
            <a:endParaRPr lang="en-US" dirty="0"/>
          </a:p>
        </p:txBody>
      </p:sp>
      <p:sp>
        <p:nvSpPr>
          <p:cNvPr id="4" name="Content Placeholder 3">
            <a:extLst>
              <a:ext uri="{FF2B5EF4-FFF2-40B4-BE49-F238E27FC236}">
                <a16:creationId xmlns:a16="http://schemas.microsoft.com/office/drawing/2014/main" id="{54A2A0AC-23A4-2270-E0DC-559F14638A05}"/>
              </a:ext>
            </a:extLst>
          </p:cNvPr>
          <p:cNvSpPr>
            <a:spLocks noGrp="1"/>
          </p:cNvSpPr>
          <p:nvPr>
            <p:ph sz="quarter" idx="1"/>
          </p:nvPr>
        </p:nvSpPr>
        <p:spPr/>
        <p:txBody>
          <a:bodyPr/>
          <a:lstStyle/>
          <a:p>
            <a:pPr algn="just"/>
            <a:r>
              <a:rPr lang="en-US" dirty="0"/>
              <a:t>A continuous vector representation, or embedding, is necessary since GPT-like LLMs are deep neural networks trained with the backpropagation algorithm. </a:t>
            </a:r>
          </a:p>
        </p:txBody>
      </p:sp>
    </p:spTree>
    <p:extLst>
      <p:ext uri="{BB962C8B-B14F-4D97-AF65-F5344CB8AC3E}">
        <p14:creationId xmlns:p14="http://schemas.microsoft.com/office/powerpoint/2010/main" val="121697315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C1B65F7-0113-7DE2-3991-A125F6F6787F}"/>
              </a:ext>
            </a:extLst>
          </p:cNvPr>
          <p:cNvSpPr>
            <a:spLocks noGrp="1"/>
          </p:cNvSpPr>
          <p:nvPr>
            <p:ph type="title"/>
          </p:nvPr>
        </p:nvSpPr>
        <p:spPr/>
        <p:txBody>
          <a:bodyPr/>
          <a:lstStyle/>
          <a:p>
            <a:r>
              <a:rPr lang="en-US" dirty="0"/>
              <a:t>Word Embeddings</a:t>
            </a:r>
          </a:p>
        </p:txBody>
      </p:sp>
      <p:sp>
        <p:nvSpPr>
          <p:cNvPr id="2" name="Slide Number Placeholder 1">
            <a:extLst>
              <a:ext uri="{FF2B5EF4-FFF2-40B4-BE49-F238E27FC236}">
                <a16:creationId xmlns:a16="http://schemas.microsoft.com/office/drawing/2014/main" id="{7137B734-908D-3509-4F4F-4206C8E7291B}"/>
              </a:ext>
            </a:extLst>
          </p:cNvPr>
          <p:cNvSpPr>
            <a:spLocks noGrp="1"/>
          </p:cNvSpPr>
          <p:nvPr>
            <p:ph type="sldNum" sz="quarter" idx="12"/>
          </p:nvPr>
        </p:nvSpPr>
        <p:spPr/>
        <p:txBody>
          <a:bodyPr>
            <a:normAutofit fontScale="85000" lnSpcReduction="20000"/>
          </a:bodyPr>
          <a:lstStyle/>
          <a:p>
            <a:fld id="{EBFB1032-EA64-7144-B003-9BCC9D94B503}" type="slidenum">
              <a:rPr lang="en-US" smtClean="0"/>
              <a:t>74</a:t>
            </a:fld>
            <a:endParaRPr lang="en-US" dirty="0"/>
          </a:p>
        </p:txBody>
      </p:sp>
      <p:sp>
        <p:nvSpPr>
          <p:cNvPr id="4" name="Content Placeholder 3">
            <a:extLst>
              <a:ext uri="{FF2B5EF4-FFF2-40B4-BE49-F238E27FC236}">
                <a16:creationId xmlns:a16="http://schemas.microsoft.com/office/drawing/2014/main" id="{D1E027C4-4CBB-81FD-6CCB-3B08B2BD3E39}"/>
              </a:ext>
            </a:extLst>
          </p:cNvPr>
          <p:cNvSpPr>
            <a:spLocks noGrp="1"/>
          </p:cNvSpPr>
          <p:nvPr>
            <p:ph sz="quarter" idx="1"/>
          </p:nvPr>
        </p:nvSpPr>
        <p:spPr/>
        <p:txBody>
          <a:bodyPr/>
          <a:lstStyle/>
          <a:p>
            <a:r>
              <a:rPr lang="en-US" dirty="0"/>
              <a:t>Word Embeddings are numeric representations of words in a lower-dimensional space, capturing semantic and syntactic information.</a:t>
            </a:r>
          </a:p>
          <a:p>
            <a:r>
              <a:rPr lang="en-US" dirty="0"/>
              <a:t>They play a vital role in Natural Language Processing (NLP) tasks.</a:t>
            </a:r>
          </a:p>
        </p:txBody>
      </p:sp>
    </p:spTree>
    <p:extLst>
      <p:ext uri="{BB962C8B-B14F-4D97-AF65-F5344CB8AC3E}">
        <p14:creationId xmlns:p14="http://schemas.microsoft.com/office/powerpoint/2010/main" val="138987639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5DB75-CC1B-621A-92F3-555B3C229732}"/>
              </a:ext>
            </a:extLst>
          </p:cNvPr>
          <p:cNvSpPr>
            <a:spLocks noGrp="1"/>
          </p:cNvSpPr>
          <p:nvPr>
            <p:ph type="title"/>
          </p:nvPr>
        </p:nvSpPr>
        <p:spPr/>
        <p:txBody>
          <a:bodyPr>
            <a:normAutofit/>
          </a:bodyPr>
          <a:lstStyle/>
          <a:p>
            <a:r>
              <a:rPr lang="en-US" dirty="0"/>
              <a:t>What is Word Embedding in NLP?</a:t>
            </a:r>
          </a:p>
        </p:txBody>
      </p:sp>
      <p:sp>
        <p:nvSpPr>
          <p:cNvPr id="3" name="Slide Number Placeholder 2">
            <a:extLst>
              <a:ext uri="{FF2B5EF4-FFF2-40B4-BE49-F238E27FC236}">
                <a16:creationId xmlns:a16="http://schemas.microsoft.com/office/drawing/2014/main" id="{6E7A9CBC-8A32-693B-22A1-0A22EF0631AE}"/>
              </a:ext>
            </a:extLst>
          </p:cNvPr>
          <p:cNvSpPr>
            <a:spLocks noGrp="1"/>
          </p:cNvSpPr>
          <p:nvPr>
            <p:ph type="sldNum" sz="quarter" idx="12"/>
          </p:nvPr>
        </p:nvSpPr>
        <p:spPr/>
        <p:txBody>
          <a:bodyPr>
            <a:normAutofit fontScale="85000" lnSpcReduction="20000"/>
          </a:bodyPr>
          <a:lstStyle/>
          <a:p>
            <a:fld id="{EBFB1032-EA64-7144-B003-9BCC9D94B503}" type="slidenum">
              <a:rPr lang="en-US" smtClean="0"/>
              <a:t>75</a:t>
            </a:fld>
            <a:endParaRPr lang="en-US" dirty="0"/>
          </a:p>
        </p:txBody>
      </p:sp>
      <p:sp>
        <p:nvSpPr>
          <p:cNvPr id="4" name="Content Placeholder 3">
            <a:extLst>
              <a:ext uri="{FF2B5EF4-FFF2-40B4-BE49-F238E27FC236}">
                <a16:creationId xmlns:a16="http://schemas.microsoft.com/office/drawing/2014/main" id="{389D9174-1BAE-5A0A-3A4F-6E7D348BF35B}"/>
              </a:ext>
            </a:extLst>
          </p:cNvPr>
          <p:cNvSpPr>
            <a:spLocks noGrp="1"/>
          </p:cNvSpPr>
          <p:nvPr>
            <p:ph sz="quarter" idx="1"/>
          </p:nvPr>
        </p:nvSpPr>
        <p:spPr/>
        <p:txBody>
          <a:bodyPr>
            <a:normAutofit/>
          </a:bodyPr>
          <a:lstStyle/>
          <a:p>
            <a:pPr algn="just"/>
            <a:r>
              <a:rPr lang="en-US" sz="2300" dirty="0"/>
              <a:t>Word Embedding is an approach for representing words and documents.</a:t>
            </a:r>
          </a:p>
          <a:p>
            <a:pPr algn="just"/>
            <a:endParaRPr lang="en-US" sz="2300" dirty="0"/>
          </a:p>
          <a:p>
            <a:pPr algn="just"/>
            <a:r>
              <a:rPr lang="en-US" sz="2300" dirty="0"/>
              <a:t>Word Embedding or Word Vector is a numeric vector input that represents a word in a lower-dimensional space.</a:t>
            </a:r>
          </a:p>
          <a:p>
            <a:pPr algn="just"/>
            <a:endParaRPr lang="en-US" sz="2300" dirty="0"/>
          </a:p>
          <a:p>
            <a:pPr algn="just"/>
            <a:r>
              <a:rPr lang="en-US" sz="2300" dirty="0"/>
              <a:t>It allows words with similar meanings to have a similar representation.</a:t>
            </a:r>
          </a:p>
          <a:p>
            <a:pPr algn="just"/>
            <a:endParaRPr lang="en-US" sz="2300" dirty="0"/>
          </a:p>
          <a:p>
            <a:pPr algn="just"/>
            <a:r>
              <a:rPr lang="en-US" sz="2300" dirty="0"/>
              <a:t>Word Embeddings are a method of extracting features out of text so that we can input those features into a machine learning model to work with text data.</a:t>
            </a:r>
          </a:p>
          <a:p>
            <a:pPr algn="just"/>
            <a:endParaRPr lang="en-US" sz="2300" dirty="0"/>
          </a:p>
          <a:p>
            <a:pPr algn="just"/>
            <a:r>
              <a:rPr lang="en-US" sz="2300" dirty="0"/>
              <a:t>They try to preserve syntactical and semantic information.</a:t>
            </a:r>
          </a:p>
        </p:txBody>
      </p:sp>
    </p:spTree>
    <p:extLst>
      <p:ext uri="{BB962C8B-B14F-4D97-AF65-F5344CB8AC3E}">
        <p14:creationId xmlns:p14="http://schemas.microsoft.com/office/powerpoint/2010/main" val="146149067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C7BE8-AF2E-BCB9-1A0D-E6F00EF9303D}"/>
              </a:ext>
            </a:extLst>
          </p:cNvPr>
          <p:cNvSpPr>
            <a:spLocks noGrp="1"/>
          </p:cNvSpPr>
          <p:nvPr>
            <p:ph type="title"/>
          </p:nvPr>
        </p:nvSpPr>
        <p:spPr/>
        <p:txBody>
          <a:bodyPr/>
          <a:lstStyle/>
          <a:p>
            <a:r>
              <a:rPr lang="en-US" dirty="0"/>
              <a:t>Word Embeddings </a:t>
            </a:r>
          </a:p>
        </p:txBody>
      </p:sp>
      <p:sp>
        <p:nvSpPr>
          <p:cNvPr id="3" name="Slide Number Placeholder 2">
            <a:extLst>
              <a:ext uri="{FF2B5EF4-FFF2-40B4-BE49-F238E27FC236}">
                <a16:creationId xmlns:a16="http://schemas.microsoft.com/office/drawing/2014/main" id="{A5848BEA-3FF9-7B75-C080-97BD7DB0F3A7}"/>
              </a:ext>
            </a:extLst>
          </p:cNvPr>
          <p:cNvSpPr>
            <a:spLocks noGrp="1"/>
          </p:cNvSpPr>
          <p:nvPr>
            <p:ph type="sldNum" sz="quarter" idx="12"/>
          </p:nvPr>
        </p:nvSpPr>
        <p:spPr/>
        <p:txBody>
          <a:bodyPr>
            <a:normAutofit fontScale="85000" lnSpcReduction="20000"/>
          </a:bodyPr>
          <a:lstStyle/>
          <a:p>
            <a:fld id="{EBFB1032-EA64-7144-B003-9BCC9D94B503}" type="slidenum">
              <a:rPr lang="en-US" smtClean="0"/>
              <a:t>76</a:t>
            </a:fld>
            <a:endParaRPr lang="en-US" dirty="0"/>
          </a:p>
        </p:txBody>
      </p:sp>
      <p:sp>
        <p:nvSpPr>
          <p:cNvPr id="4" name="Content Placeholder 3">
            <a:extLst>
              <a:ext uri="{FF2B5EF4-FFF2-40B4-BE49-F238E27FC236}">
                <a16:creationId xmlns:a16="http://schemas.microsoft.com/office/drawing/2014/main" id="{4D63BFFA-827F-B4A8-09A4-8EB60916CD65}"/>
              </a:ext>
            </a:extLst>
          </p:cNvPr>
          <p:cNvSpPr>
            <a:spLocks noGrp="1"/>
          </p:cNvSpPr>
          <p:nvPr>
            <p:ph sz="quarter" idx="1"/>
          </p:nvPr>
        </p:nvSpPr>
        <p:spPr/>
        <p:txBody>
          <a:bodyPr/>
          <a:lstStyle/>
          <a:p>
            <a:r>
              <a:rPr lang="en-US" dirty="0"/>
              <a:t>The methods such as Bag of Words (BOW), </a:t>
            </a:r>
            <a:r>
              <a:rPr lang="en-US" dirty="0" err="1"/>
              <a:t>CountVectorizer</a:t>
            </a:r>
            <a:r>
              <a:rPr lang="en-US" dirty="0"/>
              <a:t> and TFIDF rely on the word count in a sentence but do not save any syntactical or semantic information.</a:t>
            </a:r>
          </a:p>
          <a:p>
            <a:r>
              <a:rPr lang="en-US" dirty="0"/>
              <a:t>In these algorithms, the size of the vector is the number of elements in the vocabulary.</a:t>
            </a:r>
          </a:p>
          <a:p>
            <a:r>
              <a:rPr lang="en-US" dirty="0"/>
              <a:t>We can get a sparse matrix if most of the elements are zero.</a:t>
            </a:r>
          </a:p>
          <a:p>
            <a:r>
              <a:rPr lang="en-US" dirty="0"/>
              <a:t>Large input vectors will mean a huge number of weights which will result in high computation required for training.</a:t>
            </a:r>
          </a:p>
          <a:p>
            <a:r>
              <a:rPr lang="en-US" dirty="0"/>
              <a:t>Word Embeddings give a solution to these problems.</a:t>
            </a:r>
          </a:p>
          <a:p>
            <a:endParaRPr lang="en-US" dirty="0"/>
          </a:p>
        </p:txBody>
      </p:sp>
    </p:spTree>
    <p:extLst>
      <p:ext uri="{BB962C8B-B14F-4D97-AF65-F5344CB8AC3E}">
        <p14:creationId xmlns:p14="http://schemas.microsoft.com/office/powerpoint/2010/main" val="225496123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D4127-5EA8-C78D-1547-C168D0F1C4D4}"/>
              </a:ext>
            </a:extLst>
          </p:cNvPr>
          <p:cNvSpPr>
            <a:spLocks noGrp="1"/>
          </p:cNvSpPr>
          <p:nvPr>
            <p:ph type="title"/>
          </p:nvPr>
        </p:nvSpPr>
        <p:spPr/>
        <p:txBody>
          <a:bodyPr>
            <a:normAutofit/>
          </a:bodyPr>
          <a:lstStyle/>
          <a:p>
            <a:r>
              <a:rPr lang="en-US" dirty="0"/>
              <a:t>Need for Word Embedding?</a:t>
            </a:r>
          </a:p>
        </p:txBody>
      </p:sp>
      <p:sp>
        <p:nvSpPr>
          <p:cNvPr id="3" name="Slide Number Placeholder 2">
            <a:extLst>
              <a:ext uri="{FF2B5EF4-FFF2-40B4-BE49-F238E27FC236}">
                <a16:creationId xmlns:a16="http://schemas.microsoft.com/office/drawing/2014/main" id="{DCF35096-41AB-7D60-46A5-21570C8D5AA2}"/>
              </a:ext>
            </a:extLst>
          </p:cNvPr>
          <p:cNvSpPr>
            <a:spLocks noGrp="1"/>
          </p:cNvSpPr>
          <p:nvPr>
            <p:ph type="sldNum" sz="quarter" idx="12"/>
          </p:nvPr>
        </p:nvSpPr>
        <p:spPr/>
        <p:txBody>
          <a:bodyPr>
            <a:normAutofit fontScale="85000" lnSpcReduction="20000"/>
          </a:bodyPr>
          <a:lstStyle/>
          <a:p>
            <a:fld id="{EBFB1032-EA64-7144-B003-9BCC9D94B503}" type="slidenum">
              <a:rPr lang="en-US" smtClean="0"/>
              <a:t>77</a:t>
            </a:fld>
            <a:endParaRPr lang="en-US" dirty="0"/>
          </a:p>
        </p:txBody>
      </p:sp>
      <p:sp>
        <p:nvSpPr>
          <p:cNvPr id="4" name="Content Placeholder 3">
            <a:extLst>
              <a:ext uri="{FF2B5EF4-FFF2-40B4-BE49-F238E27FC236}">
                <a16:creationId xmlns:a16="http://schemas.microsoft.com/office/drawing/2014/main" id="{942A9E14-6CCD-94C8-0448-82AD221025FE}"/>
              </a:ext>
            </a:extLst>
          </p:cNvPr>
          <p:cNvSpPr>
            <a:spLocks noGrp="1"/>
          </p:cNvSpPr>
          <p:nvPr>
            <p:ph sz="quarter" idx="1"/>
          </p:nvPr>
        </p:nvSpPr>
        <p:spPr/>
        <p:txBody>
          <a:bodyPr/>
          <a:lstStyle/>
          <a:p>
            <a:r>
              <a:rPr lang="en-US" dirty="0"/>
              <a:t>To reduce dimensionality</a:t>
            </a:r>
          </a:p>
          <a:p>
            <a:r>
              <a:rPr lang="en-US" dirty="0"/>
              <a:t>To use a word to predict the words around it.</a:t>
            </a:r>
          </a:p>
          <a:p>
            <a:r>
              <a:rPr lang="en-US" dirty="0"/>
              <a:t>Inter-word semantics must be captured.</a:t>
            </a:r>
          </a:p>
        </p:txBody>
      </p:sp>
    </p:spTree>
    <p:extLst>
      <p:ext uri="{BB962C8B-B14F-4D97-AF65-F5344CB8AC3E}">
        <p14:creationId xmlns:p14="http://schemas.microsoft.com/office/powerpoint/2010/main" val="122023411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2BAFA-74C9-292D-9DFA-9B170966B05C}"/>
              </a:ext>
            </a:extLst>
          </p:cNvPr>
          <p:cNvSpPr>
            <a:spLocks noGrp="1"/>
          </p:cNvSpPr>
          <p:nvPr>
            <p:ph type="title"/>
          </p:nvPr>
        </p:nvSpPr>
        <p:spPr/>
        <p:txBody>
          <a:bodyPr>
            <a:normAutofit/>
          </a:bodyPr>
          <a:lstStyle/>
          <a:p>
            <a:r>
              <a:rPr lang="en-US" dirty="0"/>
              <a:t>How are Word Embeddings used?</a:t>
            </a:r>
          </a:p>
        </p:txBody>
      </p:sp>
      <p:sp>
        <p:nvSpPr>
          <p:cNvPr id="3" name="Slide Number Placeholder 2">
            <a:extLst>
              <a:ext uri="{FF2B5EF4-FFF2-40B4-BE49-F238E27FC236}">
                <a16:creationId xmlns:a16="http://schemas.microsoft.com/office/drawing/2014/main" id="{C27726B2-2317-7886-4944-E6D0F157D13D}"/>
              </a:ext>
            </a:extLst>
          </p:cNvPr>
          <p:cNvSpPr>
            <a:spLocks noGrp="1"/>
          </p:cNvSpPr>
          <p:nvPr>
            <p:ph type="sldNum" sz="quarter" idx="12"/>
          </p:nvPr>
        </p:nvSpPr>
        <p:spPr/>
        <p:txBody>
          <a:bodyPr>
            <a:normAutofit fontScale="85000" lnSpcReduction="20000"/>
          </a:bodyPr>
          <a:lstStyle/>
          <a:p>
            <a:fld id="{EBFB1032-EA64-7144-B003-9BCC9D94B503}" type="slidenum">
              <a:rPr lang="en-US" smtClean="0"/>
              <a:t>78</a:t>
            </a:fld>
            <a:endParaRPr lang="en-US" dirty="0"/>
          </a:p>
        </p:txBody>
      </p:sp>
      <p:sp>
        <p:nvSpPr>
          <p:cNvPr id="4" name="Content Placeholder 3">
            <a:extLst>
              <a:ext uri="{FF2B5EF4-FFF2-40B4-BE49-F238E27FC236}">
                <a16:creationId xmlns:a16="http://schemas.microsoft.com/office/drawing/2014/main" id="{D8CDDEB4-B251-CC5C-FC56-492D7427BB24}"/>
              </a:ext>
            </a:extLst>
          </p:cNvPr>
          <p:cNvSpPr>
            <a:spLocks noGrp="1"/>
          </p:cNvSpPr>
          <p:nvPr>
            <p:ph sz="quarter" idx="1"/>
          </p:nvPr>
        </p:nvSpPr>
        <p:spPr/>
        <p:txBody>
          <a:bodyPr/>
          <a:lstStyle/>
          <a:p>
            <a:r>
              <a:rPr lang="en-US" dirty="0"/>
              <a:t>They are used as input to machine learning models.</a:t>
            </a:r>
          </a:p>
          <a:p>
            <a:endParaRPr lang="en-US" dirty="0"/>
          </a:p>
          <a:p>
            <a:r>
              <a:rPr lang="en-US" dirty="0"/>
              <a:t>Take the words </a:t>
            </a:r>
            <a:r>
              <a:rPr lang="en-US" dirty="0">
                <a:sym typeface="Wingdings" panose="05000000000000000000" pitchFamily="2" charset="2"/>
              </a:rPr>
              <a:t> </a:t>
            </a:r>
            <a:r>
              <a:rPr lang="en-US" dirty="0"/>
              <a:t>Give their numeric representation </a:t>
            </a:r>
            <a:r>
              <a:rPr lang="en-US" dirty="0">
                <a:sym typeface="Wingdings" panose="05000000000000000000" pitchFamily="2" charset="2"/>
              </a:rPr>
              <a:t> </a:t>
            </a:r>
            <a:r>
              <a:rPr lang="en-US" dirty="0"/>
              <a:t>Use in training or inference.</a:t>
            </a:r>
          </a:p>
          <a:p>
            <a:endParaRPr lang="en-US" dirty="0"/>
          </a:p>
          <a:p>
            <a:r>
              <a:rPr lang="en-US" dirty="0"/>
              <a:t>To represent or visualize any underlying patterns of usage in the corpus that was used to train them.</a:t>
            </a:r>
          </a:p>
        </p:txBody>
      </p:sp>
    </p:spTree>
    <p:extLst>
      <p:ext uri="{BB962C8B-B14F-4D97-AF65-F5344CB8AC3E}">
        <p14:creationId xmlns:p14="http://schemas.microsoft.com/office/powerpoint/2010/main" val="6956491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401B003-46DB-D126-80A7-3EF21A7899DC}"/>
              </a:ext>
            </a:extLst>
          </p:cNvPr>
          <p:cNvSpPr>
            <a:spLocks noGrp="1"/>
          </p:cNvSpPr>
          <p:nvPr>
            <p:ph type="sldNum" sz="quarter" idx="12"/>
          </p:nvPr>
        </p:nvSpPr>
        <p:spPr/>
        <p:txBody>
          <a:bodyPr/>
          <a:lstStyle/>
          <a:p>
            <a:fld id="{EBFB1032-EA64-7144-B003-9BCC9D94B503}" type="slidenum">
              <a:rPr lang="en-US" smtClean="0"/>
              <a:t>79</a:t>
            </a:fld>
            <a:endParaRPr lang="en-US" dirty="0"/>
          </a:p>
        </p:txBody>
      </p:sp>
      <p:pic>
        <p:nvPicPr>
          <p:cNvPr id="6" name="Picture 5">
            <a:extLst>
              <a:ext uri="{FF2B5EF4-FFF2-40B4-BE49-F238E27FC236}">
                <a16:creationId xmlns:a16="http://schemas.microsoft.com/office/drawing/2014/main" id="{DF2F2819-C35D-6DC1-ECEF-CE28C0E507A8}"/>
              </a:ext>
            </a:extLst>
          </p:cNvPr>
          <p:cNvPicPr>
            <a:picLocks noChangeAspect="1"/>
          </p:cNvPicPr>
          <p:nvPr/>
        </p:nvPicPr>
        <p:blipFill>
          <a:blip r:embed="rId2"/>
          <a:stretch>
            <a:fillRect/>
          </a:stretch>
        </p:blipFill>
        <p:spPr>
          <a:xfrm>
            <a:off x="182880" y="826008"/>
            <a:ext cx="8778240" cy="5205984"/>
          </a:xfrm>
          <a:prstGeom prst="rect">
            <a:avLst/>
          </a:prstGeom>
          <a:ln>
            <a:solidFill>
              <a:schemeClr val="accent1"/>
            </a:solidFill>
          </a:ln>
        </p:spPr>
      </p:pic>
    </p:spTree>
    <p:extLst>
      <p:ext uri="{BB962C8B-B14F-4D97-AF65-F5344CB8AC3E}">
        <p14:creationId xmlns:p14="http://schemas.microsoft.com/office/powerpoint/2010/main" val="380452290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0B7962A-C4F1-D75D-554C-95010D6F58B7}"/>
              </a:ext>
            </a:extLst>
          </p:cNvPr>
          <p:cNvSpPr>
            <a:spLocks noGrp="1"/>
          </p:cNvSpPr>
          <p:nvPr>
            <p:ph type="title"/>
          </p:nvPr>
        </p:nvSpPr>
        <p:spPr/>
        <p:txBody>
          <a:bodyPr>
            <a:normAutofit/>
          </a:bodyPr>
          <a:lstStyle/>
          <a:p>
            <a:r>
              <a:rPr lang="en-US" dirty="0"/>
              <a:t>Approaches for Text Representation</a:t>
            </a:r>
          </a:p>
        </p:txBody>
      </p:sp>
      <p:sp>
        <p:nvSpPr>
          <p:cNvPr id="2" name="Slide Number Placeholder 1">
            <a:extLst>
              <a:ext uri="{FF2B5EF4-FFF2-40B4-BE49-F238E27FC236}">
                <a16:creationId xmlns:a16="http://schemas.microsoft.com/office/drawing/2014/main" id="{FBEEC56B-146C-FDC0-1A55-095CFB53A0B4}"/>
              </a:ext>
            </a:extLst>
          </p:cNvPr>
          <p:cNvSpPr>
            <a:spLocks noGrp="1"/>
          </p:cNvSpPr>
          <p:nvPr>
            <p:ph type="sldNum" sz="quarter" idx="12"/>
          </p:nvPr>
        </p:nvSpPr>
        <p:spPr/>
        <p:txBody>
          <a:bodyPr>
            <a:normAutofit fontScale="85000" lnSpcReduction="20000"/>
          </a:bodyPr>
          <a:lstStyle/>
          <a:p>
            <a:fld id="{EBFB1032-EA64-7144-B003-9BCC9D94B503}" type="slidenum">
              <a:rPr lang="en-US" smtClean="0"/>
              <a:t>80</a:t>
            </a:fld>
            <a:endParaRPr lang="en-US" dirty="0"/>
          </a:p>
        </p:txBody>
      </p:sp>
      <p:sp>
        <p:nvSpPr>
          <p:cNvPr id="4" name="Content Placeholder 3">
            <a:extLst>
              <a:ext uri="{FF2B5EF4-FFF2-40B4-BE49-F238E27FC236}">
                <a16:creationId xmlns:a16="http://schemas.microsoft.com/office/drawing/2014/main" id="{0C75761F-A369-D0D2-2C85-1B6F47B45EB3}"/>
              </a:ext>
            </a:extLst>
          </p:cNvPr>
          <p:cNvSpPr>
            <a:spLocks noGrp="1"/>
          </p:cNvSpPr>
          <p:nvPr>
            <p:ph sz="quarter" idx="1"/>
          </p:nvPr>
        </p:nvSpPr>
        <p:spPr/>
        <p:txBody>
          <a:bodyPr/>
          <a:lstStyle/>
          <a:p>
            <a:pPr marL="0" indent="0">
              <a:lnSpc>
                <a:spcPct val="90000"/>
              </a:lnSpc>
              <a:spcBef>
                <a:spcPts val="0"/>
              </a:spcBef>
              <a:buNone/>
            </a:pPr>
            <a:r>
              <a:rPr lang="en-US" dirty="0">
                <a:solidFill>
                  <a:srgbClr val="0070C0"/>
                </a:solidFill>
              </a:rPr>
              <a:t>1. Traditional Approach</a:t>
            </a:r>
          </a:p>
          <a:p>
            <a:pPr marL="0" indent="0">
              <a:lnSpc>
                <a:spcPct val="90000"/>
              </a:lnSpc>
              <a:spcBef>
                <a:spcPts val="0"/>
              </a:spcBef>
              <a:buNone/>
            </a:pPr>
            <a:r>
              <a:rPr lang="en-US" dirty="0"/>
              <a:t>The conventional method involves compiling a list of distinct terms and giving each one a unique integer value, or id. and after that, insert each word’s distinct id into the sentence.</a:t>
            </a:r>
          </a:p>
          <a:p>
            <a:pPr marL="0" indent="0">
              <a:lnSpc>
                <a:spcPct val="90000"/>
              </a:lnSpc>
              <a:spcBef>
                <a:spcPts val="0"/>
              </a:spcBef>
              <a:buNone/>
            </a:pPr>
            <a:r>
              <a:rPr lang="en-US" dirty="0"/>
              <a:t>Every vocabulary word is handled as a feature in this instance.</a:t>
            </a:r>
          </a:p>
          <a:p>
            <a:pPr marL="0" indent="0">
              <a:lnSpc>
                <a:spcPct val="90000"/>
              </a:lnSpc>
              <a:spcBef>
                <a:spcPts val="0"/>
              </a:spcBef>
              <a:buNone/>
            </a:pPr>
            <a:r>
              <a:rPr lang="en-US" dirty="0"/>
              <a:t>Thus, a large vocabulary will result in an extremely large feature size. </a:t>
            </a:r>
          </a:p>
          <a:p>
            <a:pPr marL="320040" lvl="1" indent="0">
              <a:lnSpc>
                <a:spcPct val="90000"/>
              </a:lnSpc>
              <a:spcBef>
                <a:spcPts val="0"/>
              </a:spcBef>
              <a:buNone/>
            </a:pPr>
            <a:r>
              <a:rPr lang="en-US" dirty="0"/>
              <a:t>1.1. One-Hot Encoding</a:t>
            </a:r>
          </a:p>
          <a:p>
            <a:pPr marL="320040" lvl="1" indent="0">
              <a:lnSpc>
                <a:spcPct val="90000"/>
              </a:lnSpc>
              <a:spcBef>
                <a:spcPts val="0"/>
              </a:spcBef>
              <a:buNone/>
            </a:pPr>
            <a:r>
              <a:rPr lang="en-US" dirty="0"/>
              <a:t>1.2. Bag of Word (Bow)</a:t>
            </a:r>
          </a:p>
          <a:p>
            <a:pPr marL="320040" lvl="1" indent="0">
              <a:lnSpc>
                <a:spcPct val="90000"/>
              </a:lnSpc>
              <a:spcBef>
                <a:spcPts val="0"/>
              </a:spcBef>
              <a:buNone/>
            </a:pPr>
            <a:r>
              <a:rPr lang="en-US" dirty="0"/>
              <a:t>1.3. Term frequency-inverse document frequency (TF-IDF)</a:t>
            </a:r>
          </a:p>
          <a:p>
            <a:pPr marL="0" indent="0">
              <a:lnSpc>
                <a:spcPct val="90000"/>
              </a:lnSpc>
              <a:spcBef>
                <a:spcPts val="0"/>
              </a:spcBef>
              <a:buNone/>
            </a:pPr>
            <a:endParaRPr lang="en-US" dirty="0"/>
          </a:p>
          <a:p>
            <a:pPr marL="0" indent="0">
              <a:lnSpc>
                <a:spcPct val="90000"/>
              </a:lnSpc>
              <a:spcBef>
                <a:spcPts val="0"/>
              </a:spcBef>
              <a:buNone/>
            </a:pPr>
            <a:r>
              <a:rPr lang="en-US" dirty="0">
                <a:solidFill>
                  <a:srgbClr val="00B050"/>
                </a:solidFill>
              </a:rPr>
              <a:t>2. Neural Approach</a:t>
            </a:r>
          </a:p>
          <a:p>
            <a:pPr marL="320040" lvl="1" indent="0">
              <a:lnSpc>
                <a:spcPct val="90000"/>
              </a:lnSpc>
              <a:spcBef>
                <a:spcPts val="0"/>
              </a:spcBef>
              <a:buNone/>
            </a:pPr>
            <a:r>
              <a:rPr lang="en-US" dirty="0"/>
              <a:t>2.1. Word2Vec</a:t>
            </a:r>
          </a:p>
          <a:p>
            <a:pPr marL="320040" lvl="1" indent="0">
              <a:lnSpc>
                <a:spcPct val="90000"/>
              </a:lnSpc>
              <a:spcBef>
                <a:spcPts val="0"/>
              </a:spcBef>
              <a:buNone/>
            </a:pPr>
            <a:r>
              <a:rPr lang="en-US" dirty="0"/>
              <a:t>2.2. Continuous Bag of Words(CBOW)</a:t>
            </a:r>
          </a:p>
          <a:p>
            <a:pPr marL="320040" lvl="1" indent="0">
              <a:lnSpc>
                <a:spcPct val="90000"/>
              </a:lnSpc>
              <a:spcBef>
                <a:spcPts val="0"/>
              </a:spcBef>
              <a:buNone/>
            </a:pPr>
            <a:r>
              <a:rPr lang="en-US" dirty="0"/>
              <a:t>2.3. Skip-Gram</a:t>
            </a:r>
          </a:p>
        </p:txBody>
      </p:sp>
    </p:spTree>
    <p:extLst>
      <p:ext uri="{BB962C8B-B14F-4D97-AF65-F5344CB8AC3E}">
        <p14:creationId xmlns:p14="http://schemas.microsoft.com/office/powerpoint/2010/main" val="274029039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9C050-29A5-6C65-E33C-DC49542C7908}"/>
              </a:ext>
            </a:extLst>
          </p:cNvPr>
          <p:cNvSpPr>
            <a:spLocks noGrp="1"/>
          </p:cNvSpPr>
          <p:nvPr>
            <p:ph type="title"/>
          </p:nvPr>
        </p:nvSpPr>
        <p:spPr/>
        <p:txBody>
          <a:bodyPr>
            <a:normAutofit/>
          </a:bodyPr>
          <a:lstStyle/>
          <a:p>
            <a:r>
              <a:rPr lang="en-US" dirty="0"/>
              <a:t>Pretrained Word-Embedding</a:t>
            </a:r>
          </a:p>
        </p:txBody>
      </p:sp>
      <p:sp>
        <p:nvSpPr>
          <p:cNvPr id="3" name="Slide Number Placeholder 2">
            <a:extLst>
              <a:ext uri="{FF2B5EF4-FFF2-40B4-BE49-F238E27FC236}">
                <a16:creationId xmlns:a16="http://schemas.microsoft.com/office/drawing/2014/main" id="{CB1C0455-6360-5875-DB52-8826DFC7DC4A}"/>
              </a:ext>
            </a:extLst>
          </p:cNvPr>
          <p:cNvSpPr>
            <a:spLocks noGrp="1"/>
          </p:cNvSpPr>
          <p:nvPr>
            <p:ph type="sldNum" sz="quarter" idx="12"/>
          </p:nvPr>
        </p:nvSpPr>
        <p:spPr/>
        <p:txBody>
          <a:bodyPr>
            <a:normAutofit fontScale="85000" lnSpcReduction="20000"/>
          </a:bodyPr>
          <a:lstStyle/>
          <a:p>
            <a:fld id="{EBFB1032-EA64-7144-B003-9BCC9D94B503}" type="slidenum">
              <a:rPr lang="en-US" smtClean="0"/>
              <a:t>81</a:t>
            </a:fld>
            <a:endParaRPr lang="en-US" dirty="0"/>
          </a:p>
        </p:txBody>
      </p:sp>
      <p:sp>
        <p:nvSpPr>
          <p:cNvPr id="4" name="Content Placeholder 3">
            <a:extLst>
              <a:ext uri="{FF2B5EF4-FFF2-40B4-BE49-F238E27FC236}">
                <a16:creationId xmlns:a16="http://schemas.microsoft.com/office/drawing/2014/main" id="{121D23E8-A976-C1CB-E4E0-D75ACDBFCB8D}"/>
              </a:ext>
            </a:extLst>
          </p:cNvPr>
          <p:cNvSpPr>
            <a:spLocks noGrp="1"/>
          </p:cNvSpPr>
          <p:nvPr>
            <p:ph sz="quarter" idx="1"/>
          </p:nvPr>
        </p:nvSpPr>
        <p:spPr/>
        <p:txBody>
          <a:bodyPr/>
          <a:lstStyle/>
          <a:p>
            <a:r>
              <a:rPr lang="en-US" dirty="0"/>
              <a:t>Pre-trained word embeddings are representations of words that are learned from large corpora and are made available for reuse in various natural language processing (NLP) tasks.</a:t>
            </a:r>
          </a:p>
          <a:p>
            <a:r>
              <a:rPr lang="en-US" dirty="0"/>
              <a:t>These embeddings capture semantic relationships between words, allowing the model to understand similarities and relationships between different words in a meaningful way.</a:t>
            </a:r>
          </a:p>
          <a:p>
            <a:pPr marL="0" indent="0">
              <a:buNone/>
            </a:pPr>
            <a:endParaRPr lang="en-US" dirty="0"/>
          </a:p>
          <a:p>
            <a:pPr marL="457200" indent="-457200">
              <a:buFont typeface="+mj-lt"/>
              <a:buAutoNum type="arabicParenR"/>
            </a:pPr>
            <a:r>
              <a:rPr lang="en-US" dirty="0" err="1"/>
              <a:t>GloVe</a:t>
            </a:r>
            <a:endParaRPr lang="en-US" dirty="0"/>
          </a:p>
          <a:p>
            <a:pPr marL="457200" indent="-457200">
              <a:buFont typeface="+mj-lt"/>
              <a:buAutoNum type="arabicParenR"/>
            </a:pPr>
            <a:r>
              <a:rPr lang="en-US" dirty="0" err="1"/>
              <a:t>Fasttext</a:t>
            </a:r>
            <a:endParaRPr lang="en-US" dirty="0"/>
          </a:p>
          <a:p>
            <a:pPr marL="457200" indent="-457200">
              <a:buFont typeface="+mj-lt"/>
              <a:buAutoNum type="arabicParenR"/>
            </a:pPr>
            <a:r>
              <a:rPr lang="en-US" dirty="0"/>
              <a:t>BERT (Bidirectional Encoder Representations from Transformers)</a:t>
            </a:r>
          </a:p>
          <a:p>
            <a:pPr marL="457200" indent="-457200">
              <a:buFont typeface="+mj-lt"/>
              <a:buAutoNum type="arabicParenR"/>
            </a:pPr>
            <a:endParaRPr lang="en-US" dirty="0"/>
          </a:p>
          <a:p>
            <a:endParaRPr lang="en-US" dirty="0"/>
          </a:p>
        </p:txBody>
      </p:sp>
    </p:spTree>
    <p:extLst>
      <p:ext uri="{BB962C8B-B14F-4D97-AF65-F5344CB8AC3E}">
        <p14:creationId xmlns:p14="http://schemas.microsoft.com/office/powerpoint/2010/main" val="72923874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23742-7BA7-B225-E14D-1B256E16BAC4}"/>
              </a:ext>
            </a:extLst>
          </p:cNvPr>
          <p:cNvSpPr>
            <a:spLocks noGrp="1"/>
          </p:cNvSpPr>
          <p:nvPr>
            <p:ph type="title"/>
          </p:nvPr>
        </p:nvSpPr>
        <p:spPr/>
        <p:txBody>
          <a:bodyPr>
            <a:normAutofit fontScale="90000"/>
          </a:bodyPr>
          <a:lstStyle/>
          <a:p>
            <a:r>
              <a:rPr lang="en-US" sz="3300" dirty="0"/>
              <a:t>Considerations for Deploying Word Embedding Models</a:t>
            </a:r>
          </a:p>
        </p:txBody>
      </p:sp>
      <p:sp>
        <p:nvSpPr>
          <p:cNvPr id="3" name="Slide Number Placeholder 2">
            <a:extLst>
              <a:ext uri="{FF2B5EF4-FFF2-40B4-BE49-F238E27FC236}">
                <a16:creationId xmlns:a16="http://schemas.microsoft.com/office/drawing/2014/main" id="{416E7B87-5B3F-A4A9-9482-D72AE91FEC69}"/>
              </a:ext>
            </a:extLst>
          </p:cNvPr>
          <p:cNvSpPr>
            <a:spLocks noGrp="1"/>
          </p:cNvSpPr>
          <p:nvPr>
            <p:ph type="sldNum" sz="quarter" idx="12"/>
          </p:nvPr>
        </p:nvSpPr>
        <p:spPr/>
        <p:txBody>
          <a:bodyPr>
            <a:normAutofit fontScale="85000" lnSpcReduction="20000"/>
          </a:bodyPr>
          <a:lstStyle/>
          <a:p>
            <a:fld id="{EBFB1032-EA64-7144-B003-9BCC9D94B503}" type="slidenum">
              <a:rPr lang="en-US" smtClean="0"/>
              <a:t>82</a:t>
            </a:fld>
            <a:endParaRPr lang="en-US" dirty="0"/>
          </a:p>
        </p:txBody>
      </p:sp>
      <p:sp>
        <p:nvSpPr>
          <p:cNvPr id="4" name="Content Placeholder 3">
            <a:extLst>
              <a:ext uri="{FF2B5EF4-FFF2-40B4-BE49-F238E27FC236}">
                <a16:creationId xmlns:a16="http://schemas.microsoft.com/office/drawing/2014/main" id="{64A706DD-D88D-6E24-3BFE-281B76EECE2E}"/>
              </a:ext>
            </a:extLst>
          </p:cNvPr>
          <p:cNvSpPr>
            <a:spLocks noGrp="1"/>
          </p:cNvSpPr>
          <p:nvPr>
            <p:ph sz="quarter" idx="1"/>
          </p:nvPr>
        </p:nvSpPr>
        <p:spPr/>
        <p:txBody>
          <a:bodyPr>
            <a:normAutofit/>
          </a:bodyPr>
          <a:lstStyle/>
          <a:p>
            <a:pPr>
              <a:spcBef>
                <a:spcPts val="0"/>
              </a:spcBef>
            </a:pPr>
            <a:r>
              <a:rPr lang="en-US" dirty="0"/>
              <a:t>You need to use the exact same pipeline during deploying your model as were used to create the training data for the word embedding. If you use a different tokenizer or different method of handling white space, punctuation etc. you might end up with incompatible inputs.</a:t>
            </a:r>
          </a:p>
          <a:p>
            <a:pPr>
              <a:spcBef>
                <a:spcPts val="0"/>
              </a:spcBef>
            </a:pPr>
            <a:endParaRPr lang="en-US" dirty="0"/>
          </a:p>
          <a:p>
            <a:pPr>
              <a:spcBef>
                <a:spcPts val="0"/>
              </a:spcBef>
            </a:pPr>
            <a:r>
              <a:rPr lang="en-US" dirty="0"/>
              <a:t>Words in your input that doesn’t have a pre-trained vector. Such words are known as Out of Vocabulary Word(</a:t>
            </a:r>
            <a:r>
              <a:rPr lang="en-US" dirty="0" err="1"/>
              <a:t>oov</a:t>
            </a:r>
            <a:r>
              <a:rPr lang="en-US" dirty="0"/>
              <a:t>). What you can do is replace those words with “UNK” which means unknown and then handle them separately.</a:t>
            </a:r>
          </a:p>
          <a:p>
            <a:pPr>
              <a:spcBef>
                <a:spcPts val="0"/>
              </a:spcBef>
            </a:pPr>
            <a:endParaRPr lang="en-US" dirty="0"/>
          </a:p>
          <a:p>
            <a:pPr>
              <a:spcBef>
                <a:spcPts val="0"/>
              </a:spcBef>
            </a:pPr>
            <a:r>
              <a:rPr lang="en-US" dirty="0"/>
              <a:t>Dimension mis-match: Vectors can be of many lengths. If you train a model with vectors of length say 400 and then try to apply vectors of length 1000 at inference time, you will run into errors. So make sure to use the same dimensions throughout.</a:t>
            </a:r>
          </a:p>
        </p:txBody>
      </p:sp>
    </p:spTree>
    <p:extLst>
      <p:ext uri="{BB962C8B-B14F-4D97-AF65-F5344CB8AC3E}">
        <p14:creationId xmlns:p14="http://schemas.microsoft.com/office/powerpoint/2010/main" val="139477579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12FF7-662B-3E05-1C90-AC45C729CB07}"/>
              </a:ext>
            </a:extLst>
          </p:cNvPr>
          <p:cNvSpPr>
            <a:spLocks noGrp="1"/>
          </p:cNvSpPr>
          <p:nvPr>
            <p:ph type="title"/>
          </p:nvPr>
        </p:nvSpPr>
        <p:spPr/>
        <p:txBody>
          <a:bodyPr>
            <a:normAutofit/>
          </a:bodyPr>
          <a:lstStyle/>
          <a:p>
            <a:r>
              <a:rPr lang="en-US" dirty="0"/>
              <a:t>Advantages of Word Embeddings</a:t>
            </a:r>
          </a:p>
        </p:txBody>
      </p:sp>
      <p:sp>
        <p:nvSpPr>
          <p:cNvPr id="3" name="Slide Number Placeholder 2">
            <a:extLst>
              <a:ext uri="{FF2B5EF4-FFF2-40B4-BE49-F238E27FC236}">
                <a16:creationId xmlns:a16="http://schemas.microsoft.com/office/drawing/2014/main" id="{24754D86-5EC4-CC39-1F44-A0BCA816D99A}"/>
              </a:ext>
            </a:extLst>
          </p:cNvPr>
          <p:cNvSpPr>
            <a:spLocks noGrp="1"/>
          </p:cNvSpPr>
          <p:nvPr>
            <p:ph type="sldNum" sz="quarter" idx="12"/>
          </p:nvPr>
        </p:nvSpPr>
        <p:spPr/>
        <p:txBody>
          <a:bodyPr>
            <a:normAutofit fontScale="85000" lnSpcReduction="20000"/>
          </a:bodyPr>
          <a:lstStyle/>
          <a:p>
            <a:fld id="{EBFB1032-EA64-7144-B003-9BCC9D94B503}" type="slidenum">
              <a:rPr lang="en-US" smtClean="0"/>
              <a:t>83</a:t>
            </a:fld>
            <a:endParaRPr lang="en-US" dirty="0"/>
          </a:p>
        </p:txBody>
      </p:sp>
      <p:sp>
        <p:nvSpPr>
          <p:cNvPr id="4" name="Content Placeholder 3">
            <a:extLst>
              <a:ext uri="{FF2B5EF4-FFF2-40B4-BE49-F238E27FC236}">
                <a16:creationId xmlns:a16="http://schemas.microsoft.com/office/drawing/2014/main" id="{D7679112-90C8-F2E1-A74E-24DFB026AFCB}"/>
              </a:ext>
            </a:extLst>
          </p:cNvPr>
          <p:cNvSpPr>
            <a:spLocks noGrp="1"/>
          </p:cNvSpPr>
          <p:nvPr>
            <p:ph sz="quarter" idx="1"/>
          </p:nvPr>
        </p:nvSpPr>
        <p:spPr/>
        <p:txBody>
          <a:bodyPr/>
          <a:lstStyle/>
          <a:p>
            <a:r>
              <a:rPr lang="en-US" dirty="0"/>
              <a:t>It is much faster to train than hand build models like WordNet (which uses graph embeddings).</a:t>
            </a:r>
          </a:p>
          <a:p>
            <a:endParaRPr lang="en-US" dirty="0"/>
          </a:p>
          <a:p>
            <a:r>
              <a:rPr lang="en-US" dirty="0"/>
              <a:t>Almost all modern NLP applications start with an embedding layer.</a:t>
            </a:r>
          </a:p>
          <a:p>
            <a:endParaRPr lang="en-US" dirty="0"/>
          </a:p>
          <a:p>
            <a:r>
              <a:rPr lang="en-US" dirty="0"/>
              <a:t>It Stores an approximation of meaning.</a:t>
            </a:r>
          </a:p>
        </p:txBody>
      </p:sp>
    </p:spTree>
    <p:extLst>
      <p:ext uri="{BB962C8B-B14F-4D97-AF65-F5344CB8AC3E}">
        <p14:creationId xmlns:p14="http://schemas.microsoft.com/office/powerpoint/2010/main" val="355338502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D05C6-3DF7-1C42-D0AA-F1D506D094D4}"/>
              </a:ext>
            </a:extLst>
          </p:cNvPr>
          <p:cNvSpPr>
            <a:spLocks noGrp="1"/>
          </p:cNvSpPr>
          <p:nvPr>
            <p:ph type="title"/>
          </p:nvPr>
        </p:nvSpPr>
        <p:spPr/>
        <p:txBody>
          <a:bodyPr/>
          <a:lstStyle/>
          <a:p>
            <a:r>
              <a:rPr lang="en-US" dirty="0"/>
              <a:t>Disadvantages of Word Embeddings</a:t>
            </a:r>
          </a:p>
        </p:txBody>
      </p:sp>
      <p:sp>
        <p:nvSpPr>
          <p:cNvPr id="3" name="Slide Number Placeholder 2">
            <a:extLst>
              <a:ext uri="{FF2B5EF4-FFF2-40B4-BE49-F238E27FC236}">
                <a16:creationId xmlns:a16="http://schemas.microsoft.com/office/drawing/2014/main" id="{C6202037-C7F6-D174-1847-C4C2BCABF3F4}"/>
              </a:ext>
            </a:extLst>
          </p:cNvPr>
          <p:cNvSpPr>
            <a:spLocks noGrp="1"/>
          </p:cNvSpPr>
          <p:nvPr>
            <p:ph type="sldNum" sz="quarter" idx="12"/>
          </p:nvPr>
        </p:nvSpPr>
        <p:spPr/>
        <p:txBody>
          <a:bodyPr>
            <a:normAutofit fontScale="85000" lnSpcReduction="20000"/>
          </a:bodyPr>
          <a:lstStyle/>
          <a:p>
            <a:fld id="{EBFB1032-EA64-7144-B003-9BCC9D94B503}" type="slidenum">
              <a:rPr lang="en-US" smtClean="0"/>
              <a:t>84</a:t>
            </a:fld>
            <a:endParaRPr lang="en-US" dirty="0"/>
          </a:p>
        </p:txBody>
      </p:sp>
      <p:sp>
        <p:nvSpPr>
          <p:cNvPr id="4" name="Content Placeholder 3">
            <a:extLst>
              <a:ext uri="{FF2B5EF4-FFF2-40B4-BE49-F238E27FC236}">
                <a16:creationId xmlns:a16="http://schemas.microsoft.com/office/drawing/2014/main" id="{70C224EA-6A11-8207-C6D6-B4AF7EADE211}"/>
              </a:ext>
            </a:extLst>
          </p:cNvPr>
          <p:cNvSpPr>
            <a:spLocks noGrp="1"/>
          </p:cNvSpPr>
          <p:nvPr>
            <p:ph sz="quarter" idx="1"/>
          </p:nvPr>
        </p:nvSpPr>
        <p:spPr/>
        <p:txBody>
          <a:bodyPr/>
          <a:lstStyle/>
          <a:p>
            <a:r>
              <a:rPr lang="en-US" dirty="0"/>
              <a:t>It can be memory intensive.</a:t>
            </a:r>
          </a:p>
          <a:p>
            <a:endParaRPr lang="en-US" dirty="0"/>
          </a:p>
          <a:p>
            <a:r>
              <a:rPr lang="en-US" dirty="0"/>
              <a:t>It is corpus dependent. Any underlying bias will have an effect on your model.</a:t>
            </a:r>
          </a:p>
          <a:p>
            <a:endParaRPr lang="en-US" dirty="0"/>
          </a:p>
          <a:p>
            <a:r>
              <a:rPr lang="en-US" dirty="0"/>
              <a:t>It cannot distinguish between homophones. </a:t>
            </a:r>
            <a:r>
              <a:rPr lang="en-US" dirty="0" err="1"/>
              <a:t>Eg</a:t>
            </a:r>
            <a:r>
              <a:rPr lang="en-US" dirty="0"/>
              <a:t>: brake/break, cell/sell, weather/whether etc.</a:t>
            </a:r>
          </a:p>
        </p:txBody>
      </p:sp>
    </p:spTree>
    <p:extLst>
      <p:ext uri="{BB962C8B-B14F-4D97-AF65-F5344CB8AC3E}">
        <p14:creationId xmlns:p14="http://schemas.microsoft.com/office/powerpoint/2010/main" val="399834000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C4703-7367-FB93-F7B7-BCA406FC3709}"/>
              </a:ext>
            </a:extLst>
          </p:cNvPr>
          <p:cNvSpPr>
            <a:spLocks noGrp="1"/>
          </p:cNvSpPr>
          <p:nvPr>
            <p:ph type="title"/>
          </p:nvPr>
        </p:nvSpPr>
        <p:spPr/>
        <p:txBody>
          <a:bodyPr>
            <a:normAutofit/>
          </a:bodyPr>
          <a:lstStyle/>
          <a:p>
            <a:r>
              <a:rPr lang="en-US" dirty="0"/>
              <a:t>Conclusion</a:t>
            </a:r>
          </a:p>
        </p:txBody>
      </p:sp>
      <p:sp>
        <p:nvSpPr>
          <p:cNvPr id="3" name="Slide Number Placeholder 2">
            <a:extLst>
              <a:ext uri="{FF2B5EF4-FFF2-40B4-BE49-F238E27FC236}">
                <a16:creationId xmlns:a16="http://schemas.microsoft.com/office/drawing/2014/main" id="{81562180-E1D6-FB33-20C3-7B98B9311624}"/>
              </a:ext>
            </a:extLst>
          </p:cNvPr>
          <p:cNvSpPr>
            <a:spLocks noGrp="1"/>
          </p:cNvSpPr>
          <p:nvPr>
            <p:ph type="sldNum" sz="quarter" idx="12"/>
          </p:nvPr>
        </p:nvSpPr>
        <p:spPr/>
        <p:txBody>
          <a:bodyPr>
            <a:normAutofit fontScale="85000" lnSpcReduction="20000"/>
          </a:bodyPr>
          <a:lstStyle/>
          <a:p>
            <a:fld id="{EBFB1032-EA64-7144-B003-9BCC9D94B503}" type="slidenum">
              <a:rPr lang="en-US" smtClean="0"/>
              <a:t>85</a:t>
            </a:fld>
            <a:endParaRPr lang="en-US" dirty="0"/>
          </a:p>
        </p:txBody>
      </p:sp>
      <p:sp>
        <p:nvSpPr>
          <p:cNvPr id="4" name="Content Placeholder 3">
            <a:extLst>
              <a:ext uri="{FF2B5EF4-FFF2-40B4-BE49-F238E27FC236}">
                <a16:creationId xmlns:a16="http://schemas.microsoft.com/office/drawing/2014/main" id="{3A97A3CE-6F18-AC53-E7FC-F615EA44BBAE}"/>
              </a:ext>
            </a:extLst>
          </p:cNvPr>
          <p:cNvSpPr>
            <a:spLocks noGrp="1"/>
          </p:cNvSpPr>
          <p:nvPr>
            <p:ph sz="quarter" idx="1"/>
          </p:nvPr>
        </p:nvSpPr>
        <p:spPr/>
        <p:txBody>
          <a:bodyPr/>
          <a:lstStyle/>
          <a:p>
            <a:r>
              <a:rPr lang="en-US" dirty="0"/>
              <a:t>In conclusion, word embedding techniques such as TF-IDF, Word2Vec, and </a:t>
            </a:r>
            <a:r>
              <a:rPr lang="en-US" dirty="0" err="1"/>
              <a:t>GloVe</a:t>
            </a:r>
            <a:r>
              <a:rPr lang="en-US" dirty="0"/>
              <a:t> play a crucial role in natural language processing by representing words in a lower-dimensional space, capturing semantic and syntactic information.</a:t>
            </a:r>
          </a:p>
        </p:txBody>
      </p:sp>
    </p:spTree>
    <p:extLst>
      <p:ext uri="{BB962C8B-B14F-4D97-AF65-F5344CB8AC3E}">
        <p14:creationId xmlns:p14="http://schemas.microsoft.com/office/powerpoint/2010/main" val="316156390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5A2E2-475B-E7CC-5CA9-752F411C7570}"/>
              </a:ext>
            </a:extLst>
          </p:cNvPr>
          <p:cNvSpPr>
            <a:spLocks noGrp="1"/>
          </p:cNvSpPr>
          <p:nvPr>
            <p:ph type="title"/>
          </p:nvPr>
        </p:nvSpPr>
        <p:spPr/>
        <p:txBody>
          <a:bodyPr>
            <a:normAutofit/>
          </a:bodyPr>
          <a:lstStyle/>
          <a:p>
            <a:r>
              <a:rPr lang="en-US" dirty="0"/>
              <a:t>1. Does GPT use word embeddings?</a:t>
            </a:r>
          </a:p>
        </p:txBody>
      </p:sp>
      <p:sp>
        <p:nvSpPr>
          <p:cNvPr id="3" name="Slide Number Placeholder 2">
            <a:extLst>
              <a:ext uri="{FF2B5EF4-FFF2-40B4-BE49-F238E27FC236}">
                <a16:creationId xmlns:a16="http://schemas.microsoft.com/office/drawing/2014/main" id="{83B9CB7A-402C-F3CE-8061-72B4ABB8CEFA}"/>
              </a:ext>
            </a:extLst>
          </p:cNvPr>
          <p:cNvSpPr>
            <a:spLocks noGrp="1"/>
          </p:cNvSpPr>
          <p:nvPr>
            <p:ph type="sldNum" sz="quarter" idx="12"/>
          </p:nvPr>
        </p:nvSpPr>
        <p:spPr/>
        <p:txBody>
          <a:bodyPr>
            <a:normAutofit fontScale="85000" lnSpcReduction="20000"/>
          </a:bodyPr>
          <a:lstStyle/>
          <a:p>
            <a:fld id="{EBFB1032-EA64-7144-B003-9BCC9D94B503}" type="slidenum">
              <a:rPr lang="en-US" smtClean="0"/>
              <a:t>86</a:t>
            </a:fld>
            <a:endParaRPr lang="en-US" dirty="0"/>
          </a:p>
        </p:txBody>
      </p:sp>
      <p:sp>
        <p:nvSpPr>
          <p:cNvPr id="4" name="Content Placeholder 3">
            <a:extLst>
              <a:ext uri="{FF2B5EF4-FFF2-40B4-BE49-F238E27FC236}">
                <a16:creationId xmlns:a16="http://schemas.microsoft.com/office/drawing/2014/main" id="{F3B9D0C2-85A7-EA16-FA40-09EA5A41125B}"/>
              </a:ext>
            </a:extLst>
          </p:cNvPr>
          <p:cNvSpPr>
            <a:spLocks noGrp="1"/>
          </p:cNvSpPr>
          <p:nvPr>
            <p:ph sz="quarter" idx="1"/>
          </p:nvPr>
        </p:nvSpPr>
        <p:spPr/>
        <p:txBody>
          <a:bodyPr/>
          <a:lstStyle/>
          <a:p>
            <a:r>
              <a:rPr lang="en-US" dirty="0"/>
              <a:t>GPT uses context-based embeddings rather than traditional word embeddings.</a:t>
            </a:r>
          </a:p>
          <a:p>
            <a:endParaRPr lang="en-US" dirty="0"/>
          </a:p>
          <a:p>
            <a:r>
              <a:rPr lang="en-US" dirty="0"/>
              <a:t>It captures word meaning in the context of the entire sentence.</a:t>
            </a:r>
          </a:p>
          <a:p>
            <a:endParaRPr lang="en-US" dirty="0"/>
          </a:p>
          <a:p>
            <a:endParaRPr lang="en-US" dirty="0"/>
          </a:p>
          <a:p>
            <a:endParaRPr lang="en-US" dirty="0"/>
          </a:p>
        </p:txBody>
      </p:sp>
    </p:spTree>
    <p:extLst>
      <p:ext uri="{BB962C8B-B14F-4D97-AF65-F5344CB8AC3E}">
        <p14:creationId xmlns:p14="http://schemas.microsoft.com/office/powerpoint/2010/main" val="359355695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6A7B6-D93B-61E4-B049-AA11276A126C}"/>
              </a:ext>
            </a:extLst>
          </p:cNvPr>
          <p:cNvSpPr>
            <a:spLocks noGrp="1"/>
          </p:cNvSpPr>
          <p:nvPr>
            <p:ph type="title"/>
          </p:nvPr>
        </p:nvSpPr>
        <p:spPr/>
        <p:txBody>
          <a:bodyPr>
            <a:noAutofit/>
          </a:bodyPr>
          <a:lstStyle/>
          <a:p>
            <a:r>
              <a:rPr lang="en-US" sz="3000" b="0" dirty="0"/>
              <a:t>2. What is the difference between Bert and word embeddings?</a:t>
            </a:r>
          </a:p>
        </p:txBody>
      </p:sp>
      <p:sp>
        <p:nvSpPr>
          <p:cNvPr id="3" name="Slide Number Placeholder 2">
            <a:extLst>
              <a:ext uri="{FF2B5EF4-FFF2-40B4-BE49-F238E27FC236}">
                <a16:creationId xmlns:a16="http://schemas.microsoft.com/office/drawing/2014/main" id="{CB865ECC-4F66-FE9B-781E-74CE1E95ECBE}"/>
              </a:ext>
            </a:extLst>
          </p:cNvPr>
          <p:cNvSpPr>
            <a:spLocks noGrp="1"/>
          </p:cNvSpPr>
          <p:nvPr>
            <p:ph type="sldNum" sz="quarter" idx="12"/>
          </p:nvPr>
        </p:nvSpPr>
        <p:spPr/>
        <p:txBody>
          <a:bodyPr>
            <a:normAutofit fontScale="85000" lnSpcReduction="20000"/>
          </a:bodyPr>
          <a:lstStyle/>
          <a:p>
            <a:fld id="{EBFB1032-EA64-7144-B003-9BCC9D94B503}" type="slidenum">
              <a:rPr lang="en-US" smtClean="0"/>
              <a:t>87</a:t>
            </a:fld>
            <a:endParaRPr lang="en-US" dirty="0"/>
          </a:p>
        </p:txBody>
      </p:sp>
      <p:sp>
        <p:nvSpPr>
          <p:cNvPr id="4" name="Content Placeholder 3">
            <a:extLst>
              <a:ext uri="{FF2B5EF4-FFF2-40B4-BE49-F238E27FC236}">
                <a16:creationId xmlns:a16="http://schemas.microsoft.com/office/drawing/2014/main" id="{16FAF4B0-DE58-3355-0B13-742C986539B8}"/>
              </a:ext>
            </a:extLst>
          </p:cNvPr>
          <p:cNvSpPr>
            <a:spLocks noGrp="1"/>
          </p:cNvSpPr>
          <p:nvPr>
            <p:ph sz="quarter" idx="1"/>
          </p:nvPr>
        </p:nvSpPr>
        <p:spPr/>
        <p:txBody>
          <a:bodyPr/>
          <a:lstStyle/>
          <a:p>
            <a:r>
              <a:rPr lang="en-US" dirty="0"/>
              <a:t>BERT is contextually aware, considering the entire sentence, while traditional word embeddings, like Word2Vec, treat each word independently.</a:t>
            </a:r>
          </a:p>
          <a:p>
            <a:endParaRPr lang="en-US" dirty="0"/>
          </a:p>
          <a:p>
            <a:endParaRPr lang="en-US" dirty="0"/>
          </a:p>
          <a:p>
            <a:endParaRPr lang="en-US" dirty="0"/>
          </a:p>
        </p:txBody>
      </p:sp>
    </p:spTree>
    <p:extLst>
      <p:ext uri="{BB962C8B-B14F-4D97-AF65-F5344CB8AC3E}">
        <p14:creationId xmlns:p14="http://schemas.microsoft.com/office/powerpoint/2010/main" val="241890478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71121-D4C5-97A2-D176-D9D1972D4428}"/>
              </a:ext>
            </a:extLst>
          </p:cNvPr>
          <p:cNvSpPr>
            <a:spLocks noGrp="1"/>
          </p:cNvSpPr>
          <p:nvPr>
            <p:ph type="title"/>
          </p:nvPr>
        </p:nvSpPr>
        <p:spPr/>
        <p:txBody>
          <a:bodyPr>
            <a:normAutofit/>
          </a:bodyPr>
          <a:lstStyle/>
          <a:p>
            <a:r>
              <a:rPr lang="en-US" dirty="0"/>
              <a:t>3. What are the two types of word embedding?</a:t>
            </a:r>
          </a:p>
        </p:txBody>
      </p:sp>
      <p:sp>
        <p:nvSpPr>
          <p:cNvPr id="3" name="Slide Number Placeholder 2">
            <a:extLst>
              <a:ext uri="{FF2B5EF4-FFF2-40B4-BE49-F238E27FC236}">
                <a16:creationId xmlns:a16="http://schemas.microsoft.com/office/drawing/2014/main" id="{87D747B8-EF9F-4BAD-9E5C-814847953647}"/>
              </a:ext>
            </a:extLst>
          </p:cNvPr>
          <p:cNvSpPr>
            <a:spLocks noGrp="1"/>
          </p:cNvSpPr>
          <p:nvPr>
            <p:ph type="sldNum" sz="quarter" idx="12"/>
          </p:nvPr>
        </p:nvSpPr>
        <p:spPr/>
        <p:txBody>
          <a:bodyPr>
            <a:normAutofit fontScale="85000" lnSpcReduction="20000"/>
          </a:bodyPr>
          <a:lstStyle/>
          <a:p>
            <a:fld id="{EBFB1032-EA64-7144-B003-9BCC9D94B503}" type="slidenum">
              <a:rPr lang="en-US" smtClean="0"/>
              <a:t>88</a:t>
            </a:fld>
            <a:endParaRPr lang="en-US" dirty="0"/>
          </a:p>
        </p:txBody>
      </p:sp>
      <p:sp>
        <p:nvSpPr>
          <p:cNvPr id="4" name="Content Placeholder 3">
            <a:extLst>
              <a:ext uri="{FF2B5EF4-FFF2-40B4-BE49-F238E27FC236}">
                <a16:creationId xmlns:a16="http://schemas.microsoft.com/office/drawing/2014/main" id="{E248F664-2669-CFB8-3277-CCA0FEF5E305}"/>
              </a:ext>
            </a:extLst>
          </p:cNvPr>
          <p:cNvSpPr>
            <a:spLocks noGrp="1"/>
          </p:cNvSpPr>
          <p:nvPr>
            <p:ph sz="quarter" idx="1"/>
          </p:nvPr>
        </p:nvSpPr>
        <p:spPr/>
        <p:txBody>
          <a:bodyPr/>
          <a:lstStyle/>
          <a:p>
            <a:r>
              <a:rPr lang="en-US" dirty="0"/>
              <a:t>Word embeddings can be broadly evaluated in two categories, intrinsic and extrinsic.</a:t>
            </a:r>
          </a:p>
          <a:p>
            <a:endParaRPr lang="en-US" dirty="0"/>
          </a:p>
          <a:p>
            <a:r>
              <a:rPr lang="en-US" dirty="0"/>
              <a:t>For intrinsic evaluation, word embeddings are used to calculate or predict semantic similarity between words, terms, or sentences.</a:t>
            </a:r>
          </a:p>
          <a:p>
            <a:endParaRPr lang="en-US" dirty="0"/>
          </a:p>
          <a:p>
            <a:endParaRPr lang="en-US" dirty="0"/>
          </a:p>
          <a:p>
            <a:endParaRPr lang="en-US" dirty="0"/>
          </a:p>
        </p:txBody>
      </p:sp>
    </p:spTree>
    <p:extLst>
      <p:ext uri="{BB962C8B-B14F-4D97-AF65-F5344CB8AC3E}">
        <p14:creationId xmlns:p14="http://schemas.microsoft.com/office/powerpoint/2010/main" val="148349514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18BEC-4040-E38A-03FF-BFA135904CAA}"/>
              </a:ext>
            </a:extLst>
          </p:cNvPr>
          <p:cNvSpPr>
            <a:spLocks noGrp="1"/>
          </p:cNvSpPr>
          <p:nvPr>
            <p:ph type="title"/>
          </p:nvPr>
        </p:nvSpPr>
        <p:spPr/>
        <p:txBody>
          <a:bodyPr>
            <a:normAutofit/>
          </a:bodyPr>
          <a:lstStyle/>
          <a:p>
            <a:r>
              <a:rPr lang="en-US" dirty="0"/>
              <a:t>4. How does word vectorization work?</a:t>
            </a:r>
          </a:p>
        </p:txBody>
      </p:sp>
      <p:sp>
        <p:nvSpPr>
          <p:cNvPr id="3" name="Slide Number Placeholder 2">
            <a:extLst>
              <a:ext uri="{FF2B5EF4-FFF2-40B4-BE49-F238E27FC236}">
                <a16:creationId xmlns:a16="http://schemas.microsoft.com/office/drawing/2014/main" id="{70BD4BF6-6DAD-B309-FFE0-4A17DC63462E}"/>
              </a:ext>
            </a:extLst>
          </p:cNvPr>
          <p:cNvSpPr>
            <a:spLocks noGrp="1"/>
          </p:cNvSpPr>
          <p:nvPr>
            <p:ph type="sldNum" sz="quarter" idx="12"/>
          </p:nvPr>
        </p:nvSpPr>
        <p:spPr/>
        <p:txBody>
          <a:bodyPr>
            <a:normAutofit fontScale="85000" lnSpcReduction="20000"/>
          </a:bodyPr>
          <a:lstStyle/>
          <a:p>
            <a:fld id="{EBFB1032-EA64-7144-B003-9BCC9D94B503}" type="slidenum">
              <a:rPr lang="en-US" smtClean="0"/>
              <a:t>89</a:t>
            </a:fld>
            <a:endParaRPr lang="en-US" dirty="0"/>
          </a:p>
        </p:txBody>
      </p:sp>
      <p:sp>
        <p:nvSpPr>
          <p:cNvPr id="4" name="Content Placeholder 3">
            <a:extLst>
              <a:ext uri="{FF2B5EF4-FFF2-40B4-BE49-F238E27FC236}">
                <a16:creationId xmlns:a16="http://schemas.microsoft.com/office/drawing/2014/main" id="{54EF6D42-4AF5-66B7-E410-BD9A0AB76ABF}"/>
              </a:ext>
            </a:extLst>
          </p:cNvPr>
          <p:cNvSpPr>
            <a:spLocks noGrp="1"/>
          </p:cNvSpPr>
          <p:nvPr>
            <p:ph sz="quarter" idx="1"/>
          </p:nvPr>
        </p:nvSpPr>
        <p:spPr/>
        <p:txBody>
          <a:bodyPr/>
          <a:lstStyle/>
          <a:p>
            <a:r>
              <a:rPr lang="en-US" dirty="0"/>
              <a:t>Word vectorization converts words into numerical vectors, capturing semantic relationships.</a:t>
            </a:r>
          </a:p>
          <a:p>
            <a:endParaRPr lang="en-US" dirty="0"/>
          </a:p>
          <a:p>
            <a:r>
              <a:rPr lang="en-US" dirty="0"/>
              <a:t>Techniques like TF-IDF, Word2Vec, and </a:t>
            </a:r>
            <a:r>
              <a:rPr lang="en-US" dirty="0" err="1"/>
              <a:t>GloVe</a:t>
            </a:r>
            <a:r>
              <a:rPr lang="en-US" dirty="0"/>
              <a:t> are common.</a:t>
            </a:r>
          </a:p>
          <a:p>
            <a:endParaRPr lang="en-US" dirty="0"/>
          </a:p>
          <a:p>
            <a:endParaRPr lang="en-US" dirty="0"/>
          </a:p>
          <a:p>
            <a:endParaRPr lang="en-US" dirty="0"/>
          </a:p>
        </p:txBody>
      </p:sp>
    </p:spTree>
    <p:extLst>
      <p:ext uri="{BB962C8B-B14F-4D97-AF65-F5344CB8AC3E}">
        <p14:creationId xmlns:p14="http://schemas.microsoft.com/office/powerpoint/2010/main" val="378769719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5B0D5-1DBE-6434-E46A-D42081B10EAB}"/>
              </a:ext>
            </a:extLst>
          </p:cNvPr>
          <p:cNvSpPr>
            <a:spLocks noGrp="1"/>
          </p:cNvSpPr>
          <p:nvPr>
            <p:ph type="title"/>
          </p:nvPr>
        </p:nvSpPr>
        <p:spPr/>
        <p:txBody>
          <a:bodyPr>
            <a:normAutofit/>
          </a:bodyPr>
          <a:lstStyle/>
          <a:p>
            <a:r>
              <a:rPr lang="en-US" dirty="0"/>
              <a:t>5. What are the benefits of word embeddings?</a:t>
            </a:r>
          </a:p>
        </p:txBody>
      </p:sp>
      <p:sp>
        <p:nvSpPr>
          <p:cNvPr id="3" name="Slide Number Placeholder 2">
            <a:extLst>
              <a:ext uri="{FF2B5EF4-FFF2-40B4-BE49-F238E27FC236}">
                <a16:creationId xmlns:a16="http://schemas.microsoft.com/office/drawing/2014/main" id="{4A6FD258-B6CD-DBBE-B44A-67671B456C0F}"/>
              </a:ext>
            </a:extLst>
          </p:cNvPr>
          <p:cNvSpPr>
            <a:spLocks noGrp="1"/>
          </p:cNvSpPr>
          <p:nvPr>
            <p:ph type="sldNum" sz="quarter" idx="12"/>
          </p:nvPr>
        </p:nvSpPr>
        <p:spPr/>
        <p:txBody>
          <a:bodyPr>
            <a:normAutofit fontScale="85000" lnSpcReduction="20000"/>
          </a:bodyPr>
          <a:lstStyle/>
          <a:p>
            <a:fld id="{EBFB1032-EA64-7144-B003-9BCC9D94B503}" type="slidenum">
              <a:rPr lang="en-US" smtClean="0"/>
              <a:t>90</a:t>
            </a:fld>
            <a:endParaRPr lang="en-US" dirty="0"/>
          </a:p>
        </p:txBody>
      </p:sp>
      <p:sp>
        <p:nvSpPr>
          <p:cNvPr id="4" name="Content Placeholder 3">
            <a:extLst>
              <a:ext uri="{FF2B5EF4-FFF2-40B4-BE49-F238E27FC236}">
                <a16:creationId xmlns:a16="http://schemas.microsoft.com/office/drawing/2014/main" id="{B8DEB1E7-6F9F-E848-1F4C-C45681040876}"/>
              </a:ext>
            </a:extLst>
          </p:cNvPr>
          <p:cNvSpPr>
            <a:spLocks noGrp="1"/>
          </p:cNvSpPr>
          <p:nvPr>
            <p:ph sz="quarter" idx="1"/>
          </p:nvPr>
        </p:nvSpPr>
        <p:spPr/>
        <p:txBody>
          <a:bodyPr/>
          <a:lstStyle/>
          <a:p>
            <a:r>
              <a:rPr lang="en-US" dirty="0"/>
              <a:t>Word embeddings offer semantic understanding, capture context, and enhance NLP tasks.</a:t>
            </a:r>
          </a:p>
          <a:p>
            <a:endParaRPr lang="en-US" dirty="0"/>
          </a:p>
          <a:p>
            <a:r>
              <a:rPr lang="en-US" dirty="0"/>
              <a:t>They reduce dimensionality, speed up training, and aid in language pattern recognition.</a:t>
            </a:r>
          </a:p>
          <a:p>
            <a:endParaRPr lang="en-US" dirty="0"/>
          </a:p>
          <a:p>
            <a:endParaRPr lang="en-US" dirty="0"/>
          </a:p>
          <a:p>
            <a:endParaRPr lang="en-US" dirty="0"/>
          </a:p>
        </p:txBody>
      </p:sp>
    </p:spTree>
    <p:extLst>
      <p:ext uri="{BB962C8B-B14F-4D97-AF65-F5344CB8AC3E}">
        <p14:creationId xmlns:p14="http://schemas.microsoft.com/office/powerpoint/2010/main" val="362978028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262A1-3E4C-61A5-FE27-025F765FE250}"/>
              </a:ext>
            </a:extLst>
          </p:cNvPr>
          <p:cNvSpPr>
            <a:spLocks noGrp="1"/>
          </p:cNvSpPr>
          <p:nvPr>
            <p:ph type="title"/>
          </p:nvPr>
        </p:nvSpPr>
        <p:spPr/>
        <p:txBody>
          <a:bodyPr>
            <a:normAutofit/>
          </a:bodyPr>
          <a:lstStyle/>
          <a:p>
            <a:r>
              <a:rPr lang="en-US" dirty="0"/>
              <a:t>Summary</a:t>
            </a:r>
          </a:p>
        </p:txBody>
      </p:sp>
      <p:sp>
        <p:nvSpPr>
          <p:cNvPr id="3" name="Slide Number Placeholder 2">
            <a:extLst>
              <a:ext uri="{FF2B5EF4-FFF2-40B4-BE49-F238E27FC236}">
                <a16:creationId xmlns:a16="http://schemas.microsoft.com/office/drawing/2014/main" id="{ED645274-1920-5110-05FC-F96109D3838B}"/>
              </a:ext>
            </a:extLst>
          </p:cNvPr>
          <p:cNvSpPr>
            <a:spLocks noGrp="1"/>
          </p:cNvSpPr>
          <p:nvPr>
            <p:ph type="sldNum" sz="quarter" idx="12"/>
          </p:nvPr>
        </p:nvSpPr>
        <p:spPr/>
        <p:txBody>
          <a:bodyPr>
            <a:normAutofit fontScale="85000" lnSpcReduction="20000"/>
          </a:bodyPr>
          <a:lstStyle/>
          <a:p>
            <a:fld id="{EBFB1032-EA64-7144-B003-9BCC9D94B503}" type="slidenum">
              <a:rPr lang="en-US" smtClean="0"/>
              <a:t>91</a:t>
            </a:fld>
            <a:endParaRPr lang="en-US" dirty="0"/>
          </a:p>
        </p:txBody>
      </p:sp>
      <p:sp>
        <p:nvSpPr>
          <p:cNvPr id="4" name="Content Placeholder 3">
            <a:extLst>
              <a:ext uri="{FF2B5EF4-FFF2-40B4-BE49-F238E27FC236}">
                <a16:creationId xmlns:a16="http://schemas.microsoft.com/office/drawing/2014/main" id="{4423FF87-D19D-4091-DB3B-B438A716399D}"/>
              </a:ext>
            </a:extLst>
          </p:cNvPr>
          <p:cNvSpPr>
            <a:spLocks noGrp="1"/>
          </p:cNvSpPr>
          <p:nvPr>
            <p:ph sz="quarter" idx="1"/>
          </p:nvPr>
        </p:nvSpPr>
        <p:spPr/>
        <p:txBody>
          <a:bodyPr>
            <a:noAutofit/>
          </a:bodyPr>
          <a:lstStyle/>
          <a:p>
            <a:pPr>
              <a:lnSpc>
                <a:spcPct val="80000"/>
              </a:lnSpc>
              <a:spcBef>
                <a:spcPts val="0"/>
              </a:spcBef>
            </a:pPr>
            <a:r>
              <a:rPr lang="en-US" sz="2300" dirty="0"/>
              <a:t>LLMs require textual data to be converted into numerical vectors, known as embeddings, since they can’t process raw text.</a:t>
            </a:r>
          </a:p>
          <a:p>
            <a:pPr>
              <a:lnSpc>
                <a:spcPct val="80000"/>
              </a:lnSpc>
              <a:spcBef>
                <a:spcPts val="0"/>
              </a:spcBef>
            </a:pPr>
            <a:endParaRPr lang="en-US" sz="2300" dirty="0"/>
          </a:p>
          <a:p>
            <a:pPr>
              <a:lnSpc>
                <a:spcPct val="80000"/>
              </a:lnSpc>
              <a:spcBef>
                <a:spcPts val="0"/>
              </a:spcBef>
            </a:pPr>
            <a:r>
              <a:rPr lang="en-US" sz="2300" dirty="0"/>
              <a:t>Embeddings transform discrete data (like words or images) into continuous vector spaces, making them compatible with neural network operations.</a:t>
            </a:r>
          </a:p>
          <a:p>
            <a:pPr>
              <a:lnSpc>
                <a:spcPct val="80000"/>
              </a:lnSpc>
              <a:spcBef>
                <a:spcPts val="0"/>
              </a:spcBef>
            </a:pPr>
            <a:endParaRPr lang="en-US" sz="2300" dirty="0"/>
          </a:p>
          <a:p>
            <a:pPr>
              <a:lnSpc>
                <a:spcPct val="80000"/>
              </a:lnSpc>
              <a:spcBef>
                <a:spcPts val="0"/>
              </a:spcBef>
            </a:pPr>
            <a:r>
              <a:rPr lang="en-US" sz="2300" dirty="0"/>
              <a:t>As the first step, raw text is broken into tokens, which can be words or characters.</a:t>
            </a:r>
          </a:p>
          <a:p>
            <a:pPr>
              <a:lnSpc>
                <a:spcPct val="80000"/>
              </a:lnSpc>
              <a:spcBef>
                <a:spcPts val="0"/>
              </a:spcBef>
            </a:pPr>
            <a:endParaRPr lang="en-US" sz="2300" dirty="0"/>
          </a:p>
          <a:p>
            <a:pPr>
              <a:lnSpc>
                <a:spcPct val="80000"/>
              </a:lnSpc>
              <a:spcBef>
                <a:spcPts val="0"/>
              </a:spcBef>
            </a:pPr>
            <a:r>
              <a:rPr lang="en-US" sz="2300" dirty="0"/>
              <a:t>Then, the tokens are converted into integer representations, termed token IDs.</a:t>
            </a:r>
          </a:p>
          <a:p>
            <a:pPr>
              <a:lnSpc>
                <a:spcPct val="80000"/>
              </a:lnSpc>
              <a:spcBef>
                <a:spcPts val="0"/>
              </a:spcBef>
            </a:pPr>
            <a:endParaRPr lang="en-US" sz="2300" dirty="0"/>
          </a:p>
          <a:p>
            <a:pPr>
              <a:lnSpc>
                <a:spcPct val="80000"/>
              </a:lnSpc>
              <a:spcBef>
                <a:spcPts val="0"/>
              </a:spcBef>
            </a:pPr>
            <a:r>
              <a:rPr lang="en-US" sz="2300" dirty="0"/>
              <a:t>Special tokens, such as &lt;|</a:t>
            </a:r>
            <a:r>
              <a:rPr lang="en-US" sz="2300" dirty="0" err="1"/>
              <a:t>unk</a:t>
            </a:r>
            <a:r>
              <a:rPr lang="en-US" sz="2300" dirty="0"/>
              <a:t>|&gt; and &lt;|</a:t>
            </a:r>
            <a:r>
              <a:rPr lang="en-US" sz="2300" dirty="0" err="1"/>
              <a:t>endoftext</a:t>
            </a:r>
            <a:r>
              <a:rPr lang="en-US" sz="2300" dirty="0"/>
              <a:t>|&gt;, can be added to enhance the model’s understanding and handle various contexts, such as unknown words or marking the boundary between unrelated texts.</a:t>
            </a:r>
          </a:p>
        </p:txBody>
      </p:sp>
    </p:spTree>
    <p:extLst>
      <p:ext uri="{BB962C8B-B14F-4D97-AF65-F5344CB8AC3E}">
        <p14:creationId xmlns:p14="http://schemas.microsoft.com/office/powerpoint/2010/main" val="110842873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E4CAC-E59D-C7A2-9895-6D31AE0D80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680D64-1A6F-B123-FE32-2B67DDCAEE62}"/>
              </a:ext>
            </a:extLst>
          </p:cNvPr>
          <p:cNvSpPr>
            <a:spLocks noGrp="1"/>
          </p:cNvSpPr>
          <p:nvPr>
            <p:ph type="title"/>
          </p:nvPr>
        </p:nvSpPr>
        <p:spPr/>
        <p:txBody>
          <a:bodyPr>
            <a:normAutofit/>
          </a:bodyPr>
          <a:lstStyle/>
          <a:p>
            <a:r>
              <a:rPr lang="en-US" dirty="0"/>
              <a:t>Cont’d</a:t>
            </a:r>
          </a:p>
        </p:txBody>
      </p:sp>
      <p:sp>
        <p:nvSpPr>
          <p:cNvPr id="3" name="Slide Number Placeholder 2">
            <a:extLst>
              <a:ext uri="{FF2B5EF4-FFF2-40B4-BE49-F238E27FC236}">
                <a16:creationId xmlns:a16="http://schemas.microsoft.com/office/drawing/2014/main" id="{9CB75CCD-D37F-B70B-13CA-696FAF15E6D9}"/>
              </a:ext>
            </a:extLst>
          </p:cNvPr>
          <p:cNvSpPr>
            <a:spLocks noGrp="1"/>
          </p:cNvSpPr>
          <p:nvPr>
            <p:ph type="sldNum" sz="quarter" idx="12"/>
          </p:nvPr>
        </p:nvSpPr>
        <p:spPr/>
        <p:txBody>
          <a:bodyPr>
            <a:normAutofit fontScale="85000" lnSpcReduction="20000"/>
          </a:bodyPr>
          <a:lstStyle/>
          <a:p>
            <a:fld id="{EBFB1032-EA64-7144-B003-9BCC9D94B503}" type="slidenum">
              <a:rPr lang="en-US" smtClean="0"/>
              <a:t>92</a:t>
            </a:fld>
            <a:endParaRPr lang="en-US" dirty="0"/>
          </a:p>
        </p:txBody>
      </p:sp>
      <p:sp>
        <p:nvSpPr>
          <p:cNvPr id="4" name="Content Placeholder 3">
            <a:extLst>
              <a:ext uri="{FF2B5EF4-FFF2-40B4-BE49-F238E27FC236}">
                <a16:creationId xmlns:a16="http://schemas.microsoft.com/office/drawing/2014/main" id="{EB486AD5-EE1B-0275-A913-D57736FF24F9}"/>
              </a:ext>
            </a:extLst>
          </p:cNvPr>
          <p:cNvSpPr>
            <a:spLocks noGrp="1"/>
          </p:cNvSpPr>
          <p:nvPr>
            <p:ph sz="quarter" idx="1"/>
          </p:nvPr>
        </p:nvSpPr>
        <p:spPr/>
        <p:txBody>
          <a:bodyPr>
            <a:noAutofit/>
          </a:bodyPr>
          <a:lstStyle/>
          <a:p>
            <a:pPr>
              <a:lnSpc>
                <a:spcPct val="80000"/>
              </a:lnSpc>
              <a:spcBef>
                <a:spcPts val="0"/>
              </a:spcBef>
            </a:pPr>
            <a:r>
              <a:rPr lang="en-US" sz="2300" dirty="0"/>
              <a:t>The byte pair encoding (BPE) tokenizer used for LLMs like GPT-2 and GPT-3 can efficiently handle unknown words by breaking them down into </a:t>
            </a:r>
            <a:r>
              <a:rPr lang="en-US" sz="2300" dirty="0" err="1"/>
              <a:t>subword</a:t>
            </a:r>
            <a:r>
              <a:rPr lang="en-US" sz="2300" dirty="0"/>
              <a:t> units or individual characters.</a:t>
            </a:r>
          </a:p>
          <a:p>
            <a:pPr>
              <a:lnSpc>
                <a:spcPct val="80000"/>
              </a:lnSpc>
              <a:spcBef>
                <a:spcPts val="0"/>
              </a:spcBef>
            </a:pPr>
            <a:endParaRPr lang="en-US" sz="2300" dirty="0"/>
          </a:p>
          <a:p>
            <a:pPr>
              <a:lnSpc>
                <a:spcPct val="80000"/>
              </a:lnSpc>
              <a:spcBef>
                <a:spcPts val="0"/>
              </a:spcBef>
            </a:pPr>
            <a:r>
              <a:rPr lang="en-US" sz="2300" dirty="0"/>
              <a:t>We use a sliding window approach on tokenized data to generate input–target pairs for LLM training.</a:t>
            </a:r>
          </a:p>
          <a:p>
            <a:pPr>
              <a:lnSpc>
                <a:spcPct val="80000"/>
              </a:lnSpc>
              <a:spcBef>
                <a:spcPts val="0"/>
              </a:spcBef>
            </a:pPr>
            <a:endParaRPr lang="en-US" sz="2300" dirty="0"/>
          </a:p>
          <a:p>
            <a:pPr>
              <a:lnSpc>
                <a:spcPct val="80000"/>
              </a:lnSpc>
              <a:spcBef>
                <a:spcPts val="0"/>
              </a:spcBef>
            </a:pPr>
            <a:r>
              <a:rPr lang="en-US" sz="2300" dirty="0"/>
              <a:t>Embedding layers in </a:t>
            </a:r>
            <a:r>
              <a:rPr lang="en-US" sz="2300" dirty="0" err="1"/>
              <a:t>PyTorch</a:t>
            </a:r>
            <a:r>
              <a:rPr lang="en-US" sz="2300" dirty="0"/>
              <a:t> function as a lookup operation, retrieving vectors corresponding to token IDs. The resulting embedding vectors provide continuous representations of tokens, which is crucial for training deep learning models like LLMs.</a:t>
            </a:r>
          </a:p>
          <a:p>
            <a:pPr>
              <a:lnSpc>
                <a:spcPct val="80000"/>
              </a:lnSpc>
              <a:spcBef>
                <a:spcPts val="0"/>
              </a:spcBef>
            </a:pPr>
            <a:endParaRPr lang="en-US" sz="2300" dirty="0"/>
          </a:p>
          <a:p>
            <a:pPr>
              <a:lnSpc>
                <a:spcPct val="80000"/>
              </a:lnSpc>
              <a:spcBef>
                <a:spcPts val="0"/>
              </a:spcBef>
            </a:pPr>
            <a:r>
              <a:rPr lang="en-US" sz="2300" dirty="0"/>
              <a:t>While token embeddings provide consistent vector representations for each token, they lack a sense of the token’s position in a sequence.</a:t>
            </a:r>
          </a:p>
          <a:p>
            <a:pPr lvl="1">
              <a:lnSpc>
                <a:spcPct val="80000"/>
              </a:lnSpc>
              <a:spcBef>
                <a:spcPts val="0"/>
              </a:spcBef>
            </a:pPr>
            <a:r>
              <a:rPr lang="en-US" sz="2300" dirty="0"/>
              <a:t>To rectify this, two main types of positional embeddings exist:</a:t>
            </a:r>
          </a:p>
          <a:p>
            <a:pPr lvl="2">
              <a:lnSpc>
                <a:spcPct val="80000"/>
              </a:lnSpc>
              <a:spcBef>
                <a:spcPts val="0"/>
              </a:spcBef>
            </a:pPr>
            <a:r>
              <a:rPr lang="en-US" sz="2300" dirty="0"/>
              <a:t>absolute and relative.</a:t>
            </a:r>
          </a:p>
          <a:p>
            <a:pPr>
              <a:lnSpc>
                <a:spcPct val="80000"/>
              </a:lnSpc>
              <a:spcBef>
                <a:spcPts val="0"/>
              </a:spcBef>
            </a:pPr>
            <a:r>
              <a:rPr lang="en-US" sz="2300" dirty="0"/>
              <a:t>OpenAI’s GPT models utilize absolute positional embeddings, which are added to the token embedding vectors and are optimized during the model training.</a:t>
            </a:r>
          </a:p>
        </p:txBody>
      </p:sp>
    </p:spTree>
    <p:extLst>
      <p:ext uri="{BB962C8B-B14F-4D97-AF65-F5344CB8AC3E}">
        <p14:creationId xmlns:p14="http://schemas.microsoft.com/office/powerpoint/2010/main" val="914043975"/>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emplate>Facet</Template>
  <TotalTime>12403</TotalTime>
  <Words>4993</Words>
  <Application>Microsoft Office PowerPoint</Application>
  <PresentationFormat>On-screen Show (4:3)</PresentationFormat>
  <Paragraphs>502</Paragraphs>
  <Slides>92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92</vt:i4>
      </vt:variant>
    </vt:vector>
  </HeadingPairs>
  <TitlesOfParts>
    <vt:vector size="100" baseType="lpstr">
      <vt:lpstr>Arial Narrow</vt:lpstr>
      <vt:lpstr>Calibri</vt:lpstr>
      <vt:lpstr>Courier New</vt:lpstr>
      <vt:lpstr>Times New Roman</vt:lpstr>
      <vt:lpstr>Tw Cen MT</vt:lpstr>
      <vt:lpstr>Wingdings</vt:lpstr>
      <vt:lpstr>Wingdings 2</vt:lpstr>
      <vt:lpstr>Median</vt:lpstr>
      <vt:lpstr>Working with text data</vt:lpstr>
      <vt:lpstr>LLM Models</vt:lpstr>
      <vt:lpstr>Training LLMs</vt:lpstr>
      <vt:lpstr>Figure 2.1 The three main stages of coding an LLM</vt:lpstr>
      <vt:lpstr>Preparing input text for training LLMs</vt:lpstr>
      <vt:lpstr>Understanding word embeddings</vt:lpstr>
      <vt:lpstr>Embedding</vt:lpstr>
      <vt:lpstr>Figure 2.2 Vector Representation</vt:lpstr>
      <vt:lpstr>Primary Purpose of Embeddings</vt:lpstr>
      <vt:lpstr>Retrieval-augmented generation</vt:lpstr>
      <vt:lpstr>Algorithms</vt:lpstr>
      <vt:lpstr>Figure 2.3 Two-dimensional scatterplot for visualization</vt:lpstr>
      <vt:lpstr>Word embeddings can have varying dimensions</vt:lpstr>
      <vt:lpstr>Embeddings are optimized to the specific task and data at hand</vt:lpstr>
      <vt:lpstr>High-dimensional embeddings present a challenge</vt:lpstr>
      <vt:lpstr>Embedding Size</vt:lpstr>
      <vt:lpstr>Tokenizing text</vt:lpstr>
      <vt:lpstr>Figure 2.4 View of the text processing steps in the context of an LLM</vt:lpstr>
      <vt:lpstr>The text to be tokenized for LLM training</vt:lpstr>
      <vt:lpstr>Listing 2.1 Reading in a short story as text sample</vt:lpstr>
      <vt:lpstr>How can we best split this text to obtain a list of tokens?</vt:lpstr>
      <vt:lpstr>PowerPoint Presentation</vt:lpstr>
      <vt:lpstr>PowerPoint Presentation</vt:lpstr>
      <vt:lpstr>Encoding whitespaces as separate characters</vt:lpstr>
      <vt:lpstr>PowerPoint Presentation</vt:lpstr>
      <vt:lpstr>Figure 2.5 The tokenization scheme</vt:lpstr>
      <vt:lpstr>PowerPoint Presentation</vt:lpstr>
      <vt:lpstr>Converting tokens into token IDs</vt:lpstr>
      <vt:lpstr>Figure 2.6 Building a vocabulary by tokenizing the entire text</vt:lpstr>
      <vt:lpstr>Creating a list of unique tokens</vt:lpstr>
      <vt:lpstr>Listing 2.2 Creating a vocabulary</vt:lpstr>
      <vt:lpstr>Figure 2.7 Converting the text tokens into token IDs</vt:lpstr>
      <vt:lpstr>Inverse Version</vt:lpstr>
      <vt:lpstr>PowerPoint Presentation</vt:lpstr>
      <vt:lpstr>Figure 2.8 Encode and Decode Methods</vt:lpstr>
      <vt:lpstr>PowerPoint Presentation</vt:lpstr>
      <vt:lpstr>PowerPoint Presentation</vt:lpstr>
      <vt:lpstr>PowerPoint Presentation</vt:lpstr>
      <vt:lpstr>Adding special context tokens</vt:lpstr>
      <vt:lpstr>Figure 2.9 Adding special tokens to a vocabulary</vt:lpstr>
      <vt:lpstr>&lt;|unk|&gt; token</vt:lpstr>
      <vt:lpstr>Figure 2.10 &lt;|endoftext|&gt; token between multiple text sources</vt:lpstr>
      <vt:lpstr>PowerPoint Presentation</vt:lpstr>
      <vt:lpstr>PowerPoint Presentation</vt:lpstr>
      <vt:lpstr>Listing 2.4 A simple text tokenizer that handles unknown words</vt:lpstr>
      <vt:lpstr>PowerPoint Presentation</vt:lpstr>
      <vt:lpstr>PowerPoint Presentation</vt:lpstr>
      <vt:lpstr>PowerPoint Presentation</vt:lpstr>
      <vt:lpstr>Some researchers also consider additional special tokens</vt:lpstr>
      <vt:lpstr>Tokens in GPT models</vt:lpstr>
      <vt:lpstr>The Tokenizer used for GPT Models</vt:lpstr>
      <vt:lpstr>Tokenization</vt:lpstr>
      <vt:lpstr>Byte-Pair Encoding (BPE) is a compression algorithm</vt:lpstr>
      <vt:lpstr>Concepts related to BPE:</vt:lpstr>
      <vt:lpstr>Steps involved in BPE:</vt:lpstr>
      <vt:lpstr>How Byte-Pair Encoding (BPE) works: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output represents the frequency count</vt:lpstr>
      <vt:lpstr>BPE Algorithm</vt:lpstr>
      <vt:lpstr>Figure 2.11 BPE breaks down unknown words into subwords</vt:lpstr>
      <vt:lpstr>BPE builds its vocabulary</vt:lpstr>
      <vt:lpstr>Data sampling with a sliding window</vt:lpstr>
      <vt:lpstr>Figure 2.12 LLM’s prediction task during training is to predict the next word</vt:lpstr>
      <vt:lpstr>Creating token embeddings</vt:lpstr>
      <vt:lpstr>Figure 2.15 Converting token IDs into embedding vectors</vt:lpstr>
      <vt:lpstr>Embedding is necessary</vt:lpstr>
      <vt:lpstr>Word Embeddings</vt:lpstr>
      <vt:lpstr>What is Word Embedding in NLP?</vt:lpstr>
      <vt:lpstr>Word Embeddings </vt:lpstr>
      <vt:lpstr>Need for Word Embedding?</vt:lpstr>
      <vt:lpstr>How are Word Embeddings used?</vt:lpstr>
      <vt:lpstr>PowerPoint Presentation</vt:lpstr>
      <vt:lpstr>Approaches for Text Representation</vt:lpstr>
      <vt:lpstr>Pretrained Word-Embedding</vt:lpstr>
      <vt:lpstr>Considerations for Deploying Word Embedding Models</vt:lpstr>
      <vt:lpstr>Advantages of Word Embeddings</vt:lpstr>
      <vt:lpstr>Disadvantages of Word Embeddings</vt:lpstr>
      <vt:lpstr>Conclusion</vt:lpstr>
      <vt:lpstr>1. Does GPT use word embeddings?</vt:lpstr>
      <vt:lpstr>2. What is the difference between Bert and word embeddings?</vt:lpstr>
      <vt:lpstr>3. What are the two types of word embedding?</vt:lpstr>
      <vt:lpstr>4. How does word vectorization work?</vt:lpstr>
      <vt:lpstr>5. What are the benefits of word embeddings?</vt:lpstr>
      <vt:lpstr>Summary</vt:lpstr>
      <vt:lpstr>Cont’d</vt:lpstr>
    </vt:vector>
  </TitlesOfParts>
  <Company>WPI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Mohamed Eltabakh</dc:creator>
  <cp:lastModifiedBy>Ozbek, Yusuf</cp:lastModifiedBy>
  <cp:revision>1180</cp:revision>
  <dcterms:created xsi:type="dcterms:W3CDTF">2013-01-13T20:33:29Z</dcterms:created>
  <dcterms:modified xsi:type="dcterms:W3CDTF">2025-09-17T23:57:54Z</dcterms:modified>
</cp:coreProperties>
</file>