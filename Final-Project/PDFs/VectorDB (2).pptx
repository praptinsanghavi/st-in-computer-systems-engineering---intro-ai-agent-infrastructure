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7" r:id="rId1"/>
  </p:sldMasterIdLst>
  <p:notesMasterIdLst>
    <p:notesMasterId r:id="rId25"/>
  </p:notesMasterIdLst>
  <p:handoutMasterIdLst>
    <p:handoutMasterId r:id="rId26"/>
  </p:handoutMasterIdLst>
  <p:sldIdLst>
    <p:sldId id="349" r:id="rId2"/>
    <p:sldId id="350" r:id="rId3"/>
    <p:sldId id="351" r:id="rId4"/>
    <p:sldId id="352" r:id="rId5"/>
    <p:sldId id="353" r:id="rId6"/>
    <p:sldId id="354" r:id="rId7"/>
    <p:sldId id="355" r:id="rId8"/>
    <p:sldId id="356" r:id="rId9"/>
    <p:sldId id="357" r:id="rId10"/>
    <p:sldId id="358" r:id="rId11"/>
    <p:sldId id="359" r:id="rId12"/>
    <p:sldId id="360" r:id="rId13"/>
    <p:sldId id="361" r:id="rId14"/>
    <p:sldId id="362" r:id="rId15"/>
    <p:sldId id="363" r:id="rId16"/>
    <p:sldId id="364" r:id="rId17"/>
    <p:sldId id="365" r:id="rId18"/>
    <p:sldId id="366" r:id="rId19"/>
    <p:sldId id="367" r:id="rId20"/>
    <p:sldId id="368" r:id="rId21"/>
    <p:sldId id="369" r:id="rId22"/>
    <p:sldId id="370" r:id="rId23"/>
    <p:sldId id="371"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FFB9"/>
    <a:srgbClr val="FFFFE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5" d="100"/>
          <a:sy n="65" d="100"/>
        </p:scale>
        <p:origin x="153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BD9761D-1F95-3B4C-BE9C-CDD1389A8812}" type="datetimeFigureOut">
              <a:rPr lang="en-US" smtClean="0"/>
              <a:t>6/5/2025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FADCD51-711A-044D-9B2C-C47F74A9A11F}" type="slidenum">
              <a:rPr lang="en-US" smtClean="0"/>
              <a:t>‹#›</a:t>
            </a:fld>
            <a:endParaRPr lang="en-US"/>
          </a:p>
        </p:txBody>
      </p:sp>
    </p:spTree>
    <p:extLst>
      <p:ext uri="{BB962C8B-B14F-4D97-AF65-F5344CB8AC3E}">
        <p14:creationId xmlns:p14="http://schemas.microsoft.com/office/powerpoint/2010/main" val="85489552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D95A596-FA52-0448-9C24-EA3FEFB30C0E}" type="datetimeFigureOut">
              <a:rPr lang="en-US" smtClean="0"/>
              <a:t>6/5/2025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64C5791-7364-9E4F-986D-297FD347B6DE}" type="slidenum">
              <a:rPr lang="en-US" smtClean="0"/>
              <a:t>‹#›</a:t>
            </a:fld>
            <a:endParaRPr lang="en-US"/>
          </a:p>
        </p:txBody>
      </p:sp>
    </p:spTree>
    <p:extLst>
      <p:ext uri="{BB962C8B-B14F-4D97-AF65-F5344CB8AC3E}">
        <p14:creationId xmlns:p14="http://schemas.microsoft.com/office/powerpoint/2010/main" val="615199402"/>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CF164A81-75B2-194C-A843-C64EC5C16B31}" type="datetime1">
              <a:rPr lang="en-US" smtClean="0"/>
              <a:t>6/5/2025</a:t>
            </a:fld>
            <a:endParaRPr lang="en-US" dirty="0"/>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dirty="0"/>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FA84A37A-AFC2-4A01-80A1-FC20F2C0D5BB}" type="slidenum">
              <a:rPr lang="en-US" smtClean="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20315" y="228600"/>
            <a:ext cx="8943473" cy="990600"/>
          </a:xfrm>
        </p:spPr>
        <p:txBody>
          <a:bodyPr>
            <a:normAutofit/>
          </a:bodyPr>
          <a:lstStyle>
            <a:lvl1pPr>
              <a:defRPr sz="3800" b="1">
                <a:latin typeface="Arial Narrow" panose="020B0606020202030204" pitchFamily="34" charset="0"/>
              </a:defRPr>
            </a:lvl1pPr>
          </a:lstStyle>
          <a:p>
            <a:r>
              <a:rPr kumimoji="0" lang="en-US" dirty="0"/>
              <a:t>Click to edit Master title style</a:t>
            </a:r>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EBFB1032-EA64-7144-B003-9BCC9D94B503}" type="slidenum">
              <a:rPr lang="en-US" smtClean="0"/>
              <a:t>‹#›</a:t>
            </a:fld>
            <a:endParaRPr lang="en-US" dirty="0"/>
          </a:p>
        </p:txBody>
      </p:sp>
      <p:sp>
        <p:nvSpPr>
          <p:cNvPr id="8" name="Content Placeholder 7"/>
          <p:cNvSpPr>
            <a:spLocks noGrp="1"/>
          </p:cNvSpPr>
          <p:nvPr>
            <p:ph sz="quarter" idx="1"/>
          </p:nvPr>
        </p:nvSpPr>
        <p:spPr>
          <a:xfrm>
            <a:off x="120315" y="1600200"/>
            <a:ext cx="8943473" cy="5153526"/>
          </a:xfrm>
        </p:spPr>
        <p:txBody>
          <a:bodyPr>
            <a:normAutofit/>
          </a:bodyPr>
          <a:lstStyle>
            <a:lvl1pPr>
              <a:defRPr sz="2400">
                <a:latin typeface="Arial Narrow" panose="020B0606020202030204" pitchFamily="34" charset="0"/>
              </a:defRPr>
            </a:lvl1pPr>
            <a:lvl2pPr>
              <a:defRPr sz="2400">
                <a:latin typeface="Arial Narrow" panose="020B0606020202030204" pitchFamily="34" charset="0"/>
              </a:defRPr>
            </a:lvl2pPr>
            <a:lvl3pPr>
              <a:defRPr sz="2400">
                <a:latin typeface="Arial Narrow" panose="020B0606020202030204" pitchFamily="34" charset="0"/>
              </a:defRPr>
            </a:lvl3pPr>
            <a:lvl4pPr>
              <a:defRPr sz="2400">
                <a:latin typeface="Arial Narrow" panose="020B0606020202030204" pitchFamily="34" charset="0"/>
              </a:defRPr>
            </a:lvl4pPr>
            <a:lvl5pPr>
              <a:defRPr sz="2400">
                <a:latin typeface="Arial Narrow" panose="020B0606020202030204" pitchFamily="34" charset="0"/>
              </a:defRPr>
            </a:lvl5p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2" name="Date Placeholder 11"/>
          <p:cNvSpPr>
            <a:spLocks noGrp="1"/>
          </p:cNvSpPr>
          <p:nvPr>
            <p:ph type="dt" sz="half" idx="10"/>
          </p:nvPr>
        </p:nvSpPr>
        <p:spPr/>
        <p:txBody>
          <a:bodyPr/>
          <a:lstStyle/>
          <a:p>
            <a:fld id="{EDF00D79-2A23-4C40-804A-C01F394F0C72}" type="datetime1">
              <a:rPr lang="en-US" smtClean="0"/>
              <a:t>6/5/2025</a:t>
            </a:fld>
            <a:endParaRPr lang="en-US" dirty="0"/>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EBFB1032-EA64-7144-B003-9BCC9D94B503}" type="slidenum">
              <a:rPr lang="en-US" smtClean="0"/>
              <a:t>‹#›</a:t>
            </a:fld>
            <a:endParaRPr lang="en-US" dirty="0"/>
          </a:p>
        </p:txBody>
      </p:sp>
      <p:sp>
        <p:nvSpPr>
          <p:cNvPr id="14" name="Footer Placeholder 13"/>
          <p:cNvSpPr>
            <a:spLocks noGrp="1"/>
          </p:cNvSpPr>
          <p:nvPr>
            <p:ph type="ftr" sz="quarter" idx="12"/>
          </p:nvPr>
        </p:nvSpPr>
        <p:spPr/>
        <p:txBody>
          <a:bodyPr/>
          <a:lstStyle/>
          <a:p>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Date Placeholder 7"/>
          <p:cNvSpPr>
            <a:spLocks noGrp="1"/>
          </p:cNvSpPr>
          <p:nvPr>
            <p:ph type="dt" sz="half" idx="15"/>
          </p:nvPr>
        </p:nvSpPr>
        <p:spPr/>
        <p:txBody>
          <a:bodyPr rtlCol="0"/>
          <a:lstStyle/>
          <a:p>
            <a:fld id="{0674B835-C713-9846-B110-24995DE671EF}" type="datetime1">
              <a:rPr lang="en-US" smtClean="0"/>
              <a:t>6/5/2025</a:t>
            </a:fld>
            <a:endParaRPr lang="en-US" dirty="0"/>
          </a:p>
        </p:txBody>
      </p:sp>
      <p:sp>
        <p:nvSpPr>
          <p:cNvPr id="10" name="Slide Number Placeholder 9"/>
          <p:cNvSpPr>
            <a:spLocks noGrp="1"/>
          </p:cNvSpPr>
          <p:nvPr>
            <p:ph type="sldNum" sz="quarter" idx="16"/>
          </p:nvPr>
        </p:nvSpPr>
        <p:spPr/>
        <p:txBody>
          <a:bodyPr rtlCol="0"/>
          <a:lstStyle/>
          <a:p>
            <a:fld id="{EBFB1032-EA64-7144-B003-9BCC9D94B503}" type="slidenum">
              <a:rPr lang="en-US" smtClean="0"/>
              <a:t>‹#›</a:t>
            </a:fld>
            <a:endParaRPr lang="en-US" dirty="0"/>
          </a:p>
        </p:txBody>
      </p:sp>
      <p:sp>
        <p:nvSpPr>
          <p:cNvPr id="12" name="Footer Placeholder 11"/>
          <p:cNvSpPr>
            <a:spLocks noGrp="1"/>
          </p:cNvSpPr>
          <p:nvPr>
            <p:ph type="ftr" sz="quarter" idx="17"/>
          </p:nvPr>
        </p:nvSpPr>
        <p:spPr/>
        <p:txBody>
          <a:bodyPr rtlCol="0"/>
          <a:lstStyle/>
          <a:p>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5"/>
          </p:nvPr>
        </p:nvSpPr>
        <p:spPr/>
        <p:txBody>
          <a:bodyPr rtlCol="0"/>
          <a:lstStyle/>
          <a:p>
            <a:fld id="{D0393BC9-E94F-5B47-BD76-EECA0CBE7CA1}" type="datetime1">
              <a:rPr lang="en-US" smtClean="0"/>
              <a:t>6/5/2025</a:t>
            </a:fld>
            <a:endParaRPr lang="en-US" dirty="0"/>
          </a:p>
        </p:txBody>
      </p:sp>
      <p:sp>
        <p:nvSpPr>
          <p:cNvPr id="12" name="Slide Number Placeholder 11"/>
          <p:cNvSpPr>
            <a:spLocks noGrp="1"/>
          </p:cNvSpPr>
          <p:nvPr>
            <p:ph type="sldNum" sz="quarter" idx="16"/>
          </p:nvPr>
        </p:nvSpPr>
        <p:spPr/>
        <p:txBody>
          <a:bodyPr rtlCol="0"/>
          <a:lstStyle/>
          <a:p>
            <a:fld id="{EBFB1032-EA64-7144-B003-9BCC9D94B503}" type="slidenum">
              <a:rPr lang="en-US" smtClean="0"/>
              <a:t>‹#›</a:t>
            </a:fld>
            <a:endParaRPr lang="en-US" dirty="0"/>
          </a:p>
        </p:txBody>
      </p:sp>
      <p:sp>
        <p:nvSpPr>
          <p:cNvPr id="14" name="Footer Placeholder 13"/>
          <p:cNvSpPr>
            <a:spLocks noGrp="1"/>
          </p:cNvSpPr>
          <p:nvPr>
            <p:ph type="ftr" sz="quarter" idx="17"/>
          </p:nvPr>
        </p:nvSpPr>
        <p:spPr/>
        <p:txBody>
          <a:bodyPr rtlCol="0"/>
          <a:lstStyle/>
          <a:p>
            <a:endParaRPr lang="en-US" dirty="0"/>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57F308A2-EBB5-744B-B5B4-7699A7EC7B98}" type="datetime1">
              <a:rPr lang="en-US" smtClean="0"/>
              <a:t>6/5/2025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EBFB1032-EA64-7144-B003-9BCC9D94B503}"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9872E7-27FD-CA40-8E81-E7A5851A1F00}" type="datetime1">
              <a:rPr lang="en-US" smtClean="0"/>
              <a:t>6/5/2025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EBFB1032-EA64-7144-B003-9BCC9D94B503}"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5" name="Date Placeholder 4"/>
          <p:cNvSpPr>
            <a:spLocks noGrp="1"/>
          </p:cNvSpPr>
          <p:nvPr>
            <p:ph type="dt" sz="half" idx="10"/>
          </p:nvPr>
        </p:nvSpPr>
        <p:spPr/>
        <p:txBody>
          <a:bodyPr/>
          <a:lstStyle/>
          <a:p>
            <a:fld id="{0F37C8EB-B6A2-A747-83AD-60E35A0235F5}" type="datetime1">
              <a:rPr lang="en-US" smtClean="0"/>
              <a:t>6/5/2025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FA84A37A-AFC2-4A01-80A1-FC20F2C0D5BB}" type="slidenum">
              <a:rPr lang="en-US" smtClean="0"/>
              <a:pPr/>
              <a:t>‹#›</a:t>
            </a:fld>
            <a:endParaRPr lang="en-US" dirty="0"/>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CD6682E5-7E97-2F44-B961-B3631B15779F}" type="datetime1">
              <a:rPr lang="en-US" smtClean="0"/>
              <a:t>6/5/2025</a:t>
            </a:fld>
            <a:endParaRPr lang="en-US" dirty="0"/>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EBFB1032-EA64-7144-B003-9BCC9D94B503}" type="slidenum">
              <a:rPr lang="en-US" smtClean="0"/>
              <a:t>‹#›</a:t>
            </a:fld>
            <a:endParaRPr lang="en-US" dirty="0"/>
          </a:p>
        </p:txBody>
      </p:sp>
      <p:sp>
        <p:nvSpPr>
          <p:cNvPr id="14" name="Footer Placeholder 13"/>
          <p:cNvSpPr>
            <a:spLocks noGrp="1"/>
          </p:cNvSpPr>
          <p:nvPr>
            <p:ph type="ftr" sz="quarter" idx="12"/>
          </p:nvPr>
        </p:nvSpPr>
        <p:spPr>
          <a:xfrm>
            <a:off x="1600200" y="6248206"/>
            <a:ext cx="4572000" cy="365125"/>
          </a:xfrm>
        </p:spPr>
        <p:txBody>
          <a:bodyPr rtlCol="0"/>
          <a:lstStyle/>
          <a:p>
            <a:endParaRPr lang="en-US" dirty="0"/>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0DD67E5-F24F-664E-AC9C-26173D2CF6BA}" type="datetime1">
              <a:rPr lang="en-US" smtClean="0"/>
              <a:t>6/5/2025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BFB1032-EA64-7144-B003-9BCC9D94B503}"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E5DF139F-CB8F-D149-BA56-8B0C015E5021}" type="datetime1">
              <a:rPr lang="en-US" smtClean="0"/>
              <a:t>6/5/2025</a:t>
            </a:fld>
            <a:endParaRPr lang="en-US" dirty="0"/>
          </a:p>
        </p:txBody>
      </p:sp>
      <p:sp>
        <p:nvSpPr>
          <p:cNvPr id="5" name="Footer Placeholder 4"/>
          <p:cNvSpPr>
            <a:spLocks noGrp="1"/>
          </p:cNvSpPr>
          <p:nvPr>
            <p:ph type="ftr" sz="quarter" idx="11"/>
          </p:nvPr>
        </p:nvSpPr>
        <p:spPr>
          <a:xfrm>
            <a:off x="457201" y="6248207"/>
            <a:ext cx="5573483" cy="365125"/>
          </a:xfrm>
        </p:spPr>
        <p:txBody>
          <a:bodyPr/>
          <a:lstStyle/>
          <a:p>
            <a:endParaRPr lang="en-US" dirty="0"/>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EBFB1032-EA64-7144-B003-9BCC9D94B503}" type="slidenum">
              <a:rPr lang="en-US" smtClean="0"/>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F6F81F14-9AEC-394B-B8F6-AE69A194437D}" type="datetime1">
              <a:rPr lang="en-US" smtClean="0"/>
              <a:t>6/5/2025</a:t>
            </a:fld>
            <a:endParaRPr lang="en-US" dirty="0"/>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dirty="0"/>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EBFB1032-EA64-7144-B003-9BCC9D94B503}"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Lst>
  <p:hf hdr="0" ftr="0" dt="0"/>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github.com/qdrant/java-client"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C1B65F7-0113-7DE2-3991-A125F6F6787F}"/>
              </a:ext>
            </a:extLst>
          </p:cNvPr>
          <p:cNvSpPr>
            <a:spLocks noGrp="1"/>
          </p:cNvSpPr>
          <p:nvPr>
            <p:ph type="title"/>
          </p:nvPr>
        </p:nvSpPr>
        <p:spPr/>
        <p:txBody>
          <a:bodyPr>
            <a:normAutofit/>
          </a:bodyPr>
          <a:lstStyle/>
          <a:p>
            <a:r>
              <a:rPr lang="en-US" sz="4000" dirty="0"/>
              <a:t>Unstructured Data</a:t>
            </a:r>
          </a:p>
        </p:txBody>
      </p:sp>
      <p:sp>
        <p:nvSpPr>
          <p:cNvPr id="2" name="Slide Number Placeholder 1">
            <a:extLst>
              <a:ext uri="{FF2B5EF4-FFF2-40B4-BE49-F238E27FC236}">
                <a16:creationId xmlns:a16="http://schemas.microsoft.com/office/drawing/2014/main" id="{7137B734-908D-3509-4F4F-4206C8E7291B}"/>
              </a:ext>
            </a:extLst>
          </p:cNvPr>
          <p:cNvSpPr>
            <a:spLocks noGrp="1"/>
          </p:cNvSpPr>
          <p:nvPr>
            <p:ph type="sldNum" sz="quarter" idx="12"/>
          </p:nvPr>
        </p:nvSpPr>
        <p:spPr/>
        <p:txBody>
          <a:bodyPr>
            <a:normAutofit fontScale="85000" lnSpcReduction="20000"/>
          </a:bodyPr>
          <a:lstStyle/>
          <a:p>
            <a:fld id="{EBFB1032-EA64-7144-B003-9BCC9D94B503}" type="slidenum">
              <a:rPr lang="en-US" smtClean="0"/>
              <a:t>1</a:t>
            </a:fld>
            <a:endParaRPr lang="en-US" dirty="0"/>
          </a:p>
        </p:txBody>
      </p:sp>
      <p:sp>
        <p:nvSpPr>
          <p:cNvPr id="4" name="Content Placeholder 3">
            <a:extLst>
              <a:ext uri="{FF2B5EF4-FFF2-40B4-BE49-F238E27FC236}">
                <a16:creationId xmlns:a16="http://schemas.microsoft.com/office/drawing/2014/main" id="{D1E027C4-4CBB-81FD-6CCB-3B08B2BD3E39}"/>
              </a:ext>
            </a:extLst>
          </p:cNvPr>
          <p:cNvSpPr>
            <a:spLocks noGrp="1"/>
          </p:cNvSpPr>
          <p:nvPr>
            <p:ph sz="quarter" idx="1"/>
          </p:nvPr>
        </p:nvSpPr>
        <p:spPr/>
        <p:txBody>
          <a:bodyPr>
            <a:noAutofit/>
          </a:bodyPr>
          <a:lstStyle/>
          <a:p>
            <a:pPr algn="just">
              <a:spcBef>
                <a:spcPts val="0"/>
              </a:spcBef>
            </a:pPr>
            <a:r>
              <a:rPr lang="en-US" dirty="0"/>
              <a:t>Most of the millions of terabytes of data we generate each day is unstructured.</a:t>
            </a:r>
          </a:p>
          <a:p>
            <a:pPr algn="just">
              <a:spcBef>
                <a:spcPts val="0"/>
              </a:spcBef>
            </a:pPr>
            <a:endParaRPr lang="en-US" dirty="0"/>
          </a:p>
          <a:p>
            <a:pPr algn="just">
              <a:spcBef>
                <a:spcPts val="0"/>
              </a:spcBef>
            </a:pPr>
            <a:r>
              <a:rPr lang="en-US" dirty="0"/>
              <a:t>Think of the meal photos you snap, the PDFs shared at work, or the podcasts you save but may never listen to.</a:t>
            </a:r>
          </a:p>
          <a:p>
            <a:pPr algn="just">
              <a:spcBef>
                <a:spcPts val="0"/>
              </a:spcBef>
            </a:pPr>
            <a:endParaRPr lang="en-US" dirty="0"/>
          </a:p>
          <a:p>
            <a:pPr algn="just">
              <a:spcBef>
                <a:spcPts val="0"/>
              </a:spcBef>
            </a:pPr>
            <a:r>
              <a:rPr lang="en-US" dirty="0"/>
              <a:t>None of it fits neatly into rows and columns.</a:t>
            </a:r>
          </a:p>
          <a:p>
            <a:pPr algn="just">
              <a:spcBef>
                <a:spcPts val="0"/>
              </a:spcBef>
            </a:pPr>
            <a:endParaRPr lang="en-US" dirty="0"/>
          </a:p>
          <a:p>
            <a:pPr algn="just">
              <a:spcBef>
                <a:spcPts val="0"/>
              </a:spcBef>
            </a:pPr>
            <a:r>
              <a:rPr lang="en-US" dirty="0"/>
              <a:t>Unstructured data lacks a strict format or schema, making it challenging for conventional databases to manage.</a:t>
            </a:r>
          </a:p>
          <a:p>
            <a:pPr algn="just">
              <a:spcBef>
                <a:spcPts val="0"/>
              </a:spcBef>
            </a:pPr>
            <a:endParaRPr lang="en-US" dirty="0"/>
          </a:p>
          <a:p>
            <a:pPr algn="just">
              <a:spcBef>
                <a:spcPts val="0"/>
              </a:spcBef>
            </a:pPr>
            <a:r>
              <a:rPr lang="en-US" dirty="0"/>
              <a:t>Yet, this unstructured data holds immense potential for AI, machine learning, and modern search engines.</a:t>
            </a:r>
          </a:p>
        </p:txBody>
      </p:sp>
    </p:spTree>
    <p:extLst>
      <p:ext uri="{BB962C8B-B14F-4D97-AF65-F5344CB8AC3E}">
        <p14:creationId xmlns:p14="http://schemas.microsoft.com/office/powerpoint/2010/main" val="13898763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7B8FD-1B86-C6AB-8416-72842818DC0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BCA5BD8-88CB-EB31-82EB-594779A39EF6}"/>
              </a:ext>
            </a:extLst>
          </p:cNvPr>
          <p:cNvSpPr>
            <a:spLocks noGrp="1"/>
          </p:cNvSpPr>
          <p:nvPr>
            <p:ph type="title"/>
          </p:nvPr>
        </p:nvSpPr>
        <p:spPr/>
        <p:txBody>
          <a:bodyPr>
            <a:normAutofit/>
          </a:bodyPr>
          <a:lstStyle/>
          <a:p>
            <a:r>
              <a:rPr lang="en-US" sz="4000" b="1" dirty="0"/>
              <a:t>What Is a Vector Database?</a:t>
            </a:r>
            <a:endParaRPr lang="en-US" sz="4000" dirty="0"/>
          </a:p>
        </p:txBody>
      </p:sp>
      <p:sp>
        <p:nvSpPr>
          <p:cNvPr id="2" name="Slide Number Placeholder 1">
            <a:extLst>
              <a:ext uri="{FF2B5EF4-FFF2-40B4-BE49-F238E27FC236}">
                <a16:creationId xmlns:a16="http://schemas.microsoft.com/office/drawing/2014/main" id="{2336B3E3-E54B-8F38-62F5-F75CBC8D3D99}"/>
              </a:ext>
            </a:extLst>
          </p:cNvPr>
          <p:cNvSpPr>
            <a:spLocks noGrp="1"/>
          </p:cNvSpPr>
          <p:nvPr>
            <p:ph type="sldNum" sz="quarter" idx="12"/>
          </p:nvPr>
        </p:nvSpPr>
        <p:spPr/>
        <p:txBody>
          <a:bodyPr>
            <a:normAutofit fontScale="85000" lnSpcReduction="20000"/>
          </a:bodyPr>
          <a:lstStyle/>
          <a:p>
            <a:fld id="{EBFB1032-EA64-7144-B003-9BCC9D94B503}" type="slidenum">
              <a:rPr lang="en-US" smtClean="0"/>
              <a:t>2</a:t>
            </a:fld>
            <a:endParaRPr lang="en-US" dirty="0"/>
          </a:p>
        </p:txBody>
      </p:sp>
      <p:sp>
        <p:nvSpPr>
          <p:cNvPr id="4" name="Content Placeholder 3">
            <a:extLst>
              <a:ext uri="{FF2B5EF4-FFF2-40B4-BE49-F238E27FC236}">
                <a16:creationId xmlns:a16="http://schemas.microsoft.com/office/drawing/2014/main" id="{7AE5D93F-7B41-4C43-7973-36FB10562B5A}"/>
              </a:ext>
            </a:extLst>
          </p:cNvPr>
          <p:cNvSpPr>
            <a:spLocks noGrp="1"/>
          </p:cNvSpPr>
          <p:nvPr>
            <p:ph sz="quarter" idx="1"/>
          </p:nvPr>
        </p:nvSpPr>
        <p:spPr/>
        <p:txBody>
          <a:bodyPr>
            <a:noAutofit/>
          </a:bodyPr>
          <a:lstStyle/>
          <a:p>
            <a:pPr>
              <a:spcBef>
                <a:spcPts val="0"/>
              </a:spcBef>
            </a:pPr>
            <a:r>
              <a:rPr lang="en-US" dirty="0"/>
              <a:t>A Vector Database is a specialized system designed to efficiently handle high-dimensional vector data.</a:t>
            </a:r>
          </a:p>
          <a:p>
            <a:pPr>
              <a:spcBef>
                <a:spcPts val="0"/>
              </a:spcBef>
            </a:pPr>
            <a:endParaRPr lang="en-US" dirty="0"/>
          </a:p>
          <a:p>
            <a:pPr>
              <a:spcBef>
                <a:spcPts val="0"/>
              </a:spcBef>
            </a:pPr>
            <a:r>
              <a:rPr lang="en-US" dirty="0"/>
              <a:t>It excels at indexing, querying, and retrieving this data, enabling advanced analysis and similarity searches that traditional databases cannot easily perform.</a:t>
            </a:r>
          </a:p>
          <a:p>
            <a:pPr>
              <a:spcBef>
                <a:spcPts val="0"/>
              </a:spcBef>
            </a:pPr>
            <a:endParaRPr lang="en-US" dirty="0"/>
          </a:p>
        </p:txBody>
      </p:sp>
    </p:spTree>
    <p:extLst>
      <p:ext uri="{BB962C8B-B14F-4D97-AF65-F5344CB8AC3E}">
        <p14:creationId xmlns:p14="http://schemas.microsoft.com/office/powerpoint/2010/main" val="5931765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43BC1-9011-D509-6F69-4A62EDCA5695}"/>
              </a:ext>
            </a:extLst>
          </p:cNvPr>
          <p:cNvSpPr>
            <a:spLocks noGrp="1"/>
          </p:cNvSpPr>
          <p:nvPr>
            <p:ph type="title"/>
          </p:nvPr>
        </p:nvSpPr>
        <p:spPr/>
        <p:txBody>
          <a:bodyPr>
            <a:normAutofit/>
          </a:bodyPr>
          <a:lstStyle/>
          <a:p>
            <a:r>
              <a:rPr lang="en-US" sz="4000" dirty="0"/>
              <a:t>OLTP and OLAP Databases</a:t>
            </a:r>
            <a:endParaRPr lang="en-US" dirty="0"/>
          </a:p>
        </p:txBody>
      </p:sp>
      <p:sp>
        <p:nvSpPr>
          <p:cNvPr id="3" name="Slide Number Placeholder 2">
            <a:extLst>
              <a:ext uri="{FF2B5EF4-FFF2-40B4-BE49-F238E27FC236}">
                <a16:creationId xmlns:a16="http://schemas.microsoft.com/office/drawing/2014/main" id="{FB3D2E74-BFA1-FDA7-B61D-3B726C29C4A3}"/>
              </a:ext>
            </a:extLst>
          </p:cNvPr>
          <p:cNvSpPr>
            <a:spLocks noGrp="1"/>
          </p:cNvSpPr>
          <p:nvPr>
            <p:ph type="sldNum" sz="quarter" idx="12"/>
          </p:nvPr>
        </p:nvSpPr>
        <p:spPr/>
        <p:txBody>
          <a:bodyPr>
            <a:normAutofit fontScale="85000" lnSpcReduction="20000"/>
          </a:bodyPr>
          <a:lstStyle/>
          <a:p>
            <a:fld id="{EBFB1032-EA64-7144-B003-9BCC9D94B503}" type="slidenum">
              <a:rPr lang="en-US" smtClean="0"/>
              <a:t>3</a:t>
            </a:fld>
            <a:endParaRPr lang="en-US" dirty="0"/>
          </a:p>
        </p:txBody>
      </p:sp>
      <p:sp>
        <p:nvSpPr>
          <p:cNvPr id="4" name="Content Placeholder 3">
            <a:extLst>
              <a:ext uri="{FF2B5EF4-FFF2-40B4-BE49-F238E27FC236}">
                <a16:creationId xmlns:a16="http://schemas.microsoft.com/office/drawing/2014/main" id="{CE3C7ED2-F626-6811-7175-74440684DDF9}"/>
              </a:ext>
            </a:extLst>
          </p:cNvPr>
          <p:cNvSpPr>
            <a:spLocks noGrp="1"/>
          </p:cNvSpPr>
          <p:nvPr>
            <p:ph sz="quarter" idx="1"/>
          </p:nvPr>
        </p:nvSpPr>
        <p:spPr/>
        <p:txBody>
          <a:bodyPr>
            <a:normAutofit/>
          </a:bodyPr>
          <a:lstStyle/>
          <a:p>
            <a:pPr algn="just">
              <a:spcBef>
                <a:spcPts val="0"/>
              </a:spcBef>
            </a:pPr>
            <a:r>
              <a:rPr lang="en-US" sz="2300" dirty="0"/>
              <a:t>Traditional OLTP and OLAP databases have been the backbone of data storage for </a:t>
            </a:r>
            <a:r>
              <a:rPr lang="en-US" sz="2300" dirty="0" err="1"/>
              <a:t>decades.They</a:t>
            </a:r>
            <a:r>
              <a:rPr lang="en-US" sz="2300" dirty="0"/>
              <a:t> are great at managing structured data with well-defined schemas, like name, address, phone number, and purchase history.</a:t>
            </a:r>
          </a:p>
        </p:txBody>
      </p:sp>
      <p:pic>
        <p:nvPicPr>
          <p:cNvPr id="6" name="Picture 5" descr="A screenshot of a computer">
            <a:extLst>
              <a:ext uri="{FF2B5EF4-FFF2-40B4-BE49-F238E27FC236}">
                <a16:creationId xmlns:a16="http://schemas.microsoft.com/office/drawing/2014/main" id="{D57511A0-C1A3-F9B3-B190-0BEA60BB7301}"/>
              </a:ext>
            </a:extLst>
          </p:cNvPr>
          <p:cNvPicPr>
            <a:picLocks noChangeAspect="1"/>
          </p:cNvPicPr>
          <p:nvPr/>
        </p:nvPicPr>
        <p:blipFill>
          <a:blip r:embed="rId2"/>
          <a:stretch>
            <a:fillRect/>
          </a:stretch>
        </p:blipFill>
        <p:spPr>
          <a:xfrm>
            <a:off x="1613563" y="2971800"/>
            <a:ext cx="5916874" cy="3657600"/>
          </a:xfrm>
          <a:prstGeom prst="rect">
            <a:avLst/>
          </a:prstGeom>
        </p:spPr>
      </p:pic>
    </p:spTree>
    <p:extLst>
      <p:ext uri="{BB962C8B-B14F-4D97-AF65-F5344CB8AC3E}">
        <p14:creationId xmlns:p14="http://schemas.microsoft.com/office/powerpoint/2010/main" val="14284898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346A4-27CC-0922-65ED-ACCD587920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1ADF80-A049-00F2-2749-A297919BAA2B}"/>
              </a:ext>
            </a:extLst>
          </p:cNvPr>
          <p:cNvSpPr>
            <a:spLocks noGrp="1"/>
          </p:cNvSpPr>
          <p:nvPr>
            <p:ph type="title"/>
          </p:nvPr>
        </p:nvSpPr>
        <p:spPr/>
        <p:txBody>
          <a:bodyPr>
            <a:normAutofit/>
          </a:bodyPr>
          <a:lstStyle/>
          <a:p>
            <a:r>
              <a:rPr lang="en-US" dirty="0"/>
              <a:t>The Challenge with Traditional Databases</a:t>
            </a:r>
          </a:p>
        </p:txBody>
      </p:sp>
      <p:sp>
        <p:nvSpPr>
          <p:cNvPr id="3" name="Slide Number Placeholder 2">
            <a:extLst>
              <a:ext uri="{FF2B5EF4-FFF2-40B4-BE49-F238E27FC236}">
                <a16:creationId xmlns:a16="http://schemas.microsoft.com/office/drawing/2014/main" id="{3F62D053-8B84-A306-FD40-6F70F4C06AA7}"/>
              </a:ext>
            </a:extLst>
          </p:cNvPr>
          <p:cNvSpPr>
            <a:spLocks noGrp="1"/>
          </p:cNvSpPr>
          <p:nvPr>
            <p:ph type="sldNum" sz="quarter" idx="12"/>
          </p:nvPr>
        </p:nvSpPr>
        <p:spPr/>
        <p:txBody>
          <a:bodyPr>
            <a:normAutofit fontScale="85000" lnSpcReduction="20000"/>
          </a:bodyPr>
          <a:lstStyle/>
          <a:p>
            <a:fld id="{EBFB1032-EA64-7144-B003-9BCC9D94B503}" type="slidenum">
              <a:rPr lang="en-US" smtClean="0"/>
              <a:t>4</a:t>
            </a:fld>
            <a:endParaRPr lang="en-US" dirty="0"/>
          </a:p>
        </p:txBody>
      </p:sp>
      <p:sp>
        <p:nvSpPr>
          <p:cNvPr id="4" name="Content Placeholder 3">
            <a:extLst>
              <a:ext uri="{FF2B5EF4-FFF2-40B4-BE49-F238E27FC236}">
                <a16:creationId xmlns:a16="http://schemas.microsoft.com/office/drawing/2014/main" id="{52C2081A-839B-B737-4F7A-2010DE2CBE06}"/>
              </a:ext>
            </a:extLst>
          </p:cNvPr>
          <p:cNvSpPr>
            <a:spLocks noGrp="1"/>
          </p:cNvSpPr>
          <p:nvPr>
            <p:ph sz="quarter" idx="1"/>
          </p:nvPr>
        </p:nvSpPr>
        <p:spPr/>
        <p:txBody>
          <a:bodyPr>
            <a:normAutofit/>
          </a:bodyPr>
          <a:lstStyle/>
          <a:p>
            <a:pPr algn="just">
              <a:spcBef>
                <a:spcPts val="0"/>
              </a:spcBef>
            </a:pPr>
            <a:r>
              <a:rPr lang="en-US" sz="2300" dirty="0"/>
              <a:t>But when data can’t be easily categorized, like the content inside a PDF file, things start to get complicated.</a:t>
            </a:r>
          </a:p>
          <a:p>
            <a:pPr algn="just">
              <a:spcBef>
                <a:spcPts val="0"/>
              </a:spcBef>
            </a:pPr>
            <a:endParaRPr lang="en-US" sz="2300" dirty="0"/>
          </a:p>
          <a:p>
            <a:pPr algn="just">
              <a:spcBef>
                <a:spcPts val="0"/>
              </a:spcBef>
            </a:pPr>
            <a:r>
              <a:rPr lang="en-US" sz="2300" dirty="0"/>
              <a:t>You can always store the PDF file as raw data, perhaps with some metadata attached.</a:t>
            </a:r>
          </a:p>
          <a:p>
            <a:pPr lvl="1" algn="just">
              <a:spcBef>
                <a:spcPts val="0"/>
              </a:spcBef>
            </a:pPr>
            <a:r>
              <a:rPr lang="en-US" sz="2300" dirty="0"/>
              <a:t>However, the database still wouldn’t be able to understand what’s inside the document, categorize it, or even search for the information that it contains.</a:t>
            </a:r>
          </a:p>
          <a:p>
            <a:pPr algn="just">
              <a:spcBef>
                <a:spcPts val="0"/>
              </a:spcBef>
            </a:pPr>
            <a:endParaRPr lang="en-US" sz="2300" dirty="0"/>
          </a:p>
          <a:p>
            <a:pPr algn="just">
              <a:spcBef>
                <a:spcPts val="0"/>
              </a:spcBef>
            </a:pPr>
            <a:r>
              <a:rPr lang="en-US" sz="2300" dirty="0"/>
              <a:t>Also, this applies to more than just PDF documents.</a:t>
            </a:r>
          </a:p>
          <a:p>
            <a:pPr algn="just">
              <a:spcBef>
                <a:spcPts val="0"/>
              </a:spcBef>
            </a:pPr>
            <a:r>
              <a:rPr lang="en-US" sz="2300" dirty="0"/>
              <a:t>Think about the vast amounts of text, audio, and image data you generate every day.</a:t>
            </a:r>
          </a:p>
          <a:p>
            <a:pPr algn="just">
              <a:spcBef>
                <a:spcPts val="0"/>
              </a:spcBef>
            </a:pPr>
            <a:endParaRPr lang="en-US" sz="2300" dirty="0"/>
          </a:p>
          <a:p>
            <a:pPr algn="just">
              <a:spcBef>
                <a:spcPts val="0"/>
              </a:spcBef>
            </a:pPr>
            <a:r>
              <a:rPr lang="en-US" sz="2300" dirty="0"/>
              <a:t>If a database can’t grasp the meaning of this data, how can you search for or find relationships within the data?</a:t>
            </a:r>
          </a:p>
        </p:txBody>
      </p:sp>
    </p:spTree>
    <p:extLst>
      <p:ext uri="{BB962C8B-B14F-4D97-AF65-F5344CB8AC3E}">
        <p14:creationId xmlns:p14="http://schemas.microsoft.com/office/powerpoint/2010/main" val="18904611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BD80D-7FC8-5A8A-FB7E-6559F6F63117}"/>
              </a:ext>
            </a:extLst>
          </p:cNvPr>
          <p:cNvSpPr>
            <a:spLocks noGrp="1"/>
          </p:cNvSpPr>
          <p:nvPr>
            <p:ph type="title"/>
          </p:nvPr>
        </p:nvSpPr>
        <p:spPr/>
        <p:txBody>
          <a:bodyPr/>
          <a:lstStyle/>
          <a:p>
            <a:r>
              <a:rPr lang="en-US" dirty="0"/>
              <a:t>Vector databases</a:t>
            </a:r>
          </a:p>
        </p:txBody>
      </p:sp>
      <p:sp>
        <p:nvSpPr>
          <p:cNvPr id="3" name="Slide Number Placeholder 2">
            <a:extLst>
              <a:ext uri="{FF2B5EF4-FFF2-40B4-BE49-F238E27FC236}">
                <a16:creationId xmlns:a16="http://schemas.microsoft.com/office/drawing/2014/main" id="{4596473D-7C6A-4AE4-EE26-1C1D5474D739}"/>
              </a:ext>
            </a:extLst>
          </p:cNvPr>
          <p:cNvSpPr>
            <a:spLocks noGrp="1"/>
          </p:cNvSpPr>
          <p:nvPr>
            <p:ph type="sldNum" sz="quarter" idx="12"/>
          </p:nvPr>
        </p:nvSpPr>
        <p:spPr/>
        <p:txBody>
          <a:bodyPr>
            <a:normAutofit fontScale="85000" lnSpcReduction="20000"/>
          </a:bodyPr>
          <a:lstStyle/>
          <a:p>
            <a:fld id="{EBFB1032-EA64-7144-B003-9BCC9D94B503}" type="slidenum">
              <a:rPr lang="en-US" smtClean="0"/>
              <a:t>5</a:t>
            </a:fld>
            <a:endParaRPr lang="en-US" dirty="0"/>
          </a:p>
        </p:txBody>
      </p:sp>
      <p:sp>
        <p:nvSpPr>
          <p:cNvPr id="4" name="Content Placeholder 3">
            <a:extLst>
              <a:ext uri="{FF2B5EF4-FFF2-40B4-BE49-F238E27FC236}">
                <a16:creationId xmlns:a16="http://schemas.microsoft.com/office/drawing/2014/main" id="{96004CE6-B869-3926-2B25-B39EABEAF961}"/>
              </a:ext>
            </a:extLst>
          </p:cNvPr>
          <p:cNvSpPr>
            <a:spLocks noGrp="1"/>
          </p:cNvSpPr>
          <p:nvPr>
            <p:ph sz="quarter" idx="1"/>
          </p:nvPr>
        </p:nvSpPr>
        <p:spPr>
          <a:xfrm>
            <a:off x="120315" y="1516698"/>
            <a:ext cx="8943473" cy="5237028"/>
          </a:xfrm>
        </p:spPr>
        <p:txBody>
          <a:bodyPr/>
          <a:lstStyle/>
          <a:p>
            <a:pPr algn="just">
              <a:lnSpc>
                <a:spcPct val="90000"/>
              </a:lnSpc>
              <a:spcBef>
                <a:spcPts val="0"/>
              </a:spcBef>
            </a:pPr>
            <a:r>
              <a:rPr lang="en-US" dirty="0"/>
              <a:t>Vector databases allow you to understand the context or conceptual similarity of unstructured data by representing them </a:t>
            </a:r>
            <a:r>
              <a:rPr lang="en-US"/>
              <a:t>as vectors</a:t>
            </a:r>
            <a:r>
              <a:rPr lang="en-US" dirty="0"/>
              <a:t>, enabling advanced analysis and retrieval based on data similarity.</a:t>
            </a:r>
          </a:p>
        </p:txBody>
      </p:sp>
      <p:pic>
        <p:nvPicPr>
          <p:cNvPr id="7" name="Picture 6" descr="A screenshot of a computer&#10;&#10;AI-generated content may be incorrect.">
            <a:extLst>
              <a:ext uri="{FF2B5EF4-FFF2-40B4-BE49-F238E27FC236}">
                <a16:creationId xmlns:a16="http://schemas.microsoft.com/office/drawing/2014/main" id="{C5E15A6F-1F68-8A76-7795-02DE7428ABEA}"/>
              </a:ext>
            </a:extLst>
          </p:cNvPr>
          <p:cNvPicPr>
            <a:picLocks noChangeAspect="1"/>
          </p:cNvPicPr>
          <p:nvPr/>
        </p:nvPicPr>
        <p:blipFill>
          <a:blip r:embed="rId2"/>
          <a:stretch>
            <a:fillRect/>
          </a:stretch>
        </p:blipFill>
        <p:spPr>
          <a:xfrm>
            <a:off x="2508554" y="2617826"/>
            <a:ext cx="4126891" cy="4114800"/>
          </a:xfrm>
          <a:prstGeom prst="rect">
            <a:avLst/>
          </a:prstGeom>
        </p:spPr>
      </p:pic>
    </p:spTree>
    <p:extLst>
      <p:ext uri="{BB962C8B-B14F-4D97-AF65-F5344CB8AC3E}">
        <p14:creationId xmlns:p14="http://schemas.microsoft.com/office/powerpoint/2010/main" val="31990918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86E9B-71F1-22A7-630E-25A20AB2FD99}"/>
              </a:ext>
            </a:extLst>
          </p:cNvPr>
          <p:cNvSpPr>
            <a:spLocks noGrp="1"/>
          </p:cNvSpPr>
          <p:nvPr>
            <p:ph type="title"/>
          </p:nvPr>
        </p:nvSpPr>
        <p:spPr/>
        <p:txBody>
          <a:bodyPr/>
          <a:lstStyle/>
          <a:p>
            <a:r>
              <a:rPr lang="en-US" dirty="0"/>
              <a:t>When to Use a Vector Database?</a:t>
            </a:r>
          </a:p>
        </p:txBody>
      </p:sp>
      <p:sp>
        <p:nvSpPr>
          <p:cNvPr id="3" name="Slide Number Placeholder 2">
            <a:extLst>
              <a:ext uri="{FF2B5EF4-FFF2-40B4-BE49-F238E27FC236}">
                <a16:creationId xmlns:a16="http://schemas.microsoft.com/office/drawing/2014/main" id="{4603AD44-B863-C37F-03DE-7D60BF4F6B16}"/>
              </a:ext>
            </a:extLst>
          </p:cNvPr>
          <p:cNvSpPr>
            <a:spLocks noGrp="1"/>
          </p:cNvSpPr>
          <p:nvPr>
            <p:ph type="sldNum" sz="quarter" idx="12"/>
          </p:nvPr>
        </p:nvSpPr>
        <p:spPr/>
        <p:txBody>
          <a:bodyPr>
            <a:normAutofit fontScale="85000" lnSpcReduction="20000"/>
          </a:bodyPr>
          <a:lstStyle/>
          <a:p>
            <a:fld id="{EBFB1032-EA64-7144-B003-9BCC9D94B503}" type="slidenum">
              <a:rPr lang="en-US" smtClean="0"/>
              <a:t>6</a:t>
            </a:fld>
            <a:endParaRPr lang="en-US" dirty="0"/>
          </a:p>
        </p:txBody>
      </p:sp>
      <p:graphicFrame>
        <p:nvGraphicFramePr>
          <p:cNvPr id="5" name="Table 4">
            <a:extLst>
              <a:ext uri="{FF2B5EF4-FFF2-40B4-BE49-F238E27FC236}">
                <a16:creationId xmlns:a16="http://schemas.microsoft.com/office/drawing/2014/main" id="{2C3D6405-35CA-8039-23DF-2525DF4C70B3}"/>
              </a:ext>
            </a:extLst>
          </p:cNvPr>
          <p:cNvGraphicFramePr>
            <a:graphicFrameLocks noGrp="1"/>
          </p:cNvGraphicFramePr>
          <p:nvPr>
            <p:extLst>
              <p:ext uri="{D42A27DB-BD31-4B8C-83A1-F6EECF244321}">
                <p14:modId xmlns:p14="http://schemas.microsoft.com/office/powerpoint/2010/main" val="271649126"/>
              </p:ext>
            </p:extLst>
          </p:nvPr>
        </p:nvGraphicFramePr>
        <p:xfrm>
          <a:off x="495300" y="1816797"/>
          <a:ext cx="8153400" cy="4390203"/>
        </p:xfrm>
        <a:graphic>
          <a:graphicData uri="http://schemas.openxmlformats.org/drawingml/2006/table">
            <a:tbl>
              <a:tblPr firstRow="1" firstCol="1" bandRow="1">
                <a:tableStyleId>{5C22544A-7EE6-4342-B048-85BDC9FD1C3A}</a:tableStyleId>
              </a:tblPr>
              <a:tblGrid>
                <a:gridCol w="2038350">
                  <a:extLst>
                    <a:ext uri="{9D8B030D-6E8A-4147-A177-3AD203B41FA5}">
                      <a16:colId xmlns:a16="http://schemas.microsoft.com/office/drawing/2014/main" val="3838372472"/>
                    </a:ext>
                  </a:extLst>
                </a:gridCol>
                <a:gridCol w="2038350">
                  <a:extLst>
                    <a:ext uri="{9D8B030D-6E8A-4147-A177-3AD203B41FA5}">
                      <a16:colId xmlns:a16="http://schemas.microsoft.com/office/drawing/2014/main" val="531956045"/>
                    </a:ext>
                  </a:extLst>
                </a:gridCol>
                <a:gridCol w="2038350">
                  <a:extLst>
                    <a:ext uri="{9D8B030D-6E8A-4147-A177-3AD203B41FA5}">
                      <a16:colId xmlns:a16="http://schemas.microsoft.com/office/drawing/2014/main" val="3104426687"/>
                    </a:ext>
                  </a:extLst>
                </a:gridCol>
                <a:gridCol w="2038350">
                  <a:extLst>
                    <a:ext uri="{9D8B030D-6E8A-4147-A177-3AD203B41FA5}">
                      <a16:colId xmlns:a16="http://schemas.microsoft.com/office/drawing/2014/main" val="1618800614"/>
                    </a:ext>
                  </a:extLst>
                </a:gridCol>
              </a:tblGrid>
              <a:tr h="0">
                <a:tc>
                  <a:txBody>
                    <a:bodyPr/>
                    <a:lstStyle/>
                    <a:p>
                      <a:pPr marL="0" marR="0">
                        <a:lnSpc>
                          <a:spcPct val="115000"/>
                        </a:lnSpc>
                        <a:spcAft>
                          <a:spcPts val="800"/>
                        </a:spcAft>
                        <a:buNone/>
                      </a:pPr>
                      <a:r>
                        <a:rPr lang="en-US" sz="1600" kern="100">
                          <a:effectLst/>
                          <a:latin typeface="Aptos Narrow" panose="020B0004020202020204" pitchFamily="34" charset="0"/>
                        </a:rPr>
                        <a:t>Feature</a:t>
                      </a:r>
                      <a:endParaRPr lang="en-US" sz="1200" kern="100">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600" kern="100">
                          <a:effectLst/>
                          <a:latin typeface="Aptos Narrow" panose="020B0004020202020204" pitchFamily="34" charset="0"/>
                        </a:rPr>
                        <a:t>OLTP Database</a:t>
                      </a:r>
                      <a:endParaRPr lang="en-US" sz="1200" kern="100">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600" kern="100">
                          <a:effectLst/>
                          <a:latin typeface="Aptos Narrow" panose="020B0004020202020204" pitchFamily="34" charset="0"/>
                        </a:rPr>
                        <a:t>OLAP Database</a:t>
                      </a:r>
                      <a:endParaRPr lang="en-US" sz="1200" kern="100">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600" kern="100">
                          <a:effectLst/>
                          <a:latin typeface="Aptos Narrow" panose="020B0004020202020204" pitchFamily="34" charset="0"/>
                        </a:rPr>
                        <a:t>Vector Database</a:t>
                      </a:r>
                      <a:endParaRPr lang="en-US" sz="1200" kern="100">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48036562"/>
                  </a:ext>
                </a:extLst>
              </a:tr>
              <a:tr h="0">
                <a:tc>
                  <a:txBody>
                    <a:bodyPr/>
                    <a:lstStyle/>
                    <a:p>
                      <a:pPr marL="0" marR="0">
                        <a:lnSpc>
                          <a:spcPct val="115000"/>
                        </a:lnSpc>
                        <a:spcAft>
                          <a:spcPts val="800"/>
                        </a:spcAft>
                        <a:buNone/>
                      </a:pPr>
                      <a:r>
                        <a:rPr lang="en-US" sz="1600" kern="100">
                          <a:effectLst/>
                          <a:latin typeface="Aptos Narrow" panose="020B0004020202020204" pitchFamily="34" charset="0"/>
                        </a:rPr>
                        <a:t>Data Structure</a:t>
                      </a:r>
                      <a:endParaRPr lang="en-US" sz="1200" kern="100">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600" kern="100">
                          <a:effectLst/>
                          <a:latin typeface="Aptos Narrow" panose="020B0004020202020204" pitchFamily="34" charset="0"/>
                        </a:rPr>
                        <a:t>Rows and columns</a:t>
                      </a:r>
                      <a:endParaRPr lang="en-US" sz="1200" kern="100">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600" kern="100">
                          <a:effectLst/>
                          <a:latin typeface="Aptos Narrow" panose="020B0004020202020204" pitchFamily="34" charset="0"/>
                        </a:rPr>
                        <a:t>Rows and columns</a:t>
                      </a:r>
                      <a:endParaRPr lang="en-US" sz="1200" kern="100">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600" kern="100">
                          <a:effectLst/>
                          <a:latin typeface="Aptos Narrow" panose="020B0004020202020204" pitchFamily="34" charset="0"/>
                        </a:rPr>
                        <a:t>Vectors</a:t>
                      </a:r>
                      <a:endParaRPr lang="en-US" sz="1200" kern="100">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58805599"/>
                  </a:ext>
                </a:extLst>
              </a:tr>
              <a:tr h="0">
                <a:tc>
                  <a:txBody>
                    <a:bodyPr/>
                    <a:lstStyle/>
                    <a:p>
                      <a:pPr marL="0" marR="0">
                        <a:lnSpc>
                          <a:spcPct val="115000"/>
                        </a:lnSpc>
                        <a:spcAft>
                          <a:spcPts val="800"/>
                        </a:spcAft>
                        <a:buNone/>
                      </a:pPr>
                      <a:r>
                        <a:rPr lang="en-US" sz="1600" kern="100">
                          <a:effectLst/>
                          <a:latin typeface="Aptos Narrow" panose="020B0004020202020204" pitchFamily="34" charset="0"/>
                        </a:rPr>
                        <a:t>Type of Data</a:t>
                      </a:r>
                      <a:endParaRPr lang="en-US" sz="1200" kern="100">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600" kern="100">
                          <a:effectLst/>
                          <a:latin typeface="Aptos Narrow" panose="020B0004020202020204" pitchFamily="34" charset="0"/>
                        </a:rPr>
                        <a:t>Structured</a:t>
                      </a:r>
                      <a:endParaRPr lang="en-US" sz="1200" kern="100">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600" kern="100">
                          <a:effectLst/>
                          <a:latin typeface="Aptos Narrow" panose="020B0004020202020204" pitchFamily="34" charset="0"/>
                        </a:rPr>
                        <a:t>Structured/Partially Unstructured</a:t>
                      </a:r>
                      <a:endParaRPr lang="en-US" sz="1200" kern="100">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600" kern="100">
                          <a:effectLst/>
                          <a:latin typeface="Aptos Narrow" panose="020B0004020202020204" pitchFamily="34" charset="0"/>
                        </a:rPr>
                        <a:t>Unstructured</a:t>
                      </a:r>
                      <a:endParaRPr lang="en-US" sz="1200" kern="100">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24952348"/>
                  </a:ext>
                </a:extLst>
              </a:tr>
              <a:tr h="0">
                <a:tc>
                  <a:txBody>
                    <a:bodyPr/>
                    <a:lstStyle/>
                    <a:p>
                      <a:pPr marL="0" marR="0">
                        <a:lnSpc>
                          <a:spcPct val="115000"/>
                        </a:lnSpc>
                        <a:spcAft>
                          <a:spcPts val="800"/>
                        </a:spcAft>
                        <a:buNone/>
                      </a:pPr>
                      <a:r>
                        <a:rPr lang="en-US" sz="1600" kern="100">
                          <a:effectLst/>
                          <a:latin typeface="Aptos Narrow" panose="020B0004020202020204" pitchFamily="34" charset="0"/>
                        </a:rPr>
                        <a:t>Query Method</a:t>
                      </a:r>
                      <a:endParaRPr lang="en-US" sz="1200" kern="100">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600" kern="100">
                          <a:effectLst/>
                          <a:latin typeface="Aptos Narrow" panose="020B0004020202020204" pitchFamily="34" charset="0"/>
                        </a:rPr>
                        <a:t>SQL-based (Transactional Queries)</a:t>
                      </a:r>
                      <a:endParaRPr lang="en-US" sz="1200" kern="100">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600" kern="100">
                          <a:effectLst/>
                          <a:latin typeface="Aptos Narrow" panose="020B0004020202020204" pitchFamily="34" charset="0"/>
                        </a:rPr>
                        <a:t>SQL-based (Aggregations, Analytical Queries)</a:t>
                      </a:r>
                      <a:endParaRPr lang="en-US" sz="1200" kern="100">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600" kern="100">
                          <a:effectLst/>
                          <a:latin typeface="Aptos Narrow" panose="020B0004020202020204" pitchFamily="34" charset="0"/>
                        </a:rPr>
                        <a:t>Vector Search (Similarity-Based)</a:t>
                      </a:r>
                      <a:endParaRPr lang="en-US" sz="1200" kern="100">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04051138"/>
                  </a:ext>
                </a:extLst>
              </a:tr>
              <a:tr h="0">
                <a:tc>
                  <a:txBody>
                    <a:bodyPr/>
                    <a:lstStyle/>
                    <a:p>
                      <a:pPr marL="0" marR="0">
                        <a:lnSpc>
                          <a:spcPct val="115000"/>
                        </a:lnSpc>
                        <a:spcAft>
                          <a:spcPts val="800"/>
                        </a:spcAft>
                        <a:buNone/>
                      </a:pPr>
                      <a:r>
                        <a:rPr lang="en-US" sz="1600" kern="100">
                          <a:effectLst/>
                          <a:latin typeface="Aptos Narrow" panose="020B0004020202020204" pitchFamily="34" charset="0"/>
                        </a:rPr>
                        <a:t>Storage Focus</a:t>
                      </a:r>
                      <a:endParaRPr lang="en-US" sz="1200" kern="100">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600" kern="100">
                          <a:effectLst/>
                          <a:latin typeface="Aptos Narrow" panose="020B0004020202020204" pitchFamily="34" charset="0"/>
                        </a:rPr>
                        <a:t>Schema-based, optimized for updates</a:t>
                      </a:r>
                      <a:endParaRPr lang="en-US" sz="1200" kern="100">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600" kern="100">
                          <a:effectLst/>
                          <a:latin typeface="Aptos Narrow" panose="020B0004020202020204" pitchFamily="34" charset="0"/>
                        </a:rPr>
                        <a:t>Schema-based, optimized for reads</a:t>
                      </a:r>
                      <a:endParaRPr lang="en-US" sz="1200" kern="100">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600" kern="100">
                          <a:effectLst/>
                          <a:latin typeface="Aptos Narrow" panose="020B0004020202020204" pitchFamily="34" charset="0"/>
                        </a:rPr>
                        <a:t>Context and Semantics</a:t>
                      </a:r>
                      <a:endParaRPr lang="en-US" sz="1200" kern="100">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53398854"/>
                  </a:ext>
                </a:extLst>
              </a:tr>
              <a:tr h="0">
                <a:tc>
                  <a:txBody>
                    <a:bodyPr/>
                    <a:lstStyle/>
                    <a:p>
                      <a:pPr marL="0" marR="0">
                        <a:lnSpc>
                          <a:spcPct val="115000"/>
                        </a:lnSpc>
                        <a:spcAft>
                          <a:spcPts val="800"/>
                        </a:spcAft>
                        <a:buNone/>
                      </a:pPr>
                      <a:r>
                        <a:rPr lang="en-US" sz="1600" kern="100">
                          <a:effectLst/>
                          <a:latin typeface="Aptos Narrow" panose="020B0004020202020204" pitchFamily="34" charset="0"/>
                        </a:rPr>
                        <a:t>Performance</a:t>
                      </a:r>
                      <a:endParaRPr lang="en-US" sz="1200" kern="100">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600" kern="100">
                          <a:effectLst/>
                          <a:latin typeface="Aptos Narrow" panose="020B0004020202020204" pitchFamily="34" charset="0"/>
                        </a:rPr>
                        <a:t>Optimized for high-volume transactions</a:t>
                      </a:r>
                      <a:endParaRPr lang="en-US" sz="1200" kern="100">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600" kern="100">
                          <a:effectLst/>
                          <a:latin typeface="Aptos Narrow" panose="020B0004020202020204" pitchFamily="34" charset="0"/>
                        </a:rPr>
                        <a:t>Optimized for complex analytical queries</a:t>
                      </a:r>
                      <a:endParaRPr lang="en-US" sz="1200" kern="100">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600" kern="100" dirty="0">
                          <a:effectLst/>
                          <a:latin typeface="Aptos Narrow" panose="020B0004020202020204" pitchFamily="34" charset="0"/>
                        </a:rPr>
                        <a:t>Optimized for unstructured data retrieval</a:t>
                      </a:r>
                      <a:endParaRPr lang="en-US" sz="1200" kern="100" dirty="0">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48282726"/>
                  </a:ext>
                </a:extLst>
              </a:tr>
              <a:tr h="0">
                <a:tc>
                  <a:txBody>
                    <a:bodyPr/>
                    <a:lstStyle/>
                    <a:p>
                      <a:pPr marL="0" marR="0">
                        <a:lnSpc>
                          <a:spcPct val="115000"/>
                        </a:lnSpc>
                        <a:spcAft>
                          <a:spcPts val="800"/>
                        </a:spcAft>
                        <a:buNone/>
                      </a:pPr>
                      <a:r>
                        <a:rPr lang="en-US" sz="1600" kern="100">
                          <a:effectLst/>
                          <a:latin typeface="Aptos Narrow" panose="020B0004020202020204" pitchFamily="34" charset="0"/>
                        </a:rPr>
                        <a:t>Use Cases</a:t>
                      </a:r>
                      <a:endParaRPr lang="en-US" sz="1200" kern="100">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600" kern="100">
                          <a:effectLst/>
                          <a:latin typeface="Aptos Narrow" panose="020B0004020202020204" pitchFamily="34" charset="0"/>
                        </a:rPr>
                        <a:t>Inventory, order processing, CRM</a:t>
                      </a:r>
                      <a:endParaRPr lang="en-US" sz="1200" kern="100">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600" kern="100">
                          <a:effectLst/>
                          <a:latin typeface="Aptos Narrow" panose="020B0004020202020204" pitchFamily="34" charset="0"/>
                        </a:rPr>
                        <a:t>Business intelligence, data warehousing</a:t>
                      </a:r>
                      <a:endParaRPr lang="en-US" sz="1200" kern="100">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600" kern="100" dirty="0">
                          <a:effectLst/>
                          <a:latin typeface="Aptos Narrow" panose="020B0004020202020204" pitchFamily="34" charset="0"/>
                        </a:rPr>
                        <a:t>Similarity search, recommendations, RAG, anomaly detection, etc.</a:t>
                      </a:r>
                      <a:endParaRPr lang="en-US" sz="1200" kern="100" dirty="0">
                        <a:effectLst/>
                        <a:latin typeface="Aptos Narrow"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0846669"/>
                  </a:ext>
                </a:extLst>
              </a:tr>
            </a:tbl>
          </a:graphicData>
        </a:graphic>
      </p:graphicFrame>
    </p:spTree>
    <p:extLst>
      <p:ext uri="{BB962C8B-B14F-4D97-AF65-F5344CB8AC3E}">
        <p14:creationId xmlns:p14="http://schemas.microsoft.com/office/powerpoint/2010/main" val="11698729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196D7-E6A2-F7F9-599F-ACA2AEB3FB36}"/>
              </a:ext>
            </a:extLst>
          </p:cNvPr>
          <p:cNvSpPr>
            <a:spLocks noGrp="1"/>
          </p:cNvSpPr>
          <p:nvPr>
            <p:ph type="title"/>
          </p:nvPr>
        </p:nvSpPr>
        <p:spPr/>
        <p:txBody>
          <a:bodyPr/>
          <a:lstStyle/>
          <a:p>
            <a:r>
              <a:rPr lang="en-US" dirty="0"/>
              <a:t>What is a Vector?</a:t>
            </a:r>
          </a:p>
        </p:txBody>
      </p:sp>
      <p:sp>
        <p:nvSpPr>
          <p:cNvPr id="3" name="Slide Number Placeholder 2">
            <a:extLst>
              <a:ext uri="{FF2B5EF4-FFF2-40B4-BE49-F238E27FC236}">
                <a16:creationId xmlns:a16="http://schemas.microsoft.com/office/drawing/2014/main" id="{8FB55903-EA0E-BEAA-4453-93508DE2C9D6}"/>
              </a:ext>
            </a:extLst>
          </p:cNvPr>
          <p:cNvSpPr>
            <a:spLocks noGrp="1"/>
          </p:cNvSpPr>
          <p:nvPr>
            <p:ph type="sldNum" sz="quarter" idx="12"/>
          </p:nvPr>
        </p:nvSpPr>
        <p:spPr/>
        <p:txBody>
          <a:bodyPr>
            <a:normAutofit fontScale="85000" lnSpcReduction="20000"/>
          </a:bodyPr>
          <a:lstStyle/>
          <a:p>
            <a:fld id="{EBFB1032-EA64-7144-B003-9BCC9D94B503}" type="slidenum">
              <a:rPr lang="en-US" smtClean="0"/>
              <a:t>7</a:t>
            </a:fld>
            <a:endParaRPr lang="en-US" dirty="0"/>
          </a:p>
        </p:txBody>
      </p:sp>
      <p:sp>
        <p:nvSpPr>
          <p:cNvPr id="4" name="Content Placeholder 3">
            <a:extLst>
              <a:ext uri="{FF2B5EF4-FFF2-40B4-BE49-F238E27FC236}">
                <a16:creationId xmlns:a16="http://schemas.microsoft.com/office/drawing/2014/main" id="{5B189780-C3D8-52CE-BA0D-07554708CDF9}"/>
              </a:ext>
            </a:extLst>
          </p:cNvPr>
          <p:cNvSpPr>
            <a:spLocks noGrp="1"/>
          </p:cNvSpPr>
          <p:nvPr>
            <p:ph sz="quarter" idx="1"/>
          </p:nvPr>
        </p:nvSpPr>
        <p:spPr/>
        <p:txBody>
          <a:bodyPr>
            <a:noAutofit/>
          </a:bodyPr>
          <a:lstStyle/>
          <a:p>
            <a:pPr>
              <a:spcBef>
                <a:spcPts val="0"/>
              </a:spcBef>
            </a:pPr>
            <a:r>
              <a:rPr lang="en-US" sz="2200" dirty="0"/>
              <a:t>When a machine needs to process unstructured data - an image, a piece of text, or an audio file, it first has to translate that data into a format it can work with: vectors.</a:t>
            </a:r>
          </a:p>
          <a:p>
            <a:pPr>
              <a:spcBef>
                <a:spcPts val="0"/>
              </a:spcBef>
            </a:pPr>
            <a:endParaRPr lang="en-US" sz="2200" dirty="0"/>
          </a:p>
          <a:p>
            <a:pPr>
              <a:spcBef>
                <a:spcPts val="0"/>
              </a:spcBef>
            </a:pPr>
            <a:r>
              <a:rPr lang="en-US" sz="2200" dirty="0">
                <a:solidFill>
                  <a:srgbClr val="0070C0"/>
                </a:solidFill>
              </a:rPr>
              <a:t>A vector is a numerical representation of data that can capture the context and semantics of data.</a:t>
            </a:r>
          </a:p>
          <a:p>
            <a:pPr>
              <a:spcBef>
                <a:spcPts val="0"/>
              </a:spcBef>
            </a:pPr>
            <a:endParaRPr lang="en-US" sz="2200" dirty="0"/>
          </a:p>
          <a:p>
            <a:pPr>
              <a:spcBef>
                <a:spcPts val="0"/>
              </a:spcBef>
            </a:pPr>
            <a:r>
              <a:rPr lang="en-US" sz="2200" dirty="0"/>
              <a:t>When you deal with unstructured data, traditional databases struggle to understand its meaning.</a:t>
            </a:r>
          </a:p>
          <a:p>
            <a:pPr lvl="1">
              <a:spcBef>
                <a:spcPts val="0"/>
              </a:spcBef>
            </a:pPr>
            <a:r>
              <a:rPr lang="en-US" sz="2200" dirty="0"/>
              <a:t>However, a vector can translate that data into something a machine can process</a:t>
            </a:r>
          </a:p>
          <a:p>
            <a:pPr lvl="1">
              <a:spcBef>
                <a:spcPts val="0"/>
              </a:spcBef>
            </a:pPr>
            <a:endParaRPr lang="en-US" sz="2200" dirty="0"/>
          </a:p>
          <a:p>
            <a:pPr>
              <a:spcBef>
                <a:spcPts val="0"/>
              </a:spcBef>
            </a:pPr>
            <a:r>
              <a:rPr lang="en-US" sz="2200" dirty="0"/>
              <a:t>For example, a vector generated from text can represent relationships and meaning between words, making it possible for a machine to compare and understand their context.</a:t>
            </a:r>
          </a:p>
        </p:txBody>
      </p:sp>
    </p:spTree>
    <p:extLst>
      <p:ext uri="{BB962C8B-B14F-4D97-AF65-F5344CB8AC3E}">
        <p14:creationId xmlns:p14="http://schemas.microsoft.com/office/powerpoint/2010/main" val="2020896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AD4D8-29B5-C75E-9D2D-91C702787922}"/>
              </a:ext>
            </a:extLst>
          </p:cNvPr>
          <p:cNvSpPr>
            <a:spLocks noGrp="1"/>
          </p:cNvSpPr>
          <p:nvPr>
            <p:ph type="title"/>
          </p:nvPr>
        </p:nvSpPr>
        <p:spPr/>
        <p:txBody>
          <a:bodyPr/>
          <a:lstStyle/>
          <a:p>
            <a:r>
              <a:rPr lang="en-US" dirty="0"/>
              <a:t>Three key elements to define a vector </a:t>
            </a:r>
          </a:p>
        </p:txBody>
      </p:sp>
      <p:sp>
        <p:nvSpPr>
          <p:cNvPr id="3" name="Slide Number Placeholder 2">
            <a:extLst>
              <a:ext uri="{FF2B5EF4-FFF2-40B4-BE49-F238E27FC236}">
                <a16:creationId xmlns:a16="http://schemas.microsoft.com/office/drawing/2014/main" id="{2A35F44A-4BC4-D46B-994D-0593A12E8EE9}"/>
              </a:ext>
            </a:extLst>
          </p:cNvPr>
          <p:cNvSpPr>
            <a:spLocks noGrp="1"/>
          </p:cNvSpPr>
          <p:nvPr>
            <p:ph type="sldNum" sz="quarter" idx="12"/>
          </p:nvPr>
        </p:nvSpPr>
        <p:spPr/>
        <p:txBody>
          <a:bodyPr>
            <a:normAutofit fontScale="85000" lnSpcReduction="20000"/>
          </a:bodyPr>
          <a:lstStyle/>
          <a:p>
            <a:fld id="{EBFB1032-EA64-7144-B003-9BCC9D94B503}" type="slidenum">
              <a:rPr lang="en-US" smtClean="0"/>
              <a:t>8</a:t>
            </a:fld>
            <a:endParaRPr lang="en-US" dirty="0"/>
          </a:p>
        </p:txBody>
      </p:sp>
      <p:sp>
        <p:nvSpPr>
          <p:cNvPr id="4" name="Content Placeholder 3">
            <a:extLst>
              <a:ext uri="{FF2B5EF4-FFF2-40B4-BE49-F238E27FC236}">
                <a16:creationId xmlns:a16="http://schemas.microsoft.com/office/drawing/2014/main" id="{D2D1E1F3-8A07-D99D-B5D3-25806A7D951B}"/>
              </a:ext>
            </a:extLst>
          </p:cNvPr>
          <p:cNvSpPr>
            <a:spLocks noGrp="1"/>
          </p:cNvSpPr>
          <p:nvPr>
            <p:ph sz="quarter" idx="1"/>
          </p:nvPr>
        </p:nvSpPr>
        <p:spPr/>
        <p:txBody>
          <a:bodyPr>
            <a:normAutofit lnSpcReduction="10000"/>
          </a:bodyPr>
          <a:lstStyle/>
          <a:p>
            <a:pPr algn="just"/>
            <a:r>
              <a:rPr lang="en-US" dirty="0"/>
              <a:t>There are three key elements that define a vector in a vector database:</a:t>
            </a:r>
          </a:p>
          <a:p>
            <a:pPr marL="822960" lvl="1" indent="-457200" algn="just">
              <a:buClr>
                <a:srgbClr val="0070C0"/>
              </a:buClr>
              <a:buSzPct val="100000"/>
              <a:buFont typeface="+mj-lt"/>
              <a:buAutoNum type="arabicPeriod"/>
            </a:pPr>
            <a:r>
              <a:rPr lang="en-US" dirty="0"/>
              <a:t>the ID</a:t>
            </a:r>
          </a:p>
          <a:p>
            <a:pPr marL="822960" lvl="1" indent="-457200" algn="just">
              <a:buClr>
                <a:srgbClr val="0070C0"/>
              </a:buClr>
              <a:buSzPct val="100000"/>
              <a:buFont typeface="+mj-lt"/>
              <a:buAutoNum type="arabicPeriod"/>
            </a:pPr>
            <a:r>
              <a:rPr lang="en-US" dirty="0"/>
              <a:t>the dimensions</a:t>
            </a:r>
          </a:p>
          <a:p>
            <a:pPr marL="822960" lvl="1" indent="-457200" algn="just">
              <a:buClr>
                <a:srgbClr val="0070C0"/>
              </a:buClr>
              <a:buSzPct val="100000"/>
              <a:buFont typeface="+mj-lt"/>
              <a:buAutoNum type="arabicPeriod"/>
            </a:pPr>
            <a:r>
              <a:rPr lang="en-US" dirty="0"/>
              <a:t>payload</a:t>
            </a:r>
          </a:p>
          <a:p>
            <a:pPr algn="just"/>
            <a:endParaRPr lang="en-US" dirty="0"/>
          </a:p>
          <a:p>
            <a:pPr algn="just"/>
            <a:r>
              <a:rPr lang="en-US" dirty="0"/>
              <a:t>Each one of these parts plays an important role in how vectors are stored, retrieved, and interpreted.</a:t>
            </a:r>
          </a:p>
          <a:p>
            <a:pPr algn="just"/>
            <a:endParaRPr lang="en-US" dirty="0"/>
          </a:p>
          <a:p>
            <a:pPr algn="just"/>
            <a:r>
              <a:rPr lang="en-US" dirty="0"/>
              <a:t>These components work together to represent a vector effectively within the system.</a:t>
            </a:r>
          </a:p>
          <a:p>
            <a:pPr algn="just"/>
            <a:endParaRPr lang="en-US" dirty="0"/>
          </a:p>
          <a:p>
            <a:pPr algn="just"/>
            <a:r>
              <a:rPr lang="en-US" dirty="0"/>
              <a:t>Together, they form a point, which is the core unit of data stored and retrieved in a vector database.</a:t>
            </a:r>
          </a:p>
        </p:txBody>
      </p:sp>
    </p:spTree>
    <p:extLst>
      <p:ext uri="{BB962C8B-B14F-4D97-AF65-F5344CB8AC3E}">
        <p14:creationId xmlns:p14="http://schemas.microsoft.com/office/powerpoint/2010/main" val="5203433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495B5-BF98-F4CF-88BC-D71519DAB55F}"/>
              </a:ext>
            </a:extLst>
          </p:cNvPr>
          <p:cNvSpPr>
            <a:spLocks noGrp="1"/>
          </p:cNvSpPr>
          <p:nvPr>
            <p:ph type="title"/>
          </p:nvPr>
        </p:nvSpPr>
        <p:spPr/>
        <p:txBody>
          <a:bodyPr>
            <a:normAutofit/>
          </a:bodyPr>
          <a:lstStyle/>
          <a:p>
            <a:r>
              <a:rPr lang="en-US" dirty="0"/>
              <a:t>1. The ID: Your Vector’s Unique Identifier</a:t>
            </a:r>
          </a:p>
        </p:txBody>
      </p:sp>
      <p:sp>
        <p:nvSpPr>
          <p:cNvPr id="3" name="Slide Number Placeholder 2">
            <a:extLst>
              <a:ext uri="{FF2B5EF4-FFF2-40B4-BE49-F238E27FC236}">
                <a16:creationId xmlns:a16="http://schemas.microsoft.com/office/drawing/2014/main" id="{EC1F7CB0-1045-D43D-DB96-47AC62BFB96D}"/>
              </a:ext>
            </a:extLst>
          </p:cNvPr>
          <p:cNvSpPr>
            <a:spLocks noGrp="1"/>
          </p:cNvSpPr>
          <p:nvPr>
            <p:ph type="sldNum" sz="quarter" idx="12"/>
          </p:nvPr>
        </p:nvSpPr>
        <p:spPr/>
        <p:txBody>
          <a:bodyPr>
            <a:normAutofit fontScale="85000" lnSpcReduction="20000"/>
          </a:bodyPr>
          <a:lstStyle/>
          <a:p>
            <a:fld id="{EBFB1032-EA64-7144-B003-9BCC9D94B503}" type="slidenum">
              <a:rPr lang="en-US" smtClean="0"/>
              <a:t>9</a:t>
            </a:fld>
            <a:endParaRPr lang="en-US" dirty="0"/>
          </a:p>
        </p:txBody>
      </p:sp>
      <p:sp>
        <p:nvSpPr>
          <p:cNvPr id="4" name="Content Placeholder 3">
            <a:extLst>
              <a:ext uri="{FF2B5EF4-FFF2-40B4-BE49-F238E27FC236}">
                <a16:creationId xmlns:a16="http://schemas.microsoft.com/office/drawing/2014/main" id="{C2571A9F-5C67-9B50-8E66-A60DEE788927}"/>
              </a:ext>
            </a:extLst>
          </p:cNvPr>
          <p:cNvSpPr>
            <a:spLocks noGrp="1"/>
          </p:cNvSpPr>
          <p:nvPr>
            <p:ph sz="quarter" idx="1"/>
          </p:nvPr>
        </p:nvSpPr>
        <p:spPr/>
        <p:txBody>
          <a:bodyPr>
            <a:noAutofit/>
          </a:bodyPr>
          <a:lstStyle/>
          <a:p>
            <a:pPr>
              <a:spcBef>
                <a:spcPts val="0"/>
              </a:spcBef>
            </a:pPr>
            <a:r>
              <a:rPr lang="en-US" dirty="0">
                <a:solidFill>
                  <a:srgbClr val="0070C0"/>
                </a:solidFill>
              </a:rPr>
              <a:t>Just like in a relational database, each vector in a vector database gets a unique ID.</a:t>
            </a:r>
          </a:p>
          <a:p>
            <a:pPr>
              <a:spcBef>
                <a:spcPts val="0"/>
              </a:spcBef>
            </a:pPr>
            <a:r>
              <a:rPr lang="en-US" dirty="0"/>
              <a:t>Think of it as your vector’s name tag, a primary key that ensures the vector can be easily found later.</a:t>
            </a:r>
          </a:p>
          <a:p>
            <a:pPr>
              <a:spcBef>
                <a:spcPts val="0"/>
              </a:spcBef>
            </a:pPr>
            <a:r>
              <a:rPr lang="en-US" dirty="0">
                <a:solidFill>
                  <a:srgbClr val="00B050"/>
                </a:solidFill>
              </a:rPr>
              <a:t>When a vector is added to the database, the ID is created automatically.</a:t>
            </a:r>
          </a:p>
          <a:p>
            <a:pPr>
              <a:spcBef>
                <a:spcPts val="0"/>
              </a:spcBef>
            </a:pPr>
            <a:r>
              <a:rPr lang="en-US" dirty="0"/>
              <a:t>While the ID itself doesn’t play a part in the similarity search (which operates on the vector’s numerical data), it is essential for associating the vector with its corresponding “real-world” data, whether that’s a document, an image, or a sound file.</a:t>
            </a:r>
          </a:p>
          <a:p>
            <a:pPr>
              <a:spcBef>
                <a:spcPts val="0"/>
              </a:spcBef>
            </a:pPr>
            <a:r>
              <a:rPr lang="en-US" dirty="0">
                <a:solidFill>
                  <a:srgbClr val="7030A0"/>
                </a:solidFill>
              </a:rPr>
              <a:t>After a search is performed and similar vectors are found, their IDs are returned. </a:t>
            </a:r>
          </a:p>
          <a:p>
            <a:pPr>
              <a:spcBef>
                <a:spcPts val="0"/>
              </a:spcBef>
            </a:pPr>
            <a:r>
              <a:rPr lang="en-US" dirty="0"/>
              <a:t>These can then be used to fetch additional details or metadata tied to the result.</a:t>
            </a:r>
          </a:p>
        </p:txBody>
      </p:sp>
    </p:spTree>
    <p:extLst>
      <p:ext uri="{BB962C8B-B14F-4D97-AF65-F5344CB8AC3E}">
        <p14:creationId xmlns:p14="http://schemas.microsoft.com/office/powerpoint/2010/main" val="40504258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685CD-DE7B-A9C9-BDFA-1E94FCFE5D7D}"/>
              </a:ext>
            </a:extLst>
          </p:cNvPr>
          <p:cNvSpPr>
            <a:spLocks noGrp="1"/>
          </p:cNvSpPr>
          <p:nvPr>
            <p:ph type="title"/>
          </p:nvPr>
        </p:nvSpPr>
        <p:spPr/>
        <p:txBody>
          <a:bodyPr>
            <a:noAutofit/>
          </a:bodyPr>
          <a:lstStyle/>
          <a:p>
            <a:r>
              <a:rPr lang="en-US" sz="3100" dirty="0"/>
              <a:t>2. The Dimensions: The Core Representation of the Data</a:t>
            </a:r>
          </a:p>
        </p:txBody>
      </p:sp>
      <p:sp>
        <p:nvSpPr>
          <p:cNvPr id="3" name="Slide Number Placeholder 2">
            <a:extLst>
              <a:ext uri="{FF2B5EF4-FFF2-40B4-BE49-F238E27FC236}">
                <a16:creationId xmlns:a16="http://schemas.microsoft.com/office/drawing/2014/main" id="{66F366B1-0F38-09B6-46D4-2ED45321563E}"/>
              </a:ext>
            </a:extLst>
          </p:cNvPr>
          <p:cNvSpPr>
            <a:spLocks noGrp="1"/>
          </p:cNvSpPr>
          <p:nvPr>
            <p:ph type="sldNum" sz="quarter" idx="12"/>
          </p:nvPr>
        </p:nvSpPr>
        <p:spPr/>
        <p:txBody>
          <a:bodyPr>
            <a:normAutofit fontScale="85000" lnSpcReduction="20000"/>
          </a:bodyPr>
          <a:lstStyle/>
          <a:p>
            <a:fld id="{EBFB1032-EA64-7144-B003-9BCC9D94B503}" type="slidenum">
              <a:rPr lang="en-US" smtClean="0"/>
              <a:t>10</a:t>
            </a:fld>
            <a:endParaRPr lang="en-US" dirty="0"/>
          </a:p>
        </p:txBody>
      </p:sp>
      <p:sp>
        <p:nvSpPr>
          <p:cNvPr id="4" name="Content Placeholder 3">
            <a:extLst>
              <a:ext uri="{FF2B5EF4-FFF2-40B4-BE49-F238E27FC236}">
                <a16:creationId xmlns:a16="http://schemas.microsoft.com/office/drawing/2014/main" id="{45F6C74F-1829-A2F3-B974-605692F305D7}"/>
              </a:ext>
            </a:extLst>
          </p:cNvPr>
          <p:cNvSpPr>
            <a:spLocks noGrp="1"/>
          </p:cNvSpPr>
          <p:nvPr>
            <p:ph sz="quarter" idx="1"/>
          </p:nvPr>
        </p:nvSpPr>
        <p:spPr/>
        <p:txBody>
          <a:bodyPr/>
          <a:lstStyle/>
          <a:p>
            <a:pPr algn="just"/>
            <a:r>
              <a:rPr lang="en-US" dirty="0"/>
              <a:t>At the core of every vector is a set of numbers, which together form a representation of the data in a multi-dimensional space.</a:t>
            </a:r>
          </a:p>
          <a:p>
            <a:pPr algn="just"/>
            <a:endParaRPr lang="en-US" dirty="0"/>
          </a:p>
          <a:p>
            <a:pPr algn="just"/>
            <a:r>
              <a:rPr lang="en-US" dirty="0"/>
              <a:t>These numbers are generated by embedding models, such as deep learning algorithms, and capture the essential patterns or relationships within the data.</a:t>
            </a:r>
          </a:p>
          <a:p>
            <a:pPr algn="just"/>
            <a:endParaRPr lang="en-US" dirty="0"/>
          </a:p>
          <a:p>
            <a:pPr algn="just"/>
            <a:r>
              <a:rPr lang="en-US" dirty="0"/>
              <a:t>That’s why the term embedding is often used interchangeably with vector when referring to the output of these models.</a:t>
            </a:r>
          </a:p>
        </p:txBody>
      </p:sp>
    </p:spTree>
    <p:extLst>
      <p:ext uri="{BB962C8B-B14F-4D97-AF65-F5344CB8AC3E}">
        <p14:creationId xmlns:p14="http://schemas.microsoft.com/office/powerpoint/2010/main" val="24135154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E8BDF-2578-78C7-F020-DF4782A5B808}"/>
              </a:ext>
            </a:extLst>
          </p:cNvPr>
          <p:cNvSpPr>
            <a:spLocks noGrp="1"/>
          </p:cNvSpPr>
          <p:nvPr>
            <p:ph type="title"/>
          </p:nvPr>
        </p:nvSpPr>
        <p:spPr/>
        <p:txBody>
          <a:bodyPr>
            <a:normAutofit/>
          </a:bodyPr>
          <a:lstStyle/>
          <a:p>
            <a:r>
              <a:rPr lang="en-US" dirty="0"/>
              <a:t>From Text to Vectors: How Does It Work?</a:t>
            </a:r>
          </a:p>
        </p:txBody>
      </p:sp>
      <p:sp>
        <p:nvSpPr>
          <p:cNvPr id="3" name="Slide Number Placeholder 2">
            <a:extLst>
              <a:ext uri="{FF2B5EF4-FFF2-40B4-BE49-F238E27FC236}">
                <a16:creationId xmlns:a16="http://schemas.microsoft.com/office/drawing/2014/main" id="{8D6D93BD-1E9A-D554-CC23-33D5FF7C69FF}"/>
              </a:ext>
            </a:extLst>
          </p:cNvPr>
          <p:cNvSpPr>
            <a:spLocks noGrp="1"/>
          </p:cNvSpPr>
          <p:nvPr>
            <p:ph type="sldNum" sz="quarter" idx="12"/>
          </p:nvPr>
        </p:nvSpPr>
        <p:spPr/>
        <p:txBody>
          <a:bodyPr>
            <a:normAutofit fontScale="85000" lnSpcReduction="20000"/>
          </a:bodyPr>
          <a:lstStyle/>
          <a:p>
            <a:fld id="{EBFB1032-EA64-7144-B003-9BCC9D94B503}" type="slidenum">
              <a:rPr lang="en-US" smtClean="0"/>
              <a:t>11</a:t>
            </a:fld>
            <a:endParaRPr lang="en-US" dirty="0"/>
          </a:p>
        </p:txBody>
      </p:sp>
      <p:sp>
        <p:nvSpPr>
          <p:cNvPr id="4" name="Content Placeholder 3">
            <a:extLst>
              <a:ext uri="{FF2B5EF4-FFF2-40B4-BE49-F238E27FC236}">
                <a16:creationId xmlns:a16="http://schemas.microsoft.com/office/drawing/2014/main" id="{CE92EE00-7EA3-D09E-9C16-43E530FB20F9}"/>
              </a:ext>
            </a:extLst>
          </p:cNvPr>
          <p:cNvSpPr>
            <a:spLocks noGrp="1"/>
          </p:cNvSpPr>
          <p:nvPr>
            <p:ph sz="quarter" idx="1"/>
          </p:nvPr>
        </p:nvSpPr>
        <p:spPr/>
        <p:txBody>
          <a:bodyPr/>
          <a:lstStyle/>
          <a:p>
            <a:r>
              <a:rPr lang="en-US" dirty="0"/>
              <a:t>To represent textual data, for example, an embedding will encapsulate the nuances of language, such as semantics and context within its dimensions.</a:t>
            </a:r>
          </a:p>
        </p:txBody>
      </p:sp>
      <p:pic>
        <p:nvPicPr>
          <p:cNvPr id="6" name="Picture 5" descr="A diagram of a shirt&#10;&#10;AI-generated content may be incorrect.">
            <a:extLst>
              <a:ext uri="{FF2B5EF4-FFF2-40B4-BE49-F238E27FC236}">
                <a16:creationId xmlns:a16="http://schemas.microsoft.com/office/drawing/2014/main" id="{1064DD60-557E-428A-546D-77421F5446D2}"/>
              </a:ext>
            </a:extLst>
          </p:cNvPr>
          <p:cNvPicPr>
            <a:picLocks noChangeAspect="1"/>
          </p:cNvPicPr>
          <p:nvPr/>
        </p:nvPicPr>
        <p:blipFill>
          <a:blip r:embed="rId2"/>
          <a:stretch>
            <a:fillRect/>
          </a:stretch>
        </p:blipFill>
        <p:spPr>
          <a:xfrm>
            <a:off x="934451" y="2600325"/>
            <a:ext cx="7315200" cy="4029075"/>
          </a:xfrm>
          <a:prstGeom prst="rect">
            <a:avLst/>
          </a:prstGeom>
        </p:spPr>
      </p:pic>
    </p:spTree>
    <p:extLst>
      <p:ext uri="{BB962C8B-B14F-4D97-AF65-F5344CB8AC3E}">
        <p14:creationId xmlns:p14="http://schemas.microsoft.com/office/powerpoint/2010/main" val="39801795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8E4AB-CA58-0934-6E37-1E5216D041C4}"/>
              </a:ext>
            </a:extLst>
          </p:cNvPr>
          <p:cNvSpPr>
            <a:spLocks noGrp="1"/>
          </p:cNvSpPr>
          <p:nvPr>
            <p:ph type="title"/>
          </p:nvPr>
        </p:nvSpPr>
        <p:spPr/>
        <p:txBody>
          <a:bodyPr/>
          <a:lstStyle/>
          <a:p>
            <a:r>
              <a:rPr lang="en-US" dirty="0"/>
              <a:t>Comparing two similar sentences</a:t>
            </a:r>
          </a:p>
        </p:txBody>
      </p:sp>
      <p:sp>
        <p:nvSpPr>
          <p:cNvPr id="3" name="Slide Number Placeholder 2">
            <a:extLst>
              <a:ext uri="{FF2B5EF4-FFF2-40B4-BE49-F238E27FC236}">
                <a16:creationId xmlns:a16="http://schemas.microsoft.com/office/drawing/2014/main" id="{A044C02F-FD5B-919C-DA81-ED46AF56E693}"/>
              </a:ext>
            </a:extLst>
          </p:cNvPr>
          <p:cNvSpPr>
            <a:spLocks noGrp="1"/>
          </p:cNvSpPr>
          <p:nvPr>
            <p:ph type="sldNum" sz="quarter" idx="12"/>
          </p:nvPr>
        </p:nvSpPr>
        <p:spPr/>
        <p:txBody>
          <a:bodyPr>
            <a:normAutofit fontScale="85000" lnSpcReduction="20000"/>
          </a:bodyPr>
          <a:lstStyle/>
          <a:p>
            <a:fld id="{EBFB1032-EA64-7144-B003-9BCC9D94B503}" type="slidenum">
              <a:rPr lang="en-US" smtClean="0"/>
              <a:t>12</a:t>
            </a:fld>
            <a:endParaRPr lang="en-US" dirty="0"/>
          </a:p>
        </p:txBody>
      </p:sp>
      <p:sp>
        <p:nvSpPr>
          <p:cNvPr id="4" name="Content Placeholder 3">
            <a:extLst>
              <a:ext uri="{FF2B5EF4-FFF2-40B4-BE49-F238E27FC236}">
                <a16:creationId xmlns:a16="http://schemas.microsoft.com/office/drawing/2014/main" id="{2CB7B8BF-7F49-C7F8-FB72-813D698A03BE}"/>
              </a:ext>
            </a:extLst>
          </p:cNvPr>
          <p:cNvSpPr>
            <a:spLocks noGrp="1"/>
          </p:cNvSpPr>
          <p:nvPr>
            <p:ph sz="quarter" idx="1"/>
          </p:nvPr>
        </p:nvSpPr>
        <p:spPr/>
        <p:txBody>
          <a:bodyPr>
            <a:normAutofit/>
          </a:bodyPr>
          <a:lstStyle/>
          <a:p>
            <a:pPr algn="just">
              <a:lnSpc>
                <a:spcPct val="85000"/>
              </a:lnSpc>
              <a:spcBef>
                <a:spcPts val="0"/>
              </a:spcBef>
            </a:pPr>
            <a:r>
              <a:rPr lang="en-US" dirty="0"/>
              <a:t>For that reason, when comparing two similar sentences, their embeddings will turn out to be very similar, because they have similar linguistic elements.</a:t>
            </a:r>
          </a:p>
          <a:p>
            <a:pPr algn="just">
              <a:lnSpc>
                <a:spcPct val="85000"/>
              </a:lnSpc>
              <a:spcBef>
                <a:spcPts val="0"/>
              </a:spcBef>
            </a:pPr>
            <a:endParaRPr lang="en-US" dirty="0"/>
          </a:p>
          <a:p>
            <a:pPr algn="just">
              <a:lnSpc>
                <a:spcPct val="85000"/>
              </a:lnSpc>
              <a:spcBef>
                <a:spcPts val="0"/>
              </a:spcBef>
            </a:pPr>
            <a:r>
              <a:rPr lang="en-US" dirty="0"/>
              <a:t>That’s the beauty of embeddings.</a:t>
            </a:r>
          </a:p>
          <a:p>
            <a:pPr algn="just">
              <a:lnSpc>
                <a:spcPct val="85000"/>
              </a:lnSpc>
              <a:spcBef>
                <a:spcPts val="0"/>
              </a:spcBef>
            </a:pPr>
            <a:endParaRPr lang="en-US" dirty="0"/>
          </a:p>
          <a:p>
            <a:pPr algn="just">
              <a:lnSpc>
                <a:spcPct val="85000"/>
              </a:lnSpc>
              <a:spcBef>
                <a:spcPts val="0"/>
              </a:spcBef>
            </a:pPr>
            <a:r>
              <a:rPr lang="en-US" dirty="0"/>
              <a:t>The complexity of the data is distilled into something that can be compared across a multi-dimensional space.</a:t>
            </a:r>
          </a:p>
        </p:txBody>
      </p:sp>
    </p:spTree>
    <p:extLst>
      <p:ext uri="{BB962C8B-B14F-4D97-AF65-F5344CB8AC3E}">
        <p14:creationId xmlns:p14="http://schemas.microsoft.com/office/powerpoint/2010/main" val="37195225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6C4B5E3-BD1B-D19A-2041-E9A579804475}"/>
              </a:ext>
            </a:extLst>
          </p:cNvPr>
          <p:cNvSpPr>
            <a:spLocks noGrp="1"/>
          </p:cNvSpPr>
          <p:nvPr>
            <p:ph type="sldNum" sz="quarter" idx="12"/>
          </p:nvPr>
        </p:nvSpPr>
        <p:spPr/>
        <p:txBody>
          <a:bodyPr/>
          <a:lstStyle/>
          <a:p>
            <a:fld id="{EBFB1032-EA64-7144-B003-9BCC9D94B503}" type="slidenum">
              <a:rPr lang="en-US" smtClean="0"/>
              <a:t>13</a:t>
            </a:fld>
            <a:endParaRPr lang="en-US" dirty="0"/>
          </a:p>
        </p:txBody>
      </p:sp>
      <p:pic>
        <p:nvPicPr>
          <p:cNvPr id="6" name="Picture 5" descr="A diagram of a machine">
            <a:extLst>
              <a:ext uri="{FF2B5EF4-FFF2-40B4-BE49-F238E27FC236}">
                <a16:creationId xmlns:a16="http://schemas.microsoft.com/office/drawing/2014/main" id="{45A105A2-FE57-D6A6-8114-C10F42D900D7}"/>
              </a:ext>
            </a:extLst>
          </p:cNvPr>
          <p:cNvPicPr>
            <a:picLocks noChangeAspect="1"/>
          </p:cNvPicPr>
          <p:nvPr/>
        </p:nvPicPr>
        <p:blipFill>
          <a:blip r:embed="rId2"/>
          <a:stretch>
            <a:fillRect/>
          </a:stretch>
        </p:blipFill>
        <p:spPr>
          <a:xfrm>
            <a:off x="1522283" y="45720"/>
            <a:ext cx="6099434" cy="6766560"/>
          </a:xfrm>
          <a:prstGeom prst="rect">
            <a:avLst/>
          </a:prstGeom>
        </p:spPr>
      </p:pic>
    </p:spTree>
    <p:extLst>
      <p:ext uri="{BB962C8B-B14F-4D97-AF65-F5344CB8AC3E}">
        <p14:creationId xmlns:p14="http://schemas.microsoft.com/office/powerpoint/2010/main" val="33679153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EF6B3-0D3D-41EE-3151-45A24D832847}"/>
              </a:ext>
            </a:extLst>
          </p:cNvPr>
          <p:cNvSpPr>
            <a:spLocks noGrp="1"/>
          </p:cNvSpPr>
          <p:nvPr>
            <p:ph type="title"/>
          </p:nvPr>
        </p:nvSpPr>
        <p:spPr/>
        <p:txBody>
          <a:bodyPr>
            <a:normAutofit/>
          </a:bodyPr>
          <a:lstStyle/>
          <a:p>
            <a:r>
              <a:rPr lang="en-US" dirty="0"/>
              <a:t>3. The Payload: Adding Context with Metadata</a:t>
            </a:r>
          </a:p>
        </p:txBody>
      </p:sp>
      <p:sp>
        <p:nvSpPr>
          <p:cNvPr id="3" name="Slide Number Placeholder 2">
            <a:extLst>
              <a:ext uri="{FF2B5EF4-FFF2-40B4-BE49-F238E27FC236}">
                <a16:creationId xmlns:a16="http://schemas.microsoft.com/office/drawing/2014/main" id="{7760CE0B-DDEF-DE9D-5331-6AEF9B87DB54}"/>
              </a:ext>
            </a:extLst>
          </p:cNvPr>
          <p:cNvSpPr>
            <a:spLocks noGrp="1"/>
          </p:cNvSpPr>
          <p:nvPr>
            <p:ph type="sldNum" sz="quarter" idx="12"/>
          </p:nvPr>
        </p:nvSpPr>
        <p:spPr/>
        <p:txBody>
          <a:bodyPr>
            <a:normAutofit fontScale="85000" lnSpcReduction="20000"/>
          </a:bodyPr>
          <a:lstStyle/>
          <a:p>
            <a:fld id="{EBFB1032-EA64-7144-B003-9BCC9D94B503}" type="slidenum">
              <a:rPr lang="en-US" smtClean="0"/>
              <a:t>14</a:t>
            </a:fld>
            <a:endParaRPr lang="en-US" dirty="0"/>
          </a:p>
        </p:txBody>
      </p:sp>
      <p:sp>
        <p:nvSpPr>
          <p:cNvPr id="4" name="Content Placeholder 3">
            <a:extLst>
              <a:ext uri="{FF2B5EF4-FFF2-40B4-BE49-F238E27FC236}">
                <a16:creationId xmlns:a16="http://schemas.microsoft.com/office/drawing/2014/main" id="{2AA6553A-3DE5-A37E-8671-7E0628E29C2E}"/>
              </a:ext>
            </a:extLst>
          </p:cNvPr>
          <p:cNvSpPr>
            <a:spLocks noGrp="1"/>
          </p:cNvSpPr>
          <p:nvPr>
            <p:ph sz="quarter" idx="1"/>
          </p:nvPr>
        </p:nvSpPr>
        <p:spPr/>
        <p:txBody>
          <a:bodyPr>
            <a:normAutofit lnSpcReduction="10000"/>
          </a:bodyPr>
          <a:lstStyle/>
          <a:p>
            <a:pPr algn="just">
              <a:spcBef>
                <a:spcPts val="0"/>
              </a:spcBef>
            </a:pPr>
            <a:r>
              <a:rPr lang="en-US" dirty="0">
                <a:solidFill>
                  <a:srgbClr val="00B050"/>
                </a:solidFill>
              </a:rPr>
              <a:t>Sometimes you’re going to need more than just numbers to fully understand or refine a search.</a:t>
            </a:r>
          </a:p>
          <a:p>
            <a:pPr algn="just">
              <a:spcBef>
                <a:spcPts val="0"/>
              </a:spcBef>
            </a:pPr>
            <a:endParaRPr lang="en-US" dirty="0"/>
          </a:p>
          <a:p>
            <a:pPr algn="just">
              <a:spcBef>
                <a:spcPts val="0"/>
              </a:spcBef>
            </a:pPr>
            <a:r>
              <a:rPr lang="en-US" dirty="0"/>
              <a:t>While the dimensions capture the essence of the data, the payload holds metadata for structured information.</a:t>
            </a:r>
          </a:p>
          <a:p>
            <a:pPr algn="just">
              <a:spcBef>
                <a:spcPts val="0"/>
              </a:spcBef>
            </a:pPr>
            <a:endParaRPr lang="en-US" dirty="0"/>
          </a:p>
          <a:p>
            <a:pPr algn="just">
              <a:spcBef>
                <a:spcPts val="0"/>
              </a:spcBef>
            </a:pPr>
            <a:r>
              <a:rPr lang="en-US" dirty="0">
                <a:solidFill>
                  <a:srgbClr val="7030A0"/>
                </a:solidFill>
              </a:rPr>
              <a:t>It could be textual data like descriptions, tags, categories, or it could be numerical values like dates or prices.</a:t>
            </a:r>
          </a:p>
          <a:p>
            <a:pPr algn="just">
              <a:spcBef>
                <a:spcPts val="0"/>
              </a:spcBef>
            </a:pPr>
            <a:endParaRPr lang="en-US" dirty="0"/>
          </a:p>
          <a:p>
            <a:pPr algn="just">
              <a:spcBef>
                <a:spcPts val="0"/>
              </a:spcBef>
            </a:pPr>
            <a:r>
              <a:rPr lang="en-US" dirty="0"/>
              <a:t>This extra information is vital when you want to filter or rank search results based on criteria that aren’t directly encoded in the vector.</a:t>
            </a:r>
          </a:p>
          <a:p>
            <a:pPr algn="just">
              <a:spcBef>
                <a:spcPts val="0"/>
              </a:spcBef>
            </a:pPr>
            <a:endParaRPr lang="en-US" dirty="0">
              <a:solidFill>
                <a:srgbClr val="0070C0"/>
              </a:solidFill>
            </a:endParaRPr>
          </a:p>
          <a:p>
            <a:pPr algn="just">
              <a:spcBef>
                <a:spcPts val="0"/>
              </a:spcBef>
            </a:pPr>
            <a:r>
              <a:rPr lang="en-US" dirty="0">
                <a:solidFill>
                  <a:srgbClr val="0070C0"/>
                </a:solidFill>
              </a:rPr>
              <a:t>This metadata is invaluable when you need to apply additional filters or sorting criteria.</a:t>
            </a:r>
          </a:p>
        </p:txBody>
      </p:sp>
    </p:spTree>
    <p:extLst>
      <p:ext uri="{BB962C8B-B14F-4D97-AF65-F5344CB8AC3E}">
        <p14:creationId xmlns:p14="http://schemas.microsoft.com/office/powerpoint/2010/main" val="31400368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F0439-0D82-DD1D-65AE-A1CE7A2615A4}"/>
              </a:ext>
            </a:extLst>
          </p:cNvPr>
          <p:cNvSpPr>
            <a:spLocks noGrp="1"/>
          </p:cNvSpPr>
          <p:nvPr>
            <p:ph type="title"/>
          </p:nvPr>
        </p:nvSpPr>
        <p:spPr>
          <a:xfrm>
            <a:off x="117987" y="228600"/>
            <a:ext cx="8919423" cy="990600"/>
          </a:xfrm>
        </p:spPr>
        <p:txBody>
          <a:bodyPr/>
          <a:lstStyle/>
          <a:p>
            <a:r>
              <a:rPr lang="en-US" b="1" dirty="0">
                <a:latin typeface="Arial Narrow" panose="020B0606020202030204" pitchFamily="34" charset="0"/>
              </a:rPr>
              <a:t>Example:</a:t>
            </a:r>
          </a:p>
        </p:txBody>
      </p:sp>
      <p:sp>
        <p:nvSpPr>
          <p:cNvPr id="4" name="Content Placeholder 3">
            <a:extLst>
              <a:ext uri="{FF2B5EF4-FFF2-40B4-BE49-F238E27FC236}">
                <a16:creationId xmlns:a16="http://schemas.microsoft.com/office/drawing/2014/main" id="{BAC7AC00-37AB-D8ED-ABE4-899B2AE8F970}"/>
              </a:ext>
            </a:extLst>
          </p:cNvPr>
          <p:cNvSpPr>
            <a:spLocks noGrp="1"/>
          </p:cNvSpPr>
          <p:nvPr>
            <p:ph sz="quarter" idx="1"/>
          </p:nvPr>
        </p:nvSpPr>
        <p:spPr>
          <a:xfrm>
            <a:off x="117987" y="1589567"/>
            <a:ext cx="4454013" cy="5039834"/>
          </a:xfrm>
        </p:spPr>
        <p:txBody>
          <a:bodyPr>
            <a:normAutofit/>
          </a:bodyPr>
          <a:lstStyle/>
          <a:p>
            <a:pPr algn="just">
              <a:lnSpc>
                <a:spcPct val="90000"/>
              </a:lnSpc>
              <a:spcBef>
                <a:spcPts val="0"/>
              </a:spcBef>
            </a:pPr>
            <a:r>
              <a:rPr lang="en-US" sz="2300" b="1" dirty="0">
                <a:latin typeface="Arial Narrow" panose="020B0606020202030204" pitchFamily="34" charset="0"/>
              </a:rPr>
              <a:t>For example, if you’re searching for a picture of a dog, the vector helps the database find images that are visually similar.</a:t>
            </a:r>
          </a:p>
          <a:p>
            <a:pPr algn="just">
              <a:lnSpc>
                <a:spcPct val="90000"/>
              </a:lnSpc>
              <a:spcBef>
                <a:spcPts val="0"/>
              </a:spcBef>
            </a:pPr>
            <a:endParaRPr lang="en-US" sz="2300" b="1" dirty="0">
              <a:latin typeface="Arial Narrow" panose="020B0606020202030204" pitchFamily="34" charset="0"/>
            </a:endParaRPr>
          </a:p>
          <a:p>
            <a:pPr algn="just">
              <a:lnSpc>
                <a:spcPct val="90000"/>
              </a:lnSpc>
              <a:spcBef>
                <a:spcPts val="0"/>
              </a:spcBef>
            </a:pPr>
            <a:r>
              <a:rPr lang="en-US" sz="2300" b="1" dirty="0">
                <a:latin typeface="Arial Narrow" panose="020B0606020202030204" pitchFamily="34" charset="0"/>
              </a:rPr>
              <a:t>But let’s say you want results showing only images taken within the last year, or those tagged with “vacation.”</a:t>
            </a:r>
          </a:p>
          <a:p>
            <a:pPr algn="just">
              <a:lnSpc>
                <a:spcPct val="90000"/>
              </a:lnSpc>
              <a:spcBef>
                <a:spcPts val="0"/>
              </a:spcBef>
            </a:pPr>
            <a:endParaRPr lang="en-US" sz="2300" b="1" dirty="0">
              <a:latin typeface="Arial Narrow" panose="020B0606020202030204" pitchFamily="34" charset="0"/>
            </a:endParaRPr>
          </a:p>
          <a:p>
            <a:pPr algn="just">
              <a:lnSpc>
                <a:spcPct val="90000"/>
              </a:lnSpc>
              <a:spcBef>
                <a:spcPts val="0"/>
              </a:spcBef>
            </a:pPr>
            <a:r>
              <a:rPr lang="en-US" sz="2300" b="1" dirty="0">
                <a:latin typeface="Arial Narrow" panose="020B0606020202030204" pitchFamily="34" charset="0"/>
              </a:rPr>
              <a:t>The payload can help you narrow down those results by ignoring vectors that doesn’t match your query vector filtering criteria. </a:t>
            </a:r>
          </a:p>
        </p:txBody>
      </p:sp>
      <p:pic>
        <p:nvPicPr>
          <p:cNvPr id="9" name="Content Placeholder 8" descr="A diagram of a network&#10;&#10;AI-generated content may be incorrect.">
            <a:extLst>
              <a:ext uri="{FF2B5EF4-FFF2-40B4-BE49-F238E27FC236}">
                <a16:creationId xmlns:a16="http://schemas.microsoft.com/office/drawing/2014/main" id="{9A154E41-F17F-8B14-C84B-1B2291AF4B20}"/>
              </a:ext>
            </a:extLst>
          </p:cNvPr>
          <p:cNvPicPr>
            <a:picLocks noGrp="1" noChangeAspect="1"/>
          </p:cNvPicPr>
          <p:nvPr>
            <p:ph sz="quarter" idx="2"/>
          </p:nvPr>
        </p:nvPicPr>
        <p:blipFill>
          <a:blip r:embed="rId2"/>
          <a:stretch>
            <a:fillRect/>
          </a:stretch>
        </p:blipFill>
        <p:spPr>
          <a:xfrm>
            <a:off x="4686300" y="2129859"/>
            <a:ext cx="4351110" cy="3577767"/>
          </a:xfrm>
        </p:spPr>
      </p:pic>
      <p:sp>
        <p:nvSpPr>
          <p:cNvPr id="3" name="Slide Number Placeholder 2">
            <a:extLst>
              <a:ext uri="{FF2B5EF4-FFF2-40B4-BE49-F238E27FC236}">
                <a16:creationId xmlns:a16="http://schemas.microsoft.com/office/drawing/2014/main" id="{22081843-5816-6DDB-B731-883B2D76A9D2}"/>
              </a:ext>
            </a:extLst>
          </p:cNvPr>
          <p:cNvSpPr>
            <a:spLocks noGrp="1"/>
          </p:cNvSpPr>
          <p:nvPr>
            <p:ph type="sldNum" sz="quarter" idx="16"/>
          </p:nvPr>
        </p:nvSpPr>
        <p:spPr/>
        <p:txBody>
          <a:bodyPr>
            <a:normAutofit fontScale="85000" lnSpcReduction="20000"/>
          </a:bodyPr>
          <a:lstStyle/>
          <a:p>
            <a:fld id="{EBFB1032-EA64-7144-B003-9BCC9D94B503}" type="slidenum">
              <a:rPr lang="en-US" smtClean="0"/>
              <a:t>15</a:t>
            </a:fld>
            <a:endParaRPr lang="en-US" dirty="0"/>
          </a:p>
        </p:txBody>
      </p:sp>
    </p:spTree>
    <p:extLst>
      <p:ext uri="{BB962C8B-B14F-4D97-AF65-F5344CB8AC3E}">
        <p14:creationId xmlns:p14="http://schemas.microsoft.com/office/powerpoint/2010/main" val="4936804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DE825-5B13-6BF1-D1C5-FBCB5EB08FD7}"/>
              </a:ext>
            </a:extLst>
          </p:cNvPr>
          <p:cNvSpPr>
            <a:spLocks noGrp="1"/>
          </p:cNvSpPr>
          <p:nvPr>
            <p:ph type="title"/>
          </p:nvPr>
        </p:nvSpPr>
        <p:spPr/>
        <p:txBody>
          <a:bodyPr>
            <a:noAutofit/>
          </a:bodyPr>
          <a:lstStyle/>
          <a:p>
            <a:r>
              <a:rPr lang="en-US" sz="3000" b="0" dirty="0"/>
              <a:t>The Architecture of a Vector Database: Entities and Relations</a:t>
            </a:r>
          </a:p>
        </p:txBody>
      </p:sp>
      <p:sp>
        <p:nvSpPr>
          <p:cNvPr id="3" name="Slide Number Placeholder 2">
            <a:extLst>
              <a:ext uri="{FF2B5EF4-FFF2-40B4-BE49-F238E27FC236}">
                <a16:creationId xmlns:a16="http://schemas.microsoft.com/office/drawing/2014/main" id="{11191243-B5B1-C45E-BCD8-39B17639A341}"/>
              </a:ext>
            </a:extLst>
          </p:cNvPr>
          <p:cNvSpPr>
            <a:spLocks noGrp="1"/>
          </p:cNvSpPr>
          <p:nvPr>
            <p:ph type="sldNum" sz="quarter" idx="12"/>
          </p:nvPr>
        </p:nvSpPr>
        <p:spPr/>
        <p:txBody>
          <a:bodyPr>
            <a:normAutofit fontScale="85000" lnSpcReduction="20000"/>
          </a:bodyPr>
          <a:lstStyle/>
          <a:p>
            <a:fld id="{EBFB1032-EA64-7144-B003-9BCC9D94B503}" type="slidenum">
              <a:rPr lang="en-US" smtClean="0"/>
              <a:t>16</a:t>
            </a:fld>
            <a:endParaRPr lang="en-US" dirty="0"/>
          </a:p>
        </p:txBody>
      </p:sp>
      <p:pic>
        <p:nvPicPr>
          <p:cNvPr id="8" name="Picture 7" descr="A screenshot of a computer">
            <a:extLst>
              <a:ext uri="{FF2B5EF4-FFF2-40B4-BE49-F238E27FC236}">
                <a16:creationId xmlns:a16="http://schemas.microsoft.com/office/drawing/2014/main" id="{A13C9692-71D7-D34E-5A8B-B91EFFD2F9C5}"/>
              </a:ext>
            </a:extLst>
          </p:cNvPr>
          <p:cNvPicPr>
            <a:picLocks noChangeAspect="1"/>
          </p:cNvPicPr>
          <p:nvPr/>
        </p:nvPicPr>
        <p:blipFill>
          <a:blip r:embed="rId2"/>
          <a:stretch>
            <a:fillRect/>
          </a:stretch>
        </p:blipFill>
        <p:spPr>
          <a:xfrm>
            <a:off x="914400" y="1074789"/>
            <a:ext cx="7315200" cy="5657850"/>
          </a:xfrm>
          <a:prstGeom prst="rect">
            <a:avLst/>
          </a:prstGeom>
          <a:ln>
            <a:solidFill>
              <a:schemeClr val="accent1"/>
            </a:solidFill>
          </a:ln>
        </p:spPr>
      </p:pic>
    </p:spTree>
    <p:extLst>
      <p:ext uri="{BB962C8B-B14F-4D97-AF65-F5344CB8AC3E}">
        <p14:creationId xmlns:p14="http://schemas.microsoft.com/office/powerpoint/2010/main" val="21750709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9BF1B-B127-BBB9-913D-B0FB0CAC8125}"/>
              </a:ext>
            </a:extLst>
          </p:cNvPr>
          <p:cNvSpPr>
            <a:spLocks noGrp="1"/>
          </p:cNvSpPr>
          <p:nvPr>
            <p:ph type="title"/>
          </p:nvPr>
        </p:nvSpPr>
        <p:spPr/>
        <p:txBody>
          <a:bodyPr>
            <a:normAutofit/>
          </a:bodyPr>
          <a:lstStyle/>
          <a:p>
            <a:r>
              <a:rPr lang="en-US" dirty="0"/>
              <a:t>Collections</a:t>
            </a:r>
          </a:p>
        </p:txBody>
      </p:sp>
      <p:sp>
        <p:nvSpPr>
          <p:cNvPr id="3" name="Slide Number Placeholder 2">
            <a:extLst>
              <a:ext uri="{FF2B5EF4-FFF2-40B4-BE49-F238E27FC236}">
                <a16:creationId xmlns:a16="http://schemas.microsoft.com/office/drawing/2014/main" id="{80BE2E13-ACF7-A6D1-843E-0206AB58634E}"/>
              </a:ext>
            </a:extLst>
          </p:cNvPr>
          <p:cNvSpPr>
            <a:spLocks noGrp="1"/>
          </p:cNvSpPr>
          <p:nvPr>
            <p:ph type="sldNum" sz="quarter" idx="12"/>
          </p:nvPr>
        </p:nvSpPr>
        <p:spPr/>
        <p:txBody>
          <a:bodyPr>
            <a:normAutofit fontScale="85000" lnSpcReduction="20000"/>
          </a:bodyPr>
          <a:lstStyle/>
          <a:p>
            <a:fld id="{EBFB1032-EA64-7144-B003-9BCC9D94B503}" type="slidenum">
              <a:rPr lang="en-US" smtClean="0"/>
              <a:t>17</a:t>
            </a:fld>
            <a:endParaRPr lang="en-US" dirty="0"/>
          </a:p>
        </p:txBody>
      </p:sp>
      <p:sp>
        <p:nvSpPr>
          <p:cNvPr id="4" name="Content Placeholder 3">
            <a:extLst>
              <a:ext uri="{FF2B5EF4-FFF2-40B4-BE49-F238E27FC236}">
                <a16:creationId xmlns:a16="http://schemas.microsoft.com/office/drawing/2014/main" id="{17E2A020-1D86-CEC2-6A3A-A0959DC7D77B}"/>
              </a:ext>
            </a:extLst>
          </p:cNvPr>
          <p:cNvSpPr>
            <a:spLocks noGrp="1"/>
          </p:cNvSpPr>
          <p:nvPr>
            <p:ph sz="quarter" idx="1"/>
          </p:nvPr>
        </p:nvSpPr>
        <p:spPr/>
        <p:txBody>
          <a:bodyPr/>
          <a:lstStyle/>
          <a:p>
            <a:r>
              <a:rPr lang="en-US" dirty="0"/>
              <a:t>A collection is essentially a group of vectors (or “points”) that are logically grouped together based on similarity or a specific task.</a:t>
            </a:r>
          </a:p>
          <a:p>
            <a:endParaRPr lang="en-US" dirty="0"/>
          </a:p>
          <a:p>
            <a:r>
              <a:rPr lang="en-US" dirty="0"/>
              <a:t>Every vector within a collection shares the same dimensionality and can be compared using a single metric.</a:t>
            </a:r>
          </a:p>
          <a:p>
            <a:endParaRPr lang="en-US" dirty="0"/>
          </a:p>
          <a:p>
            <a:r>
              <a:rPr lang="en-US" dirty="0"/>
              <a:t>Avoid creating multiple collections unless necessary; instead, consider techniques like sharding for scaling across nodes or multitenancy for handling different use cases within the same infrastructure.</a:t>
            </a:r>
          </a:p>
        </p:txBody>
      </p:sp>
    </p:spTree>
    <p:extLst>
      <p:ext uri="{BB962C8B-B14F-4D97-AF65-F5344CB8AC3E}">
        <p14:creationId xmlns:p14="http://schemas.microsoft.com/office/powerpoint/2010/main" val="34129192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C2CA8-8217-1213-5165-8C536B34C9D4}"/>
              </a:ext>
            </a:extLst>
          </p:cNvPr>
          <p:cNvSpPr>
            <a:spLocks noGrp="1"/>
          </p:cNvSpPr>
          <p:nvPr>
            <p:ph type="title"/>
          </p:nvPr>
        </p:nvSpPr>
        <p:spPr/>
        <p:txBody>
          <a:bodyPr>
            <a:normAutofit/>
          </a:bodyPr>
          <a:lstStyle/>
          <a:p>
            <a:r>
              <a:rPr lang="en-US" dirty="0"/>
              <a:t>Distance Metrics</a:t>
            </a:r>
          </a:p>
        </p:txBody>
      </p:sp>
      <p:sp>
        <p:nvSpPr>
          <p:cNvPr id="3" name="Slide Number Placeholder 2">
            <a:extLst>
              <a:ext uri="{FF2B5EF4-FFF2-40B4-BE49-F238E27FC236}">
                <a16:creationId xmlns:a16="http://schemas.microsoft.com/office/drawing/2014/main" id="{B2F14666-CDE2-7E69-BF9E-3D1BC2878106}"/>
              </a:ext>
            </a:extLst>
          </p:cNvPr>
          <p:cNvSpPr>
            <a:spLocks noGrp="1"/>
          </p:cNvSpPr>
          <p:nvPr>
            <p:ph type="sldNum" sz="quarter" idx="12"/>
          </p:nvPr>
        </p:nvSpPr>
        <p:spPr/>
        <p:txBody>
          <a:bodyPr>
            <a:normAutofit fontScale="85000" lnSpcReduction="20000"/>
          </a:bodyPr>
          <a:lstStyle/>
          <a:p>
            <a:fld id="{EBFB1032-EA64-7144-B003-9BCC9D94B503}" type="slidenum">
              <a:rPr lang="en-US" smtClean="0"/>
              <a:t>18</a:t>
            </a:fld>
            <a:endParaRPr lang="en-US" dirty="0"/>
          </a:p>
        </p:txBody>
      </p:sp>
      <p:sp>
        <p:nvSpPr>
          <p:cNvPr id="4" name="Content Placeholder 3">
            <a:extLst>
              <a:ext uri="{FF2B5EF4-FFF2-40B4-BE49-F238E27FC236}">
                <a16:creationId xmlns:a16="http://schemas.microsoft.com/office/drawing/2014/main" id="{7A346D5E-2602-D9FA-363C-6555E67736F5}"/>
              </a:ext>
            </a:extLst>
          </p:cNvPr>
          <p:cNvSpPr>
            <a:spLocks noGrp="1"/>
          </p:cNvSpPr>
          <p:nvPr>
            <p:ph sz="quarter" idx="1"/>
          </p:nvPr>
        </p:nvSpPr>
        <p:spPr/>
        <p:txBody>
          <a:bodyPr>
            <a:noAutofit/>
          </a:bodyPr>
          <a:lstStyle/>
          <a:p>
            <a:pPr algn="just">
              <a:spcBef>
                <a:spcPts val="0"/>
              </a:spcBef>
            </a:pPr>
            <a:r>
              <a:rPr lang="en-US" dirty="0"/>
              <a:t>These metrics defines how similarity between vectors is calculated.</a:t>
            </a:r>
          </a:p>
          <a:p>
            <a:pPr algn="just">
              <a:spcBef>
                <a:spcPts val="0"/>
              </a:spcBef>
            </a:pPr>
            <a:endParaRPr lang="en-US" dirty="0"/>
          </a:p>
          <a:p>
            <a:pPr algn="just">
              <a:spcBef>
                <a:spcPts val="0"/>
              </a:spcBef>
            </a:pPr>
            <a:r>
              <a:rPr lang="en-US" dirty="0"/>
              <a:t>The choice of distance metric is made when creating a collection and the right choice depends on the type of data you’re working with and how the vectors were created.</a:t>
            </a:r>
          </a:p>
          <a:p>
            <a:pPr algn="just">
              <a:spcBef>
                <a:spcPts val="0"/>
              </a:spcBef>
            </a:pPr>
            <a:endParaRPr lang="en-US" dirty="0"/>
          </a:p>
        </p:txBody>
      </p:sp>
    </p:spTree>
    <p:extLst>
      <p:ext uri="{BB962C8B-B14F-4D97-AF65-F5344CB8AC3E}">
        <p14:creationId xmlns:p14="http://schemas.microsoft.com/office/powerpoint/2010/main" val="9843274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6495-A34E-6384-ABC0-A0F663312F0F}"/>
              </a:ext>
            </a:extLst>
          </p:cNvPr>
          <p:cNvSpPr>
            <a:spLocks noGrp="1"/>
          </p:cNvSpPr>
          <p:nvPr>
            <p:ph type="title"/>
          </p:nvPr>
        </p:nvSpPr>
        <p:spPr/>
        <p:txBody>
          <a:bodyPr>
            <a:normAutofit fontScale="90000"/>
          </a:bodyPr>
          <a:lstStyle/>
          <a:p>
            <a:r>
              <a:rPr lang="en-US" dirty="0"/>
              <a:t>Here are the three most common distance metrics:</a:t>
            </a:r>
          </a:p>
        </p:txBody>
      </p:sp>
      <p:sp>
        <p:nvSpPr>
          <p:cNvPr id="3" name="Slide Number Placeholder 2">
            <a:extLst>
              <a:ext uri="{FF2B5EF4-FFF2-40B4-BE49-F238E27FC236}">
                <a16:creationId xmlns:a16="http://schemas.microsoft.com/office/drawing/2014/main" id="{53F66816-EDA4-BC16-6D52-5F591BD33B7C}"/>
              </a:ext>
            </a:extLst>
          </p:cNvPr>
          <p:cNvSpPr>
            <a:spLocks noGrp="1"/>
          </p:cNvSpPr>
          <p:nvPr>
            <p:ph type="sldNum" sz="quarter" idx="12"/>
          </p:nvPr>
        </p:nvSpPr>
        <p:spPr/>
        <p:txBody>
          <a:bodyPr>
            <a:normAutofit fontScale="85000" lnSpcReduction="20000"/>
          </a:bodyPr>
          <a:lstStyle/>
          <a:p>
            <a:fld id="{EBFB1032-EA64-7144-B003-9BCC9D94B503}" type="slidenum">
              <a:rPr lang="en-US" smtClean="0"/>
              <a:t>19</a:t>
            </a:fld>
            <a:endParaRPr lang="en-US" dirty="0"/>
          </a:p>
        </p:txBody>
      </p:sp>
      <p:sp>
        <p:nvSpPr>
          <p:cNvPr id="4" name="Content Placeholder 3">
            <a:extLst>
              <a:ext uri="{FF2B5EF4-FFF2-40B4-BE49-F238E27FC236}">
                <a16:creationId xmlns:a16="http://schemas.microsoft.com/office/drawing/2014/main" id="{7D17C08D-D0E0-B080-6CEF-8E98646F7FA8}"/>
              </a:ext>
            </a:extLst>
          </p:cNvPr>
          <p:cNvSpPr>
            <a:spLocks noGrp="1"/>
          </p:cNvSpPr>
          <p:nvPr>
            <p:ph sz="quarter" idx="1"/>
          </p:nvPr>
        </p:nvSpPr>
        <p:spPr/>
        <p:txBody>
          <a:bodyPr>
            <a:normAutofit/>
          </a:bodyPr>
          <a:lstStyle/>
          <a:p>
            <a:pPr algn="just">
              <a:spcBef>
                <a:spcPts val="0"/>
              </a:spcBef>
            </a:pPr>
            <a:r>
              <a:rPr lang="en-US" b="1" dirty="0"/>
              <a:t>Euclidean Distance:</a:t>
            </a:r>
          </a:p>
          <a:p>
            <a:pPr lvl="1" algn="just">
              <a:spcBef>
                <a:spcPts val="0"/>
              </a:spcBef>
            </a:pPr>
            <a:r>
              <a:rPr lang="en-US" sz="2300" dirty="0"/>
              <a:t>The straight-line path. It’s like measuring the physical distance between two points in space.</a:t>
            </a:r>
          </a:p>
          <a:p>
            <a:pPr lvl="1" algn="just">
              <a:spcBef>
                <a:spcPts val="0"/>
              </a:spcBef>
            </a:pPr>
            <a:r>
              <a:rPr lang="en-US" sz="2300" dirty="0"/>
              <a:t>Pick this one when the actual distance (like spatial data) matters</a:t>
            </a:r>
          </a:p>
          <a:p>
            <a:pPr algn="just">
              <a:spcBef>
                <a:spcPts val="0"/>
              </a:spcBef>
            </a:pPr>
            <a:r>
              <a:rPr lang="en-US" b="1" dirty="0"/>
              <a:t>Cosine Similarity:</a:t>
            </a:r>
          </a:p>
          <a:p>
            <a:pPr lvl="1" algn="just">
              <a:spcBef>
                <a:spcPts val="0"/>
              </a:spcBef>
            </a:pPr>
            <a:r>
              <a:rPr lang="en-US" sz="2300" dirty="0"/>
              <a:t>This one is about the angle, not the length. It measures how two vectors point in the same direction, so it works well for text or documents when you care more about meaning than magnitude.</a:t>
            </a:r>
          </a:p>
          <a:p>
            <a:pPr lvl="1" algn="just">
              <a:spcBef>
                <a:spcPts val="0"/>
              </a:spcBef>
            </a:pPr>
            <a:r>
              <a:rPr lang="en-US" sz="2300" dirty="0"/>
              <a:t>For example, if two things are similar, opposite, or unrelated.</a:t>
            </a:r>
          </a:p>
          <a:p>
            <a:pPr algn="just">
              <a:spcBef>
                <a:spcPts val="0"/>
              </a:spcBef>
            </a:pPr>
            <a:r>
              <a:rPr lang="en-US" b="1" dirty="0"/>
              <a:t>Dot Product:</a:t>
            </a:r>
          </a:p>
          <a:p>
            <a:pPr lvl="1" algn="just">
              <a:spcBef>
                <a:spcPts val="0"/>
              </a:spcBef>
            </a:pPr>
            <a:r>
              <a:rPr lang="en-US" sz="2300" dirty="0"/>
              <a:t>This looks at how much two vectors align.</a:t>
            </a:r>
          </a:p>
          <a:p>
            <a:pPr lvl="1" algn="just">
              <a:spcBef>
                <a:spcPts val="0"/>
              </a:spcBef>
            </a:pPr>
            <a:r>
              <a:rPr lang="en-US" sz="2300" dirty="0"/>
              <a:t>It’s popular in recommendation systems where you’re interested in how much two things “agree” with each other</a:t>
            </a:r>
          </a:p>
        </p:txBody>
      </p:sp>
    </p:spTree>
    <p:extLst>
      <p:ext uri="{BB962C8B-B14F-4D97-AF65-F5344CB8AC3E}">
        <p14:creationId xmlns:p14="http://schemas.microsoft.com/office/powerpoint/2010/main" val="36296712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168CC8E-C92D-1FB2-F6C0-6E48C1BE727D}"/>
              </a:ext>
            </a:extLst>
          </p:cNvPr>
          <p:cNvSpPr>
            <a:spLocks noGrp="1"/>
          </p:cNvSpPr>
          <p:nvPr>
            <p:ph type="sldNum" sz="quarter" idx="12"/>
          </p:nvPr>
        </p:nvSpPr>
        <p:spPr/>
        <p:txBody>
          <a:bodyPr>
            <a:normAutofit/>
          </a:bodyPr>
          <a:lstStyle/>
          <a:p>
            <a:fld id="{EBFB1032-EA64-7144-B003-9BCC9D94B503}" type="slidenum">
              <a:rPr lang="en-US" smtClean="0"/>
              <a:t>20</a:t>
            </a:fld>
            <a:endParaRPr lang="en-US" dirty="0"/>
          </a:p>
        </p:txBody>
      </p:sp>
      <p:pic>
        <p:nvPicPr>
          <p:cNvPr id="8" name="Picture 7" descr="A diagram of a graph&#10;&#10;AI-generated content may be incorrect.">
            <a:extLst>
              <a:ext uri="{FF2B5EF4-FFF2-40B4-BE49-F238E27FC236}">
                <a16:creationId xmlns:a16="http://schemas.microsoft.com/office/drawing/2014/main" id="{FC96501B-E5FF-0D68-5455-129E81BF8C0B}"/>
              </a:ext>
            </a:extLst>
          </p:cNvPr>
          <p:cNvPicPr>
            <a:picLocks noChangeAspect="1"/>
          </p:cNvPicPr>
          <p:nvPr/>
        </p:nvPicPr>
        <p:blipFill>
          <a:blip r:embed="rId2"/>
          <a:stretch>
            <a:fillRect/>
          </a:stretch>
        </p:blipFill>
        <p:spPr>
          <a:xfrm>
            <a:off x="91440" y="1718161"/>
            <a:ext cx="8961120" cy="3421678"/>
          </a:xfrm>
          <a:prstGeom prst="rect">
            <a:avLst/>
          </a:prstGeom>
        </p:spPr>
      </p:pic>
    </p:spTree>
    <p:extLst>
      <p:ext uri="{BB962C8B-B14F-4D97-AF65-F5344CB8AC3E}">
        <p14:creationId xmlns:p14="http://schemas.microsoft.com/office/powerpoint/2010/main" val="27003877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99CC9-4719-BACF-9E02-9015067863CF}"/>
              </a:ext>
            </a:extLst>
          </p:cNvPr>
          <p:cNvSpPr>
            <a:spLocks noGrp="1"/>
          </p:cNvSpPr>
          <p:nvPr>
            <p:ph type="title"/>
          </p:nvPr>
        </p:nvSpPr>
        <p:spPr/>
        <p:txBody>
          <a:bodyPr>
            <a:normAutofit/>
          </a:bodyPr>
          <a:lstStyle/>
          <a:p>
            <a:r>
              <a:rPr lang="en-US" dirty="0"/>
              <a:t>RAM-Based and </a:t>
            </a:r>
            <a:r>
              <a:rPr lang="en-US" dirty="0" err="1"/>
              <a:t>Memmap</a:t>
            </a:r>
            <a:r>
              <a:rPr lang="en-US" dirty="0"/>
              <a:t> Storage</a:t>
            </a:r>
          </a:p>
        </p:txBody>
      </p:sp>
      <p:sp>
        <p:nvSpPr>
          <p:cNvPr id="3" name="Slide Number Placeholder 2">
            <a:extLst>
              <a:ext uri="{FF2B5EF4-FFF2-40B4-BE49-F238E27FC236}">
                <a16:creationId xmlns:a16="http://schemas.microsoft.com/office/drawing/2014/main" id="{20BD0FF0-590D-C2C4-273F-95CE3E84282A}"/>
              </a:ext>
            </a:extLst>
          </p:cNvPr>
          <p:cNvSpPr>
            <a:spLocks noGrp="1"/>
          </p:cNvSpPr>
          <p:nvPr>
            <p:ph type="sldNum" sz="quarter" idx="12"/>
          </p:nvPr>
        </p:nvSpPr>
        <p:spPr/>
        <p:txBody>
          <a:bodyPr>
            <a:normAutofit fontScale="85000" lnSpcReduction="20000"/>
          </a:bodyPr>
          <a:lstStyle/>
          <a:p>
            <a:fld id="{EBFB1032-EA64-7144-B003-9BCC9D94B503}" type="slidenum">
              <a:rPr lang="en-US" smtClean="0"/>
              <a:t>21</a:t>
            </a:fld>
            <a:endParaRPr lang="en-US" dirty="0"/>
          </a:p>
        </p:txBody>
      </p:sp>
      <p:sp>
        <p:nvSpPr>
          <p:cNvPr id="4" name="Content Placeholder 3">
            <a:extLst>
              <a:ext uri="{FF2B5EF4-FFF2-40B4-BE49-F238E27FC236}">
                <a16:creationId xmlns:a16="http://schemas.microsoft.com/office/drawing/2014/main" id="{9F222704-97F3-8563-DD30-3D0CF0116A45}"/>
              </a:ext>
            </a:extLst>
          </p:cNvPr>
          <p:cNvSpPr>
            <a:spLocks noGrp="1"/>
          </p:cNvSpPr>
          <p:nvPr>
            <p:ph sz="quarter" idx="1"/>
          </p:nvPr>
        </p:nvSpPr>
        <p:spPr/>
        <p:txBody>
          <a:bodyPr>
            <a:normAutofit/>
          </a:bodyPr>
          <a:lstStyle/>
          <a:p>
            <a:pPr>
              <a:spcBef>
                <a:spcPts val="0"/>
              </a:spcBef>
            </a:pPr>
            <a:r>
              <a:rPr lang="en-US" sz="2200" dirty="0"/>
              <a:t>By default, </a:t>
            </a:r>
            <a:r>
              <a:rPr lang="en-US" sz="2200" dirty="0" err="1"/>
              <a:t>Qdrant</a:t>
            </a:r>
            <a:r>
              <a:rPr lang="en-US" sz="2200" dirty="0"/>
              <a:t> stores vectors in RAM, delivering incredibly fast access for datasets that fit comfortably in memory.</a:t>
            </a:r>
          </a:p>
          <a:p>
            <a:pPr>
              <a:spcBef>
                <a:spcPts val="0"/>
              </a:spcBef>
            </a:pPr>
            <a:r>
              <a:rPr lang="en-US" sz="2200" dirty="0"/>
              <a:t>But when your dataset exceeds RAM capacity, </a:t>
            </a:r>
            <a:r>
              <a:rPr lang="en-US" sz="2200" dirty="0" err="1"/>
              <a:t>Qdrant</a:t>
            </a:r>
            <a:r>
              <a:rPr lang="en-US" sz="2200" dirty="0"/>
              <a:t> offers </a:t>
            </a:r>
            <a:r>
              <a:rPr lang="en-US" sz="2200" dirty="0" err="1"/>
              <a:t>Memmap</a:t>
            </a:r>
            <a:r>
              <a:rPr lang="en-US" sz="2200" dirty="0"/>
              <a:t> as an alternative.</a:t>
            </a:r>
          </a:p>
          <a:p>
            <a:pPr>
              <a:spcBef>
                <a:spcPts val="0"/>
              </a:spcBef>
            </a:pPr>
            <a:r>
              <a:rPr lang="en-US" sz="2200" dirty="0" err="1"/>
              <a:t>Memmap</a:t>
            </a:r>
            <a:r>
              <a:rPr lang="en-US" sz="2200" dirty="0"/>
              <a:t> allows you to store vectors on disk, yet still access them efficiently by mapping the data directly into memory if you have enough RAM.</a:t>
            </a:r>
          </a:p>
          <a:p>
            <a:pPr>
              <a:spcBef>
                <a:spcPts val="0"/>
              </a:spcBef>
            </a:pPr>
            <a:r>
              <a:rPr lang="en-US" sz="2200" dirty="0"/>
              <a:t>To enable it, you only need to set "</a:t>
            </a:r>
            <a:r>
              <a:rPr lang="en-US" sz="2200" dirty="0" err="1"/>
              <a:t>on_disk</a:t>
            </a:r>
            <a:r>
              <a:rPr lang="en-US" sz="2200" dirty="0"/>
              <a:t>": true when you are creating a collection</a:t>
            </a:r>
          </a:p>
        </p:txBody>
      </p:sp>
      <p:pic>
        <p:nvPicPr>
          <p:cNvPr id="6" name="Picture 5">
            <a:extLst>
              <a:ext uri="{FF2B5EF4-FFF2-40B4-BE49-F238E27FC236}">
                <a16:creationId xmlns:a16="http://schemas.microsoft.com/office/drawing/2014/main" id="{43C9667E-C0C7-7A0C-3693-F01FF89174C1}"/>
              </a:ext>
            </a:extLst>
          </p:cNvPr>
          <p:cNvPicPr>
            <a:picLocks noChangeAspect="1"/>
          </p:cNvPicPr>
          <p:nvPr/>
        </p:nvPicPr>
        <p:blipFill>
          <a:blip r:embed="rId2"/>
          <a:stretch>
            <a:fillRect/>
          </a:stretch>
        </p:blipFill>
        <p:spPr>
          <a:xfrm>
            <a:off x="1337231" y="4176962"/>
            <a:ext cx="6509639" cy="2560320"/>
          </a:xfrm>
          <a:prstGeom prst="rect">
            <a:avLst/>
          </a:prstGeom>
        </p:spPr>
      </p:pic>
    </p:spTree>
    <p:extLst>
      <p:ext uri="{BB962C8B-B14F-4D97-AF65-F5344CB8AC3E}">
        <p14:creationId xmlns:p14="http://schemas.microsoft.com/office/powerpoint/2010/main" val="1800270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7D171-F006-10EC-D505-9D3691B3AE3A}"/>
              </a:ext>
            </a:extLst>
          </p:cNvPr>
          <p:cNvSpPr>
            <a:spLocks noGrp="1"/>
          </p:cNvSpPr>
          <p:nvPr>
            <p:ph type="title"/>
          </p:nvPr>
        </p:nvSpPr>
        <p:spPr/>
        <p:txBody>
          <a:bodyPr>
            <a:normAutofit/>
          </a:bodyPr>
          <a:lstStyle/>
          <a:p>
            <a:r>
              <a:rPr lang="en-US" dirty="0"/>
              <a:t>SDKs</a:t>
            </a:r>
          </a:p>
        </p:txBody>
      </p:sp>
      <p:sp>
        <p:nvSpPr>
          <p:cNvPr id="3" name="Slide Number Placeholder 2">
            <a:extLst>
              <a:ext uri="{FF2B5EF4-FFF2-40B4-BE49-F238E27FC236}">
                <a16:creationId xmlns:a16="http://schemas.microsoft.com/office/drawing/2014/main" id="{34C13A40-8470-5CBC-438C-A35E05E2918C}"/>
              </a:ext>
            </a:extLst>
          </p:cNvPr>
          <p:cNvSpPr>
            <a:spLocks noGrp="1"/>
          </p:cNvSpPr>
          <p:nvPr>
            <p:ph type="sldNum" sz="quarter" idx="12"/>
          </p:nvPr>
        </p:nvSpPr>
        <p:spPr/>
        <p:txBody>
          <a:bodyPr>
            <a:normAutofit fontScale="85000" lnSpcReduction="20000"/>
          </a:bodyPr>
          <a:lstStyle/>
          <a:p>
            <a:fld id="{EBFB1032-EA64-7144-B003-9BCC9D94B503}" type="slidenum">
              <a:rPr lang="en-US" smtClean="0"/>
              <a:t>22</a:t>
            </a:fld>
            <a:endParaRPr lang="en-US" dirty="0"/>
          </a:p>
        </p:txBody>
      </p:sp>
      <p:sp>
        <p:nvSpPr>
          <p:cNvPr id="4" name="Content Placeholder 3">
            <a:extLst>
              <a:ext uri="{FF2B5EF4-FFF2-40B4-BE49-F238E27FC236}">
                <a16:creationId xmlns:a16="http://schemas.microsoft.com/office/drawing/2014/main" id="{51E92882-BCDA-0228-25A4-E9F51E54D516}"/>
              </a:ext>
            </a:extLst>
          </p:cNvPr>
          <p:cNvSpPr>
            <a:spLocks noGrp="1"/>
          </p:cNvSpPr>
          <p:nvPr>
            <p:ph sz="quarter" idx="1"/>
          </p:nvPr>
        </p:nvSpPr>
        <p:spPr/>
        <p:txBody>
          <a:bodyPr/>
          <a:lstStyle/>
          <a:p>
            <a:r>
              <a:rPr lang="en-US" dirty="0" err="1"/>
              <a:t>Qdrant</a:t>
            </a:r>
            <a:r>
              <a:rPr lang="en-US" dirty="0"/>
              <a:t> offers a range of SDKs.</a:t>
            </a:r>
          </a:p>
          <a:p>
            <a:endParaRPr lang="en-US" dirty="0"/>
          </a:p>
          <a:p>
            <a:r>
              <a:rPr lang="en-US" dirty="0"/>
              <a:t>You can use the programming language you’re most comfortable with, whether you’re coding in Python, Go, Rust, </a:t>
            </a:r>
            <a:r>
              <a:rPr lang="en-US" dirty="0" err="1"/>
              <a:t>Javascript</a:t>
            </a:r>
            <a:r>
              <a:rPr lang="en-US" dirty="0"/>
              <a:t>/Typescript, C# or Java.</a:t>
            </a:r>
          </a:p>
          <a:p>
            <a:endParaRPr lang="en-US" dirty="0"/>
          </a:p>
          <a:p>
            <a:pPr marL="0" indent="0">
              <a:buNone/>
            </a:pPr>
            <a:r>
              <a:rPr lang="en-US" dirty="0"/>
              <a:t>	</a:t>
            </a:r>
            <a:r>
              <a:rPr lang="en-US" dirty="0">
                <a:hlinkClick r:id="rId2"/>
              </a:rPr>
              <a:t>https://github.com/qdrant/java-client</a:t>
            </a:r>
            <a:endParaRPr lang="en-US" dirty="0"/>
          </a:p>
          <a:p>
            <a:pPr marL="0" indent="0">
              <a:buNone/>
            </a:pPr>
            <a:endParaRPr lang="en-US" dirty="0"/>
          </a:p>
        </p:txBody>
      </p:sp>
    </p:spTree>
    <p:extLst>
      <p:ext uri="{BB962C8B-B14F-4D97-AF65-F5344CB8AC3E}">
        <p14:creationId xmlns:p14="http://schemas.microsoft.com/office/powerpoint/2010/main" val="25630596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BA51F-FDE7-D223-2FB4-50D78D981C75}"/>
              </a:ext>
            </a:extLst>
          </p:cNvPr>
          <p:cNvSpPr>
            <a:spLocks noGrp="1"/>
          </p:cNvSpPr>
          <p:nvPr>
            <p:ph type="title"/>
          </p:nvPr>
        </p:nvSpPr>
        <p:spPr/>
        <p:txBody>
          <a:bodyPr>
            <a:normAutofit/>
          </a:bodyPr>
          <a:lstStyle/>
          <a:p>
            <a:r>
              <a:rPr lang="en-US" dirty="0"/>
              <a:t>The Core Functionalities of Vector Databases</a:t>
            </a:r>
          </a:p>
        </p:txBody>
      </p:sp>
      <p:sp>
        <p:nvSpPr>
          <p:cNvPr id="3" name="Slide Number Placeholder 2">
            <a:extLst>
              <a:ext uri="{FF2B5EF4-FFF2-40B4-BE49-F238E27FC236}">
                <a16:creationId xmlns:a16="http://schemas.microsoft.com/office/drawing/2014/main" id="{1A31C9BA-1278-A3AB-465D-DF738340976D}"/>
              </a:ext>
            </a:extLst>
          </p:cNvPr>
          <p:cNvSpPr>
            <a:spLocks noGrp="1"/>
          </p:cNvSpPr>
          <p:nvPr>
            <p:ph type="sldNum" sz="quarter" idx="12"/>
          </p:nvPr>
        </p:nvSpPr>
        <p:spPr/>
        <p:txBody>
          <a:bodyPr>
            <a:normAutofit fontScale="85000" lnSpcReduction="20000"/>
          </a:bodyPr>
          <a:lstStyle/>
          <a:p>
            <a:fld id="{EBFB1032-EA64-7144-B003-9BCC9D94B503}" type="slidenum">
              <a:rPr lang="en-US" smtClean="0"/>
              <a:t>23</a:t>
            </a:fld>
            <a:endParaRPr lang="en-US" dirty="0"/>
          </a:p>
        </p:txBody>
      </p:sp>
      <p:sp>
        <p:nvSpPr>
          <p:cNvPr id="4" name="Content Placeholder 3">
            <a:extLst>
              <a:ext uri="{FF2B5EF4-FFF2-40B4-BE49-F238E27FC236}">
                <a16:creationId xmlns:a16="http://schemas.microsoft.com/office/drawing/2014/main" id="{1A6FD1F4-FB74-D9E7-3078-961A9D295C8C}"/>
              </a:ext>
            </a:extLst>
          </p:cNvPr>
          <p:cNvSpPr>
            <a:spLocks noGrp="1"/>
          </p:cNvSpPr>
          <p:nvPr>
            <p:ph sz="quarter" idx="1"/>
          </p:nvPr>
        </p:nvSpPr>
        <p:spPr/>
        <p:txBody>
          <a:bodyPr/>
          <a:lstStyle/>
          <a:p>
            <a:r>
              <a:rPr lang="en-US" dirty="0"/>
              <a:t>When you think of a traditional database, the operations are familiar: you create, read, update, and delete records.</a:t>
            </a:r>
          </a:p>
          <a:p>
            <a:endParaRPr lang="en-US" dirty="0"/>
          </a:p>
          <a:p>
            <a:r>
              <a:rPr lang="en-US" dirty="0"/>
              <a:t>These are the fundamentals. And guess what? In many ways, vector databases work the same way, but the operations are translated for the complexity of vectors.</a:t>
            </a:r>
          </a:p>
        </p:txBody>
      </p:sp>
    </p:spTree>
    <p:extLst>
      <p:ext uri="{BB962C8B-B14F-4D97-AF65-F5344CB8AC3E}">
        <p14:creationId xmlns:p14="http://schemas.microsoft.com/office/powerpoint/2010/main" val="88302818"/>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emplate>Facet</Template>
  <TotalTime>10684</TotalTime>
  <Words>1609</Words>
  <Application>Microsoft Office PowerPoint</Application>
  <PresentationFormat>On-screen Show (4:3)</PresentationFormat>
  <Paragraphs>173</Paragraphs>
  <Slides>23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Aptos Narrow</vt:lpstr>
      <vt:lpstr>Arial Narrow</vt:lpstr>
      <vt:lpstr>Calibri</vt:lpstr>
      <vt:lpstr>Tw Cen MT</vt:lpstr>
      <vt:lpstr>Wingdings</vt:lpstr>
      <vt:lpstr>Wingdings 2</vt:lpstr>
      <vt:lpstr>Median</vt:lpstr>
      <vt:lpstr>Unstructured Data</vt:lpstr>
      <vt:lpstr>What Is a Vector Database?</vt:lpstr>
      <vt:lpstr>OLTP and OLAP Databases</vt:lpstr>
      <vt:lpstr>The Challenge with Traditional Databases</vt:lpstr>
      <vt:lpstr>Vector databases</vt:lpstr>
      <vt:lpstr>When to Use a Vector Database?</vt:lpstr>
      <vt:lpstr>What is a Vector?</vt:lpstr>
      <vt:lpstr>Three key elements to define a vector </vt:lpstr>
      <vt:lpstr>1. The ID: Your Vector’s Unique Identifier</vt:lpstr>
      <vt:lpstr>2. The Dimensions: The Core Representation of the Data</vt:lpstr>
      <vt:lpstr>From Text to Vectors: How Does It Work?</vt:lpstr>
      <vt:lpstr>Comparing two similar sentences</vt:lpstr>
      <vt:lpstr>PowerPoint Presentation</vt:lpstr>
      <vt:lpstr>3. The Payload: Adding Context with Metadata</vt:lpstr>
      <vt:lpstr>Example:</vt:lpstr>
      <vt:lpstr>The Architecture of a Vector Database: Entities and Relations</vt:lpstr>
      <vt:lpstr>Collections</vt:lpstr>
      <vt:lpstr>Distance Metrics</vt:lpstr>
      <vt:lpstr>Here are the three most common distance metrics:</vt:lpstr>
      <vt:lpstr>PowerPoint Presentation</vt:lpstr>
      <vt:lpstr>RAM-Based and Memmap Storage</vt:lpstr>
      <vt:lpstr>SDKs</vt:lpstr>
      <vt:lpstr>The Core Functionalities of Vector Databases</vt:lpstr>
    </vt:vector>
  </TitlesOfParts>
  <Company>WPI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Mohamed Eltabakh</dc:creator>
  <cp:lastModifiedBy>Ozbek, Yusuf</cp:lastModifiedBy>
  <cp:revision>1485</cp:revision>
  <dcterms:created xsi:type="dcterms:W3CDTF">2013-01-13T20:33:29Z</dcterms:created>
  <dcterms:modified xsi:type="dcterms:W3CDTF">2025-06-05T16:34:58Z</dcterms:modified>
</cp:coreProperties>
</file>