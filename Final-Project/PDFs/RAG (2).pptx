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47"/>
  </p:notesMasterIdLst>
  <p:handoutMasterIdLst>
    <p:handoutMasterId r:id="rId48"/>
  </p:handoutMasterIdLst>
  <p:sldIdLst>
    <p:sldId id="349" r:id="rId2"/>
    <p:sldId id="350" r:id="rId3"/>
    <p:sldId id="351" r:id="rId4"/>
    <p:sldId id="352" r:id="rId5"/>
    <p:sldId id="353" r:id="rId6"/>
    <p:sldId id="354" r:id="rId7"/>
    <p:sldId id="393" r:id="rId8"/>
    <p:sldId id="394"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 id="379" r:id="rId34"/>
    <p:sldId id="380" r:id="rId35"/>
    <p:sldId id="381" r:id="rId36"/>
    <p:sldId id="382" r:id="rId37"/>
    <p:sldId id="383" r:id="rId38"/>
    <p:sldId id="384" r:id="rId39"/>
    <p:sldId id="385" r:id="rId40"/>
    <p:sldId id="386" r:id="rId41"/>
    <p:sldId id="387" r:id="rId42"/>
    <p:sldId id="388" r:id="rId43"/>
    <p:sldId id="389" r:id="rId44"/>
    <p:sldId id="390" r:id="rId45"/>
    <p:sldId id="391"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B9"/>
    <a:srgbClr val="FFFF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D9761D-1F95-3B4C-BE9C-CDD1389A8812}" type="datetimeFigureOut">
              <a:rPr lang="en-US" smtClean="0"/>
              <a:t>6/3/2025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ADCD51-711A-044D-9B2C-C47F74A9A11F}" type="slidenum">
              <a:rPr lang="en-US" smtClean="0"/>
              <a:t>‹#›</a:t>
            </a:fld>
            <a:endParaRPr lang="en-US"/>
          </a:p>
        </p:txBody>
      </p:sp>
    </p:spTree>
    <p:extLst>
      <p:ext uri="{BB962C8B-B14F-4D97-AF65-F5344CB8AC3E}">
        <p14:creationId xmlns:p14="http://schemas.microsoft.com/office/powerpoint/2010/main" val="8548955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5A596-FA52-0448-9C24-EA3FEFB30C0E}" type="datetimeFigureOut">
              <a:rPr lang="en-US" smtClean="0"/>
              <a:t>6/3/2025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C5791-7364-9E4F-986D-297FD347B6DE}" type="slidenum">
              <a:rPr lang="en-US" smtClean="0"/>
              <a:t>‹#›</a:t>
            </a:fld>
            <a:endParaRPr lang="en-US"/>
          </a:p>
        </p:txBody>
      </p:sp>
    </p:spTree>
    <p:extLst>
      <p:ext uri="{BB962C8B-B14F-4D97-AF65-F5344CB8AC3E}">
        <p14:creationId xmlns:p14="http://schemas.microsoft.com/office/powerpoint/2010/main" val="6151994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164A81-75B2-194C-A843-C64EC5C16B31}" type="datetime1">
              <a:rPr lang="en-US" smtClean="0"/>
              <a:t>6/3/2025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A84A37A-AFC2-4A01-80A1-FC20F2C0D5B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315" y="228600"/>
            <a:ext cx="8943473" cy="990600"/>
          </a:xfrm>
        </p:spPr>
        <p:txBody>
          <a:bodyPr>
            <a:normAutofit/>
          </a:bodyPr>
          <a:lstStyle>
            <a:lvl1pPr>
              <a:defRPr sz="3800" b="1">
                <a:latin typeface="Arial Narrow" panose="020B0606020202030204" pitchFamily="34" charset="0"/>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
        <p:nvSpPr>
          <p:cNvPr id="8" name="Content Placeholder 7"/>
          <p:cNvSpPr>
            <a:spLocks noGrp="1"/>
          </p:cNvSpPr>
          <p:nvPr>
            <p:ph sz="quarter" idx="1"/>
          </p:nvPr>
        </p:nvSpPr>
        <p:spPr>
          <a:xfrm>
            <a:off x="120315" y="1600200"/>
            <a:ext cx="8943473" cy="5153526"/>
          </a:xfrm>
        </p:spPr>
        <p:txBody>
          <a:bodyPr>
            <a:normAutofit/>
          </a:bodyPr>
          <a:lstStyle>
            <a:lvl1pPr>
              <a:defRPr sz="2400">
                <a:latin typeface="Arial Narrow" panose="020B0606020202030204" pitchFamily="34" charset="0"/>
              </a:defRPr>
            </a:lvl1pPr>
            <a:lvl2pPr>
              <a:defRPr sz="2400">
                <a:latin typeface="Arial Narrow" panose="020B0606020202030204" pitchFamily="34" charset="0"/>
              </a:defRPr>
            </a:lvl2pPr>
            <a:lvl3pPr>
              <a:defRPr sz="2400">
                <a:latin typeface="Arial Narrow" panose="020B0606020202030204" pitchFamily="34" charset="0"/>
              </a:defRPr>
            </a:lvl3pPr>
            <a:lvl4pPr>
              <a:defRPr sz="2400">
                <a:latin typeface="Arial Narrow" panose="020B0606020202030204" pitchFamily="34" charset="0"/>
              </a:defRPr>
            </a:lvl4pPr>
            <a:lvl5pPr>
              <a:defRPr sz="2400">
                <a:latin typeface="Arial Narrow" panose="020B0606020202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DF00D79-2A23-4C40-804A-C01F394F0C72}" type="datetime1">
              <a:rPr lang="en-US" smtClean="0"/>
              <a:t>6/3/2025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0674B835-C713-9846-B110-24995DE671EF}" type="datetime1">
              <a:rPr lang="en-US" smtClean="0"/>
              <a:t>6/3/2025</a:t>
            </a:fld>
            <a:endParaRPr lang="en-US" dirty="0"/>
          </a:p>
        </p:txBody>
      </p:sp>
      <p:sp>
        <p:nvSpPr>
          <p:cNvPr id="10" name="Slide Number Placeholder 9"/>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D0393BC9-E94F-5B47-BD76-EECA0CBE7CA1}" type="datetime1">
              <a:rPr lang="en-US" smtClean="0"/>
              <a:t>6/3/2025</a:t>
            </a:fld>
            <a:endParaRPr lang="en-US" dirty="0"/>
          </a:p>
        </p:txBody>
      </p:sp>
      <p:sp>
        <p:nvSpPr>
          <p:cNvPr id="12" name="Slide Number Placeholder 11"/>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F308A2-EBB5-744B-B5B4-7699A7EC7B98}" type="datetime1">
              <a:rPr lang="en-US" smtClean="0"/>
              <a:t>6/3/2025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9872E7-27FD-CA40-8E81-E7A5851A1F00}" type="datetime1">
              <a:rPr lang="en-US" smtClean="0"/>
              <a:t>6/3/2025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BFB1032-EA64-7144-B003-9BCC9D94B50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F37C8EB-B6A2-A747-83AD-60E35A0235F5}" type="datetime1">
              <a:rPr lang="en-US" smtClean="0"/>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84A37A-AFC2-4A01-80A1-FC20F2C0D5B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6682E5-7E97-2F44-B961-B3631B15779F}" type="datetime1">
              <a:rPr lang="en-US" smtClean="0"/>
              <a:t>6/3/2025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0DD67E5-F24F-664E-AC9C-26173D2CF6BA}" type="datetime1">
              <a:rPr lang="en-US" smtClean="0"/>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FB1032-EA64-7144-B003-9BCC9D94B50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5DF139F-CB8F-D149-BA56-8B0C015E5021}" type="datetime1">
              <a:rPr lang="en-US" smtClean="0"/>
              <a:t>6/3/2025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BFB1032-EA64-7144-B003-9BCC9D94B503}"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6F81F14-9AEC-394B-B8F6-AE69A194437D}" type="datetime1">
              <a:rPr lang="en-US" smtClean="0"/>
              <a:t>6/3/2025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BFB1032-EA64-7144-B003-9BCC9D94B50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arxiv.org/abs/2005.11401v4"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huggingface.co/spaces/mteb/leaderboard"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hyperlink" Target="https://docs.llamaindex.ai/en/stable/examples/retrievers/ensemble_retrieva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1B65F7-0113-7DE2-3991-A125F6F6787F}"/>
              </a:ext>
            </a:extLst>
          </p:cNvPr>
          <p:cNvSpPr>
            <a:spLocks noGrp="1"/>
          </p:cNvSpPr>
          <p:nvPr>
            <p:ph type="title"/>
          </p:nvPr>
        </p:nvSpPr>
        <p:spPr/>
        <p:txBody>
          <a:bodyPr>
            <a:normAutofit/>
          </a:bodyPr>
          <a:lstStyle/>
          <a:p>
            <a:r>
              <a:rPr lang="en-US" sz="4000" b="1" dirty="0"/>
              <a:t>Retrieval-Augmented Generation (RAG)</a:t>
            </a:r>
            <a:endParaRPr lang="en-US" sz="4000" dirty="0"/>
          </a:p>
        </p:txBody>
      </p:sp>
      <p:sp>
        <p:nvSpPr>
          <p:cNvPr id="2" name="Slide Number Placeholder 1">
            <a:extLst>
              <a:ext uri="{FF2B5EF4-FFF2-40B4-BE49-F238E27FC236}">
                <a16:creationId xmlns:a16="http://schemas.microsoft.com/office/drawing/2014/main" id="{7137B734-908D-3509-4F4F-4206C8E7291B}"/>
              </a:ext>
            </a:extLst>
          </p:cNvPr>
          <p:cNvSpPr>
            <a:spLocks noGrp="1"/>
          </p:cNvSpPr>
          <p:nvPr>
            <p:ph type="sldNum" sz="quarter" idx="12"/>
          </p:nvPr>
        </p:nvSpPr>
        <p:spPr/>
        <p:txBody>
          <a:bodyPr>
            <a:normAutofit fontScale="85000" lnSpcReduction="20000"/>
          </a:bodyPr>
          <a:lstStyle/>
          <a:p>
            <a:fld id="{EBFB1032-EA64-7144-B003-9BCC9D94B503}" type="slidenum">
              <a:rPr lang="en-US" smtClean="0"/>
              <a:t>1</a:t>
            </a:fld>
            <a:endParaRPr lang="en-US" dirty="0"/>
          </a:p>
        </p:txBody>
      </p:sp>
      <p:sp>
        <p:nvSpPr>
          <p:cNvPr id="4" name="Content Placeholder 3">
            <a:extLst>
              <a:ext uri="{FF2B5EF4-FFF2-40B4-BE49-F238E27FC236}">
                <a16:creationId xmlns:a16="http://schemas.microsoft.com/office/drawing/2014/main" id="{D1E027C4-4CBB-81FD-6CCB-3B08B2BD3E39}"/>
              </a:ext>
            </a:extLst>
          </p:cNvPr>
          <p:cNvSpPr>
            <a:spLocks noGrp="1"/>
          </p:cNvSpPr>
          <p:nvPr>
            <p:ph sz="quarter" idx="1"/>
          </p:nvPr>
        </p:nvSpPr>
        <p:spPr/>
        <p:txBody>
          <a:bodyPr>
            <a:noAutofit/>
          </a:bodyPr>
          <a:lstStyle/>
          <a:p>
            <a:pPr>
              <a:spcBef>
                <a:spcPts val="0"/>
              </a:spcBef>
            </a:pPr>
            <a:r>
              <a:rPr lang="en-US" dirty="0"/>
              <a:t> Retrieval-Augmented Generation (RAG) is a technique that enhances language model generation by incorporating external knowledge.</a:t>
            </a:r>
          </a:p>
          <a:p>
            <a:pPr>
              <a:spcBef>
                <a:spcPts val="0"/>
              </a:spcBef>
            </a:pPr>
            <a:endParaRPr lang="en-US" dirty="0"/>
          </a:p>
          <a:p>
            <a:pPr>
              <a:spcBef>
                <a:spcPts val="0"/>
              </a:spcBef>
            </a:pPr>
            <a:r>
              <a:rPr lang="en-US" dirty="0"/>
              <a:t>This is typically done by retrieving relevant information from a large corpus of documents and using that information to inform the generation process.</a:t>
            </a:r>
          </a:p>
        </p:txBody>
      </p:sp>
    </p:spTree>
    <p:extLst>
      <p:ext uri="{BB962C8B-B14F-4D97-AF65-F5344CB8AC3E}">
        <p14:creationId xmlns:p14="http://schemas.microsoft.com/office/powerpoint/2010/main" val="1389876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4D04D-6FA2-2E3F-321C-B351944539C0}"/>
              </a:ext>
            </a:extLst>
          </p:cNvPr>
          <p:cNvSpPr>
            <a:spLocks noGrp="1"/>
          </p:cNvSpPr>
          <p:nvPr>
            <p:ph type="title"/>
          </p:nvPr>
        </p:nvSpPr>
        <p:spPr/>
        <p:txBody>
          <a:bodyPr>
            <a:normAutofit/>
          </a:bodyPr>
          <a:lstStyle/>
          <a:p>
            <a:r>
              <a:rPr lang="en-US" dirty="0"/>
              <a:t>Challenge:</a:t>
            </a:r>
          </a:p>
        </p:txBody>
      </p:sp>
      <p:sp>
        <p:nvSpPr>
          <p:cNvPr id="3" name="Slide Number Placeholder 2">
            <a:extLst>
              <a:ext uri="{FF2B5EF4-FFF2-40B4-BE49-F238E27FC236}">
                <a16:creationId xmlns:a16="http://schemas.microsoft.com/office/drawing/2014/main" id="{7442602D-C56D-5AC8-0349-C25623E86EF0}"/>
              </a:ext>
            </a:extLst>
          </p:cNvPr>
          <p:cNvSpPr>
            <a:spLocks noGrp="1"/>
          </p:cNvSpPr>
          <p:nvPr>
            <p:ph type="sldNum" sz="quarter" idx="12"/>
          </p:nvPr>
        </p:nvSpPr>
        <p:spPr/>
        <p:txBody>
          <a:bodyPr>
            <a:normAutofit fontScale="85000" lnSpcReduction="20000"/>
          </a:bodyPr>
          <a:lstStyle/>
          <a:p>
            <a:fld id="{EBFB1032-EA64-7144-B003-9BCC9D94B503}" type="slidenum">
              <a:rPr lang="en-US" smtClean="0"/>
              <a:t>2</a:t>
            </a:fld>
            <a:endParaRPr lang="en-US" dirty="0"/>
          </a:p>
        </p:txBody>
      </p:sp>
      <p:sp>
        <p:nvSpPr>
          <p:cNvPr id="4" name="Content Placeholder 3">
            <a:extLst>
              <a:ext uri="{FF2B5EF4-FFF2-40B4-BE49-F238E27FC236}">
                <a16:creationId xmlns:a16="http://schemas.microsoft.com/office/drawing/2014/main" id="{D92AC700-9FCE-6F99-C384-CCF2946084BE}"/>
              </a:ext>
            </a:extLst>
          </p:cNvPr>
          <p:cNvSpPr>
            <a:spLocks noGrp="1"/>
          </p:cNvSpPr>
          <p:nvPr>
            <p:ph sz="quarter" idx="1"/>
          </p:nvPr>
        </p:nvSpPr>
        <p:spPr/>
        <p:txBody>
          <a:bodyPr/>
          <a:lstStyle/>
          <a:p>
            <a:r>
              <a:rPr lang="en-US" dirty="0"/>
              <a:t>Clients often have vast proprietary documents.</a:t>
            </a:r>
          </a:p>
          <a:p>
            <a:r>
              <a:rPr lang="en-US" dirty="0"/>
              <a:t>Extracting specific information is like finding a needle in a haystack.</a:t>
            </a:r>
          </a:p>
          <a:p>
            <a:endParaRPr lang="en-US" dirty="0"/>
          </a:p>
          <a:p>
            <a:endParaRPr lang="en-US" dirty="0"/>
          </a:p>
        </p:txBody>
      </p:sp>
    </p:spTree>
    <p:extLst>
      <p:ext uri="{BB962C8B-B14F-4D97-AF65-F5344CB8AC3E}">
        <p14:creationId xmlns:p14="http://schemas.microsoft.com/office/powerpoint/2010/main" val="968290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77D9C-D1B8-1A5D-035C-248E7185E30C}"/>
              </a:ext>
            </a:extLst>
          </p:cNvPr>
          <p:cNvSpPr>
            <a:spLocks noGrp="1"/>
          </p:cNvSpPr>
          <p:nvPr>
            <p:ph type="title"/>
          </p:nvPr>
        </p:nvSpPr>
        <p:spPr/>
        <p:txBody>
          <a:bodyPr>
            <a:normAutofit/>
          </a:bodyPr>
          <a:lstStyle/>
          <a:p>
            <a:r>
              <a:rPr lang="en-US" b="1" dirty="0"/>
              <a:t>2. GPT4-Turbo Introduction:</a:t>
            </a:r>
            <a:endParaRPr lang="en-US" dirty="0"/>
          </a:p>
        </p:txBody>
      </p:sp>
      <p:sp>
        <p:nvSpPr>
          <p:cNvPr id="3" name="Slide Number Placeholder 2">
            <a:extLst>
              <a:ext uri="{FF2B5EF4-FFF2-40B4-BE49-F238E27FC236}">
                <a16:creationId xmlns:a16="http://schemas.microsoft.com/office/drawing/2014/main" id="{9D5B9877-4721-B098-7CEE-6DA5BE3C07F6}"/>
              </a:ext>
            </a:extLst>
          </p:cNvPr>
          <p:cNvSpPr>
            <a:spLocks noGrp="1"/>
          </p:cNvSpPr>
          <p:nvPr>
            <p:ph type="sldNum" sz="quarter" idx="12"/>
          </p:nvPr>
        </p:nvSpPr>
        <p:spPr/>
        <p:txBody>
          <a:bodyPr>
            <a:normAutofit fontScale="85000" lnSpcReduction="20000"/>
          </a:bodyPr>
          <a:lstStyle/>
          <a:p>
            <a:fld id="{EBFB1032-EA64-7144-B003-9BCC9D94B503}" type="slidenum">
              <a:rPr lang="en-US" smtClean="0"/>
              <a:t>3</a:t>
            </a:fld>
            <a:endParaRPr lang="en-US" dirty="0"/>
          </a:p>
        </p:txBody>
      </p:sp>
      <p:sp>
        <p:nvSpPr>
          <p:cNvPr id="4" name="Content Placeholder 3">
            <a:extLst>
              <a:ext uri="{FF2B5EF4-FFF2-40B4-BE49-F238E27FC236}">
                <a16:creationId xmlns:a16="http://schemas.microsoft.com/office/drawing/2014/main" id="{C24548BC-23F8-9402-5EF9-10E9EBB3E9FC}"/>
              </a:ext>
            </a:extLst>
          </p:cNvPr>
          <p:cNvSpPr>
            <a:spLocks noGrp="1"/>
          </p:cNvSpPr>
          <p:nvPr>
            <p:ph sz="quarter" idx="1"/>
          </p:nvPr>
        </p:nvSpPr>
        <p:spPr/>
        <p:txBody>
          <a:bodyPr/>
          <a:lstStyle/>
          <a:p>
            <a:r>
              <a:rPr lang="en-US" dirty="0"/>
              <a:t>OpenAI’s GPT4-Turbo can process large documents.</a:t>
            </a:r>
          </a:p>
        </p:txBody>
      </p:sp>
    </p:spTree>
    <p:extLst>
      <p:ext uri="{BB962C8B-B14F-4D97-AF65-F5344CB8AC3E}">
        <p14:creationId xmlns:p14="http://schemas.microsoft.com/office/powerpoint/2010/main" val="3310874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059CB-74EC-908D-74AD-3B3CE04BEA95}"/>
              </a:ext>
            </a:extLst>
          </p:cNvPr>
          <p:cNvSpPr>
            <a:spLocks noGrp="1"/>
          </p:cNvSpPr>
          <p:nvPr>
            <p:ph type="title"/>
          </p:nvPr>
        </p:nvSpPr>
        <p:spPr/>
        <p:txBody>
          <a:bodyPr>
            <a:normAutofit/>
          </a:bodyPr>
          <a:lstStyle/>
          <a:p>
            <a:r>
              <a:rPr lang="en-US" dirty="0"/>
              <a:t>3. Efficiency Issue:</a:t>
            </a:r>
          </a:p>
        </p:txBody>
      </p:sp>
      <p:sp>
        <p:nvSpPr>
          <p:cNvPr id="3" name="Slide Number Placeholder 2">
            <a:extLst>
              <a:ext uri="{FF2B5EF4-FFF2-40B4-BE49-F238E27FC236}">
                <a16:creationId xmlns:a16="http://schemas.microsoft.com/office/drawing/2014/main" id="{9974D5B9-8363-E79A-D0D8-E55C3569A67A}"/>
              </a:ext>
            </a:extLst>
          </p:cNvPr>
          <p:cNvSpPr>
            <a:spLocks noGrp="1"/>
          </p:cNvSpPr>
          <p:nvPr>
            <p:ph type="sldNum" sz="quarter" idx="12"/>
          </p:nvPr>
        </p:nvSpPr>
        <p:spPr/>
        <p:txBody>
          <a:bodyPr>
            <a:normAutofit fontScale="85000" lnSpcReduction="20000"/>
          </a:bodyPr>
          <a:lstStyle/>
          <a:p>
            <a:fld id="{EBFB1032-EA64-7144-B003-9BCC9D94B503}" type="slidenum">
              <a:rPr lang="en-US" smtClean="0"/>
              <a:t>4</a:t>
            </a:fld>
            <a:endParaRPr lang="en-US" dirty="0"/>
          </a:p>
        </p:txBody>
      </p:sp>
      <p:sp>
        <p:nvSpPr>
          <p:cNvPr id="4" name="Content Placeholder 3">
            <a:extLst>
              <a:ext uri="{FF2B5EF4-FFF2-40B4-BE49-F238E27FC236}">
                <a16:creationId xmlns:a16="http://schemas.microsoft.com/office/drawing/2014/main" id="{7C3B1C56-40A0-0AAB-3696-03F7F7DE8811}"/>
              </a:ext>
            </a:extLst>
          </p:cNvPr>
          <p:cNvSpPr>
            <a:spLocks noGrp="1"/>
          </p:cNvSpPr>
          <p:nvPr>
            <p:ph sz="quarter" idx="1"/>
          </p:nvPr>
        </p:nvSpPr>
        <p:spPr/>
        <p:txBody>
          <a:bodyPr/>
          <a:lstStyle/>
          <a:p>
            <a:r>
              <a:rPr lang="en-US" dirty="0"/>
              <a:t>“Lost In The Middle” phenomenon hampers efficiency.</a:t>
            </a:r>
          </a:p>
          <a:p>
            <a:r>
              <a:rPr lang="en-US" dirty="0"/>
              <a:t>Model forgets content in the middle of its contextual window.</a:t>
            </a:r>
          </a:p>
        </p:txBody>
      </p:sp>
    </p:spTree>
    <p:extLst>
      <p:ext uri="{BB962C8B-B14F-4D97-AF65-F5344CB8AC3E}">
        <p14:creationId xmlns:p14="http://schemas.microsoft.com/office/powerpoint/2010/main" val="4148011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0B040-A966-BA6F-4544-FA74CEB4BAE4}"/>
              </a:ext>
            </a:extLst>
          </p:cNvPr>
          <p:cNvSpPr>
            <a:spLocks noGrp="1"/>
          </p:cNvSpPr>
          <p:nvPr>
            <p:ph type="title"/>
          </p:nvPr>
        </p:nvSpPr>
        <p:spPr/>
        <p:txBody>
          <a:bodyPr>
            <a:normAutofit/>
          </a:bodyPr>
          <a:lstStyle/>
          <a:p>
            <a:r>
              <a:rPr lang="en-US" dirty="0"/>
              <a:t>4. Alternative Approach — RAG</a:t>
            </a:r>
          </a:p>
        </p:txBody>
      </p:sp>
      <p:sp>
        <p:nvSpPr>
          <p:cNvPr id="3" name="Slide Number Placeholder 2">
            <a:extLst>
              <a:ext uri="{FF2B5EF4-FFF2-40B4-BE49-F238E27FC236}">
                <a16:creationId xmlns:a16="http://schemas.microsoft.com/office/drawing/2014/main" id="{01FB86D1-16A8-D110-5725-B141379C0618}"/>
              </a:ext>
            </a:extLst>
          </p:cNvPr>
          <p:cNvSpPr>
            <a:spLocks noGrp="1"/>
          </p:cNvSpPr>
          <p:nvPr>
            <p:ph type="sldNum" sz="quarter" idx="12"/>
          </p:nvPr>
        </p:nvSpPr>
        <p:spPr/>
        <p:txBody>
          <a:bodyPr>
            <a:normAutofit fontScale="85000" lnSpcReduction="20000"/>
          </a:bodyPr>
          <a:lstStyle/>
          <a:p>
            <a:fld id="{EBFB1032-EA64-7144-B003-9BCC9D94B503}" type="slidenum">
              <a:rPr lang="en-US" smtClean="0"/>
              <a:t>5</a:t>
            </a:fld>
            <a:endParaRPr lang="en-US" dirty="0"/>
          </a:p>
        </p:txBody>
      </p:sp>
      <p:sp>
        <p:nvSpPr>
          <p:cNvPr id="4" name="Content Placeholder 3">
            <a:extLst>
              <a:ext uri="{FF2B5EF4-FFF2-40B4-BE49-F238E27FC236}">
                <a16:creationId xmlns:a16="http://schemas.microsoft.com/office/drawing/2014/main" id="{FD320BA3-7501-D5CC-7F8C-60C95503FBDA}"/>
              </a:ext>
            </a:extLst>
          </p:cNvPr>
          <p:cNvSpPr>
            <a:spLocks noGrp="1"/>
          </p:cNvSpPr>
          <p:nvPr>
            <p:ph sz="quarter" idx="1"/>
          </p:nvPr>
        </p:nvSpPr>
        <p:spPr/>
        <p:txBody>
          <a:bodyPr/>
          <a:lstStyle/>
          <a:p>
            <a:r>
              <a:rPr lang="en-US" dirty="0"/>
              <a:t>Create an index for each document paragraph.</a:t>
            </a:r>
          </a:p>
          <a:p>
            <a:r>
              <a:rPr lang="en-US" dirty="0"/>
              <a:t>Swiftly identify pertinent paragraphs.</a:t>
            </a:r>
          </a:p>
          <a:p>
            <a:r>
              <a:rPr lang="en-US" dirty="0"/>
              <a:t>Feed selected paragraphs into a Large Language Model (LLM) like GPT4.</a:t>
            </a:r>
          </a:p>
        </p:txBody>
      </p:sp>
    </p:spTree>
    <p:extLst>
      <p:ext uri="{BB962C8B-B14F-4D97-AF65-F5344CB8AC3E}">
        <p14:creationId xmlns:p14="http://schemas.microsoft.com/office/powerpoint/2010/main" val="2196710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80B72-5F69-1075-F960-D6CD55C0996C}"/>
              </a:ext>
            </a:extLst>
          </p:cNvPr>
          <p:cNvSpPr>
            <a:spLocks noGrp="1"/>
          </p:cNvSpPr>
          <p:nvPr>
            <p:ph type="title"/>
          </p:nvPr>
        </p:nvSpPr>
        <p:spPr/>
        <p:txBody>
          <a:bodyPr>
            <a:normAutofit/>
          </a:bodyPr>
          <a:lstStyle/>
          <a:p>
            <a:r>
              <a:rPr lang="en-US" dirty="0"/>
              <a:t>5. Advantages</a:t>
            </a:r>
          </a:p>
        </p:txBody>
      </p:sp>
      <p:sp>
        <p:nvSpPr>
          <p:cNvPr id="3" name="Slide Number Placeholder 2">
            <a:extLst>
              <a:ext uri="{FF2B5EF4-FFF2-40B4-BE49-F238E27FC236}">
                <a16:creationId xmlns:a16="http://schemas.microsoft.com/office/drawing/2014/main" id="{9D69AAFC-5EBF-0C1B-0924-69B3597080E9}"/>
              </a:ext>
            </a:extLst>
          </p:cNvPr>
          <p:cNvSpPr>
            <a:spLocks noGrp="1"/>
          </p:cNvSpPr>
          <p:nvPr>
            <p:ph type="sldNum" sz="quarter" idx="12"/>
          </p:nvPr>
        </p:nvSpPr>
        <p:spPr/>
        <p:txBody>
          <a:bodyPr>
            <a:normAutofit fontScale="85000" lnSpcReduction="20000"/>
          </a:bodyPr>
          <a:lstStyle/>
          <a:p>
            <a:fld id="{EBFB1032-EA64-7144-B003-9BCC9D94B503}" type="slidenum">
              <a:rPr lang="en-US" smtClean="0"/>
              <a:t>6</a:t>
            </a:fld>
            <a:endParaRPr lang="en-US" dirty="0"/>
          </a:p>
        </p:txBody>
      </p:sp>
      <p:sp>
        <p:nvSpPr>
          <p:cNvPr id="4" name="Content Placeholder 3">
            <a:extLst>
              <a:ext uri="{FF2B5EF4-FFF2-40B4-BE49-F238E27FC236}">
                <a16:creationId xmlns:a16="http://schemas.microsoft.com/office/drawing/2014/main" id="{AB4C7929-3A27-3B09-C653-79EB4AAD25D2}"/>
              </a:ext>
            </a:extLst>
          </p:cNvPr>
          <p:cNvSpPr>
            <a:spLocks noGrp="1"/>
          </p:cNvSpPr>
          <p:nvPr>
            <p:ph sz="quarter" idx="1"/>
          </p:nvPr>
        </p:nvSpPr>
        <p:spPr/>
        <p:txBody>
          <a:bodyPr/>
          <a:lstStyle/>
          <a:p>
            <a:r>
              <a:rPr lang="en-US" dirty="0"/>
              <a:t>Prevents information overload.</a:t>
            </a:r>
          </a:p>
          <a:p>
            <a:r>
              <a:rPr lang="en-US" dirty="0"/>
              <a:t>Enhances result quality by providing only relevant paragraphs.</a:t>
            </a:r>
          </a:p>
        </p:txBody>
      </p:sp>
    </p:spTree>
    <p:extLst>
      <p:ext uri="{BB962C8B-B14F-4D97-AF65-F5344CB8AC3E}">
        <p14:creationId xmlns:p14="http://schemas.microsoft.com/office/powerpoint/2010/main" val="1417198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F8FC-6EF5-4EE1-5569-E7BB0013B700}"/>
              </a:ext>
            </a:extLst>
          </p:cNvPr>
          <p:cNvSpPr>
            <a:spLocks noGrp="1"/>
          </p:cNvSpPr>
          <p:nvPr>
            <p:ph type="title"/>
          </p:nvPr>
        </p:nvSpPr>
        <p:spPr/>
        <p:txBody>
          <a:bodyPr/>
          <a:lstStyle/>
          <a:p>
            <a:r>
              <a:rPr lang="en-US" dirty="0"/>
              <a:t>RAG Paper</a:t>
            </a:r>
          </a:p>
        </p:txBody>
      </p:sp>
      <p:sp>
        <p:nvSpPr>
          <p:cNvPr id="3" name="Slide Number Placeholder 2">
            <a:extLst>
              <a:ext uri="{FF2B5EF4-FFF2-40B4-BE49-F238E27FC236}">
                <a16:creationId xmlns:a16="http://schemas.microsoft.com/office/drawing/2014/main" id="{5D0546D1-5028-9DBC-FA8B-425783AC2D49}"/>
              </a:ext>
            </a:extLst>
          </p:cNvPr>
          <p:cNvSpPr>
            <a:spLocks noGrp="1"/>
          </p:cNvSpPr>
          <p:nvPr>
            <p:ph type="sldNum" sz="quarter" idx="12"/>
          </p:nvPr>
        </p:nvSpPr>
        <p:spPr/>
        <p:txBody>
          <a:bodyPr>
            <a:normAutofit fontScale="85000" lnSpcReduction="20000"/>
          </a:bodyPr>
          <a:lstStyle/>
          <a:p>
            <a:fld id="{EBFB1032-EA64-7144-B003-9BCC9D94B503}" type="slidenum">
              <a:rPr lang="en-US" smtClean="0"/>
              <a:t>7</a:t>
            </a:fld>
            <a:endParaRPr lang="en-US" dirty="0"/>
          </a:p>
        </p:txBody>
      </p:sp>
      <p:sp>
        <p:nvSpPr>
          <p:cNvPr id="4" name="Content Placeholder 3">
            <a:extLst>
              <a:ext uri="{FF2B5EF4-FFF2-40B4-BE49-F238E27FC236}">
                <a16:creationId xmlns:a16="http://schemas.microsoft.com/office/drawing/2014/main" id="{E5ACF7CC-A380-6DF4-C7EC-E862FC33A604}"/>
              </a:ext>
            </a:extLst>
          </p:cNvPr>
          <p:cNvSpPr>
            <a:spLocks noGrp="1"/>
          </p:cNvSpPr>
          <p:nvPr>
            <p:ph sz="quarter" idx="1"/>
          </p:nvPr>
        </p:nvSpPr>
        <p:spPr/>
        <p:txBody>
          <a:bodyPr>
            <a:normAutofit/>
          </a:bodyPr>
          <a:lstStyle/>
          <a:p>
            <a:r>
              <a:rPr lang="en-US" dirty="0"/>
              <a:t>In a 2020 paper, Meta (then known as Facebook) came up with a framework called retrieval-augmented generation to give LLMs access to information beyond their training data. RAG allows LLMs to build on a specialized body of knowledge to answer questions in more accurate way.</a:t>
            </a:r>
          </a:p>
          <a:p>
            <a:pPr marL="0" indent="0">
              <a:buNone/>
            </a:pPr>
            <a:r>
              <a:rPr lang="en-US" dirty="0"/>
              <a:t>	</a:t>
            </a:r>
            <a:r>
              <a:rPr lang="en-US" dirty="0">
                <a:hlinkClick r:id="rId2"/>
              </a:rPr>
              <a:t>https://arxiv.org/abs/2005.11401v4</a:t>
            </a:r>
            <a:endParaRPr lang="en-US" dirty="0"/>
          </a:p>
          <a:p>
            <a:endParaRPr lang="en-US"/>
          </a:p>
          <a:p>
            <a:r>
              <a:rPr lang="en-US"/>
              <a:t>“</a:t>
            </a:r>
            <a:r>
              <a:rPr lang="en-US" dirty="0"/>
              <a:t>It’s the difference between an open-book and a closed-book exam,” </a:t>
            </a:r>
            <a:r>
              <a:rPr lang="en-US" dirty="0" err="1"/>
              <a:t>Lastras</a:t>
            </a:r>
            <a:r>
              <a:rPr lang="en-US" dirty="0"/>
              <a:t> said. “In a RAG system, you are asking the model to respond to a question by browsing through the content in a book, as opposed to trying to remember facts from memory.”</a:t>
            </a:r>
          </a:p>
        </p:txBody>
      </p:sp>
    </p:spTree>
    <p:extLst>
      <p:ext uri="{BB962C8B-B14F-4D97-AF65-F5344CB8AC3E}">
        <p14:creationId xmlns:p14="http://schemas.microsoft.com/office/powerpoint/2010/main" val="2750472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7356B-2917-3ADC-0459-54B4A6B266CD}"/>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A2516BCE-2243-2C89-4584-926F28FAC6E1}"/>
              </a:ext>
            </a:extLst>
          </p:cNvPr>
          <p:cNvSpPr>
            <a:spLocks noGrp="1"/>
          </p:cNvSpPr>
          <p:nvPr>
            <p:ph type="sldNum" sz="quarter" idx="12"/>
          </p:nvPr>
        </p:nvSpPr>
        <p:spPr/>
        <p:txBody>
          <a:bodyPr>
            <a:normAutofit fontScale="85000" lnSpcReduction="20000"/>
          </a:bodyPr>
          <a:lstStyle/>
          <a:p>
            <a:fld id="{EBFB1032-EA64-7144-B003-9BCC9D94B503}" type="slidenum">
              <a:rPr lang="en-US" smtClean="0"/>
              <a:t>8</a:t>
            </a:fld>
            <a:endParaRPr lang="en-US" dirty="0"/>
          </a:p>
        </p:txBody>
      </p:sp>
      <p:sp>
        <p:nvSpPr>
          <p:cNvPr id="4" name="Content Placeholder 3">
            <a:extLst>
              <a:ext uri="{FF2B5EF4-FFF2-40B4-BE49-F238E27FC236}">
                <a16:creationId xmlns:a16="http://schemas.microsoft.com/office/drawing/2014/main" id="{053CF4BB-AA2B-5A7F-A1A8-1B9A045CD2BF}"/>
              </a:ext>
            </a:extLst>
          </p:cNvPr>
          <p:cNvSpPr>
            <a:spLocks noGrp="1"/>
          </p:cNvSpPr>
          <p:nvPr>
            <p:ph sz="quarter" idx="1"/>
          </p:nvPr>
        </p:nvSpPr>
        <p:spPr/>
        <p:txBody>
          <a:bodyPr>
            <a:normAutofit lnSpcReduction="10000"/>
          </a:bodyPr>
          <a:lstStyle/>
          <a:p>
            <a:pPr>
              <a:spcBef>
                <a:spcPts val="0"/>
              </a:spcBef>
            </a:pPr>
            <a:r>
              <a:rPr lang="en-US" dirty="0"/>
              <a:t>As the name suggests, RAG has two phases: retrieval and content generation.</a:t>
            </a:r>
          </a:p>
          <a:p>
            <a:pPr>
              <a:spcBef>
                <a:spcPts val="0"/>
              </a:spcBef>
            </a:pPr>
            <a:endParaRPr lang="en-US" sz="1100" b="1" dirty="0">
              <a:solidFill>
                <a:srgbClr val="FF0000"/>
              </a:solidFill>
            </a:endParaRPr>
          </a:p>
          <a:p>
            <a:pPr>
              <a:spcBef>
                <a:spcPts val="0"/>
              </a:spcBef>
            </a:pPr>
            <a:r>
              <a:rPr lang="en-US" b="1" dirty="0">
                <a:solidFill>
                  <a:srgbClr val="FF0000"/>
                </a:solidFill>
              </a:rPr>
              <a:t>In the retrieval phase</a:t>
            </a:r>
            <a:r>
              <a:rPr lang="en-US" dirty="0"/>
              <a:t>, algorithms search for and retrieve snippets of information relevant to the user’s prompt or question.</a:t>
            </a:r>
          </a:p>
          <a:p>
            <a:pPr lvl="1">
              <a:spcBef>
                <a:spcPts val="0"/>
              </a:spcBef>
            </a:pPr>
            <a:r>
              <a:rPr lang="en-US" dirty="0"/>
              <a:t>In an open-domain, consumer setting, those facts can come from indexed documents on the internet;</a:t>
            </a:r>
          </a:p>
          <a:p>
            <a:pPr lvl="1">
              <a:spcBef>
                <a:spcPts val="0"/>
              </a:spcBef>
            </a:pPr>
            <a:r>
              <a:rPr lang="en-US" dirty="0"/>
              <a:t>in a closed-domain, enterprise setting, a narrower set of sources are typically used for added security and reliability.</a:t>
            </a:r>
          </a:p>
          <a:p>
            <a:pPr>
              <a:spcBef>
                <a:spcPts val="0"/>
              </a:spcBef>
            </a:pPr>
            <a:r>
              <a:rPr lang="en-US" dirty="0"/>
              <a:t>This assortment of external knowledge is appended to the user’s prompt and passed to the language model.</a:t>
            </a:r>
          </a:p>
          <a:p>
            <a:pPr>
              <a:spcBef>
                <a:spcPts val="0"/>
              </a:spcBef>
            </a:pPr>
            <a:endParaRPr lang="en-US" sz="1100" dirty="0"/>
          </a:p>
          <a:p>
            <a:pPr>
              <a:spcBef>
                <a:spcPts val="0"/>
              </a:spcBef>
            </a:pPr>
            <a:r>
              <a:rPr lang="en-US" dirty="0">
                <a:solidFill>
                  <a:srgbClr val="0070C0"/>
                </a:solidFill>
              </a:rPr>
              <a:t>In the generative phase</a:t>
            </a:r>
            <a:r>
              <a:rPr lang="en-US" dirty="0"/>
              <a:t>, the LLM draws from the augmented prompt and its internal representation of its training data to synthesize an engaging answer tailored to the user in that instant.</a:t>
            </a:r>
          </a:p>
          <a:p>
            <a:pPr lvl="1">
              <a:spcBef>
                <a:spcPts val="0"/>
              </a:spcBef>
            </a:pPr>
            <a:r>
              <a:rPr lang="en-US" dirty="0"/>
              <a:t>The answer can then be passed to a chatbot with links to its sources.</a:t>
            </a:r>
          </a:p>
        </p:txBody>
      </p:sp>
    </p:spTree>
    <p:extLst>
      <p:ext uri="{BB962C8B-B14F-4D97-AF65-F5344CB8AC3E}">
        <p14:creationId xmlns:p14="http://schemas.microsoft.com/office/powerpoint/2010/main" val="1713489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5D97-7205-E0CF-97A9-EFC6335C0305}"/>
              </a:ext>
            </a:extLst>
          </p:cNvPr>
          <p:cNvSpPr>
            <a:spLocks noGrp="1"/>
          </p:cNvSpPr>
          <p:nvPr>
            <p:ph type="title"/>
          </p:nvPr>
        </p:nvSpPr>
        <p:spPr/>
        <p:txBody>
          <a:bodyPr>
            <a:normAutofit/>
          </a:bodyPr>
          <a:lstStyle/>
          <a:p>
            <a:r>
              <a:rPr lang="en-US" sz="3300" dirty="0"/>
              <a:t>The Retrieval Augmented Generation (RAG) Pipeline</a:t>
            </a:r>
          </a:p>
        </p:txBody>
      </p:sp>
      <p:sp>
        <p:nvSpPr>
          <p:cNvPr id="3" name="Slide Number Placeholder 2">
            <a:extLst>
              <a:ext uri="{FF2B5EF4-FFF2-40B4-BE49-F238E27FC236}">
                <a16:creationId xmlns:a16="http://schemas.microsoft.com/office/drawing/2014/main" id="{F99B78FB-29D0-073F-8F15-43F7D900221F}"/>
              </a:ext>
            </a:extLst>
          </p:cNvPr>
          <p:cNvSpPr>
            <a:spLocks noGrp="1"/>
          </p:cNvSpPr>
          <p:nvPr>
            <p:ph type="sldNum" sz="quarter" idx="12"/>
          </p:nvPr>
        </p:nvSpPr>
        <p:spPr/>
        <p:txBody>
          <a:bodyPr>
            <a:normAutofit fontScale="85000" lnSpcReduction="20000"/>
          </a:bodyPr>
          <a:lstStyle/>
          <a:p>
            <a:fld id="{EBFB1032-EA64-7144-B003-9BCC9D94B503}" type="slidenum">
              <a:rPr lang="en-US" smtClean="0"/>
              <a:t>9</a:t>
            </a:fld>
            <a:endParaRPr lang="en-US" dirty="0"/>
          </a:p>
        </p:txBody>
      </p:sp>
      <p:sp>
        <p:nvSpPr>
          <p:cNvPr id="4" name="Content Placeholder 3">
            <a:extLst>
              <a:ext uri="{FF2B5EF4-FFF2-40B4-BE49-F238E27FC236}">
                <a16:creationId xmlns:a16="http://schemas.microsoft.com/office/drawing/2014/main" id="{17E1BD59-78F2-496D-DCDA-81C43E92D7CA}"/>
              </a:ext>
            </a:extLst>
          </p:cNvPr>
          <p:cNvSpPr>
            <a:spLocks noGrp="1"/>
          </p:cNvSpPr>
          <p:nvPr>
            <p:ph sz="quarter" idx="1"/>
          </p:nvPr>
        </p:nvSpPr>
        <p:spPr/>
        <p:txBody>
          <a:bodyPr>
            <a:normAutofit/>
          </a:bodyPr>
          <a:lstStyle/>
          <a:p>
            <a:r>
              <a:rPr lang="en-US" dirty="0"/>
              <a:t>With RAG, the LLM is able to leverage knowledge and information that is not necessarily in its weights by providing it access to external knowledge sources such as databases.</a:t>
            </a:r>
          </a:p>
          <a:p>
            <a:endParaRPr lang="en-US" dirty="0"/>
          </a:p>
          <a:p>
            <a:r>
              <a:rPr lang="en-US" dirty="0"/>
              <a:t>It leverages a retriever to find relevant contexts to condition the LLM, in this way, RAG is able to augment the knowledge-base of an LLM with relevant documents.</a:t>
            </a:r>
          </a:p>
        </p:txBody>
      </p:sp>
    </p:spTree>
    <p:extLst>
      <p:ext uri="{BB962C8B-B14F-4D97-AF65-F5344CB8AC3E}">
        <p14:creationId xmlns:p14="http://schemas.microsoft.com/office/powerpoint/2010/main" val="1900030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FCCCB-2358-9573-2C47-FCED519010A8}"/>
              </a:ext>
            </a:extLst>
          </p:cNvPr>
          <p:cNvSpPr>
            <a:spLocks noGrp="1"/>
          </p:cNvSpPr>
          <p:nvPr>
            <p:ph type="title"/>
          </p:nvPr>
        </p:nvSpPr>
        <p:spPr/>
        <p:txBody>
          <a:bodyPr>
            <a:normAutofit fontScale="90000"/>
          </a:bodyPr>
          <a:lstStyle/>
          <a:p>
            <a:r>
              <a:rPr lang="en-US" b="0" dirty="0"/>
              <a:t>The retriever here could be any of the following depending on the need for semantic retrieval or not:</a:t>
            </a:r>
          </a:p>
        </p:txBody>
      </p:sp>
      <p:sp>
        <p:nvSpPr>
          <p:cNvPr id="3" name="Slide Number Placeholder 2">
            <a:extLst>
              <a:ext uri="{FF2B5EF4-FFF2-40B4-BE49-F238E27FC236}">
                <a16:creationId xmlns:a16="http://schemas.microsoft.com/office/drawing/2014/main" id="{6E241470-9FBD-DBF4-B4F4-D900C7898F32}"/>
              </a:ext>
            </a:extLst>
          </p:cNvPr>
          <p:cNvSpPr>
            <a:spLocks noGrp="1"/>
          </p:cNvSpPr>
          <p:nvPr>
            <p:ph type="sldNum" sz="quarter" idx="12"/>
          </p:nvPr>
        </p:nvSpPr>
        <p:spPr/>
        <p:txBody>
          <a:bodyPr>
            <a:normAutofit fontScale="85000" lnSpcReduction="20000"/>
          </a:bodyPr>
          <a:lstStyle/>
          <a:p>
            <a:fld id="{EBFB1032-EA64-7144-B003-9BCC9D94B503}" type="slidenum">
              <a:rPr lang="en-US" smtClean="0"/>
              <a:t>10</a:t>
            </a:fld>
            <a:endParaRPr lang="en-US" dirty="0"/>
          </a:p>
        </p:txBody>
      </p:sp>
      <p:sp>
        <p:nvSpPr>
          <p:cNvPr id="4" name="Content Placeholder 3">
            <a:extLst>
              <a:ext uri="{FF2B5EF4-FFF2-40B4-BE49-F238E27FC236}">
                <a16:creationId xmlns:a16="http://schemas.microsoft.com/office/drawing/2014/main" id="{20B0ACA4-EC7F-2B09-D5C2-634E3C2823E1}"/>
              </a:ext>
            </a:extLst>
          </p:cNvPr>
          <p:cNvSpPr>
            <a:spLocks noGrp="1"/>
          </p:cNvSpPr>
          <p:nvPr>
            <p:ph sz="quarter" idx="1"/>
          </p:nvPr>
        </p:nvSpPr>
        <p:spPr/>
        <p:txBody>
          <a:bodyPr>
            <a:noAutofit/>
          </a:bodyPr>
          <a:lstStyle/>
          <a:p>
            <a:pPr>
              <a:spcBef>
                <a:spcPts val="0"/>
              </a:spcBef>
            </a:pPr>
            <a:r>
              <a:rPr lang="en-US" sz="2300" b="1" dirty="0">
                <a:solidFill>
                  <a:srgbClr val="FF0000"/>
                </a:solidFill>
              </a:rPr>
              <a:t>Vector database:</a:t>
            </a:r>
          </a:p>
          <a:p>
            <a:pPr lvl="1">
              <a:spcBef>
                <a:spcPts val="0"/>
              </a:spcBef>
            </a:pPr>
            <a:r>
              <a:rPr lang="en-US" sz="2200" dirty="0"/>
              <a:t>Typically, queries are embedded using models like BERT for generating dense vector embeddings.</a:t>
            </a:r>
          </a:p>
          <a:p>
            <a:pPr lvl="1">
              <a:spcBef>
                <a:spcPts val="0"/>
              </a:spcBef>
            </a:pPr>
            <a:r>
              <a:rPr lang="en-US" sz="2200" dirty="0"/>
              <a:t>Alternatively, traditional methods like TF-IDF can be used for sparse embeddings.</a:t>
            </a:r>
          </a:p>
          <a:p>
            <a:pPr lvl="1">
              <a:spcBef>
                <a:spcPts val="0"/>
              </a:spcBef>
            </a:pPr>
            <a:r>
              <a:rPr lang="en-US" sz="2200" dirty="0"/>
              <a:t>The search is then conducted based on term frequency or semantic similarity.</a:t>
            </a:r>
          </a:p>
          <a:p>
            <a:pPr>
              <a:spcBef>
                <a:spcPts val="0"/>
              </a:spcBef>
            </a:pPr>
            <a:endParaRPr lang="en-US" sz="1600" dirty="0"/>
          </a:p>
          <a:p>
            <a:pPr>
              <a:spcBef>
                <a:spcPts val="0"/>
              </a:spcBef>
            </a:pPr>
            <a:r>
              <a:rPr lang="en-US" sz="2300" b="1" dirty="0">
                <a:solidFill>
                  <a:srgbClr val="0070C0"/>
                </a:solidFill>
              </a:rPr>
              <a:t>Graph database:</a:t>
            </a:r>
          </a:p>
          <a:p>
            <a:pPr lvl="1">
              <a:spcBef>
                <a:spcPts val="0"/>
              </a:spcBef>
            </a:pPr>
            <a:r>
              <a:rPr lang="en-US" sz="2200" dirty="0"/>
              <a:t>Constructs a knowledge base from extracted entity relationships within the text.</a:t>
            </a:r>
          </a:p>
          <a:p>
            <a:pPr lvl="1">
              <a:spcBef>
                <a:spcPts val="0"/>
              </a:spcBef>
            </a:pPr>
            <a:r>
              <a:rPr lang="en-US" sz="2200" dirty="0"/>
              <a:t>This approach is precise but may require exact query matching, which could be restrictive in some applications.</a:t>
            </a:r>
          </a:p>
          <a:p>
            <a:pPr>
              <a:spcBef>
                <a:spcPts val="0"/>
              </a:spcBef>
            </a:pPr>
            <a:endParaRPr lang="en-US" sz="1600" dirty="0"/>
          </a:p>
          <a:p>
            <a:pPr>
              <a:spcBef>
                <a:spcPts val="0"/>
              </a:spcBef>
            </a:pPr>
            <a:r>
              <a:rPr lang="en-US" sz="2300" b="1" dirty="0">
                <a:solidFill>
                  <a:srgbClr val="00B050"/>
                </a:solidFill>
              </a:rPr>
              <a:t>Regular SQL database:</a:t>
            </a:r>
          </a:p>
          <a:p>
            <a:pPr lvl="1">
              <a:spcBef>
                <a:spcPts val="0"/>
              </a:spcBef>
            </a:pPr>
            <a:r>
              <a:rPr lang="en-US" sz="2200" dirty="0"/>
              <a:t>Offers structured data storage and retrieval but might lack the semantic flexibility of vector databases.</a:t>
            </a:r>
          </a:p>
        </p:txBody>
      </p:sp>
    </p:spTree>
    <p:extLst>
      <p:ext uri="{BB962C8B-B14F-4D97-AF65-F5344CB8AC3E}">
        <p14:creationId xmlns:p14="http://schemas.microsoft.com/office/powerpoint/2010/main" val="2994296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EE50769-E664-C4E2-0948-581A05A47824}"/>
              </a:ext>
            </a:extLst>
          </p:cNvPr>
          <p:cNvSpPr>
            <a:spLocks noGrp="1"/>
          </p:cNvSpPr>
          <p:nvPr>
            <p:ph type="sldNum" sz="quarter" idx="12"/>
          </p:nvPr>
        </p:nvSpPr>
        <p:spPr/>
        <p:txBody>
          <a:bodyPr/>
          <a:lstStyle/>
          <a:p>
            <a:fld id="{EBFB1032-EA64-7144-B003-9BCC9D94B503}" type="slidenum">
              <a:rPr lang="en-US" smtClean="0"/>
              <a:t>11</a:t>
            </a:fld>
            <a:endParaRPr lang="en-US" dirty="0"/>
          </a:p>
        </p:txBody>
      </p:sp>
      <p:pic>
        <p:nvPicPr>
          <p:cNvPr id="6" name="Picture 5">
            <a:extLst>
              <a:ext uri="{FF2B5EF4-FFF2-40B4-BE49-F238E27FC236}">
                <a16:creationId xmlns:a16="http://schemas.microsoft.com/office/drawing/2014/main" id="{C2B7F500-065B-62CA-0B75-DE5B1116E230}"/>
              </a:ext>
            </a:extLst>
          </p:cNvPr>
          <p:cNvPicPr>
            <a:picLocks noChangeAspect="1"/>
          </p:cNvPicPr>
          <p:nvPr/>
        </p:nvPicPr>
        <p:blipFill>
          <a:blip r:embed="rId2"/>
          <a:stretch>
            <a:fillRect/>
          </a:stretch>
        </p:blipFill>
        <p:spPr>
          <a:xfrm>
            <a:off x="1790269" y="45720"/>
            <a:ext cx="5563461" cy="6766560"/>
          </a:xfrm>
          <a:prstGeom prst="rect">
            <a:avLst/>
          </a:prstGeom>
        </p:spPr>
      </p:pic>
    </p:spTree>
    <p:extLst>
      <p:ext uri="{BB962C8B-B14F-4D97-AF65-F5344CB8AC3E}">
        <p14:creationId xmlns:p14="http://schemas.microsoft.com/office/powerpoint/2010/main" val="1667649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403F3B-9298-0E60-449F-CD8CD8979170}"/>
              </a:ext>
            </a:extLst>
          </p:cNvPr>
          <p:cNvSpPr>
            <a:spLocks noGrp="1"/>
          </p:cNvSpPr>
          <p:nvPr>
            <p:ph type="sldNum" sz="quarter" idx="12"/>
          </p:nvPr>
        </p:nvSpPr>
        <p:spPr/>
        <p:txBody>
          <a:bodyPr/>
          <a:lstStyle/>
          <a:p>
            <a:fld id="{EBFB1032-EA64-7144-B003-9BCC9D94B503}" type="slidenum">
              <a:rPr lang="en-US" smtClean="0"/>
              <a:t>12</a:t>
            </a:fld>
            <a:endParaRPr lang="en-US" dirty="0"/>
          </a:p>
        </p:txBody>
      </p:sp>
      <p:pic>
        <p:nvPicPr>
          <p:cNvPr id="4" name="Picture 3">
            <a:extLst>
              <a:ext uri="{FF2B5EF4-FFF2-40B4-BE49-F238E27FC236}">
                <a16:creationId xmlns:a16="http://schemas.microsoft.com/office/drawing/2014/main" id="{2CD58426-48BE-C23F-209F-2DCC6D5DDF3C}"/>
              </a:ext>
            </a:extLst>
          </p:cNvPr>
          <p:cNvPicPr>
            <a:picLocks noChangeAspect="1"/>
          </p:cNvPicPr>
          <p:nvPr/>
        </p:nvPicPr>
        <p:blipFill>
          <a:blip r:embed="rId2"/>
          <a:stretch>
            <a:fillRect/>
          </a:stretch>
        </p:blipFill>
        <p:spPr>
          <a:xfrm>
            <a:off x="274320" y="73626"/>
            <a:ext cx="8595360" cy="6710748"/>
          </a:xfrm>
          <a:prstGeom prst="rect">
            <a:avLst/>
          </a:prstGeom>
          <a:ln>
            <a:solidFill>
              <a:schemeClr val="accent1"/>
            </a:solidFill>
          </a:ln>
        </p:spPr>
      </p:pic>
    </p:spTree>
    <p:extLst>
      <p:ext uri="{BB962C8B-B14F-4D97-AF65-F5344CB8AC3E}">
        <p14:creationId xmlns:p14="http://schemas.microsoft.com/office/powerpoint/2010/main" val="1026547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DA2F53-58ED-C518-5383-D1D75D3A501E}"/>
              </a:ext>
            </a:extLst>
          </p:cNvPr>
          <p:cNvSpPr>
            <a:spLocks noGrp="1"/>
          </p:cNvSpPr>
          <p:nvPr>
            <p:ph type="title"/>
          </p:nvPr>
        </p:nvSpPr>
        <p:spPr/>
        <p:txBody>
          <a:bodyPr/>
          <a:lstStyle/>
          <a:p>
            <a:r>
              <a:rPr lang="en-US" dirty="0"/>
              <a:t>The process of RAG</a:t>
            </a:r>
          </a:p>
        </p:txBody>
      </p:sp>
      <p:sp>
        <p:nvSpPr>
          <p:cNvPr id="2" name="Slide Number Placeholder 1">
            <a:extLst>
              <a:ext uri="{FF2B5EF4-FFF2-40B4-BE49-F238E27FC236}">
                <a16:creationId xmlns:a16="http://schemas.microsoft.com/office/drawing/2014/main" id="{3DCA00F6-A5ED-F03A-A35C-5D96BD60F245}"/>
              </a:ext>
            </a:extLst>
          </p:cNvPr>
          <p:cNvSpPr>
            <a:spLocks noGrp="1"/>
          </p:cNvSpPr>
          <p:nvPr>
            <p:ph type="sldNum" sz="quarter" idx="12"/>
          </p:nvPr>
        </p:nvSpPr>
        <p:spPr/>
        <p:txBody>
          <a:bodyPr>
            <a:normAutofit fontScale="85000" lnSpcReduction="20000"/>
          </a:bodyPr>
          <a:lstStyle/>
          <a:p>
            <a:fld id="{EBFB1032-EA64-7144-B003-9BCC9D94B503}" type="slidenum">
              <a:rPr lang="en-US" smtClean="0"/>
              <a:t>13</a:t>
            </a:fld>
            <a:endParaRPr lang="en-US" dirty="0"/>
          </a:p>
        </p:txBody>
      </p:sp>
      <p:sp>
        <p:nvSpPr>
          <p:cNvPr id="4" name="Content Placeholder 3">
            <a:extLst>
              <a:ext uri="{FF2B5EF4-FFF2-40B4-BE49-F238E27FC236}">
                <a16:creationId xmlns:a16="http://schemas.microsoft.com/office/drawing/2014/main" id="{91F43D45-4914-4547-E2E3-62C478CC4929}"/>
              </a:ext>
            </a:extLst>
          </p:cNvPr>
          <p:cNvSpPr>
            <a:spLocks noGrp="1"/>
          </p:cNvSpPr>
          <p:nvPr>
            <p:ph sz="quarter" idx="1"/>
          </p:nvPr>
        </p:nvSpPr>
        <p:spPr/>
        <p:txBody>
          <a:bodyPr>
            <a:normAutofit/>
          </a:bodyPr>
          <a:lstStyle/>
          <a:p>
            <a:pPr>
              <a:spcBef>
                <a:spcPts val="0"/>
              </a:spcBef>
              <a:buFont typeface="+mj-lt"/>
              <a:buAutoNum type="arabicPeriod"/>
            </a:pPr>
            <a:r>
              <a:rPr lang="en-US" sz="2300" b="1" dirty="0">
                <a:solidFill>
                  <a:srgbClr val="FF0000"/>
                </a:solidFill>
              </a:rPr>
              <a:t>Vector Database Creation</a:t>
            </a:r>
            <a:r>
              <a:rPr lang="en-US" sz="2300" dirty="0">
                <a:solidFill>
                  <a:srgbClr val="FF0000"/>
                </a:solidFill>
              </a:rPr>
              <a:t>:</a:t>
            </a:r>
          </a:p>
          <a:p>
            <a:pPr marL="365760" lvl="1" indent="0">
              <a:spcBef>
                <a:spcPts val="0"/>
              </a:spcBef>
              <a:buNone/>
            </a:pPr>
            <a:r>
              <a:rPr lang="en-US" sz="2300" dirty="0"/>
              <a:t>RAG starts by converting an internal dataset into vectors and storing them in a vector database (or a database of your choosing).</a:t>
            </a:r>
          </a:p>
          <a:p>
            <a:pPr>
              <a:spcBef>
                <a:spcPts val="0"/>
              </a:spcBef>
              <a:buFont typeface="+mj-lt"/>
              <a:buAutoNum type="arabicPeriod"/>
            </a:pPr>
            <a:r>
              <a:rPr lang="en-US" sz="2300" b="1" dirty="0">
                <a:solidFill>
                  <a:srgbClr val="0070C0"/>
                </a:solidFill>
              </a:rPr>
              <a:t>User Input</a:t>
            </a:r>
            <a:r>
              <a:rPr lang="en-US" sz="2300" dirty="0">
                <a:solidFill>
                  <a:srgbClr val="0070C0"/>
                </a:solidFill>
              </a:rPr>
              <a:t>:</a:t>
            </a:r>
          </a:p>
          <a:p>
            <a:pPr marL="365760" lvl="1" indent="0">
              <a:spcBef>
                <a:spcPts val="0"/>
              </a:spcBef>
              <a:buNone/>
            </a:pPr>
            <a:r>
              <a:rPr lang="en-US" sz="2300" dirty="0"/>
              <a:t>A user provides a query in natural language, seeking an answer or completion</a:t>
            </a:r>
          </a:p>
          <a:p>
            <a:pPr>
              <a:spcBef>
                <a:spcPts val="0"/>
              </a:spcBef>
              <a:buFont typeface="+mj-lt"/>
              <a:buAutoNum type="arabicPeriod"/>
            </a:pPr>
            <a:r>
              <a:rPr lang="en-US" sz="2300" b="1" dirty="0">
                <a:solidFill>
                  <a:srgbClr val="00B050"/>
                </a:solidFill>
              </a:rPr>
              <a:t>Information Retrieval</a:t>
            </a:r>
            <a:r>
              <a:rPr lang="en-US" sz="2300" dirty="0">
                <a:solidFill>
                  <a:srgbClr val="00B050"/>
                </a:solidFill>
              </a:rPr>
              <a:t>: </a:t>
            </a:r>
            <a:r>
              <a:rPr lang="en-US" sz="2300" dirty="0"/>
              <a:t>The retrieval mechanism scans the vector database to identify segments that are semantically similar to the user’s query (which is also embedded).</a:t>
            </a:r>
          </a:p>
          <a:p>
            <a:pPr marL="365760" lvl="1" indent="0">
              <a:spcBef>
                <a:spcPts val="0"/>
              </a:spcBef>
              <a:buNone/>
            </a:pPr>
            <a:r>
              <a:rPr lang="en-US" sz="2300" dirty="0"/>
              <a:t>These segments are then given to the LLM to enrich its context for generating responses.</a:t>
            </a:r>
          </a:p>
          <a:p>
            <a:pPr>
              <a:spcBef>
                <a:spcPts val="0"/>
              </a:spcBef>
              <a:buFont typeface="+mj-lt"/>
              <a:buAutoNum type="arabicPeriod"/>
            </a:pPr>
            <a:r>
              <a:rPr lang="en-US" sz="2300" b="1" dirty="0">
                <a:solidFill>
                  <a:srgbClr val="FFC000"/>
                </a:solidFill>
              </a:rPr>
              <a:t>Combining Data</a:t>
            </a:r>
            <a:r>
              <a:rPr lang="en-US" sz="2300" dirty="0">
                <a:solidFill>
                  <a:srgbClr val="FFC000"/>
                </a:solidFill>
              </a:rPr>
              <a:t>: </a:t>
            </a:r>
            <a:r>
              <a:rPr lang="en-US" sz="2300" dirty="0"/>
              <a:t>The chosen data segments from the database are combined with the user’s initial query, creating an expanded prompt.</a:t>
            </a:r>
          </a:p>
          <a:p>
            <a:pPr>
              <a:spcBef>
                <a:spcPts val="0"/>
              </a:spcBef>
              <a:buFont typeface="+mj-lt"/>
              <a:buAutoNum type="arabicPeriod"/>
            </a:pPr>
            <a:r>
              <a:rPr lang="en-US" sz="2300" b="1" dirty="0">
                <a:solidFill>
                  <a:srgbClr val="7030A0"/>
                </a:solidFill>
              </a:rPr>
              <a:t>Generating Text</a:t>
            </a:r>
            <a:r>
              <a:rPr lang="en-US" sz="2300" dirty="0">
                <a:solidFill>
                  <a:srgbClr val="7030A0"/>
                </a:solidFill>
              </a:rPr>
              <a:t>: </a:t>
            </a:r>
            <a:r>
              <a:rPr lang="en-US" sz="2300" dirty="0"/>
              <a:t>The enlarged prompt, filled with added context, is then given to the LLM, which crafts the final, context-aware response.</a:t>
            </a:r>
          </a:p>
        </p:txBody>
      </p:sp>
    </p:spTree>
    <p:extLst>
      <p:ext uri="{BB962C8B-B14F-4D97-AF65-F5344CB8AC3E}">
        <p14:creationId xmlns:p14="http://schemas.microsoft.com/office/powerpoint/2010/main" val="3374538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FED529-FD2F-A76C-511D-1B9A137D7AB3}"/>
              </a:ext>
            </a:extLst>
          </p:cNvPr>
          <p:cNvSpPr>
            <a:spLocks noGrp="1"/>
          </p:cNvSpPr>
          <p:nvPr>
            <p:ph type="sldNum" sz="quarter" idx="12"/>
          </p:nvPr>
        </p:nvSpPr>
        <p:spPr/>
        <p:txBody>
          <a:bodyPr/>
          <a:lstStyle/>
          <a:p>
            <a:fld id="{EBFB1032-EA64-7144-B003-9BCC9D94B503}" type="slidenum">
              <a:rPr lang="en-US" smtClean="0"/>
              <a:t>14</a:t>
            </a:fld>
            <a:endParaRPr lang="en-US" dirty="0"/>
          </a:p>
        </p:txBody>
      </p:sp>
      <p:pic>
        <p:nvPicPr>
          <p:cNvPr id="6" name="Picture 5">
            <a:extLst>
              <a:ext uri="{FF2B5EF4-FFF2-40B4-BE49-F238E27FC236}">
                <a16:creationId xmlns:a16="http://schemas.microsoft.com/office/drawing/2014/main" id="{05EB3373-BC41-E294-4458-7FE2430E4C03}"/>
              </a:ext>
            </a:extLst>
          </p:cNvPr>
          <p:cNvPicPr>
            <a:picLocks noChangeAspect="1"/>
          </p:cNvPicPr>
          <p:nvPr/>
        </p:nvPicPr>
        <p:blipFill>
          <a:blip r:embed="rId2"/>
          <a:stretch>
            <a:fillRect/>
          </a:stretch>
        </p:blipFill>
        <p:spPr>
          <a:xfrm>
            <a:off x="91440" y="575341"/>
            <a:ext cx="8961120" cy="5707318"/>
          </a:xfrm>
          <a:prstGeom prst="rect">
            <a:avLst/>
          </a:prstGeom>
        </p:spPr>
      </p:pic>
    </p:spTree>
    <p:extLst>
      <p:ext uri="{BB962C8B-B14F-4D97-AF65-F5344CB8AC3E}">
        <p14:creationId xmlns:p14="http://schemas.microsoft.com/office/powerpoint/2010/main" val="820287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A8729A-EF0C-40ED-A1A2-2BD18FD898C6}"/>
              </a:ext>
            </a:extLst>
          </p:cNvPr>
          <p:cNvSpPr>
            <a:spLocks noGrp="1"/>
          </p:cNvSpPr>
          <p:nvPr>
            <p:ph type="title"/>
          </p:nvPr>
        </p:nvSpPr>
        <p:spPr/>
        <p:txBody>
          <a:bodyPr>
            <a:noAutofit/>
          </a:bodyPr>
          <a:lstStyle/>
          <a:p>
            <a:r>
              <a:rPr lang="en-US" sz="3300" dirty="0"/>
              <a:t>Difference Between RAG and Fine Tuning of the LLM:</a:t>
            </a:r>
          </a:p>
        </p:txBody>
      </p:sp>
      <p:sp>
        <p:nvSpPr>
          <p:cNvPr id="2" name="Slide Number Placeholder 1">
            <a:extLst>
              <a:ext uri="{FF2B5EF4-FFF2-40B4-BE49-F238E27FC236}">
                <a16:creationId xmlns:a16="http://schemas.microsoft.com/office/drawing/2014/main" id="{FF7868C3-2129-BFEC-9892-B13E45AD8A0A}"/>
              </a:ext>
            </a:extLst>
          </p:cNvPr>
          <p:cNvSpPr>
            <a:spLocks noGrp="1"/>
          </p:cNvSpPr>
          <p:nvPr>
            <p:ph type="sldNum" sz="quarter" idx="12"/>
          </p:nvPr>
        </p:nvSpPr>
        <p:spPr/>
        <p:txBody>
          <a:bodyPr>
            <a:normAutofit fontScale="85000" lnSpcReduction="20000"/>
          </a:bodyPr>
          <a:lstStyle/>
          <a:p>
            <a:fld id="{EBFB1032-EA64-7144-B003-9BCC9D94B503}" type="slidenum">
              <a:rPr lang="en-US" smtClean="0"/>
              <a:t>15</a:t>
            </a:fld>
            <a:endParaRPr lang="en-US" dirty="0"/>
          </a:p>
        </p:txBody>
      </p:sp>
      <p:sp>
        <p:nvSpPr>
          <p:cNvPr id="4" name="Content Placeholder 3">
            <a:extLst>
              <a:ext uri="{FF2B5EF4-FFF2-40B4-BE49-F238E27FC236}">
                <a16:creationId xmlns:a16="http://schemas.microsoft.com/office/drawing/2014/main" id="{E5E11F6F-1E84-2C71-4583-F13B0C2BFECA}"/>
              </a:ext>
            </a:extLst>
          </p:cNvPr>
          <p:cNvSpPr>
            <a:spLocks noGrp="1"/>
          </p:cNvSpPr>
          <p:nvPr>
            <p:ph sz="quarter" idx="1"/>
          </p:nvPr>
        </p:nvSpPr>
        <p:spPr/>
        <p:txBody>
          <a:bodyPr>
            <a:normAutofit/>
          </a:bodyPr>
          <a:lstStyle/>
          <a:p>
            <a:pPr>
              <a:spcBef>
                <a:spcPts val="0"/>
              </a:spcBef>
              <a:buFont typeface="+mj-lt"/>
              <a:buAutoNum type="arabicPeriod"/>
            </a:pPr>
            <a:r>
              <a:rPr lang="en-US" dirty="0">
                <a:solidFill>
                  <a:srgbClr val="0070C0"/>
                </a:solidFill>
              </a:rPr>
              <a:t>Retrieval systems (RAG) give LLM systems access to factual, access-controlled, timely information.</a:t>
            </a:r>
          </a:p>
          <a:p>
            <a:pPr marL="365760" lvl="1" indent="0">
              <a:spcBef>
                <a:spcPts val="0"/>
              </a:spcBef>
              <a:buNone/>
            </a:pPr>
            <a:r>
              <a:rPr lang="en-US" dirty="0"/>
              <a:t>Fine tuning </a:t>
            </a:r>
            <a:r>
              <a:rPr lang="en-US" i="1" dirty="0"/>
              <a:t>can not do this</a:t>
            </a:r>
            <a:r>
              <a:rPr lang="en-US" dirty="0"/>
              <a:t>, so there’s no competition.</a:t>
            </a:r>
          </a:p>
          <a:p>
            <a:pPr marL="365760" lvl="1" indent="0">
              <a:spcBef>
                <a:spcPts val="0"/>
              </a:spcBef>
              <a:buNone/>
            </a:pPr>
            <a:endParaRPr lang="en-US" dirty="0"/>
          </a:p>
          <a:p>
            <a:pPr>
              <a:spcBef>
                <a:spcPts val="0"/>
              </a:spcBef>
              <a:buFont typeface="+mj-lt"/>
              <a:buAutoNum type="arabicPeriod"/>
            </a:pPr>
            <a:r>
              <a:rPr lang="en-US" dirty="0">
                <a:solidFill>
                  <a:srgbClr val="7030A0"/>
                </a:solidFill>
              </a:rPr>
              <a:t>Fine tuning (not RAG) adapts the style, tone, and vocabulary of LLMs</a:t>
            </a:r>
          </a:p>
          <a:p>
            <a:pPr marL="365760" lvl="1" indent="0">
              <a:spcBef>
                <a:spcPts val="0"/>
              </a:spcBef>
              <a:buNone/>
            </a:pPr>
            <a:r>
              <a:rPr lang="en-US" dirty="0"/>
              <a:t>so that your linguistic “paint brush” matches the desired domain and style</a:t>
            </a:r>
          </a:p>
          <a:p>
            <a:pPr>
              <a:spcBef>
                <a:spcPts val="0"/>
              </a:spcBef>
              <a:buFont typeface="+mj-lt"/>
              <a:buAutoNum type="arabicPeriod"/>
            </a:pPr>
            <a:endParaRPr lang="en-US" dirty="0"/>
          </a:p>
          <a:p>
            <a:pPr>
              <a:spcBef>
                <a:spcPts val="0"/>
              </a:spcBef>
              <a:buFont typeface="+mj-lt"/>
              <a:buAutoNum type="arabicPeriod"/>
            </a:pPr>
            <a:r>
              <a:rPr lang="en-US" dirty="0">
                <a:solidFill>
                  <a:srgbClr val="00B050"/>
                </a:solidFill>
              </a:rPr>
              <a:t>All in all, focus on RAG first. A successful LLM application </a:t>
            </a:r>
            <a:r>
              <a:rPr lang="en-US" i="1" dirty="0">
                <a:solidFill>
                  <a:srgbClr val="00B050"/>
                </a:solidFill>
              </a:rPr>
              <a:t>must</a:t>
            </a:r>
            <a:r>
              <a:rPr lang="en-US" dirty="0">
                <a:solidFill>
                  <a:srgbClr val="00B050"/>
                </a:solidFill>
              </a:rPr>
              <a:t> connect specialized data to the LLM workflow.</a:t>
            </a:r>
          </a:p>
          <a:p>
            <a:pPr marL="365760" lvl="1" indent="0">
              <a:spcBef>
                <a:spcPts val="0"/>
              </a:spcBef>
              <a:buNone/>
            </a:pPr>
            <a:r>
              <a:rPr lang="en-US" dirty="0"/>
              <a:t>Once you have a first full application working, you can add fine tuning to improve the style and vocabulary of the system.</a:t>
            </a:r>
          </a:p>
          <a:p>
            <a:pPr marL="365760" lvl="1" indent="0">
              <a:spcBef>
                <a:spcPts val="0"/>
              </a:spcBef>
              <a:buNone/>
            </a:pPr>
            <a:r>
              <a:rPr lang="en-US" dirty="0"/>
              <a:t>Fine tuning won’t save you if the RAG connection to data is built improperly.</a:t>
            </a:r>
          </a:p>
        </p:txBody>
      </p:sp>
    </p:spTree>
    <p:extLst>
      <p:ext uri="{BB962C8B-B14F-4D97-AF65-F5344CB8AC3E}">
        <p14:creationId xmlns:p14="http://schemas.microsoft.com/office/powerpoint/2010/main" val="2445867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F09DD04-4C09-6C25-385D-55F054A39F70}"/>
              </a:ext>
            </a:extLst>
          </p:cNvPr>
          <p:cNvSpPr>
            <a:spLocks noGrp="1"/>
          </p:cNvSpPr>
          <p:nvPr>
            <p:ph type="sldNum" sz="quarter" idx="12"/>
          </p:nvPr>
        </p:nvSpPr>
        <p:spPr/>
        <p:txBody>
          <a:bodyPr/>
          <a:lstStyle/>
          <a:p>
            <a:fld id="{EBFB1032-EA64-7144-B003-9BCC9D94B503}" type="slidenum">
              <a:rPr lang="en-US" smtClean="0"/>
              <a:t>16</a:t>
            </a:fld>
            <a:endParaRPr lang="en-US" dirty="0"/>
          </a:p>
        </p:txBody>
      </p:sp>
      <p:pic>
        <p:nvPicPr>
          <p:cNvPr id="6" name="Picture 5">
            <a:extLst>
              <a:ext uri="{FF2B5EF4-FFF2-40B4-BE49-F238E27FC236}">
                <a16:creationId xmlns:a16="http://schemas.microsoft.com/office/drawing/2014/main" id="{D1025362-C24D-775A-EB0A-273B651CDFF3}"/>
              </a:ext>
            </a:extLst>
          </p:cNvPr>
          <p:cNvPicPr>
            <a:picLocks noChangeAspect="1"/>
          </p:cNvPicPr>
          <p:nvPr/>
        </p:nvPicPr>
        <p:blipFill>
          <a:blip r:embed="rId2"/>
          <a:stretch>
            <a:fillRect/>
          </a:stretch>
        </p:blipFill>
        <p:spPr>
          <a:xfrm>
            <a:off x="91440" y="812661"/>
            <a:ext cx="8961120" cy="5232678"/>
          </a:xfrm>
          <a:prstGeom prst="rect">
            <a:avLst/>
          </a:prstGeom>
        </p:spPr>
      </p:pic>
    </p:spTree>
    <p:extLst>
      <p:ext uri="{BB962C8B-B14F-4D97-AF65-F5344CB8AC3E}">
        <p14:creationId xmlns:p14="http://schemas.microsoft.com/office/powerpoint/2010/main" val="2911402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3B9B3C-3F69-38AA-F552-3B4E00EC5403}"/>
              </a:ext>
            </a:extLst>
          </p:cNvPr>
          <p:cNvSpPr>
            <a:spLocks noGrp="1"/>
          </p:cNvSpPr>
          <p:nvPr>
            <p:ph type="sldNum" sz="quarter" idx="12"/>
          </p:nvPr>
        </p:nvSpPr>
        <p:spPr/>
        <p:txBody>
          <a:bodyPr/>
          <a:lstStyle/>
          <a:p>
            <a:fld id="{EBFB1032-EA64-7144-B003-9BCC9D94B503}" type="slidenum">
              <a:rPr lang="en-US" smtClean="0"/>
              <a:t>17</a:t>
            </a:fld>
            <a:endParaRPr lang="en-US" dirty="0"/>
          </a:p>
        </p:txBody>
      </p:sp>
      <p:pic>
        <p:nvPicPr>
          <p:cNvPr id="4" name="Picture 3">
            <a:extLst>
              <a:ext uri="{FF2B5EF4-FFF2-40B4-BE49-F238E27FC236}">
                <a16:creationId xmlns:a16="http://schemas.microsoft.com/office/drawing/2014/main" id="{F596D467-B422-351A-C8EA-088957FCCD14}"/>
              </a:ext>
            </a:extLst>
          </p:cNvPr>
          <p:cNvPicPr>
            <a:picLocks noChangeAspect="1"/>
          </p:cNvPicPr>
          <p:nvPr/>
        </p:nvPicPr>
        <p:blipFill>
          <a:blip r:embed="rId2"/>
          <a:stretch>
            <a:fillRect/>
          </a:stretch>
        </p:blipFill>
        <p:spPr>
          <a:xfrm>
            <a:off x="182880" y="258720"/>
            <a:ext cx="8778240" cy="6340560"/>
          </a:xfrm>
          <a:prstGeom prst="rect">
            <a:avLst/>
          </a:prstGeom>
        </p:spPr>
      </p:pic>
    </p:spTree>
    <p:extLst>
      <p:ext uri="{BB962C8B-B14F-4D97-AF65-F5344CB8AC3E}">
        <p14:creationId xmlns:p14="http://schemas.microsoft.com/office/powerpoint/2010/main" val="1554600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687766-46AC-D30D-0A89-8B5E52902451}"/>
              </a:ext>
            </a:extLst>
          </p:cNvPr>
          <p:cNvSpPr>
            <a:spLocks noGrp="1"/>
          </p:cNvSpPr>
          <p:nvPr>
            <p:ph type="title"/>
          </p:nvPr>
        </p:nvSpPr>
        <p:spPr/>
        <p:txBody>
          <a:bodyPr>
            <a:normAutofit/>
          </a:bodyPr>
          <a:lstStyle/>
          <a:p>
            <a:r>
              <a:rPr lang="en-US" dirty="0"/>
              <a:t>we will go over these key areas.</a:t>
            </a:r>
          </a:p>
        </p:txBody>
      </p:sp>
      <p:sp>
        <p:nvSpPr>
          <p:cNvPr id="2" name="Slide Number Placeholder 1">
            <a:extLst>
              <a:ext uri="{FF2B5EF4-FFF2-40B4-BE49-F238E27FC236}">
                <a16:creationId xmlns:a16="http://schemas.microsoft.com/office/drawing/2014/main" id="{50423672-A445-379C-2604-3E7D4B1890AD}"/>
              </a:ext>
            </a:extLst>
          </p:cNvPr>
          <p:cNvSpPr>
            <a:spLocks noGrp="1"/>
          </p:cNvSpPr>
          <p:nvPr>
            <p:ph type="sldNum" sz="quarter" idx="12"/>
          </p:nvPr>
        </p:nvSpPr>
        <p:spPr/>
        <p:txBody>
          <a:bodyPr>
            <a:normAutofit fontScale="85000" lnSpcReduction="20000"/>
          </a:bodyPr>
          <a:lstStyle/>
          <a:p>
            <a:fld id="{EBFB1032-EA64-7144-B003-9BCC9D94B503}" type="slidenum">
              <a:rPr lang="en-US" smtClean="0"/>
              <a:t>18</a:t>
            </a:fld>
            <a:endParaRPr lang="en-US" dirty="0"/>
          </a:p>
        </p:txBody>
      </p:sp>
      <p:sp>
        <p:nvSpPr>
          <p:cNvPr id="4" name="Content Placeholder 3">
            <a:extLst>
              <a:ext uri="{FF2B5EF4-FFF2-40B4-BE49-F238E27FC236}">
                <a16:creationId xmlns:a16="http://schemas.microsoft.com/office/drawing/2014/main" id="{FCD5DF3F-D7E7-290D-65B4-D4DE40DDBAC4}"/>
              </a:ext>
            </a:extLst>
          </p:cNvPr>
          <p:cNvSpPr>
            <a:spLocks noGrp="1"/>
          </p:cNvSpPr>
          <p:nvPr>
            <p:ph sz="quarter" idx="1"/>
          </p:nvPr>
        </p:nvSpPr>
        <p:spPr/>
        <p:txBody>
          <a:bodyPr/>
          <a:lstStyle/>
          <a:p>
            <a:r>
              <a:rPr lang="en-US" b="1" dirty="0"/>
              <a:t>Ingestion</a:t>
            </a:r>
          </a:p>
          <a:p>
            <a:r>
              <a:rPr lang="en-US" b="1" dirty="0" err="1"/>
              <a:t>Retrievel</a:t>
            </a:r>
            <a:endParaRPr lang="en-US" b="1" dirty="0"/>
          </a:p>
          <a:p>
            <a:r>
              <a:rPr lang="en-US" b="1" dirty="0"/>
              <a:t>Synthesis</a:t>
            </a:r>
          </a:p>
        </p:txBody>
      </p:sp>
    </p:spTree>
    <p:extLst>
      <p:ext uri="{BB962C8B-B14F-4D97-AF65-F5344CB8AC3E}">
        <p14:creationId xmlns:p14="http://schemas.microsoft.com/office/powerpoint/2010/main" val="3307341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103DB-F475-9F0F-8903-BBCF9AD2D543}"/>
              </a:ext>
            </a:extLst>
          </p:cNvPr>
          <p:cNvSpPr>
            <a:spLocks noGrp="1"/>
          </p:cNvSpPr>
          <p:nvPr>
            <p:ph type="title"/>
          </p:nvPr>
        </p:nvSpPr>
        <p:spPr/>
        <p:txBody>
          <a:bodyPr/>
          <a:lstStyle/>
          <a:p>
            <a:r>
              <a:rPr lang="en-US" dirty="0"/>
              <a:t>1. INGESTION</a:t>
            </a:r>
          </a:p>
        </p:txBody>
      </p:sp>
      <p:sp>
        <p:nvSpPr>
          <p:cNvPr id="3" name="Slide Number Placeholder 2">
            <a:extLst>
              <a:ext uri="{FF2B5EF4-FFF2-40B4-BE49-F238E27FC236}">
                <a16:creationId xmlns:a16="http://schemas.microsoft.com/office/drawing/2014/main" id="{20621D32-5E35-145C-B0D1-B715926FE76D}"/>
              </a:ext>
            </a:extLst>
          </p:cNvPr>
          <p:cNvSpPr>
            <a:spLocks noGrp="1"/>
          </p:cNvSpPr>
          <p:nvPr>
            <p:ph type="sldNum" sz="quarter" idx="12"/>
          </p:nvPr>
        </p:nvSpPr>
        <p:spPr/>
        <p:txBody>
          <a:bodyPr>
            <a:normAutofit fontScale="85000" lnSpcReduction="20000"/>
          </a:bodyPr>
          <a:lstStyle/>
          <a:p>
            <a:fld id="{EBFB1032-EA64-7144-B003-9BCC9D94B503}" type="slidenum">
              <a:rPr lang="en-US" smtClean="0"/>
              <a:t>19</a:t>
            </a:fld>
            <a:endParaRPr lang="en-US" dirty="0"/>
          </a:p>
        </p:txBody>
      </p:sp>
      <p:pic>
        <p:nvPicPr>
          <p:cNvPr id="6" name="Picture 5">
            <a:extLst>
              <a:ext uri="{FF2B5EF4-FFF2-40B4-BE49-F238E27FC236}">
                <a16:creationId xmlns:a16="http://schemas.microsoft.com/office/drawing/2014/main" id="{31887958-9B28-4D99-F14F-3FDA702331A1}"/>
              </a:ext>
            </a:extLst>
          </p:cNvPr>
          <p:cNvPicPr>
            <a:picLocks noChangeAspect="1"/>
          </p:cNvPicPr>
          <p:nvPr/>
        </p:nvPicPr>
        <p:blipFill>
          <a:blip r:embed="rId2"/>
          <a:stretch>
            <a:fillRect/>
          </a:stretch>
        </p:blipFill>
        <p:spPr>
          <a:xfrm>
            <a:off x="182880" y="1683467"/>
            <a:ext cx="8778240" cy="3118729"/>
          </a:xfrm>
          <a:prstGeom prst="rect">
            <a:avLst/>
          </a:prstGeom>
        </p:spPr>
      </p:pic>
    </p:spTree>
    <p:extLst>
      <p:ext uri="{BB962C8B-B14F-4D97-AF65-F5344CB8AC3E}">
        <p14:creationId xmlns:p14="http://schemas.microsoft.com/office/powerpoint/2010/main" val="5035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F4622-99BD-08A6-CF7B-5E9054D29E45}"/>
              </a:ext>
            </a:extLst>
          </p:cNvPr>
          <p:cNvSpPr>
            <a:spLocks noGrp="1"/>
          </p:cNvSpPr>
          <p:nvPr>
            <p:ph type="title"/>
          </p:nvPr>
        </p:nvSpPr>
        <p:spPr/>
        <p:txBody>
          <a:bodyPr>
            <a:normAutofit/>
          </a:bodyPr>
          <a:lstStyle/>
          <a:p>
            <a:r>
              <a:rPr lang="en-US" dirty="0"/>
              <a:t>1. Chunking</a:t>
            </a:r>
          </a:p>
        </p:txBody>
      </p:sp>
      <p:sp>
        <p:nvSpPr>
          <p:cNvPr id="3" name="Slide Number Placeholder 2">
            <a:extLst>
              <a:ext uri="{FF2B5EF4-FFF2-40B4-BE49-F238E27FC236}">
                <a16:creationId xmlns:a16="http://schemas.microsoft.com/office/drawing/2014/main" id="{42B1F29B-D11B-4A54-4026-B223ADA081B4}"/>
              </a:ext>
            </a:extLst>
          </p:cNvPr>
          <p:cNvSpPr>
            <a:spLocks noGrp="1"/>
          </p:cNvSpPr>
          <p:nvPr>
            <p:ph type="sldNum" sz="quarter" idx="12"/>
          </p:nvPr>
        </p:nvSpPr>
        <p:spPr/>
        <p:txBody>
          <a:bodyPr>
            <a:normAutofit fontScale="85000" lnSpcReduction="20000"/>
          </a:bodyPr>
          <a:lstStyle/>
          <a:p>
            <a:fld id="{EBFB1032-EA64-7144-B003-9BCC9D94B503}" type="slidenum">
              <a:rPr lang="en-US" smtClean="0"/>
              <a:t>20</a:t>
            </a:fld>
            <a:endParaRPr lang="en-US" dirty="0"/>
          </a:p>
        </p:txBody>
      </p:sp>
      <p:sp>
        <p:nvSpPr>
          <p:cNvPr id="4" name="Content Placeholder 3">
            <a:extLst>
              <a:ext uri="{FF2B5EF4-FFF2-40B4-BE49-F238E27FC236}">
                <a16:creationId xmlns:a16="http://schemas.microsoft.com/office/drawing/2014/main" id="{DE60204E-3797-F84A-4B25-6EEAD88025E0}"/>
              </a:ext>
            </a:extLst>
          </p:cNvPr>
          <p:cNvSpPr>
            <a:spLocks noGrp="1"/>
          </p:cNvSpPr>
          <p:nvPr>
            <p:ph sz="quarter" idx="1"/>
          </p:nvPr>
        </p:nvSpPr>
        <p:spPr/>
        <p:txBody>
          <a:bodyPr>
            <a:normAutofit lnSpcReduction="10000"/>
          </a:bodyPr>
          <a:lstStyle/>
          <a:p>
            <a:pPr>
              <a:spcBef>
                <a:spcPts val="0"/>
              </a:spcBef>
            </a:pPr>
            <a:r>
              <a:rPr lang="en-US" b="1" dirty="0">
                <a:solidFill>
                  <a:srgbClr val="FF0000"/>
                </a:solidFill>
              </a:rPr>
              <a:t>Chunking is the process of dividing the prompts and/or the documents to be retrieved, into smaller, manageable segments or chunks.</a:t>
            </a:r>
          </a:p>
          <a:p>
            <a:pPr lvl="1">
              <a:spcBef>
                <a:spcPts val="0"/>
              </a:spcBef>
            </a:pPr>
            <a:r>
              <a:rPr lang="en-US" dirty="0"/>
              <a:t>These chunks can be defined either by a fixed size, such as a specific number of characters, sentences or paragraphs.</a:t>
            </a:r>
          </a:p>
          <a:p>
            <a:pPr lvl="1">
              <a:spcBef>
                <a:spcPts val="0"/>
              </a:spcBef>
            </a:pPr>
            <a:endParaRPr lang="en-US" dirty="0"/>
          </a:p>
          <a:p>
            <a:pPr>
              <a:spcBef>
                <a:spcPts val="0"/>
              </a:spcBef>
            </a:pPr>
            <a:r>
              <a:rPr lang="en-US" b="1" dirty="0">
                <a:solidFill>
                  <a:srgbClr val="0070C0"/>
                </a:solidFill>
              </a:rPr>
              <a:t>In RAG, each chunk is encoded into an embedding vector for retrieval.</a:t>
            </a:r>
          </a:p>
          <a:p>
            <a:pPr lvl="1">
              <a:spcBef>
                <a:spcPts val="0"/>
              </a:spcBef>
            </a:pPr>
            <a:r>
              <a:rPr lang="en-US" dirty="0"/>
              <a:t>Smaller, more precise chunks lead to a finer match between the user’s query and the content, enhancing the accuracy and relevance of the information retrieved.</a:t>
            </a:r>
          </a:p>
          <a:p>
            <a:pPr>
              <a:spcBef>
                <a:spcPts val="0"/>
              </a:spcBef>
            </a:pPr>
            <a:endParaRPr lang="en-US" dirty="0"/>
          </a:p>
          <a:p>
            <a:pPr>
              <a:spcBef>
                <a:spcPts val="0"/>
              </a:spcBef>
            </a:pPr>
            <a:r>
              <a:rPr lang="en-US" b="1" dirty="0">
                <a:solidFill>
                  <a:srgbClr val="00B050"/>
                </a:solidFill>
              </a:rPr>
              <a:t>Larger chunks might include irrelevant information, introducing noise and potentially reducing the retrieval accuracy.</a:t>
            </a:r>
          </a:p>
          <a:p>
            <a:pPr lvl="1">
              <a:spcBef>
                <a:spcPts val="0"/>
              </a:spcBef>
            </a:pPr>
            <a:r>
              <a:rPr lang="en-US" dirty="0"/>
              <a:t>By controlling the chunk size, RAG can maintain a balance between comprehensiveness and precision.</a:t>
            </a:r>
          </a:p>
        </p:txBody>
      </p:sp>
    </p:spTree>
    <p:extLst>
      <p:ext uri="{BB962C8B-B14F-4D97-AF65-F5344CB8AC3E}">
        <p14:creationId xmlns:p14="http://schemas.microsoft.com/office/powerpoint/2010/main" val="1233495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8A481-26C8-941D-6F50-069AA9CD84F1}"/>
              </a:ext>
            </a:extLst>
          </p:cNvPr>
          <p:cNvSpPr>
            <a:spLocks noGrp="1"/>
          </p:cNvSpPr>
          <p:nvPr>
            <p:ph type="title"/>
          </p:nvPr>
        </p:nvSpPr>
        <p:spPr/>
        <p:txBody>
          <a:bodyPr/>
          <a:lstStyle/>
          <a:p>
            <a:r>
              <a:rPr lang="en-US" dirty="0"/>
              <a:t>Chunk Size</a:t>
            </a:r>
          </a:p>
        </p:txBody>
      </p:sp>
      <p:sp>
        <p:nvSpPr>
          <p:cNvPr id="3" name="Slide Number Placeholder 2">
            <a:extLst>
              <a:ext uri="{FF2B5EF4-FFF2-40B4-BE49-F238E27FC236}">
                <a16:creationId xmlns:a16="http://schemas.microsoft.com/office/drawing/2014/main" id="{313E1CE4-ED6C-1AAC-770F-A170FCE4A80D}"/>
              </a:ext>
            </a:extLst>
          </p:cNvPr>
          <p:cNvSpPr>
            <a:spLocks noGrp="1"/>
          </p:cNvSpPr>
          <p:nvPr>
            <p:ph type="sldNum" sz="quarter" idx="12"/>
          </p:nvPr>
        </p:nvSpPr>
        <p:spPr/>
        <p:txBody>
          <a:bodyPr>
            <a:normAutofit fontScale="85000" lnSpcReduction="20000"/>
          </a:bodyPr>
          <a:lstStyle/>
          <a:p>
            <a:fld id="{EBFB1032-EA64-7144-B003-9BCC9D94B503}" type="slidenum">
              <a:rPr lang="en-US" smtClean="0"/>
              <a:t>21</a:t>
            </a:fld>
            <a:endParaRPr lang="en-US" dirty="0"/>
          </a:p>
        </p:txBody>
      </p:sp>
      <p:sp>
        <p:nvSpPr>
          <p:cNvPr id="4" name="Content Placeholder 3">
            <a:extLst>
              <a:ext uri="{FF2B5EF4-FFF2-40B4-BE49-F238E27FC236}">
                <a16:creationId xmlns:a16="http://schemas.microsoft.com/office/drawing/2014/main" id="{971C7CB3-990A-5B2A-F32D-D29BA7992AFE}"/>
              </a:ext>
            </a:extLst>
          </p:cNvPr>
          <p:cNvSpPr>
            <a:spLocks noGrp="1"/>
          </p:cNvSpPr>
          <p:nvPr>
            <p:ph sz="quarter" idx="1"/>
          </p:nvPr>
        </p:nvSpPr>
        <p:spPr/>
        <p:txBody>
          <a:bodyPr/>
          <a:lstStyle/>
          <a:p>
            <a:r>
              <a:rPr lang="en-US" dirty="0"/>
              <a:t>So, the next natural question that comes up is, how do you choose the right chunk size for your use case?</a:t>
            </a:r>
          </a:p>
          <a:p>
            <a:endParaRPr lang="en-US" dirty="0"/>
          </a:p>
          <a:p>
            <a:r>
              <a:rPr lang="en-US" dirty="0"/>
              <a:t>The choice of chunk size in RAG is crucial.</a:t>
            </a:r>
          </a:p>
          <a:p>
            <a:r>
              <a:rPr lang="en-US" dirty="0"/>
              <a:t>It needs to be small enough to ensure relevance and reduce noise but large enough to maintain the context’s integrity.</a:t>
            </a:r>
          </a:p>
          <a:p>
            <a:endParaRPr lang="en-US" dirty="0"/>
          </a:p>
        </p:txBody>
      </p:sp>
    </p:spTree>
    <p:extLst>
      <p:ext uri="{BB962C8B-B14F-4D97-AF65-F5344CB8AC3E}">
        <p14:creationId xmlns:p14="http://schemas.microsoft.com/office/powerpoint/2010/main" val="1540936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FC94C-1239-B389-7FC3-CD7D9FAE2741}"/>
              </a:ext>
            </a:extLst>
          </p:cNvPr>
          <p:cNvSpPr>
            <a:spLocks noGrp="1"/>
          </p:cNvSpPr>
          <p:nvPr>
            <p:ph type="title"/>
          </p:nvPr>
        </p:nvSpPr>
        <p:spPr/>
        <p:txBody>
          <a:bodyPr/>
          <a:lstStyle/>
          <a:p>
            <a:r>
              <a:rPr lang="en-US" dirty="0"/>
              <a:t>Let’s look at a few methods:</a:t>
            </a:r>
          </a:p>
        </p:txBody>
      </p:sp>
      <p:sp>
        <p:nvSpPr>
          <p:cNvPr id="3" name="Slide Number Placeholder 2">
            <a:extLst>
              <a:ext uri="{FF2B5EF4-FFF2-40B4-BE49-F238E27FC236}">
                <a16:creationId xmlns:a16="http://schemas.microsoft.com/office/drawing/2014/main" id="{EADD9998-52ED-EBA4-057A-CE90B8D13718}"/>
              </a:ext>
            </a:extLst>
          </p:cNvPr>
          <p:cNvSpPr>
            <a:spLocks noGrp="1"/>
          </p:cNvSpPr>
          <p:nvPr>
            <p:ph type="sldNum" sz="quarter" idx="12"/>
          </p:nvPr>
        </p:nvSpPr>
        <p:spPr/>
        <p:txBody>
          <a:bodyPr>
            <a:normAutofit fontScale="85000" lnSpcReduction="20000"/>
          </a:bodyPr>
          <a:lstStyle/>
          <a:p>
            <a:fld id="{EBFB1032-EA64-7144-B003-9BCC9D94B503}" type="slidenum">
              <a:rPr lang="en-US" smtClean="0"/>
              <a:t>22</a:t>
            </a:fld>
            <a:endParaRPr lang="en-US" dirty="0"/>
          </a:p>
        </p:txBody>
      </p:sp>
      <p:sp>
        <p:nvSpPr>
          <p:cNvPr id="4" name="Content Placeholder 3">
            <a:extLst>
              <a:ext uri="{FF2B5EF4-FFF2-40B4-BE49-F238E27FC236}">
                <a16:creationId xmlns:a16="http://schemas.microsoft.com/office/drawing/2014/main" id="{0C2FAFF1-D57B-519F-F51C-B90591BDA921}"/>
              </a:ext>
            </a:extLst>
          </p:cNvPr>
          <p:cNvSpPr>
            <a:spLocks noGrp="1"/>
          </p:cNvSpPr>
          <p:nvPr>
            <p:ph sz="quarter" idx="1"/>
          </p:nvPr>
        </p:nvSpPr>
        <p:spPr/>
        <p:txBody>
          <a:bodyPr>
            <a:noAutofit/>
          </a:bodyPr>
          <a:lstStyle/>
          <a:p>
            <a:pPr>
              <a:lnSpc>
                <a:spcPct val="90000"/>
              </a:lnSpc>
              <a:spcBef>
                <a:spcPts val="0"/>
              </a:spcBef>
            </a:pPr>
            <a:r>
              <a:rPr lang="en-US" sz="2300" b="1" dirty="0">
                <a:solidFill>
                  <a:srgbClr val="FF0000"/>
                </a:solidFill>
              </a:rPr>
              <a:t>Fixed-size chunking:</a:t>
            </a:r>
          </a:p>
          <a:p>
            <a:pPr lvl="1">
              <a:lnSpc>
                <a:spcPct val="90000"/>
              </a:lnSpc>
              <a:spcBef>
                <a:spcPts val="0"/>
              </a:spcBef>
            </a:pPr>
            <a:r>
              <a:rPr lang="en-US" sz="2200" dirty="0"/>
              <a:t>Simply decide the number of tokens in our chunk along with whether there should be overlap between them or not.</a:t>
            </a:r>
          </a:p>
          <a:p>
            <a:pPr lvl="1">
              <a:lnSpc>
                <a:spcPct val="90000"/>
              </a:lnSpc>
              <a:spcBef>
                <a:spcPts val="0"/>
              </a:spcBef>
            </a:pPr>
            <a:r>
              <a:rPr lang="en-US" sz="2200" dirty="0"/>
              <a:t>Overlap between chunks guarantees there to be minimal semantic context loss between chunks.</a:t>
            </a:r>
          </a:p>
          <a:p>
            <a:pPr lvl="1">
              <a:lnSpc>
                <a:spcPct val="90000"/>
              </a:lnSpc>
              <a:spcBef>
                <a:spcPts val="0"/>
              </a:spcBef>
            </a:pPr>
            <a:r>
              <a:rPr lang="en-US" sz="2200" dirty="0"/>
              <a:t>This option is computationally cheap and simple to implement.</a:t>
            </a:r>
          </a:p>
          <a:p>
            <a:pPr>
              <a:lnSpc>
                <a:spcPct val="90000"/>
              </a:lnSpc>
              <a:spcBef>
                <a:spcPts val="0"/>
              </a:spcBef>
            </a:pPr>
            <a:r>
              <a:rPr lang="en-US" sz="2300" b="1" dirty="0">
                <a:solidFill>
                  <a:srgbClr val="00B050"/>
                </a:solidFill>
              </a:rPr>
              <a:t>Context-aware chunking:</a:t>
            </a:r>
          </a:p>
          <a:p>
            <a:pPr lvl="1">
              <a:lnSpc>
                <a:spcPct val="90000"/>
              </a:lnSpc>
              <a:spcBef>
                <a:spcPts val="0"/>
              </a:spcBef>
            </a:pPr>
            <a:r>
              <a:rPr lang="en-US" sz="2200" dirty="0"/>
              <a:t>Content-aware chunking leverages the intrinsic structure of the text to create chunks that are more meaningful and contextually relevant. </a:t>
            </a:r>
          </a:p>
          <a:p>
            <a:pPr>
              <a:lnSpc>
                <a:spcPct val="90000"/>
              </a:lnSpc>
              <a:spcBef>
                <a:spcPts val="0"/>
              </a:spcBef>
            </a:pPr>
            <a:r>
              <a:rPr lang="en-US" sz="2300" b="1" dirty="0">
                <a:solidFill>
                  <a:srgbClr val="0070C0"/>
                </a:solidFill>
              </a:rPr>
              <a:t>Naive Splitting:</a:t>
            </a:r>
          </a:p>
          <a:p>
            <a:pPr lvl="1">
              <a:lnSpc>
                <a:spcPct val="90000"/>
              </a:lnSpc>
              <a:spcBef>
                <a:spcPts val="0"/>
              </a:spcBef>
            </a:pPr>
            <a:r>
              <a:rPr lang="en-US" sz="2200" dirty="0"/>
              <a:t>A basic method where sentences are split using periods and new lines. </a:t>
            </a:r>
          </a:p>
          <a:p>
            <a:pPr>
              <a:lnSpc>
                <a:spcPct val="90000"/>
              </a:lnSpc>
              <a:spcBef>
                <a:spcPts val="0"/>
              </a:spcBef>
            </a:pPr>
            <a:r>
              <a:rPr lang="en-US" sz="2300" b="1" dirty="0">
                <a:solidFill>
                  <a:srgbClr val="FFC000"/>
                </a:solidFill>
              </a:rPr>
              <a:t>NLTK (Natural Language Toolkit):</a:t>
            </a:r>
          </a:p>
          <a:p>
            <a:pPr lvl="1">
              <a:lnSpc>
                <a:spcPct val="90000"/>
              </a:lnSpc>
              <a:spcBef>
                <a:spcPts val="0"/>
              </a:spcBef>
            </a:pPr>
            <a:r>
              <a:rPr lang="en-US" sz="2200" dirty="0"/>
              <a:t>A comprehensive Python library for language processing.</a:t>
            </a:r>
          </a:p>
          <a:p>
            <a:pPr lvl="1">
              <a:lnSpc>
                <a:spcPct val="90000"/>
              </a:lnSpc>
              <a:spcBef>
                <a:spcPts val="0"/>
              </a:spcBef>
            </a:pPr>
            <a:r>
              <a:rPr lang="en-US" sz="2200" dirty="0"/>
              <a:t>NLTK includes a sentence tokenizer that effectively splits text into sentences.</a:t>
            </a:r>
          </a:p>
          <a:p>
            <a:pPr>
              <a:lnSpc>
                <a:spcPct val="90000"/>
              </a:lnSpc>
              <a:spcBef>
                <a:spcPts val="0"/>
              </a:spcBef>
            </a:pPr>
            <a:r>
              <a:rPr lang="en-US" sz="2300" b="1" dirty="0" err="1">
                <a:solidFill>
                  <a:srgbClr val="7030A0"/>
                </a:solidFill>
              </a:rPr>
              <a:t>spaCy</a:t>
            </a:r>
            <a:r>
              <a:rPr lang="en-US" sz="2300" b="1" dirty="0">
                <a:solidFill>
                  <a:srgbClr val="7030A0"/>
                </a:solidFill>
              </a:rPr>
              <a:t>:</a:t>
            </a:r>
          </a:p>
          <a:p>
            <a:pPr lvl="1">
              <a:lnSpc>
                <a:spcPct val="90000"/>
              </a:lnSpc>
              <a:spcBef>
                <a:spcPts val="0"/>
              </a:spcBef>
            </a:pPr>
            <a:r>
              <a:rPr lang="en-US" sz="2200" dirty="0"/>
              <a:t>Advanced Python library for NLP tasks, it offers efficient sentence segmentation.</a:t>
            </a:r>
          </a:p>
          <a:p>
            <a:pPr>
              <a:lnSpc>
                <a:spcPct val="90000"/>
              </a:lnSpc>
              <a:spcBef>
                <a:spcPts val="0"/>
              </a:spcBef>
            </a:pPr>
            <a:endParaRPr lang="en-US" sz="2300" dirty="0"/>
          </a:p>
        </p:txBody>
      </p:sp>
    </p:spTree>
    <p:extLst>
      <p:ext uri="{BB962C8B-B14F-4D97-AF65-F5344CB8AC3E}">
        <p14:creationId xmlns:p14="http://schemas.microsoft.com/office/powerpoint/2010/main" val="305661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E59F5-94A0-5129-EB93-60873BE9F094}"/>
              </a:ext>
            </a:extLst>
          </p:cNvPr>
          <p:cNvSpPr>
            <a:spLocks noGrp="1"/>
          </p:cNvSpPr>
          <p:nvPr>
            <p:ph type="title"/>
          </p:nvPr>
        </p:nvSpPr>
        <p:spPr/>
        <p:txBody>
          <a:bodyPr>
            <a:normAutofit/>
          </a:bodyPr>
          <a:lstStyle/>
          <a:p>
            <a:r>
              <a:rPr lang="en-US" dirty="0"/>
              <a:t>2. </a:t>
            </a:r>
            <a:r>
              <a:rPr lang="en-US" b="1" dirty="0"/>
              <a:t>Embeddings</a:t>
            </a:r>
            <a:endParaRPr lang="en-US" dirty="0"/>
          </a:p>
        </p:txBody>
      </p:sp>
      <p:sp>
        <p:nvSpPr>
          <p:cNvPr id="3" name="Slide Number Placeholder 2">
            <a:extLst>
              <a:ext uri="{FF2B5EF4-FFF2-40B4-BE49-F238E27FC236}">
                <a16:creationId xmlns:a16="http://schemas.microsoft.com/office/drawing/2014/main" id="{B3CBE088-D565-578D-5152-F28118095F36}"/>
              </a:ext>
            </a:extLst>
          </p:cNvPr>
          <p:cNvSpPr>
            <a:spLocks noGrp="1"/>
          </p:cNvSpPr>
          <p:nvPr>
            <p:ph type="sldNum" sz="quarter" idx="12"/>
          </p:nvPr>
        </p:nvSpPr>
        <p:spPr/>
        <p:txBody>
          <a:bodyPr>
            <a:normAutofit fontScale="85000" lnSpcReduction="20000"/>
          </a:bodyPr>
          <a:lstStyle/>
          <a:p>
            <a:fld id="{EBFB1032-EA64-7144-B003-9BCC9D94B503}" type="slidenum">
              <a:rPr lang="en-US" smtClean="0"/>
              <a:t>23</a:t>
            </a:fld>
            <a:endParaRPr lang="en-US" dirty="0"/>
          </a:p>
        </p:txBody>
      </p:sp>
      <p:sp>
        <p:nvSpPr>
          <p:cNvPr id="4" name="Content Placeholder 3">
            <a:extLst>
              <a:ext uri="{FF2B5EF4-FFF2-40B4-BE49-F238E27FC236}">
                <a16:creationId xmlns:a16="http://schemas.microsoft.com/office/drawing/2014/main" id="{A3DEC27F-DCCC-37A0-9AB5-BB0282CCA24F}"/>
              </a:ext>
            </a:extLst>
          </p:cNvPr>
          <p:cNvSpPr>
            <a:spLocks noGrp="1"/>
          </p:cNvSpPr>
          <p:nvPr>
            <p:ph sz="quarter" idx="1"/>
          </p:nvPr>
        </p:nvSpPr>
        <p:spPr/>
        <p:txBody>
          <a:bodyPr>
            <a:normAutofit/>
          </a:bodyPr>
          <a:lstStyle/>
          <a:p>
            <a:pPr algn="just"/>
            <a:r>
              <a:rPr lang="en-US" dirty="0"/>
              <a:t>Once you have your prompt chunked appropriately, the next step is </a:t>
            </a:r>
            <a:r>
              <a:rPr lang="en-US"/>
              <a:t>to embed </a:t>
            </a:r>
            <a:r>
              <a:rPr lang="en-US" dirty="0"/>
              <a:t>it.</a:t>
            </a:r>
          </a:p>
          <a:p>
            <a:pPr algn="just"/>
            <a:endParaRPr lang="en-US" dirty="0"/>
          </a:p>
          <a:p>
            <a:pPr algn="just"/>
            <a:r>
              <a:rPr lang="en-US" dirty="0"/>
              <a:t>Embedding prompts and documents in RAG involves transforming both the user’s query (prompt) and the documents in the knowledge base into a format that can be effectively compared for relevance.</a:t>
            </a:r>
          </a:p>
          <a:p>
            <a:pPr algn="just"/>
            <a:endParaRPr lang="en-US" dirty="0"/>
          </a:p>
          <a:p>
            <a:pPr algn="just"/>
            <a:r>
              <a:rPr lang="en-US" dirty="0"/>
              <a:t>This process is critical for RAG’s ability to retrieve the most relevant information from its knowledge base in response to a user query. </a:t>
            </a:r>
          </a:p>
        </p:txBody>
      </p:sp>
    </p:spTree>
    <p:extLst>
      <p:ext uri="{BB962C8B-B14F-4D97-AF65-F5344CB8AC3E}">
        <p14:creationId xmlns:p14="http://schemas.microsoft.com/office/powerpoint/2010/main" val="619739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E95C4-D42A-D65F-2C8E-B9D4FB711619}"/>
              </a:ext>
            </a:extLst>
          </p:cNvPr>
          <p:cNvSpPr>
            <a:spLocks noGrp="1"/>
          </p:cNvSpPr>
          <p:nvPr>
            <p:ph type="title"/>
          </p:nvPr>
        </p:nvSpPr>
        <p:spPr/>
        <p:txBody>
          <a:bodyPr/>
          <a:lstStyle/>
          <a:p>
            <a:r>
              <a:rPr lang="en-US" dirty="0"/>
              <a:t>Benchmark for Embeddings</a:t>
            </a:r>
          </a:p>
        </p:txBody>
      </p:sp>
      <p:sp>
        <p:nvSpPr>
          <p:cNvPr id="3" name="Slide Number Placeholder 2">
            <a:extLst>
              <a:ext uri="{FF2B5EF4-FFF2-40B4-BE49-F238E27FC236}">
                <a16:creationId xmlns:a16="http://schemas.microsoft.com/office/drawing/2014/main" id="{8318435A-6DA3-7800-48C8-04FB3D704942}"/>
              </a:ext>
            </a:extLst>
          </p:cNvPr>
          <p:cNvSpPr>
            <a:spLocks noGrp="1"/>
          </p:cNvSpPr>
          <p:nvPr>
            <p:ph type="sldNum" sz="quarter" idx="12"/>
          </p:nvPr>
        </p:nvSpPr>
        <p:spPr/>
        <p:txBody>
          <a:bodyPr>
            <a:normAutofit fontScale="85000" lnSpcReduction="20000"/>
          </a:bodyPr>
          <a:lstStyle/>
          <a:p>
            <a:fld id="{EBFB1032-EA64-7144-B003-9BCC9D94B503}" type="slidenum">
              <a:rPr lang="en-US" smtClean="0"/>
              <a:t>24</a:t>
            </a:fld>
            <a:endParaRPr lang="en-US" dirty="0"/>
          </a:p>
        </p:txBody>
      </p:sp>
      <p:sp>
        <p:nvSpPr>
          <p:cNvPr id="4" name="Content Placeholder 3">
            <a:extLst>
              <a:ext uri="{FF2B5EF4-FFF2-40B4-BE49-F238E27FC236}">
                <a16:creationId xmlns:a16="http://schemas.microsoft.com/office/drawing/2014/main" id="{AC4275FB-F048-A468-BEDB-40D9FA246895}"/>
              </a:ext>
            </a:extLst>
          </p:cNvPr>
          <p:cNvSpPr>
            <a:spLocks noGrp="1"/>
          </p:cNvSpPr>
          <p:nvPr>
            <p:ph sz="quarter" idx="1"/>
          </p:nvPr>
        </p:nvSpPr>
        <p:spPr/>
        <p:txBody>
          <a:bodyPr/>
          <a:lstStyle/>
          <a:p>
            <a:r>
              <a:rPr lang="en-US" dirty="0"/>
              <a:t>One option to help pick which embedding model would be best suited for your task is to look at </a:t>
            </a:r>
            <a:r>
              <a:rPr lang="en-US" dirty="0" err="1"/>
              <a:t>HuggingFace’s</a:t>
            </a:r>
            <a:r>
              <a:rPr lang="en-US" dirty="0"/>
              <a:t> Massive Text Embedding Benchmark (MTEB) leaderboard.</a:t>
            </a:r>
          </a:p>
          <a:p>
            <a:pPr marL="0" indent="0">
              <a:buNone/>
            </a:pPr>
            <a:endParaRPr lang="en-US" dirty="0"/>
          </a:p>
          <a:p>
            <a:pPr marL="0" indent="0">
              <a:buNone/>
            </a:pPr>
            <a:r>
              <a:rPr lang="en-US" dirty="0"/>
              <a:t>	</a:t>
            </a:r>
            <a:r>
              <a:rPr lang="en-US" dirty="0">
                <a:hlinkClick r:id="rId2"/>
              </a:rPr>
              <a:t>https://huggingface.co/spaces/mteb/leaderboard</a:t>
            </a:r>
            <a:endParaRPr lang="en-US" dirty="0"/>
          </a:p>
          <a:p>
            <a:pPr marL="0" indent="0">
              <a:buNone/>
            </a:pPr>
            <a:endParaRPr lang="en-US" dirty="0"/>
          </a:p>
        </p:txBody>
      </p:sp>
    </p:spTree>
    <p:extLst>
      <p:ext uri="{BB962C8B-B14F-4D97-AF65-F5344CB8AC3E}">
        <p14:creationId xmlns:p14="http://schemas.microsoft.com/office/powerpoint/2010/main" val="4235591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5F3C7-BD94-7E05-A995-7B7DDF66C35D}"/>
              </a:ext>
            </a:extLst>
          </p:cNvPr>
          <p:cNvSpPr>
            <a:spLocks noGrp="1"/>
          </p:cNvSpPr>
          <p:nvPr>
            <p:ph type="title"/>
          </p:nvPr>
        </p:nvSpPr>
        <p:spPr/>
        <p:txBody>
          <a:bodyPr>
            <a:normAutofit fontScale="90000"/>
          </a:bodyPr>
          <a:lstStyle/>
          <a:p>
            <a:r>
              <a:rPr lang="en-US" dirty="0"/>
              <a:t>whether a dense or sparse embedding can be used</a:t>
            </a:r>
          </a:p>
        </p:txBody>
      </p:sp>
      <p:sp>
        <p:nvSpPr>
          <p:cNvPr id="3" name="Slide Number Placeholder 2">
            <a:extLst>
              <a:ext uri="{FF2B5EF4-FFF2-40B4-BE49-F238E27FC236}">
                <a16:creationId xmlns:a16="http://schemas.microsoft.com/office/drawing/2014/main" id="{2BC54F39-A1B0-A9F0-2DAD-5EB7187A4EA8}"/>
              </a:ext>
            </a:extLst>
          </p:cNvPr>
          <p:cNvSpPr>
            <a:spLocks noGrp="1"/>
          </p:cNvSpPr>
          <p:nvPr>
            <p:ph type="sldNum" sz="quarter" idx="12"/>
          </p:nvPr>
        </p:nvSpPr>
        <p:spPr/>
        <p:txBody>
          <a:bodyPr>
            <a:normAutofit fontScale="85000" lnSpcReduction="20000"/>
          </a:bodyPr>
          <a:lstStyle/>
          <a:p>
            <a:fld id="{EBFB1032-EA64-7144-B003-9BCC9D94B503}" type="slidenum">
              <a:rPr lang="en-US" smtClean="0"/>
              <a:t>25</a:t>
            </a:fld>
            <a:endParaRPr lang="en-US" dirty="0"/>
          </a:p>
        </p:txBody>
      </p:sp>
      <p:pic>
        <p:nvPicPr>
          <p:cNvPr id="6" name="Picture 5">
            <a:extLst>
              <a:ext uri="{FF2B5EF4-FFF2-40B4-BE49-F238E27FC236}">
                <a16:creationId xmlns:a16="http://schemas.microsoft.com/office/drawing/2014/main" id="{87014707-1362-A2F7-6810-69D469270563}"/>
              </a:ext>
            </a:extLst>
          </p:cNvPr>
          <p:cNvPicPr>
            <a:picLocks noChangeAspect="1"/>
          </p:cNvPicPr>
          <p:nvPr/>
        </p:nvPicPr>
        <p:blipFill>
          <a:blip r:embed="rId2"/>
          <a:stretch>
            <a:fillRect/>
          </a:stretch>
        </p:blipFill>
        <p:spPr>
          <a:xfrm>
            <a:off x="457200" y="1021375"/>
            <a:ext cx="8229600" cy="5644896"/>
          </a:xfrm>
          <a:prstGeom prst="rect">
            <a:avLst/>
          </a:prstGeom>
          <a:ln>
            <a:solidFill>
              <a:schemeClr val="accent1"/>
            </a:solidFill>
          </a:ln>
        </p:spPr>
      </p:pic>
    </p:spTree>
    <p:extLst>
      <p:ext uri="{BB962C8B-B14F-4D97-AF65-F5344CB8AC3E}">
        <p14:creationId xmlns:p14="http://schemas.microsoft.com/office/powerpoint/2010/main" val="3969080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C0026-B1FF-965B-5719-DD7E880359C4}"/>
              </a:ext>
            </a:extLst>
          </p:cNvPr>
          <p:cNvSpPr>
            <a:spLocks noGrp="1"/>
          </p:cNvSpPr>
          <p:nvPr>
            <p:ph type="title"/>
          </p:nvPr>
        </p:nvSpPr>
        <p:spPr/>
        <p:txBody>
          <a:bodyPr/>
          <a:lstStyle/>
          <a:p>
            <a:r>
              <a:rPr lang="en-US" dirty="0"/>
              <a:t>3. Retrieval</a:t>
            </a:r>
          </a:p>
        </p:txBody>
      </p:sp>
      <p:sp>
        <p:nvSpPr>
          <p:cNvPr id="3" name="Slide Number Placeholder 2">
            <a:extLst>
              <a:ext uri="{FF2B5EF4-FFF2-40B4-BE49-F238E27FC236}">
                <a16:creationId xmlns:a16="http://schemas.microsoft.com/office/drawing/2014/main" id="{BF18BA75-276E-D197-AD93-E5844145E509}"/>
              </a:ext>
            </a:extLst>
          </p:cNvPr>
          <p:cNvSpPr>
            <a:spLocks noGrp="1"/>
          </p:cNvSpPr>
          <p:nvPr>
            <p:ph type="sldNum" sz="quarter" idx="12"/>
          </p:nvPr>
        </p:nvSpPr>
        <p:spPr/>
        <p:txBody>
          <a:bodyPr>
            <a:normAutofit fontScale="85000" lnSpcReduction="20000"/>
          </a:bodyPr>
          <a:lstStyle/>
          <a:p>
            <a:fld id="{EBFB1032-EA64-7144-B003-9BCC9D94B503}" type="slidenum">
              <a:rPr lang="en-US" smtClean="0"/>
              <a:t>26</a:t>
            </a:fld>
            <a:endParaRPr lang="en-US" dirty="0"/>
          </a:p>
        </p:txBody>
      </p:sp>
      <p:sp>
        <p:nvSpPr>
          <p:cNvPr id="4" name="Content Placeholder 3">
            <a:extLst>
              <a:ext uri="{FF2B5EF4-FFF2-40B4-BE49-F238E27FC236}">
                <a16:creationId xmlns:a16="http://schemas.microsoft.com/office/drawing/2014/main" id="{00E7599C-447B-805E-8849-DCC1143AEC12}"/>
              </a:ext>
            </a:extLst>
          </p:cNvPr>
          <p:cNvSpPr>
            <a:spLocks noGrp="1"/>
          </p:cNvSpPr>
          <p:nvPr>
            <p:ph sz="quarter" idx="1"/>
          </p:nvPr>
        </p:nvSpPr>
        <p:spPr/>
        <p:txBody>
          <a:bodyPr/>
          <a:lstStyle/>
          <a:p>
            <a:r>
              <a:rPr lang="en-US" dirty="0"/>
              <a:t>Let’s look at two different types of retrieval:</a:t>
            </a:r>
          </a:p>
          <a:p>
            <a:pPr lvl="1"/>
            <a:r>
              <a:rPr lang="en-US" dirty="0"/>
              <a:t>Standard/Naive Approach</a:t>
            </a:r>
          </a:p>
          <a:p>
            <a:pPr lvl="1"/>
            <a:r>
              <a:rPr lang="en-US" dirty="0"/>
              <a:t>Sentence-Window Retrieval</a:t>
            </a:r>
          </a:p>
          <a:p>
            <a:pPr lvl="1"/>
            <a:endParaRPr lang="en-US" dirty="0"/>
          </a:p>
          <a:p>
            <a:r>
              <a:rPr lang="en-US" dirty="0"/>
              <a:t>Each of these approaches has specific strengths and weaknesses.</a:t>
            </a:r>
          </a:p>
          <a:p>
            <a:pPr lvl="1"/>
            <a:r>
              <a:rPr lang="en-US" dirty="0"/>
              <a:t>Their suitability depends on the requirements of the RAG task, including the nature of the dataset, the complexity of the queries, and the desired balance between specificity and contextual understanding in the responses.</a:t>
            </a:r>
          </a:p>
        </p:txBody>
      </p:sp>
    </p:spTree>
    <p:extLst>
      <p:ext uri="{BB962C8B-B14F-4D97-AF65-F5344CB8AC3E}">
        <p14:creationId xmlns:p14="http://schemas.microsoft.com/office/powerpoint/2010/main" val="2182484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68C7B8-806D-86C0-0419-099D2609424A}"/>
              </a:ext>
            </a:extLst>
          </p:cNvPr>
          <p:cNvSpPr>
            <a:spLocks noGrp="1"/>
          </p:cNvSpPr>
          <p:nvPr>
            <p:ph type="sldNum" sz="quarter" idx="12"/>
          </p:nvPr>
        </p:nvSpPr>
        <p:spPr/>
        <p:txBody>
          <a:bodyPr/>
          <a:lstStyle/>
          <a:p>
            <a:fld id="{EBFB1032-EA64-7144-B003-9BCC9D94B503}" type="slidenum">
              <a:rPr lang="en-US" smtClean="0"/>
              <a:t>27</a:t>
            </a:fld>
            <a:endParaRPr lang="en-US" dirty="0"/>
          </a:p>
        </p:txBody>
      </p:sp>
      <p:pic>
        <p:nvPicPr>
          <p:cNvPr id="6" name="Picture 5">
            <a:extLst>
              <a:ext uri="{FF2B5EF4-FFF2-40B4-BE49-F238E27FC236}">
                <a16:creationId xmlns:a16="http://schemas.microsoft.com/office/drawing/2014/main" id="{BAA497DD-F289-E723-3652-41770F694B48}"/>
              </a:ext>
            </a:extLst>
          </p:cNvPr>
          <p:cNvPicPr>
            <a:picLocks noChangeAspect="1"/>
          </p:cNvPicPr>
          <p:nvPr/>
        </p:nvPicPr>
        <p:blipFill>
          <a:blip r:embed="rId2"/>
          <a:stretch>
            <a:fillRect/>
          </a:stretch>
        </p:blipFill>
        <p:spPr>
          <a:xfrm>
            <a:off x="807720" y="45720"/>
            <a:ext cx="7528559" cy="6766560"/>
          </a:xfrm>
          <a:prstGeom prst="rect">
            <a:avLst/>
          </a:prstGeom>
        </p:spPr>
      </p:pic>
    </p:spTree>
    <p:extLst>
      <p:ext uri="{BB962C8B-B14F-4D97-AF65-F5344CB8AC3E}">
        <p14:creationId xmlns:p14="http://schemas.microsoft.com/office/powerpoint/2010/main" val="3027562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83E360-18AA-D5EC-B1BD-3C0D312BD46B}"/>
              </a:ext>
            </a:extLst>
          </p:cNvPr>
          <p:cNvSpPr>
            <a:spLocks noGrp="1"/>
          </p:cNvSpPr>
          <p:nvPr>
            <p:ph type="title"/>
          </p:nvPr>
        </p:nvSpPr>
        <p:spPr/>
        <p:txBody>
          <a:bodyPr>
            <a:normAutofit/>
          </a:bodyPr>
          <a:lstStyle/>
          <a:p>
            <a:r>
              <a:rPr lang="en-US" dirty="0"/>
              <a:t>Advantages</a:t>
            </a:r>
          </a:p>
        </p:txBody>
      </p:sp>
      <p:sp>
        <p:nvSpPr>
          <p:cNvPr id="2" name="Slide Number Placeholder 1">
            <a:extLst>
              <a:ext uri="{FF2B5EF4-FFF2-40B4-BE49-F238E27FC236}">
                <a16:creationId xmlns:a16="http://schemas.microsoft.com/office/drawing/2014/main" id="{C617948B-AC4B-C34C-8BEA-8EA67F8E39A9}"/>
              </a:ext>
            </a:extLst>
          </p:cNvPr>
          <p:cNvSpPr>
            <a:spLocks noGrp="1"/>
          </p:cNvSpPr>
          <p:nvPr>
            <p:ph type="sldNum" sz="quarter" idx="12"/>
          </p:nvPr>
        </p:nvSpPr>
        <p:spPr/>
        <p:txBody>
          <a:bodyPr>
            <a:normAutofit fontScale="85000" lnSpcReduction="20000"/>
          </a:bodyPr>
          <a:lstStyle/>
          <a:p>
            <a:fld id="{EBFB1032-EA64-7144-B003-9BCC9D94B503}" type="slidenum">
              <a:rPr lang="en-US" smtClean="0"/>
              <a:t>28</a:t>
            </a:fld>
            <a:endParaRPr lang="en-US" dirty="0"/>
          </a:p>
        </p:txBody>
      </p:sp>
      <p:sp>
        <p:nvSpPr>
          <p:cNvPr id="4" name="Content Placeholder 3">
            <a:extLst>
              <a:ext uri="{FF2B5EF4-FFF2-40B4-BE49-F238E27FC236}">
                <a16:creationId xmlns:a16="http://schemas.microsoft.com/office/drawing/2014/main" id="{A005C44C-035E-8D4F-FD08-D4CF662433A2}"/>
              </a:ext>
            </a:extLst>
          </p:cNvPr>
          <p:cNvSpPr>
            <a:spLocks noGrp="1"/>
          </p:cNvSpPr>
          <p:nvPr>
            <p:ph sz="quarter" idx="1"/>
          </p:nvPr>
        </p:nvSpPr>
        <p:spPr/>
        <p:txBody>
          <a:bodyPr/>
          <a:lstStyle/>
          <a:p>
            <a:r>
              <a:rPr lang="en-US" b="1" dirty="0"/>
              <a:t>Simplicity and Efficiency:</a:t>
            </a:r>
          </a:p>
          <a:p>
            <a:pPr lvl="1"/>
            <a:r>
              <a:rPr lang="en-US" dirty="0"/>
              <a:t>This method is straightforward and efficient, using the same text chunk for both embedding and synthesis, simplifying the retrieval process.</a:t>
            </a:r>
          </a:p>
          <a:p>
            <a:endParaRPr lang="en-US" dirty="0"/>
          </a:p>
          <a:p>
            <a:r>
              <a:rPr lang="en-US" b="1" dirty="0"/>
              <a:t>Uniformity in Data Handling:</a:t>
            </a:r>
          </a:p>
          <a:p>
            <a:pPr lvl="1"/>
            <a:r>
              <a:rPr lang="en-US" dirty="0"/>
              <a:t>It maintains consistency in the data used across both retrieval and synthesis phases.</a:t>
            </a:r>
          </a:p>
        </p:txBody>
      </p:sp>
    </p:spTree>
    <p:extLst>
      <p:ext uri="{BB962C8B-B14F-4D97-AF65-F5344CB8AC3E}">
        <p14:creationId xmlns:p14="http://schemas.microsoft.com/office/powerpoint/2010/main" val="1574906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2B7DA-66DF-8AC9-E049-34DAA23866A8}"/>
              </a:ext>
            </a:extLst>
          </p:cNvPr>
          <p:cNvSpPr>
            <a:spLocks noGrp="1"/>
          </p:cNvSpPr>
          <p:nvPr>
            <p:ph type="title"/>
          </p:nvPr>
        </p:nvSpPr>
        <p:spPr/>
        <p:txBody>
          <a:bodyPr>
            <a:normAutofit/>
          </a:bodyPr>
          <a:lstStyle/>
          <a:p>
            <a:r>
              <a:rPr lang="en-US" dirty="0"/>
              <a:t>Disadvantages</a:t>
            </a:r>
          </a:p>
        </p:txBody>
      </p:sp>
      <p:sp>
        <p:nvSpPr>
          <p:cNvPr id="3" name="Slide Number Placeholder 2">
            <a:extLst>
              <a:ext uri="{FF2B5EF4-FFF2-40B4-BE49-F238E27FC236}">
                <a16:creationId xmlns:a16="http://schemas.microsoft.com/office/drawing/2014/main" id="{CB9D6396-A2C5-D625-DF93-A2AD32824CA0}"/>
              </a:ext>
            </a:extLst>
          </p:cNvPr>
          <p:cNvSpPr>
            <a:spLocks noGrp="1"/>
          </p:cNvSpPr>
          <p:nvPr>
            <p:ph type="sldNum" sz="quarter" idx="12"/>
          </p:nvPr>
        </p:nvSpPr>
        <p:spPr/>
        <p:txBody>
          <a:bodyPr>
            <a:normAutofit fontScale="85000" lnSpcReduction="20000"/>
          </a:bodyPr>
          <a:lstStyle/>
          <a:p>
            <a:fld id="{EBFB1032-EA64-7144-B003-9BCC9D94B503}" type="slidenum">
              <a:rPr lang="en-US" smtClean="0"/>
              <a:t>29</a:t>
            </a:fld>
            <a:endParaRPr lang="en-US" dirty="0"/>
          </a:p>
        </p:txBody>
      </p:sp>
      <p:sp>
        <p:nvSpPr>
          <p:cNvPr id="4" name="Content Placeholder 3">
            <a:extLst>
              <a:ext uri="{FF2B5EF4-FFF2-40B4-BE49-F238E27FC236}">
                <a16:creationId xmlns:a16="http://schemas.microsoft.com/office/drawing/2014/main" id="{EF3F1E27-D3D9-98F6-F447-6325E59A7C95}"/>
              </a:ext>
            </a:extLst>
          </p:cNvPr>
          <p:cNvSpPr>
            <a:spLocks noGrp="1"/>
          </p:cNvSpPr>
          <p:nvPr>
            <p:ph sz="quarter" idx="1"/>
          </p:nvPr>
        </p:nvSpPr>
        <p:spPr/>
        <p:txBody>
          <a:bodyPr/>
          <a:lstStyle/>
          <a:p>
            <a:r>
              <a:rPr lang="en-US" b="1" dirty="0"/>
              <a:t>Limited Contextual Understanding:</a:t>
            </a:r>
          </a:p>
          <a:p>
            <a:pPr lvl="1"/>
            <a:r>
              <a:rPr lang="en-US" dirty="0"/>
              <a:t>LLMs may require a larger window for synthesis to generate better responses, which this approach may not adequately provide.</a:t>
            </a:r>
          </a:p>
          <a:p>
            <a:pPr lvl="1"/>
            <a:endParaRPr lang="en-US" dirty="0"/>
          </a:p>
          <a:p>
            <a:r>
              <a:rPr lang="en-US" b="1" dirty="0"/>
              <a:t>Potential for Suboptimal Responses:</a:t>
            </a:r>
          </a:p>
          <a:p>
            <a:pPr lvl="1"/>
            <a:r>
              <a:rPr lang="en-US" dirty="0"/>
              <a:t>Due to the limited context, the LLM might not have enough information to generate the most relevant and accurate responses.</a:t>
            </a:r>
          </a:p>
        </p:txBody>
      </p:sp>
    </p:spTree>
    <p:extLst>
      <p:ext uri="{BB962C8B-B14F-4D97-AF65-F5344CB8AC3E}">
        <p14:creationId xmlns:p14="http://schemas.microsoft.com/office/powerpoint/2010/main" val="3441912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CD078-14DD-FC6D-8225-FC5546A453AD}"/>
              </a:ext>
            </a:extLst>
          </p:cNvPr>
          <p:cNvSpPr>
            <a:spLocks noGrp="1"/>
          </p:cNvSpPr>
          <p:nvPr>
            <p:ph type="title"/>
          </p:nvPr>
        </p:nvSpPr>
        <p:spPr/>
        <p:txBody>
          <a:bodyPr>
            <a:noAutofit/>
          </a:bodyPr>
          <a:lstStyle/>
          <a:p>
            <a:r>
              <a:rPr lang="en-US" sz="3200" dirty="0"/>
              <a:t>Sentence-Window Retrieval / Small-to-Large Chunking</a:t>
            </a:r>
          </a:p>
        </p:txBody>
      </p:sp>
      <p:sp>
        <p:nvSpPr>
          <p:cNvPr id="3" name="Slide Number Placeholder 2">
            <a:extLst>
              <a:ext uri="{FF2B5EF4-FFF2-40B4-BE49-F238E27FC236}">
                <a16:creationId xmlns:a16="http://schemas.microsoft.com/office/drawing/2014/main" id="{74699A32-140B-615E-D1E0-1D5147024071}"/>
              </a:ext>
            </a:extLst>
          </p:cNvPr>
          <p:cNvSpPr>
            <a:spLocks noGrp="1"/>
          </p:cNvSpPr>
          <p:nvPr>
            <p:ph type="sldNum" sz="quarter" idx="12"/>
          </p:nvPr>
        </p:nvSpPr>
        <p:spPr/>
        <p:txBody>
          <a:bodyPr>
            <a:normAutofit fontScale="85000" lnSpcReduction="20000"/>
          </a:bodyPr>
          <a:lstStyle/>
          <a:p>
            <a:fld id="{EBFB1032-EA64-7144-B003-9BCC9D94B503}" type="slidenum">
              <a:rPr lang="en-US" smtClean="0"/>
              <a:t>30</a:t>
            </a:fld>
            <a:endParaRPr lang="en-US" dirty="0"/>
          </a:p>
        </p:txBody>
      </p:sp>
      <p:sp>
        <p:nvSpPr>
          <p:cNvPr id="4" name="Content Placeholder 3">
            <a:extLst>
              <a:ext uri="{FF2B5EF4-FFF2-40B4-BE49-F238E27FC236}">
                <a16:creationId xmlns:a16="http://schemas.microsoft.com/office/drawing/2014/main" id="{DD3198C1-A4CA-8A97-5E2B-CFDA3ED8EF52}"/>
              </a:ext>
            </a:extLst>
          </p:cNvPr>
          <p:cNvSpPr>
            <a:spLocks noGrp="1"/>
          </p:cNvSpPr>
          <p:nvPr>
            <p:ph sz="quarter" idx="1"/>
          </p:nvPr>
        </p:nvSpPr>
        <p:spPr/>
        <p:txBody>
          <a:bodyPr/>
          <a:lstStyle/>
          <a:p>
            <a:r>
              <a:rPr lang="en-US" dirty="0"/>
              <a:t>The sentence-window approach breaks down documents into smaller units, such as sentences or small groups of sentences.</a:t>
            </a:r>
          </a:p>
          <a:p>
            <a:endParaRPr lang="en-US" dirty="0"/>
          </a:p>
          <a:p>
            <a:r>
              <a:rPr lang="en-US" dirty="0"/>
              <a:t>It decouples the embeddings for retrieval tasks (which are smaller chunks stored in a Vector DB), but for synthesis it adds back in the context around the retrieved chunks</a:t>
            </a:r>
          </a:p>
        </p:txBody>
      </p:sp>
    </p:spTree>
    <p:extLst>
      <p:ext uri="{BB962C8B-B14F-4D97-AF65-F5344CB8AC3E}">
        <p14:creationId xmlns:p14="http://schemas.microsoft.com/office/powerpoint/2010/main" val="3515443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F8AD09-1818-09D8-E115-8AE67AA07138}"/>
              </a:ext>
            </a:extLst>
          </p:cNvPr>
          <p:cNvSpPr>
            <a:spLocks noGrp="1"/>
          </p:cNvSpPr>
          <p:nvPr>
            <p:ph type="sldNum" sz="quarter" idx="12"/>
          </p:nvPr>
        </p:nvSpPr>
        <p:spPr/>
        <p:txBody>
          <a:bodyPr/>
          <a:lstStyle/>
          <a:p>
            <a:fld id="{EBFB1032-EA64-7144-B003-9BCC9D94B503}" type="slidenum">
              <a:rPr lang="en-US" smtClean="0"/>
              <a:t>31</a:t>
            </a:fld>
            <a:endParaRPr lang="en-US" dirty="0"/>
          </a:p>
        </p:txBody>
      </p:sp>
      <p:pic>
        <p:nvPicPr>
          <p:cNvPr id="6" name="Picture 5">
            <a:extLst>
              <a:ext uri="{FF2B5EF4-FFF2-40B4-BE49-F238E27FC236}">
                <a16:creationId xmlns:a16="http://schemas.microsoft.com/office/drawing/2014/main" id="{C735D938-C8F6-468A-27EC-9560F77C4A95}"/>
              </a:ext>
            </a:extLst>
          </p:cNvPr>
          <p:cNvPicPr>
            <a:picLocks noChangeAspect="1"/>
          </p:cNvPicPr>
          <p:nvPr/>
        </p:nvPicPr>
        <p:blipFill>
          <a:blip r:embed="rId2"/>
          <a:stretch>
            <a:fillRect/>
          </a:stretch>
        </p:blipFill>
        <p:spPr>
          <a:xfrm>
            <a:off x="274320" y="502515"/>
            <a:ext cx="8595360" cy="5852970"/>
          </a:xfrm>
          <a:prstGeom prst="rect">
            <a:avLst/>
          </a:prstGeom>
        </p:spPr>
      </p:pic>
    </p:spTree>
    <p:extLst>
      <p:ext uri="{BB962C8B-B14F-4D97-AF65-F5344CB8AC3E}">
        <p14:creationId xmlns:p14="http://schemas.microsoft.com/office/powerpoint/2010/main" val="2706182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852B03-67C3-508A-A390-BE406FCDAEFB}"/>
              </a:ext>
            </a:extLst>
          </p:cNvPr>
          <p:cNvSpPr>
            <a:spLocks noGrp="1"/>
          </p:cNvSpPr>
          <p:nvPr>
            <p:ph type="title"/>
          </p:nvPr>
        </p:nvSpPr>
        <p:spPr/>
        <p:txBody>
          <a:bodyPr/>
          <a:lstStyle/>
          <a:p>
            <a:r>
              <a:rPr lang="en-US" dirty="0"/>
              <a:t>Sentences that are most relevant to the query</a:t>
            </a:r>
          </a:p>
        </p:txBody>
      </p:sp>
      <p:sp>
        <p:nvSpPr>
          <p:cNvPr id="2" name="Slide Number Placeholder 1">
            <a:extLst>
              <a:ext uri="{FF2B5EF4-FFF2-40B4-BE49-F238E27FC236}">
                <a16:creationId xmlns:a16="http://schemas.microsoft.com/office/drawing/2014/main" id="{04098733-FEE3-9289-5506-A9759C003B35}"/>
              </a:ext>
            </a:extLst>
          </p:cNvPr>
          <p:cNvSpPr>
            <a:spLocks noGrp="1"/>
          </p:cNvSpPr>
          <p:nvPr>
            <p:ph type="sldNum" sz="quarter" idx="12"/>
          </p:nvPr>
        </p:nvSpPr>
        <p:spPr/>
        <p:txBody>
          <a:bodyPr>
            <a:normAutofit fontScale="85000" lnSpcReduction="20000"/>
          </a:bodyPr>
          <a:lstStyle/>
          <a:p>
            <a:fld id="{EBFB1032-EA64-7144-B003-9BCC9D94B503}" type="slidenum">
              <a:rPr lang="en-US" smtClean="0"/>
              <a:t>32</a:t>
            </a:fld>
            <a:endParaRPr lang="en-US" dirty="0"/>
          </a:p>
        </p:txBody>
      </p:sp>
      <p:sp>
        <p:nvSpPr>
          <p:cNvPr id="4" name="Content Placeholder 3">
            <a:extLst>
              <a:ext uri="{FF2B5EF4-FFF2-40B4-BE49-F238E27FC236}">
                <a16:creationId xmlns:a16="http://schemas.microsoft.com/office/drawing/2014/main" id="{B7D78949-66C4-DBAD-B8ED-82DC3DEF9BB9}"/>
              </a:ext>
            </a:extLst>
          </p:cNvPr>
          <p:cNvSpPr>
            <a:spLocks noGrp="1"/>
          </p:cNvSpPr>
          <p:nvPr>
            <p:ph sz="quarter" idx="1"/>
          </p:nvPr>
        </p:nvSpPr>
        <p:spPr/>
        <p:txBody>
          <a:bodyPr/>
          <a:lstStyle/>
          <a:p>
            <a:r>
              <a:rPr lang="en-US" dirty="0"/>
              <a:t>During retrieval, we retrieve the sentences that are most relevant to the query via similarity search and replace the sentence with the full surrounding context</a:t>
            </a:r>
          </a:p>
          <a:p>
            <a:pPr lvl="1"/>
            <a:r>
              <a:rPr lang="en-US" dirty="0"/>
              <a:t>using a static sentence-window around the context, implemented by retrieving sentences surrounding the one being originally retrieved </a:t>
            </a:r>
          </a:p>
        </p:txBody>
      </p:sp>
    </p:spTree>
    <p:extLst>
      <p:ext uri="{BB962C8B-B14F-4D97-AF65-F5344CB8AC3E}">
        <p14:creationId xmlns:p14="http://schemas.microsoft.com/office/powerpoint/2010/main" val="21261747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1AB4829-2CFC-2097-D967-D45400365C10}"/>
              </a:ext>
            </a:extLst>
          </p:cNvPr>
          <p:cNvSpPr>
            <a:spLocks noGrp="1"/>
          </p:cNvSpPr>
          <p:nvPr>
            <p:ph type="sldNum" sz="quarter" idx="12"/>
          </p:nvPr>
        </p:nvSpPr>
        <p:spPr/>
        <p:txBody>
          <a:bodyPr/>
          <a:lstStyle/>
          <a:p>
            <a:fld id="{EBFB1032-EA64-7144-B003-9BCC9D94B503}" type="slidenum">
              <a:rPr lang="en-US" smtClean="0"/>
              <a:t>33</a:t>
            </a:fld>
            <a:endParaRPr lang="en-US" dirty="0"/>
          </a:p>
        </p:txBody>
      </p:sp>
      <p:pic>
        <p:nvPicPr>
          <p:cNvPr id="6" name="Picture 5">
            <a:extLst>
              <a:ext uri="{FF2B5EF4-FFF2-40B4-BE49-F238E27FC236}">
                <a16:creationId xmlns:a16="http://schemas.microsoft.com/office/drawing/2014/main" id="{818B229F-26B0-F4EA-12DD-50EFE701FC41}"/>
              </a:ext>
            </a:extLst>
          </p:cNvPr>
          <p:cNvPicPr>
            <a:picLocks noChangeAspect="1"/>
          </p:cNvPicPr>
          <p:nvPr/>
        </p:nvPicPr>
        <p:blipFill>
          <a:blip r:embed="rId2"/>
          <a:stretch>
            <a:fillRect/>
          </a:stretch>
        </p:blipFill>
        <p:spPr>
          <a:xfrm>
            <a:off x="1188720" y="147698"/>
            <a:ext cx="6766560" cy="6562603"/>
          </a:xfrm>
          <a:prstGeom prst="rect">
            <a:avLst/>
          </a:prstGeom>
        </p:spPr>
      </p:pic>
    </p:spTree>
    <p:extLst>
      <p:ext uri="{BB962C8B-B14F-4D97-AF65-F5344CB8AC3E}">
        <p14:creationId xmlns:p14="http://schemas.microsoft.com/office/powerpoint/2010/main" val="1321630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F40BB5-CD1B-A813-DB47-013711AE2F78}"/>
              </a:ext>
            </a:extLst>
          </p:cNvPr>
          <p:cNvSpPr>
            <a:spLocks noGrp="1"/>
          </p:cNvSpPr>
          <p:nvPr>
            <p:ph type="title"/>
          </p:nvPr>
        </p:nvSpPr>
        <p:spPr/>
        <p:txBody>
          <a:bodyPr>
            <a:normAutofit/>
          </a:bodyPr>
          <a:lstStyle/>
          <a:p>
            <a:r>
              <a:rPr lang="en-US" dirty="0"/>
              <a:t>Advantages</a:t>
            </a:r>
          </a:p>
        </p:txBody>
      </p:sp>
      <p:sp>
        <p:nvSpPr>
          <p:cNvPr id="2" name="Slide Number Placeholder 1">
            <a:extLst>
              <a:ext uri="{FF2B5EF4-FFF2-40B4-BE49-F238E27FC236}">
                <a16:creationId xmlns:a16="http://schemas.microsoft.com/office/drawing/2014/main" id="{75940621-AF8D-BEF7-7EBA-FCB66B2523D4}"/>
              </a:ext>
            </a:extLst>
          </p:cNvPr>
          <p:cNvSpPr>
            <a:spLocks noGrp="1"/>
          </p:cNvSpPr>
          <p:nvPr>
            <p:ph type="sldNum" sz="quarter" idx="12"/>
          </p:nvPr>
        </p:nvSpPr>
        <p:spPr/>
        <p:txBody>
          <a:bodyPr>
            <a:normAutofit fontScale="85000" lnSpcReduction="20000"/>
          </a:bodyPr>
          <a:lstStyle/>
          <a:p>
            <a:fld id="{EBFB1032-EA64-7144-B003-9BCC9D94B503}" type="slidenum">
              <a:rPr lang="en-US" smtClean="0"/>
              <a:t>34</a:t>
            </a:fld>
            <a:endParaRPr lang="en-US" dirty="0"/>
          </a:p>
        </p:txBody>
      </p:sp>
      <p:sp>
        <p:nvSpPr>
          <p:cNvPr id="4" name="Content Placeholder 3">
            <a:extLst>
              <a:ext uri="{FF2B5EF4-FFF2-40B4-BE49-F238E27FC236}">
                <a16:creationId xmlns:a16="http://schemas.microsoft.com/office/drawing/2014/main" id="{F8592CDA-A5DB-E2B5-AEFF-965EBCABD584}"/>
              </a:ext>
            </a:extLst>
          </p:cNvPr>
          <p:cNvSpPr>
            <a:spLocks noGrp="1"/>
          </p:cNvSpPr>
          <p:nvPr>
            <p:ph sz="quarter" idx="1"/>
          </p:nvPr>
        </p:nvSpPr>
        <p:spPr/>
        <p:txBody>
          <a:bodyPr/>
          <a:lstStyle/>
          <a:p>
            <a:r>
              <a:rPr lang="en-US" b="1" dirty="0"/>
              <a:t>Enhanced Specificity in Retrieval:</a:t>
            </a:r>
          </a:p>
          <a:p>
            <a:pPr lvl="1"/>
            <a:r>
              <a:rPr lang="en-US" dirty="0"/>
              <a:t>By breaking documents into smaller units, it enables more precise retrieval of segments directly relevant to a query.</a:t>
            </a:r>
          </a:p>
          <a:p>
            <a:endParaRPr lang="en-US" dirty="0"/>
          </a:p>
          <a:p>
            <a:r>
              <a:rPr lang="en-US" b="1" dirty="0"/>
              <a:t>Context-Rich Synthesis:</a:t>
            </a:r>
          </a:p>
          <a:p>
            <a:pPr lvl="1"/>
            <a:r>
              <a:rPr lang="en-US" dirty="0"/>
              <a:t>It reintroduces context around the retrieved chunks for synthesis, providing the LLM with a broader understanding to formulate responses.</a:t>
            </a:r>
          </a:p>
          <a:p>
            <a:endParaRPr lang="en-US" dirty="0"/>
          </a:p>
          <a:p>
            <a:r>
              <a:rPr lang="en-US" b="1" dirty="0"/>
              <a:t>Balanced Approach:</a:t>
            </a:r>
          </a:p>
          <a:p>
            <a:pPr lvl="1"/>
            <a:r>
              <a:rPr lang="en-US" dirty="0"/>
              <a:t>This method strikes a balance between focused retrieval and contextual richness, potentially improving response quality.</a:t>
            </a:r>
          </a:p>
        </p:txBody>
      </p:sp>
    </p:spTree>
    <p:extLst>
      <p:ext uri="{BB962C8B-B14F-4D97-AF65-F5344CB8AC3E}">
        <p14:creationId xmlns:p14="http://schemas.microsoft.com/office/powerpoint/2010/main" val="901294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9D48F-2D72-F04C-B063-AE9B9F82521B}"/>
              </a:ext>
            </a:extLst>
          </p:cNvPr>
          <p:cNvSpPr>
            <a:spLocks noGrp="1"/>
          </p:cNvSpPr>
          <p:nvPr>
            <p:ph type="title"/>
          </p:nvPr>
        </p:nvSpPr>
        <p:spPr/>
        <p:txBody>
          <a:bodyPr>
            <a:normAutofit/>
          </a:bodyPr>
          <a:lstStyle/>
          <a:p>
            <a:r>
              <a:rPr lang="en-US" dirty="0"/>
              <a:t>Disadvantages</a:t>
            </a:r>
          </a:p>
        </p:txBody>
      </p:sp>
      <p:sp>
        <p:nvSpPr>
          <p:cNvPr id="3" name="Slide Number Placeholder 2">
            <a:extLst>
              <a:ext uri="{FF2B5EF4-FFF2-40B4-BE49-F238E27FC236}">
                <a16:creationId xmlns:a16="http://schemas.microsoft.com/office/drawing/2014/main" id="{F68F4DC3-9623-90A2-E861-4384D0C40390}"/>
              </a:ext>
            </a:extLst>
          </p:cNvPr>
          <p:cNvSpPr>
            <a:spLocks noGrp="1"/>
          </p:cNvSpPr>
          <p:nvPr>
            <p:ph type="sldNum" sz="quarter" idx="12"/>
          </p:nvPr>
        </p:nvSpPr>
        <p:spPr/>
        <p:txBody>
          <a:bodyPr>
            <a:normAutofit fontScale="85000" lnSpcReduction="20000"/>
          </a:bodyPr>
          <a:lstStyle/>
          <a:p>
            <a:fld id="{EBFB1032-EA64-7144-B003-9BCC9D94B503}" type="slidenum">
              <a:rPr lang="en-US" smtClean="0"/>
              <a:t>35</a:t>
            </a:fld>
            <a:endParaRPr lang="en-US" dirty="0"/>
          </a:p>
        </p:txBody>
      </p:sp>
      <p:sp>
        <p:nvSpPr>
          <p:cNvPr id="4" name="Content Placeholder 3">
            <a:extLst>
              <a:ext uri="{FF2B5EF4-FFF2-40B4-BE49-F238E27FC236}">
                <a16:creationId xmlns:a16="http://schemas.microsoft.com/office/drawing/2014/main" id="{765B583A-44E1-14B7-279A-08FAE3D86FF6}"/>
              </a:ext>
            </a:extLst>
          </p:cNvPr>
          <p:cNvSpPr>
            <a:spLocks noGrp="1"/>
          </p:cNvSpPr>
          <p:nvPr>
            <p:ph sz="quarter" idx="1"/>
          </p:nvPr>
        </p:nvSpPr>
        <p:spPr/>
        <p:txBody>
          <a:bodyPr/>
          <a:lstStyle/>
          <a:p>
            <a:r>
              <a:rPr lang="en-US" b="1" dirty="0"/>
              <a:t>Increased Complexity:</a:t>
            </a:r>
          </a:p>
          <a:p>
            <a:pPr lvl="1"/>
            <a:r>
              <a:rPr lang="en-US" dirty="0"/>
              <a:t>Managing separate processes for retrieval and synthesis adds complexity to the pipeline.</a:t>
            </a:r>
          </a:p>
          <a:p>
            <a:endParaRPr lang="en-US" dirty="0"/>
          </a:p>
          <a:p>
            <a:r>
              <a:rPr lang="en-US" b="1" dirty="0"/>
              <a:t>Potential Contextual Gaps:</a:t>
            </a:r>
          </a:p>
          <a:p>
            <a:pPr lvl="1"/>
            <a:r>
              <a:rPr lang="en-US" dirty="0"/>
              <a:t>There’s a risk of missing broader context if the surrounding information added back is not sufficiently comprehensive.</a:t>
            </a:r>
          </a:p>
        </p:txBody>
      </p:sp>
    </p:spTree>
    <p:extLst>
      <p:ext uri="{BB962C8B-B14F-4D97-AF65-F5344CB8AC3E}">
        <p14:creationId xmlns:p14="http://schemas.microsoft.com/office/powerpoint/2010/main" val="25473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9804E-1FA9-E518-3D69-EF042F1A1DF8}"/>
              </a:ext>
            </a:extLst>
          </p:cNvPr>
          <p:cNvSpPr>
            <a:spLocks noGrp="1"/>
          </p:cNvSpPr>
          <p:nvPr>
            <p:ph type="title"/>
          </p:nvPr>
        </p:nvSpPr>
        <p:spPr/>
        <p:txBody>
          <a:bodyPr>
            <a:normAutofit/>
          </a:bodyPr>
          <a:lstStyle/>
          <a:p>
            <a:r>
              <a:rPr lang="en-US" dirty="0"/>
              <a:t>Retriever </a:t>
            </a:r>
            <a:r>
              <a:rPr lang="en-US" dirty="0" err="1"/>
              <a:t>Ensembling</a:t>
            </a:r>
            <a:r>
              <a:rPr lang="en-US" dirty="0"/>
              <a:t> and Reranking</a:t>
            </a:r>
          </a:p>
        </p:txBody>
      </p:sp>
      <p:sp>
        <p:nvSpPr>
          <p:cNvPr id="3" name="Slide Number Placeholder 2">
            <a:extLst>
              <a:ext uri="{FF2B5EF4-FFF2-40B4-BE49-F238E27FC236}">
                <a16:creationId xmlns:a16="http://schemas.microsoft.com/office/drawing/2014/main" id="{4255D20F-9430-DDE6-4D0F-9651438E9B96}"/>
              </a:ext>
            </a:extLst>
          </p:cNvPr>
          <p:cNvSpPr>
            <a:spLocks noGrp="1"/>
          </p:cNvSpPr>
          <p:nvPr>
            <p:ph type="sldNum" sz="quarter" idx="12"/>
          </p:nvPr>
        </p:nvSpPr>
        <p:spPr/>
        <p:txBody>
          <a:bodyPr>
            <a:normAutofit fontScale="85000" lnSpcReduction="20000"/>
          </a:bodyPr>
          <a:lstStyle/>
          <a:p>
            <a:fld id="{EBFB1032-EA64-7144-B003-9BCC9D94B503}" type="slidenum">
              <a:rPr lang="en-US" smtClean="0"/>
              <a:t>36</a:t>
            </a:fld>
            <a:endParaRPr lang="en-US" dirty="0"/>
          </a:p>
        </p:txBody>
      </p:sp>
      <p:sp>
        <p:nvSpPr>
          <p:cNvPr id="4" name="Content Placeholder 3">
            <a:extLst>
              <a:ext uri="{FF2B5EF4-FFF2-40B4-BE49-F238E27FC236}">
                <a16:creationId xmlns:a16="http://schemas.microsoft.com/office/drawing/2014/main" id="{20D39099-D3B3-FCC6-FD3F-80C08A260783}"/>
              </a:ext>
            </a:extLst>
          </p:cNvPr>
          <p:cNvSpPr>
            <a:spLocks noGrp="1"/>
          </p:cNvSpPr>
          <p:nvPr>
            <p:ph sz="quarter" idx="1"/>
          </p:nvPr>
        </p:nvSpPr>
        <p:spPr/>
        <p:txBody>
          <a:bodyPr/>
          <a:lstStyle/>
          <a:p>
            <a:r>
              <a:rPr lang="en-US" b="1" dirty="0"/>
              <a:t>Thought:</a:t>
            </a:r>
          </a:p>
          <a:p>
            <a:pPr lvl="1"/>
            <a:r>
              <a:rPr lang="en-US" dirty="0"/>
              <a:t>what if we could try a bunch of chunk sizes at once, and have a re-ranker prune the results?</a:t>
            </a:r>
          </a:p>
          <a:p>
            <a:endParaRPr lang="en-US" dirty="0"/>
          </a:p>
          <a:p>
            <a:r>
              <a:rPr lang="en-US" b="1" dirty="0"/>
              <a:t>This achieves two purposes:</a:t>
            </a:r>
          </a:p>
          <a:p>
            <a:pPr lvl="1"/>
            <a:r>
              <a:rPr lang="en-US" dirty="0"/>
              <a:t>Better (even though more costly) retrieved results by pooling results from multiple chunk sizes, assuming the re-ranker has a reasonable level of performance.</a:t>
            </a:r>
          </a:p>
          <a:p>
            <a:pPr lvl="1"/>
            <a:r>
              <a:rPr lang="en-US" dirty="0"/>
              <a:t>A way to benchmark different retrieval strategies against each other (</a:t>
            </a:r>
            <a:r>
              <a:rPr lang="en-US" dirty="0" err="1"/>
              <a:t>w.r.t.</a:t>
            </a:r>
            <a:r>
              <a:rPr lang="en-US" dirty="0"/>
              <a:t> the re-ranker).</a:t>
            </a:r>
          </a:p>
        </p:txBody>
      </p:sp>
    </p:spTree>
    <p:extLst>
      <p:ext uri="{BB962C8B-B14F-4D97-AF65-F5344CB8AC3E}">
        <p14:creationId xmlns:p14="http://schemas.microsoft.com/office/powerpoint/2010/main" val="3524479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8265A-1CF1-C780-540D-1EE6A06EDB7A}"/>
              </a:ext>
            </a:extLst>
          </p:cNvPr>
          <p:cNvSpPr>
            <a:spLocks noGrp="1"/>
          </p:cNvSpPr>
          <p:nvPr>
            <p:ph type="title"/>
          </p:nvPr>
        </p:nvSpPr>
        <p:spPr/>
        <p:txBody>
          <a:bodyPr>
            <a:normAutofit/>
          </a:bodyPr>
          <a:lstStyle/>
          <a:p>
            <a:r>
              <a:rPr lang="en-US" dirty="0"/>
              <a:t>The process is as follows:</a:t>
            </a:r>
          </a:p>
        </p:txBody>
      </p:sp>
      <p:sp>
        <p:nvSpPr>
          <p:cNvPr id="3" name="Slide Number Placeholder 2">
            <a:extLst>
              <a:ext uri="{FF2B5EF4-FFF2-40B4-BE49-F238E27FC236}">
                <a16:creationId xmlns:a16="http://schemas.microsoft.com/office/drawing/2014/main" id="{37B29519-5508-5A4B-B509-50E9002ED447}"/>
              </a:ext>
            </a:extLst>
          </p:cNvPr>
          <p:cNvSpPr>
            <a:spLocks noGrp="1"/>
          </p:cNvSpPr>
          <p:nvPr>
            <p:ph type="sldNum" sz="quarter" idx="12"/>
          </p:nvPr>
        </p:nvSpPr>
        <p:spPr/>
        <p:txBody>
          <a:bodyPr>
            <a:normAutofit fontScale="85000" lnSpcReduction="20000"/>
          </a:bodyPr>
          <a:lstStyle/>
          <a:p>
            <a:fld id="{EBFB1032-EA64-7144-B003-9BCC9D94B503}" type="slidenum">
              <a:rPr lang="en-US" smtClean="0"/>
              <a:t>37</a:t>
            </a:fld>
            <a:endParaRPr lang="en-US" dirty="0"/>
          </a:p>
        </p:txBody>
      </p:sp>
      <p:sp>
        <p:nvSpPr>
          <p:cNvPr id="4" name="Content Placeholder 3">
            <a:extLst>
              <a:ext uri="{FF2B5EF4-FFF2-40B4-BE49-F238E27FC236}">
                <a16:creationId xmlns:a16="http://schemas.microsoft.com/office/drawing/2014/main" id="{893D8AAF-1B06-52E5-11C7-401866569B0B}"/>
              </a:ext>
            </a:extLst>
          </p:cNvPr>
          <p:cNvSpPr>
            <a:spLocks noGrp="1"/>
          </p:cNvSpPr>
          <p:nvPr>
            <p:ph sz="quarter" idx="1"/>
          </p:nvPr>
        </p:nvSpPr>
        <p:spPr/>
        <p:txBody>
          <a:bodyPr/>
          <a:lstStyle/>
          <a:p>
            <a:r>
              <a:rPr lang="en-US" dirty="0"/>
              <a:t>Chunk up the same document in a bunch of different ways, say with chunk sizes: 128, 256, 512, and 1024.</a:t>
            </a:r>
          </a:p>
          <a:p>
            <a:endParaRPr lang="en-US" dirty="0"/>
          </a:p>
          <a:p>
            <a:r>
              <a:rPr lang="en-US" dirty="0"/>
              <a:t>During retrieval, we fetch relevant chunks from each retriever, thus </a:t>
            </a:r>
            <a:r>
              <a:rPr lang="en-US" dirty="0" err="1"/>
              <a:t>ensembling</a:t>
            </a:r>
            <a:r>
              <a:rPr lang="en-US" dirty="0"/>
              <a:t> them together for retrieval.</a:t>
            </a:r>
          </a:p>
          <a:p>
            <a:endParaRPr lang="en-US" dirty="0"/>
          </a:p>
          <a:p>
            <a:r>
              <a:rPr lang="en-US" dirty="0"/>
              <a:t>Use a re-ranker to rank/prune results.</a:t>
            </a:r>
          </a:p>
        </p:txBody>
      </p:sp>
    </p:spTree>
    <p:extLst>
      <p:ext uri="{BB962C8B-B14F-4D97-AF65-F5344CB8AC3E}">
        <p14:creationId xmlns:p14="http://schemas.microsoft.com/office/powerpoint/2010/main" val="807842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B082D6-94B9-BDDC-FD89-81E9100D5EE2}"/>
              </a:ext>
            </a:extLst>
          </p:cNvPr>
          <p:cNvSpPr>
            <a:spLocks noGrp="1"/>
          </p:cNvSpPr>
          <p:nvPr>
            <p:ph type="sldNum" sz="quarter" idx="12"/>
          </p:nvPr>
        </p:nvSpPr>
        <p:spPr/>
        <p:txBody>
          <a:bodyPr/>
          <a:lstStyle/>
          <a:p>
            <a:fld id="{EBFB1032-EA64-7144-B003-9BCC9D94B503}" type="slidenum">
              <a:rPr lang="en-US" smtClean="0"/>
              <a:t>38</a:t>
            </a:fld>
            <a:endParaRPr lang="en-US" dirty="0"/>
          </a:p>
        </p:txBody>
      </p:sp>
      <p:pic>
        <p:nvPicPr>
          <p:cNvPr id="6" name="Picture 5">
            <a:extLst>
              <a:ext uri="{FF2B5EF4-FFF2-40B4-BE49-F238E27FC236}">
                <a16:creationId xmlns:a16="http://schemas.microsoft.com/office/drawing/2014/main" id="{719D5D8D-2949-64A3-CC11-851A0C120BD3}"/>
              </a:ext>
            </a:extLst>
          </p:cNvPr>
          <p:cNvPicPr>
            <a:picLocks noChangeAspect="1"/>
          </p:cNvPicPr>
          <p:nvPr/>
        </p:nvPicPr>
        <p:blipFill>
          <a:blip r:embed="rId2"/>
          <a:stretch>
            <a:fillRect/>
          </a:stretch>
        </p:blipFill>
        <p:spPr>
          <a:xfrm>
            <a:off x="457200" y="59880"/>
            <a:ext cx="8229600" cy="6738239"/>
          </a:xfrm>
          <a:prstGeom prst="rect">
            <a:avLst/>
          </a:prstGeom>
        </p:spPr>
      </p:pic>
    </p:spTree>
    <p:extLst>
      <p:ext uri="{BB962C8B-B14F-4D97-AF65-F5344CB8AC3E}">
        <p14:creationId xmlns:p14="http://schemas.microsoft.com/office/powerpoint/2010/main" val="3840086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BEFEA0-9D78-0C33-4DD3-CF86CEE75DD2}"/>
              </a:ext>
            </a:extLst>
          </p:cNvPr>
          <p:cNvSpPr>
            <a:spLocks noGrp="1"/>
          </p:cNvSpPr>
          <p:nvPr>
            <p:ph type="title"/>
          </p:nvPr>
        </p:nvSpPr>
        <p:spPr/>
        <p:txBody>
          <a:bodyPr/>
          <a:lstStyle/>
          <a:p>
            <a:r>
              <a:rPr lang="en-US" dirty="0"/>
              <a:t>Cont’d</a:t>
            </a:r>
          </a:p>
        </p:txBody>
      </p:sp>
      <p:sp>
        <p:nvSpPr>
          <p:cNvPr id="2" name="Slide Number Placeholder 1">
            <a:extLst>
              <a:ext uri="{FF2B5EF4-FFF2-40B4-BE49-F238E27FC236}">
                <a16:creationId xmlns:a16="http://schemas.microsoft.com/office/drawing/2014/main" id="{D9792667-F2D9-09DE-1F22-077545CE8C1A}"/>
              </a:ext>
            </a:extLst>
          </p:cNvPr>
          <p:cNvSpPr>
            <a:spLocks noGrp="1"/>
          </p:cNvSpPr>
          <p:nvPr>
            <p:ph type="sldNum" sz="quarter" idx="12"/>
          </p:nvPr>
        </p:nvSpPr>
        <p:spPr/>
        <p:txBody>
          <a:bodyPr>
            <a:normAutofit fontScale="85000" lnSpcReduction="20000"/>
          </a:bodyPr>
          <a:lstStyle/>
          <a:p>
            <a:fld id="{EBFB1032-EA64-7144-B003-9BCC9D94B503}" type="slidenum">
              <a:rPr lang="en-US" smtClean="0"/>
              <a:t>39</a:t>
            </a:fld>
            <a:endParaRPr lang="en-US" dirty="0"/>
          </a:p>
        </p:txBody>
      </p:sp>
      <p:sp>
        <p:nvSpPr>
          <p:cNvPr id="4" name="Content Placeholder 3">
            <a:extLst>
              <a:ext uri="{FF2B5EF4-FFF2-40B4-BE49-F238E27FC236}">
                <a16:creationId xmlns:a16="http://schemas.microsoft.com/office/drawing/2014/main" id="{8A115DB9-3838-71D1-1596-59D398D316C4}"/>
              </a:ext>
            </a:extLst>
          </p:cNvPr>
          <p:cNvSpPr>
            <a:spLocks noGrp="1"/>
          </p:cNvSpPr>
          <p:nvPr>
            <p:ph sz="quarter" idx="1"/>
          </p:nvPr>
        </p:nvSpPr>
        <p:spPr/>
        <p:txBody>
          <a:bodyPr/>
          <a:lstStyle/>
          <a:p>
            <a:r>
              <a:rPr lang="en-US" dirty="0"/>
              <a:t> Based on evaluation results from </a:t>
            </a:r>
            <a:r>
              <a:rPr lang="en-US" dirty="0" err="1"/>
              <a:t>LlamaIndex</a:t>
            </a:r>
            <a:r>
              <a:rPr lang="en-US" dirty="0"/>
              <a:t>, faithfulness metrics go up slightly for the ensembled approach, indicating retrieved results are slightly more relevant.</a:t>
            </a:r>
          </a:p>
          <a:p>
            <a:r>
              <a:rPr lang="en-US" dirty="0"/>
              <a:t>But pairwise comparisons lead to equal preference for both approaches, making it still questionable as to whether or not </a:t>
            </a:r>
            <a:r>
              <a:rPr lang="en-US" dirty="0" err="1"/>
              <a:t>ensembling</a:t>
            </a:r>
            <a:r>
              <a:rPr lang="en-US" dirty="0"/>
              <a:t> is better.</a:t>
            </a:r>
          </a:p>
          <a:p>
            <a:pPr marL="0" indent="0">
              <a:buNone/>
            </a:pPr>
            <a:r>
              <a:rPr lang="en-US" dirty="0"/>
              <a:t>     </a:t>
            </a:r>
            <a:r>
              <a:rPr lang="en-US" dirty="0">
                <a:hlinkClick r:id="rId2"/>
              </a:rPr>
              <a:t>https://docs.llamaindex.ai/en/stable/examples/retrievers/ensemble_retrieval</a:t>
            </a:r>
            <a:endParaRPr lang="en-US" dirty="0"/>
          </a:p>
          <a:p>
            <a:endParaRPr lang="en-US" dirty="0"/>
          </a:p>
          <a:p>
            <a:r>
              <a:rPr lang="en-US" dirty="0"/>
              <a:t>Note that the </a:t>
            </a:r>
            <a:r>
              <a:rPr lang="en-US" dirty="0" err="1"/>
              <a:t>ensembling</a:t>
            </a:r>
            <a:r>
              <a:rPr lang="en-US" dirty="0"/>
              <a:t> strategy can be applied for other aspects of a RAG pipeline too, beyond chunk size, such as vector vs. keyword vs. hybrid search, etc.</a:t>
            </a:r>
          </a:p>
        </p:txBody>
      </p:sp>
    </p:spTree>
    <p:extLst>
      <p:ext uri="{BB962C8B-B14F-4D97-AF65-F5344CB8AC3E}">
        <p14:creationId xmlns:p14="http://schemas.microsoft.com/office/powerpoint/2010/main" val="1497156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0389C-A261-F40B-74AA-804667EEC8E5}"/>
              </a:ext>
            </a:extLst>
          </p:cNvPr>
          <p:cNvSpPr>
            <a:spLocks noGrp="1"/>
          </p:cNvSpPr>
          <p:nvPr>
            <p:ph type="title"/>
          </p:nvPr>
        </p:nvSpPr>
        <p:spPr/>
        <p:txBody>
          <a:bodyPr>
            <a:normAutofit/>
          </a:bodyPr>
          <a:lstStyle/>
          <a:p>
            <a:r>
              <a:rPr lang="en-US" dirty="0"/>
              <a:t>Re-ranking</a:t>
            </a:r>
          </a:p>
        </p:txBody>
      </p:sp>
      <p:sp>
        <p:nvSpPr>
          <p:cNvPr id="3" name="Slide Number Placeholder 2">
            <a:extLst>
              <a:ext uri="{FF2B5EF4-FFF2-40B4-BE49-F238E27FC236}">
                <a16:creationId xmlns:a16="http://schemas.microsoft.com/office/drawing/2014/main" id="{3B449E70-A207-2B25-71CC-D4E798D94133}"/>
              </a:ext>
            </a:extLst>
          </p:cNvPr>
          <p:cNvSpPr>
            <a:spLocks noGrp="1"/>
          </p:cNvSpPr>
          <p:nvPr>
            <p:ph type="sldNum" sz="quarter" idx="12"/>
          </p:nvPr>
        </p:nvSpPr>
        <p:spPr/>
        <p:txBody>
          <a:bodyPr>
            <a:normAutofit fontScale="85000" lnSpcReduction="20000"/>
          </a:bodyPr>
          <a:lstStyle/>
          <a:p>
            <a:fld id="{EBFB1032-EA64-7144-B003-9BCC9D94B503}" type="slidenum">
              <a:rPr lang="en-US" smtClean="0"/>
              <a:t>40</a:t>
            </a:fld>
            <a:endParaRPr lang="en-US" dirty="0"/>
          </a:p>
        </p:txBody>
      </p:sp>
      <p:sp>
        <p:nvSpPr>
          <p:cNvPr id="4" name="Content Placeholder 3">
            <a:extLst>
              <a:ext uri="{FF2B5EF4-FFF2-40B4-BE49-F238E27FC236}">
                <a16:creationId xmlns:a16="http://schemas.microsoft.com/office/drawing/2014/main" id="{30534D56-97B6-F173-D039-C3E08C854986}"/>
              </a:ext>
            </a:extLst>
          </p:cNvPr>
          <p:cNvSpPr>
            <a:spLocks noGrp="1"/>
          </p:cNvSpPr>
          <p:nvPr>
            <p:ph sz="quarter" idx="1"/>
          </p:nvPr>
        </p:nvSpPr>
        <p:spPr/>
        <p:txBody>
          <a:bodyPr/>
          <a:lstStyle/>
          <a:p>
            <a:r>
              <a:rPr lang="en-US" dirty="0"/>
              <a:t>Re-ranking in RAG refers to the process of evaluating and sorting the retrieved documents or information snippets based on their relevance to the given query or task.</a:t>
            </a:r>
          </a:p>
        </p:txBody>
      </p:sp>
    </p:spTree>
    <p:extLst>
      <p:ext uri="{BB962C8B-B14F-4D97-AF65-F5344CB8AC3E}">
        <p14:creationId xmlns:p14="http://schemas.microsoft.com/office/powerpoint/2010/main" val="12278168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E51D-5D19-AF34-DECD-9057389527F5}"/>
              </a:ext>
            </a:extLst>
          </p:cNvPr>
          <p:cNvSpPr>
            <a:spLocks noGrp="1"/>
          </p:cNvSpPr>
          <p:nvPr>
            <p:ph type="title"/>
          </p:nvPr>
        </p:nvSpPr>
        <p:spPr/>
        <p:txBody>
          <a:bodyPr>
            <a:noAutofit/>
          </a:bodyPr>
          <a:lstStyle/>
          <a:p>
            <a:r>
              <a:rPr lang="en-US" sz="3000" b="0" dirty="0"/>
              <a:t>There are different types of re-ranking techniques used in RAG</a:t>
            </a:r>
          </a:p>
        </p:txBody>
      </p:sp>
      <p:sp>
        <p:nvSpPr>
          <p:cNvPr id="3" name="Slide Number Placeholder 2">
            <a:extLst>
              <a:ext uri="{FF2B5EF4-FFF2-40B4-BE49-F238E27FC236}">
                <a16:creationId xmlns:a16="http://schemas.microsoft.com/office/drawing/2014/main" id="{3DD9048A-91C5-E2FE-DA8A-BF2927A2EF91}"/>
              </a:ext>
            </a:extLst>
          </p:cNvPr>
          <p:cNvSpPr>
            <a:spLocks noGrp="1"/>
          </p:cNvSpPr>
          <p:nvPr>
            <p:ph type="sldNum" sz="quarter" idx="12"/>
          </p:nvPr>
        </p:nvSpPr>
        <p:spPr/>
        <p:txBody>
          <a:bodyPr>
            <a:normAutofit fontScale="85000" lnSpcReduction="20000"/>
          </a:bodyPr>
          <a:lstStyle/>
          <a:p>
            <a:fld id="{EBFB1032-EA64-7144-B003-9BCC9D94B503}" type="slidenum">
              <a:rPr lang="en-US" smtClean="0"/>
              <a:t>41</a:t>
            </a:fld>
            <a:endParaRPr lang="en-US" dirty="0"/>
          </a:p>
        </p:txBody>
      </p:sp>
      <p:sp>
        <p:nvSpPr>
          <p:cNvPr id="4" name="Content Placeholder 3">
            <a:extLst>
              <a:ext uri="{FF2B5EF4-FFF2-40B4-BE49-F238E27FC236}">
                <a16:creationId xmlns:a16="http://schemas.microsoft.com/office/drawing/2014/main" id="{7AA8E215-3269-1C29-0F33-D07B435A9ECA}"/>
              </a:ext>
            </a:extLst>
          </p:cNvPr>
          <p:cNvSpPr>
            <a:spLocks noGrp="1"/>
          </p:cNvSpPr>
          <p:nvPr>
            <p:ph sz="quarter" idx="1"/>
          </p:nvPr>
        </p:nvSpPr>
        <p:spPr/>
        <p:txBody>
          <a:bodyPr>
            <a:normAutofit lnSpcReduction="10000"/>
          </a:bodyPr>
          <a:lstStyle/>
          <a:p>
            <a:pPr>
              <a:spcBef>
                <a:spcPts val="0"/>
              </a:spcBef>
            </a:pPr>
            <a:r>
              <a:rPr lang="en-US" b="1" dirty="0"/>
              <a:t>Lexical Re-Ranking:</a:t>
            </a:r>
          </a:p>
          <a:p>
            <a:pPr lvl="1">
              <a:spcBef>
                <a:spcPts val="0"/>
              </a:spcBef>
            </a:pPr>
            <a:r>
              <a:rPr lang="en-US" dirty="0"/>
              <a:t>This involves re-ranking based on lexical similarity between the query and the retrieved documents. Methods like BM25 or cosine similarity with TF-IDF vectors are common.</a:t>
            </a:r>
          </a:p>
          <a:p>
            <a:pPr>
              <a:spcBef>
                <a:spcPts val="0"/>
              </a:spcBef>
            </a:pPr>
            <a:r>
              <a:rPr lang="en-US" b="1" dirty="0"/>
              <a:t>Semantic Re-Ranking:</a:t>
            </a:r>
          </a:p>
          <a:p>
            <a:pPr lvl="1">
              <a:spcBef>
                <a:spcPts val="0"/>
              </a:spcBef>
            </a:pPr>
            <a:r>
              <a:rPr lang="en-US" dirty="0"/>
              <a:t>This type of re-ranking uses semantic understanding to judge the relevance of documents. It often involves neural models like BERT or other transformer-based models to understand the context and meaning beyond mere word overlap.</a:t>
            </a:r>
          </a:p>
          <a:p>
            <a:pPr>
              <a:spcBef>
                <a:spcPts val="0"/>
              </a:spcBef>
            </a:pPr>
            <a:r>
              <a:rPr lang="en-US" b="1" dirty="0"/>
              <a:t>Learning-to-Rank (LTR) Methods:</a:t>
            </a:r>
          </a:p>
          <a:p>
            <a:pPr lvl="1">
              <a:spcBef>
                <a:spcPts val="0"/>
              </a:spcBef>
            </a:pPr>
            <a:r>
              <a:rPr lang="en-US" dirty="0"/>
              <a:t>These involve training a model specifically for the task of ranking documents (point-wise, pair-wise, and list-wise) based on features extracted from both the query and the documents. This can include a mix of lexical, semantic, and other features.</a:t>
            </a:r>
          </a:p>
        </p:txBody>
      </p:sp>
    </p:spTree>
    <p:extLst>
      <p:ext uri="{BB962C8B-B14F-4D97-AF65-F5344CB8AC3E}">
        <p14:creationId xmlns:p14="http://schemas.microsoft.com/office/powerpoint/2010/main" val="318167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B55E2-05AB-5184-C763-EB3089E41EAB}"/>
              </a:ext>
            </a:extLst>
          </p:cNvPr>
          <p:cNvSpPr>
            <a:spLocks noGrp="1"/>
          </p:cNvSpPr>
          <p:nvPr>
            <p:ph type="title"/>
          </p:nvPr>
        </p:nvSpPr>
        <p:spPr/>
        <p:txBody>
          <a:bodyPr>
            <a:normAutofit/>
          </a:bodyPr>
          <a:lstStyle/>
          <a:p>
            <a:r>
              <a:rPr lang="en-US" dirty="0"/>
              <a:t>Hybrid Methods:</a:t>
            </a:r>
          </a:p>
        </p:txBody>
      </p:sp>
      <p:sp>
        <p:nvSpPr>
          <p:cNvPr id="3" name="Slide Number Placeholder 2">
            <a:extLst>
              <a:ext uri="{FF2B5EF4-FFF2-40B4-BE49-F238E27FC236}">
                <a16:creationId xmlns:a16="http://schemas.microsoft.com/office/drawing/2014/main" id="{0F5004DA-B817-3312-EE5C-17B105250263}"/>
              </a:ext>
            </a:extLst>
          </p:cNvPr>
          <p:cNvSpPr>
            <a:spLocks noGrp="1"/>
          </p:cNvSpPr>
          <p:nvPr>
            <p:ph type="sldNum" sz="quarter" idx="12"/>
          </p:nvPr>
        </p:nvSpPr>
        <p:spPr/>
        <p:txBody>
          <a:bodyPr>
            <a:normAutofit fontScale="85000" lnSpcReduction="20000"/>
          </a:bodyPr>
          <a:lstStyle/>
          <a:p>
            <a:fld id="{EBFB1032-EA64-7144-B003-9BCC9D94B503}" type="slidenum">
              <a:rPr lang="en-US" smtClean="0"/>
              <a:t>42</a:t>
            </a:fld>
            <a:endParaRPr lang="en-US" dirty="0"/>
          </a:p>
        </p:txBody>
      </p:sp>
      <p:sp>
        <p:nvSpPr>
          <p:cNvPr id="4" name="Content Placeholder 3">
            <a:extLst>
              <a:ext uri="{FF2B5EF4-FFF2-40B4-BE49-F238E27FC236}">
                <a16:creationId xmlns:a16="http://schemas.microsoft.com/office/drawing/2014/main" id="{CAABE421-D06A-7C12-841A-BD85B8A9187E}"/>
              </a:ext>
            </a:extLst>
          </p:cNvPr>
          <p:cNvSpPr>
            <a:spLocks noGrp="1"/>
          </p:cNvSpPr>
          <p:nvPr>
            <p:ph sz="quarter" idx="1"/>
          </p:nvPr>
        </p:nvSpPr>
        <p:spPr/>
        <p:txBody>
          <a:bodyPr>
            <a:normAutofit/>
          </a:bodyPr>
          <a:lstStyle/>
          <a:p>
            <a:r>
              <a:rPr lang="en-US" sz="2300" dirty="0"/>
              <a:t>These combine lexical and semantic approaches, possibly with other signals like user feedback or domain-specific features, to improve re-ranking.</a:t>
            </a:r>
          </a:p>
          <a:p>
            <a:endParaRPr lang="en-US" sz="2300" dirty="0"/>
          </a:p>
          <a:p>
            <a:r>
              <a:rPr lang="en-US" sz="2300" dirty="0"/>
              <a:t>Neural LTR methods are most commonly used at this stage since the candidate set is limited to dozens of samples.</a:t>
            </a:r>
          </a:p>
          <a:p>
            <a:endParaRPr lang="en-US" sz="2300" dirty="0"/>
          </a:p>
          <a:p>
            <a:r>
              <a:rPr lang="en-US" sz="2300" dirty="0"/>
              <a:t>Some common neural models used for re-ranking are:</a:t>
            </a:r>
          </a:p>
          <a:p>
            <a:pPr lvl="1"/>
            <a:r>
              <a:rPr lang="en-US" sz="2300" dirty="0"/>
              <a:t>Multi-Stage Document Ranking with BERT (</a:t>
            </a:r>
            <a:r>
              <a:rPr lang="en-US" sz="2300" dirty="0" err="1"/>
              <a:t>monoBERT</a:t>
            </a:r>
            <a:r>
              <a:rPr lang="en-US" sz="2300" dirty="0"/>
              <a:t> and duo BERT)</a:t>
            </a:r>
          </a:p>
          <a:p>
            <a:pPr lvl="1"/>
            <a:r>
              <a:rPr lang="en-US" sz="2300" dirty="0"/>
              <a:t>Pretrained Transformers for Text Ranking BERT and Beyond</a:t>
            </a:r>
          </a:p>
          <a:p>
            <a:pPr lvl="1"/>
            <a:r>
              <a:rPr lang="en-US" sz="2300" dirty="0"/>
              <a:t>ListT5</a:t>
            </a:r>
          </a:p>
          <a:p>
            <a:pPr lvl="1"/>
            <a:r>
              <a:rPr lang="en-US" sz="2300" dirty="0" err="1"/>
              <a:t>ListBERT</a:t>
            </a:r>
            <a:endParaRPr lang="en-US" sz="2300" dirty="0"/>
          </a:p>
        </p:txBody>
      </p:sp>
    </p:spTree>
    <p:extLst>
      <p:ext uri="{BB962C8B-B14F-4D97-AF65-F5344CB8AC3E}">
        <p14:creationId xmlns:p14="http://schemas.microsoft.com/office/powerpoint/2010/main" val="2166942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CF88252-D6C6-AA6F-2997-5B144CC1CA7E}"/>
              </a:ext>
            </a:extLst>
          </p:cNvPr>
          <p:cNvSpPr>
            <a:spLocks noGrp="1"/>
          </p:cNvSpPr>
          <p:nvPr>
            <p:ph type="sldNum" sz="quarter" idx="12"/>
          </p:nvPr>
        </p:nvSpPr>
        <p:spPr/>
        <p:txBody>
          <a:bodyPr/>
          <a:lstStyle/>
          <a:p>
            <a:fld id="{EBFB1032-EA64-7144-B003-9BCC9D94B503}" type="slidenum">
              <a:rPr lang="en-US" smtClean="0"/>
              <a:t>43</a:t>
            </a:fld>
            <a:endParaRPr lang="en-US" dirty="0"/>
          </a:p>
        </p:txBody>
      </p:sp>
      <p:pic>
        <p:nvPicPr>
          <p:cNvPr id="6" name="Picture 5">
            <a:extLst>
              <a:ext uri="{FF2B5EF4-FFF2-40B4-BE49-F238E27FC236}">
                <a16:creationId xmlns:a16="http://schemas.microsoft.com/office/drawing/2014/main" id="{668CE9D9-0FD0-8AC4-6417-A986B6B09F4D}"/>
              </a:ext>
            </a:extLst>
          </p:cNvPr>
          <p:cNvPicPr>
            <a:picLocks noChangeAspect="1"/>
          </p:cNvPicPr>
          <p:nvPr/>
        </p:nvPicPr>
        <p:blipFill>
          <a:blip r:embed="rId2"/>
          <a:stretch>
            <a:fillRect/>
          </a:stretch>
        </p:blipFill>
        <p:spPr>
          <a:xfrm>
            <a:off x="182880" y="642924"/>
            <a:ext cx="8778240" cy="5572152"/>
          </a:xfrm>
          <a:prstGeom prst="rect">
            <a:avLst/>
          </a:prstGeom>
          <a:ln>
            <a:solidFill>
              <a:schemeClr val="accent1"/>
            </a:solidFill>
          </a:ln>
        </p:spPr>
      </p:pic>
    </p:spTree>
    <p:extLst>
      <p:ext uri="{BB962C8B-B14F-4D97-AF65-F5344CB8AC3E}">
        <p14:creationId xmlns:p14="http://schemas.microsoft.com/office/powerpoint/2010/main" val="21197180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9F498-6D21-877D-96E1-9CEEA1FD7E7C}"/>
              </a:ext>
            </a:extLst>
          </p:cNvPr>
          <p:cNvSpPr>
            <a:spLocks noGrp="1"/>
          </p:cNvSpPr>
          <p:nvPr>
            <p:ph type="title"/>
          </p:nvPr>
        </p:nvSpPr>
        <p:spPr/>
        <p:txBody>
          <a:bodyPr>
            <a:noAutofit/>
          </a:bodyPr>
          <a:lstStyle/>
          <a:p>
            <a:r>
              <a:rPr lang="en-US" sz="3000" b="0" dirty="0"/>
              <a:t>Lost in the Middle: How Language Models Use Long Contexts</a:t>
            </a:r>
          </a:p>
        </p:txBody>
      </p:sp>
      <p:sp>
        <p:nvSpPr>
          <p:cNvPr id="2" name="Slide Number Placeholder 1">
            <a:extLst>
              <a:ext uri="{FF2B5EF4-FFF2-40B4-BE49-F238E27FC236}">
                <a16:creationId xmlns:a16="http://schemas.microsoft.com/office/drawing/2014/main" id="{2CA0CA97-0691-9D45-9F8D-D02758BE5007}"/>
              </a:ext>
            </a:extLst>
          </p:cNvPr>
          <p:cNvSpPr>
            <a:spLocks noGrp="1"/>
          </p:cNvSpPr>
          <p:nvPr>
            <p:ph type="sldNum" sz="quarter" idx="12"/>
          </p:nvPr>
        </p:nvSpPr>
        <p:spPr/>
        <p:txBody>
          <a:bodyPr>
            <a:normAutofit fontScale="85000" lnSpcReduction="20000"/>
          </a:bodyPr>
          <a:lstStyle/>
          <a:p>
            <a:fld id="{EBFB1032-EA64-7144-B003-9BCC9D94B503}" type="slidenum">
              <a:rPr lang="en-US" smtClean="0"/>
              <a:t>44</a:t>
            </a:fld>
            <a:endParaRPr lang="en-US" dirty="0"/>
          </a:p>
        </p:txBody>
      </p:sp>
      <p:sp>
        <p:nvSpPr>
          <p:cNvPr id="4" name="Content Placeholder 3">
            <a:extLst>
              <a:ext uri="{FF2B5EF4-FFF2-40B4-BE49-F238E27FC236}">
                <a16:creationId xmlns:a16="http://schemas.microsoft.com/office/drawing/2014/main" id="{04BB974E-5B6A-9339-D712-4E87FBDFD893}"/>
              </a:ext>
            </a:extLst>
          </p:cNvPr>
          <p:cNvSpPr>
            <a:spLocks noGrp="1"/>
          </p:cNvSpPr>
          <p:nvPr>
            <p:ph sz="quarter" idx="1"/>
          </p:nvPr>
        </p:nvSpPr>
        <p:spPr/>
        <p:txBody>
          <a:bodyPr>
            <a:noAutofit/>
          </a:bodyPr>
          <a:lstStyle/>
          <a:p>
            <a:pPr algn="just">
              <a:lnSpc>
                <a:spcPct val="90000"/>
              </a:lnSpc>
              <a:spcBef>
                <a:spcPts val="0"/>
              </a:spcBef>
            </a:pPr>
            <a:r>
              <a:rPr lang="en-US" sz="2000" dirty="0"/>
              <a:t>While recent language models have the ability to take long contexts as input, relatively little is known about how well the language models use longer context.</a:t>
            </a:r>
          </a:p>
          <a:p>
            <a:pPr algn="just">
              <a:lnSpc>
                <a:spcPct val="90000"/>
              </a:lnSpc>
              <a:spcBef>
                <a:spcPts val="0"/>
              </a:spcBef>
            </a:pPr>
            <a:r>
              <a:rPr lang="en-US" sz="2000" dirty="0"/>
              <a:t>This paper by Liu et al. from Percy Liang’s lab at Stanford, UC Berkeley, and Samaya AI analyzes language model performance on two tasks that require identifying relevant information within their input contexts: multi-document question answering and key-value retrieval. Put simply, they analyze and evaluate how LLMs use the context by identifying relevant information within it.</a:t>
            </a:r>
          </a:p>
          <a:p>
            <a:pPr algn="just">
              <a:lnSpc>
                <a:spcPct val="90000"/>
              </a:lnSpc>
              <a:spcBef>
                <a:spcPts val="0"/>
              </a:spcBef>
            </a:pPr>
            <a:r>
              <a:rPr lang="en-US" sz="2000" dirty="0"/>
              <a:t>They tested open-source (MPT-30B-Instruct, LongChat-13B) and closed-source (OpenAI’s GPT-3.5-Turbo and </a:t>
            </a:r>
            <a:r>
              <a:rPr lang="en-US" sz="2000" dirty="0" err="1"/>
              <a:t>Anthropic’s</a:t>
            </a:r>
            <a:r>
              <a:rPr lang="en-US" sz="2000" dirty="0"/>
              <a:t> Claude 1.3) models. They used multi-document question-answering where the context included multiple retrieved documents and one correct answer, whose position was shuffled around. Key-value pair retrieval was carried out to analyze if longer contexts impact performance.</a:t>
            </a:r>
          </a:p>
          <a:p>
            <a:pPr algn="just">
              <a:lnSpc>
                <a:spcPct val="90000"/>
              </a:lnSpc>
              <a:spcBef>
                <a:spcPts val="0"/>
              </a:spcBef>
            </a:pPr>
            <a:r>
              <a:rPr lang="en-US" sz="2000" dirty="0"/>
              <a:t>They find that performance is often highest when relevant information occurs at the beginning or end of the input context, and significantly degrades when models must access relevant information in the middle of long contexts. In other words, their findings basically suggest that Retrieval-Augmentation (RAG) performance suffers when the relevant information to answer a query is presented in the middle of the context window with strong biases towards the beginning and the end of it.</a:t>
            </a:r>
          </a:p>
        </p:txBody>
      </p:sp>
    </p:spTree>
    <p:extLst>
      <p:ext uri="{BB962C8B-B14F-4D97-AF65-F5344CB8AC3E}">
        <p14:creationId xmlns:p14="http://schemas.microsoft.com/office/powerpoint/2010/main" val="11734112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7A81C-1386-7442-F0AA-8C3E14E24E5B}"/>
              </a:ext>
            </a:extLst>
          </p:cNvPr>
          <p:cNvSpPr>
            <a:spLocks noGrp="1"/>
          </p:cNvSpPr>
          <p:nvPr>
            <p:ph type="title"/>
          </p:nvPr>
        </p:nvSpPr>
        <p:spPr/>
        <p:txBody>
          <a:bodyPr>
            <a:normAutofit/>
          </a:bodyPr>
          <a:lstStyle/>
          <a:p>
            <a:r>
              <a:rPr lang="en-US" dirty="0"/>
              <a:t>A summary of their learnings is as follows:</a:t>
            </a:r>
          </a:p>
        </p:txBody>
      </p:sp>
      <p:sp>
        <p:nvSpPr>
          <p:cNvPr id="3" name="Slide Number Placeholder 2">
            <a:extLst>
              <a:ext uri="{FF2B5EF4-FFF2-40B4-BE49-F238E27FC236}">
                <a16:creationId xmlns:a16="http://schemas.microsoft.com/office/drawing/2014/main" id="{FA68E873-B8D4-6268-8BBA-ED6A4665FE23}"/>
              </a:ext>
            </a:extLst>
          </p:cNvPr>
          <p:cNvSpPr>
            <a:spLocks noGrp="1"/>
          </p:cNvSpPr>
          <p:nvPr>
            <p:ph type="sldNum" sz="quarter" idx="12"/>
          </p:nvPr>
        </p:nvSpPr>
        <p:spPr/>
        <p:txBody>
          <a:bodyPr>
            <a:normAutofit fontScale="85000" lnSpcReduction="20000"/>
          </a:bodyPr>
          <a:lstStyle/>
          <a:p>
            <a:fld id="{EBFB1032-EA64-7144-B003-9BCC9D94B503}" type="slidenum">
              <a:rPr lang="en-US" smtClean="0"/>
              <a:t>45</a:t>
            </a:fld>
            <a:endParaRPr lang="en-US" dirty="0"/>
          </a:p>
        </p:txBody>
      </p:sp>
      <p:sp>
        <p:nvSpPr>
          <p:cNvPr id="4" name="Content Placeholder 3">
            <a:extLst>
              <a:ext uri="{FF2B5EF4-FFF2-40B4-BE49-F238E27FC236}">
                <a16:creationId xmlns:a16="http://schemas.microsoft.com/office/drawing/2014/main" id="{5A0DBEC1-24FC-02C1-06E5-429D5987009E}"/>
              </a:ext>
            </a:extLst>
          </p:cNvPr>
          <p:cNvSpPr>
            <a:spLocks noGrp="1"/>
          </p:cNvSpPr>
          <p:nvPr>
            <p:ph sz="quarter" idx="1"/>
          </p:nvPr>
        </p:nvSpPr>
        <p:spPr/>
        <p:txBody>
          <a:bodyPr/>
          <a:lstStyle/>
          <a:p>
            <a:r>
              <a:rPr lang="en-US" dirty="0"/>
              <a:t>Best performance when the relevant information is at the beginning.</a:t>
            </a:r>
          </a:p>
          <a:p>
            <a:r>
              <a:rPr lang="en-US" dirty="0"/>
              <a:t>Performance decreases with an increase in context length.</a:t>
            </a:r>
          </a:p>
          <a:p>
            <a:r>
              <a:rPr lang="en-US" dirty="0"/>
              <a:t>Too many retrieved documents harm performance.</a:t>
            </a:r>
          </a:p>
          <a:p>
            <a:r>
              <a:rPr lang="en-US" dirty="0"/>
              <a:t>Improving the retrieval and prompt creation step with a ranking stage could potentially boost performance by up to 20%.</a:t>
            </a:r>
          </a:p>
          <a:p>
            <a:r>
              <a:rPr lang="en-US" dirty="0"/>
              <a:t>Extended-context models (GPT-3.5-Turbo vs. GPT-3.5-Turbo (16K)) are not better if the prompt fits the original context.</a:t>
            </a:r>
          </a:p>
        </p:txBody>
      </p:sp>
    </p:spTree>
    <p:extLst>
      <p:ext uri="{BB962C8B-B14F-4D97-AF65-F5344CB8AC3E}">
        <p14:creationId xmlns:p14="http://schemas.microsoft.com/office/powerpoint/2010/main" val="417617514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Facet</Template>
  <TotalTime>10506</TotalTime>
  <Words>2549</Words>
  <Application>Microsoft Office PowerPoint</Application>
  <PresentationFormat>On-screen Show (4:3)</PresentationFormat>
  <Paragraphs>247</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 Narrow</vt:lpstr>
      <vt:lpstr>Calibri</vt:lpstr>
      <vt:lpstr>Tw Cen MT</vt:lpstr>
      <vt:lpstr>Wingdings</vt:lpstr>
      <vt:lpstr>Wingdings 2</vt:lpstr>
      <vt:lpstr>Median</vt:lpstr>
      <vt:lpstr>Retrieval-Augmented Generation (RAG)</vt:lpstr>
      <vt:lpstr>Challenge:</vt:lpstr>
      <vt:lpstr>2. GPT4-Turbo Introduction:</vt:lpstr>
      <vt:lpstr>3. Efficiency Issue:</vt:lpstr>
      <vt:lpstr>4. Alternative Approach — RAG</vt:lpstr>
      <vt:lpstr>5. Advantages</vt:lpstr>
      <vt:lpstr>RAG Paper</vt:lpstr>
      <vt:lpstr>PowerPoint Presentation</vt:lpstr>
      <vt:lpstr>The Retrieval Augmented Generation (RAG) Pipeline</vt:lpstr>
      <vt:lpstr>The retriever here could be any of the following depending on the need for semantic retrieval or not:</vt:lpstr>
      <vt:lpstr>PowerPoint Presentation</vt:lpstr>
      <vt:lpstr>PowerPoint Presentation</vt:lpstr>
      <vt:lpstr>The process of RAG</vt:lpstr>
      <vt:lpstr>PowerPoint Presentation</vt:lpstr>
      <vt:lpstr>Difference Between RAG and Fine Tuning of the LLM:</vt:lpstr>
      <vt:lpstr>PowerPoint Presentation</vt:lpstr>
      <vt:lpstr>PowerPoint Presentation</vt:lpstr>
      <vt:lpstr>we will go over these key areas.</vt:lpstr>
      <vt:lpstr>1. INGESTION</vt:lpstr>
      <vt:lpstr>1. Chunking</vt:lpstr>
      <vt:lpstr>Chunk Size</vt:lpstr>
      <vt:lpstr>Let’s look at a few methods:</vt:lpstr>
      <vt:lpstr>2. Embeddings</vt:lpstr>
      <vt:lpstr>Benchmark for Embeddings</vt:lpstr>
      <vt:lpstr>whether a dense or sparse embedding can be used</vt:lpstr>
      <vt:lpstr>3. Retrieval</vt:lpstr>
      <vt:lpstr>PowerPoint Presentation</vt:lpstr>
      <vt:lpstr>Advantages</vt:lpstr>
      <vt:lpstr>Disadvantages</vt:lpstr>
      <vt:lpstr>Sentence-Window Retrieval / Small-to-Large Chunking</vt:lpstr>
      <vt:lpstr>PowerPoint Presentation</vt:lpstr>
      <vt:lpstr>Sentences that are most relevant to the query</vt:lpstr>
      <vt:lpstr>PowerPoint Presentation</vt:lpstr>
      <vt:lpstr>Advantages</vt:lpstr>
      <vt:lpstr>Disadvantages</vt:lpstr>
      <vt:lpstr>Retriever Ensembling and Reranking</vt:lpstr>
      <vt:lpstr>The process is as follows:</vt:lpstr>
      <vt:lpstr>PowerPoint Presentation</vt:lpstr>
      <vt:lpstr>Cont’d</vt:lpstr>
      <vt:lpstr>Re-ranking</vt:lpstr>
      <vt:lpstr>There are different types of re-ranking techniques used in RAG</vt:lpstr>
      <vt:lpstr>Hybrid Methods:</vt:lpstr>
      <vt:lpstr>PowerPoint Presentation</vt:lpstr>
      <vt:lpstr>Lost in the Middle: How Language Models Use Long Contexts</vt:lpstr>
      <vt:lpstr>A summary of their learnings is as follows:</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Eltabakh</dc:creator>
  <cp:lastModifiedBy>Ozbek, Yusuf</cp:lastModifiedBy>
  <cp:revision>1430</cp:revision>
  <dcterms:created xsi:type="dcterms:W3CDTF">2013-01-13T20:33:29Z</dcterms:created>
  <dcterms:modified xsi:type="dcterms:W3CDTF">2025-06-03T17:04:56Z</dcterms:modified>
</cp:coreProperties>
</file>