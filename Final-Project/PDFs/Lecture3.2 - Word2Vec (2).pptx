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57"/>
  </p:notesMasterIdLst>
  <p:handoutMasterIdLst>
    <p:handoutMasterId r:id="rId58"/>
  </p:handoutMasterIdLst>
  <p:sldIdLst>
    <p:sldId id="349" r:id="rId2"/>
    <p:sldId id="350" r:id="rId3"/>
    <p:sldId id="351" r:id="rId4"/>
    <p:sldId id="352" r:id="rId5"/>
    <p:sldId id="353" r:id="rId6"/>
    <p:sldId id="354" r:id="rId7"/>
    <p:sldId id="355"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72" r:id="rId25"/>
    <p:sldId id="373" r:id="rId26"/>
    <p:sldId id="374" r:id="rId27"/>
    <p:sldId id="375" r:id="rId28"/>
    <p:sldId id="376" r:id="rId29"/>
    <p:sldId id="377" r:id="rId30"/>
    <p:sldId id="378" r:id="rId31"/>
    <p:sldId id="379" r:id="rId32"/>
    <p:sldId id="380" r:id="rId33"/>
    <p:sldId id="381" r:id="rId34"/>
    <p:sldId id="382" r:id="rId35"/>
    <p:sldId id="383" r:id="rId36"/>
    <p:sldId id="384" r:id="rId37"/>
    <p:sldId id="385" r:id="rId38"/>
    <p:sldId id="386" r:id="rId39"/>
    <p:sldId id="388" r:id="rId40"/>
    <p:sldId id="387" r:id="rId41"/>
    <p:sldId id="389" r:id="rId42"/>
    <p:sldId id="390" r:id="rId43"/>
    <p:sldId id="391" r:id="rId44"/>
    <p:sldId id="392" r:id="rId45"/>
    <p:sldId id="393" r:id="rId46"/>
    <p:sldId id="394" r:id="rId47"/>
    <p:sldId id="395" r:id="rId48"/>
    <p:sldId id="396" r:id="rId49"/>
    <p:sldId id="397" r:id="rId50"/>
    <p:sldId id="398" r:id="rId51"/>
    <p:sldId id="399" r:id="rId52"/>
    <p:sldId id="400" r:id="rId53"/>
    <p:sldId id="401" r:id="rId54"/>
    <p:sldId id="402" r:id="rId55"/>
    <p:sldId id="403"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5/29/2025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5/29/2025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5/29/2025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5/29/2025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5/29/2025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5/29/2025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5/29/2025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5/29/2025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5/29/2025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5/29/2025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5/29/2025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normAutofit/>
          </a:bodyPr>
          <a:lstStyle/>
          <a:p>
            <a:r>
              <a:rPr lang="en-US" b="1" dirty="0"/>
              <a:t>Word2Vec</a:t>
            </a:r>
            <a:endParaRPr lang="en-US" dirty="0"/>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rmAutofit/>
          </a:bodyPr>
          <a:lstStyle/>
          <a:p>
            <a:r>
              <a:rPr lang="en-US" sz="2300" dirty="0"/>
              <a:t>Word2Vec is one of the emerging and prominent word embedding technique.</a:t>
            </a:r>
          </a:p>
          <a:p>
            <a:r>
              <a:rPr lang="en-US" sz="2300" dirty="0"/>
              <a:t>Proposed by </a:t>
            </a:r>
            <a:r>
              <a:rPr lang="en-US" sz="2300" dirty="0" err="1"/>
              <a:t>Mikolov</a:t>
            </a:r>
            <a:r>
              <a:rPr lang="en-US" sz="2300" dirty="0"/>
              <a:t> et al. in 2013.</a:t>
            </a:r>
          </a:p>
          <a:p>
            <a:r>
              <a:rPr lang="en-US" sz="2300" dirty="0"/>
              <a:t>Word2vec is a combination of models used to represent distributed representations of words in a corpus C.</a:t>
            </a:r>
          </a:p>
          <a:p>
            <a:r>
              <a:rPr lang="en-US" sz="2300" dirty="0"/>
              <a:t>Word2Vec (W2V) is an algorithm that accepts text corpus as an input and outputs a vector representation for each word, as shown in the diagram below:</a:t>
            </a:r>
          </a:p>
          <a:p>
            <a:endParaRPr lang="en-US" sz="2300" dirty="0"/>
          </a:p>
        </p:txBody>
      </p:sp>
      <p:pic>
        <p:nvPicPr>
          <p:cNvPr id="6" name="Picture 5">
            <a:extLst>
              <a:ext uri="{FF2B5EF4-FFF2-40B4-BE49-F238E27FC236}">
                <a16:creationId xmlns:a16="http://schemas.microsoft.com/office/drawing/2014/main" id="{171BF3A2-8DC1-2678-9DC2-FD4AE3E1CAFE}"/>
              </a:ext>
            </a:extLst>
          </p:cNvPr>
          <p:cNvPicPr>
            <a:picLocks noChangeAspect="1"/>
          </p:cNvPicPr>
          <p:nvPr/>
        </p:nvPicPr>
        <p:blipFill>
          <a:blip r:embed="rId2"/>
          <a:stretch>
            <a:fillRect/>
          </a:stretch>
        </p:blipFill>
        <p:spPr>
          <a:xfrm>
            <a:off x="385811" y="4262542"/>
            <a:ext cx="8412480" cy="1990516"/>
          </a:xfrm>
          <a:prstGeom prst="rect">
            <a:avLst/>
          </a:prstGeom>
        </p:spPr>
      </p:pic>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E523-62AC-6F44-7E2F-245A03A27F31}"/>
              </a:ext>
            </a:extLst>
          </p:cNvPr>
          <p:cNvSpPr>
            <a:spLocks noGrp="1"/>
          </p:cNvSpPr>
          <p:nvPr>
            <p:ph type="title"/>
          </p:nvPr>
        </p:nvSpPr>
        <p:spPr/>
        <p:txBody>
          <a:bodyPr/>
          <a:lstStyle/>
          <a:p>
            <a:r>
              <a:rPr lang="en-US" dirty="0"/>
              <a:t>There are two flavors of this algorithm</a:t>
            </a:r>
          </a:p>
        </p:txBody>
      </p:sp>
      <p:sp>
        <p:nvSpPr>
          <p:cNvPr id="3" name="Slide Number Placeholder 2">
            <a:extLst>
              <a:ext uri="{FF2B5EF4-FFF2-40B4-BE49-F238E27FC236}">
                <a16:creationId xmlns:a16="http://schemas.microsoft.com/office/drawing/2014/main" id="{CD3D889F-3FAA-B12C-9570-EBFA3A4A63E0}"/>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261F671F-FDA0-9A89-BC29-70E55E1AB84E}"/>
              </a:ext>
            </a:extLst>
          </p:cNvPr>
          <p:cNvSpPr>
            <a:spLocks noGrp="1"/>
          </p:cNvSpPr>
          <p:nvPr>
            <p:ph sz="quarter" idx="1"/>
          </p:nvPr>
        </p:nvSpPr>
        <p:spPr/>
        <p:txBody>
          <a:bodyPr/>
          <a:lstStyle/>
          <a:p>
            <a:r>
              <a:rPr lang="en-US" sz="2800" b="1" dirty="0">
                <a:solidFill>
                  <a:srgbClr val="0070C0"/>
                </a:solidFill>
              </a:rPr>
              <a:t>CBOW</a:t>
            </a:r>
          </a:p>
          <a:p>
            <a:pPr lvl="1"/>
            <a:r>
              <a:rPr lang="en-US" dirty="0"/>
              <a:t>it uses each of these contexts to predict the current word </a:t>
            </a:r>
            <a:r>
              <a:rPr lang="en-US" i="1" dirty="0"/>
              <a:t>w</a:t>
            </a:r>
            <a:r>
              <a:rPr lang="en-US" dirty="0"/>
              <a:t>, in that case the method is called “Continuous Bag Of Words” (CBOW).</a:t>
            </a:r>
          </a:p>
          <a:p>
            <a:pPr lvl="1"/>
            <a:r>
              <a:rPr lang="en-US" dirty="0"/>
              <a:t>To limit the number of words in each context, a parameter called “window size” is used.</a:t>
            </a:r>
          </a:p>
          <a:p>
            <a:endParaRPr lang="en-US" dirty="0"/>
          </a:p>
          <a:p>
            <a:r>
              <a:rPr lang="en-US" sz="2800" b="1" dirty="0">
                <a:solidFill>
                  <a:srgbClr val="00B050"/>
                </a:solidFill>
              </a:rPr>
              <a:t>Skip-Gram</a:t>
            </a:r>
          </a:p>
          <a:p>
            <a:pPr lvl="1"/>
            <a:r>
              <a:rPr lang="en-US" dirty="0"/>
              <a:t>Given a set of sentences (also called corpus) the model loops on the words of each sentence and either tries to use the current word </a:t>
            </a:r>
            <a:r>
              <a:rPr lang="en-US" i="1" dirty="0"/>
              <a:t>w</a:t>
            </a:r>
            <a:r>
              <a:rPr lang="en-US" dirty="0"/>
              <a:t> in order to predict its neighbors (i.e., its context).</a:t>
            </a:r>
          </a:p>
        </p:txBody>
      </p:sp>
    </p:spTree>
    <p:extLst>
      <p:ext uri="{BB962C8B-B14F-4D97-AF65-F5344CB8AC3E}">
        <p14:creationId xmlns:p14="http://schemas.microsoft.com/office/powerpoint/2010/main" val="417179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6529B4-C222-A62B-0BB8-586056BAACA9}"/>
              </a:ext>
            </a:extLst>
          </p:cNvPr>
          <p:cNvSpPr>
            <a:spLocks noGrp="1"/>
          </p:cNvSpPr>
          <p:nvPr>
            <p:ph type="sldNum" sz="quarter" idx="12"/>
          </p:nvPr>
        </p:nvSpPr>
        <p:spPr/>
        <p:txBody>
          <a:bodyPr>
            <a:normAutofit/>
          </a:bodyPr>
          <a:lstStyle/>
          <a:p>
            <a:fld id="{EBFB1032-EA64-7144-B003-9BCC9D94B503}" type="slidenum">
              <a:rPr lang="en-US" smtClean="0"/>
              <a:t>3</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E3304EBA-EDBB-7BF9-73E5-FA5986BE76DF}"/>
              </a:ext>
            </a:extLst>
          </p:cNvPr>
          <p:cNvPicPr>
            <a:picLocks noChangeAspect="1"/>
          </p:cNvPicPr>
          <p:nvPr/>
        </p:nvPicPr>
        <p:blipFill>
          <a:blip r:embed="rId2"/>
          <a:stretch>
            <a:fillRect/>
          </a:stretch>
        </p:blipFill>
        <p:spPr>
          <a:xfrm>
            <a:off x="182880" y="816820"/>
            <a:ext cx="8778240" cy="5224360"/>
          </a:xfrm>
          <a:prstGeom prst="rect">
            <a:avLst/>
          </a:prstGeom>
        </p:spPr>
      </p:pic>
    </p:spTree>
    <p:extLst>
      <p:ext uri="{BB962C8B-B14F-4D97-AF65-F5344CB8AC3E}">
        <p14:creationId xmlns:p14="http://schemas.microsoft.com/office/powerpoint/2010/main" val="1424550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784C-C86E-B9F7-5FDF-13EF4D7CA1DD}"/>
              </a:ext>
            </a:extLst>
          </p:cNvPr>
          <p:cNvSpPr>
            <a:spLocks noGrp="1"/>
          </p:cNvSpPr>
          <p:nvPr>
            <p:ph type="title"/>
          </p:nvPr>
        </p:nvSpPr>
        <p:spPr/>
        <p:txBody>
          <a:bodyPr/>
          <a:lstStyle/>
          <a:p>
            <a:r>
              <a:rPr lang="en-US" dirty="0"/>
              <a:t>Vector Representation</a:t>
            </a:r>
          </a:p>
        </p:txBody>
      </p:sp>
      <p:sp>
        <p:nvSpPr>
          <p:cNvPr id="3" name="Slide Number Placeholder 2">
            <a:extLst>
              <a:ext uri="{FF2B5EF4-FFF2-40B4-BE49-F238E27FC236}">
                <a16:creationId xmlns:a16="http://schemas.microsoft.com/office/drawing/2014/main" id="{0BAA2AD7-9D7C-5ADC-F44F-F9AD1128CC19}"/>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E535DC7A-EFFD-E116-7127-9568C387AFE7}"/>
              </a:ext>
            </a:extLst>
          </p:cNvPr>
          <p:cNvSpPr>
            <a:spLocks noGrp="1"/>
          </p:cNvSpPr>
          <p:nvPr>
            <p:ph sz="quarter" idx="1"/>
          </p:nvPr>
        </p:nvSpPr>
        <p:spPr/>
        <p:txBody>
          <a:bodyPr>
            <a:normAutofit/>
          </a:bodyPr>
          <a:lstStyle/>
          <a:p>
            <a:r>
              <a:rPr lang="en-US" dirty="0"/>
              <a:t>The vectors we use to represent words are called neural word embeddings, and representations are strange.</a:t>
            </a:r>
          </a:p>
          <a:p>
            <a:endParaRPr lang="en-US" dirty="0"/>
          </a:p>
          <a:p>
            <a:r>
              <a:rPr lang="en-US" dirty="0"/>
              <a:t>One thing describes another, even though those two things are radically different.</a:t>
            </a:r>
          </a:p>
          <a:p>
            <a:endParaRPr lang="en-US" dirty="0"/>
          </a:p>
          <a:p>
            <a:r>
              <a:rPr lang="en-US" dirty="0"/>
              <a:t>Word2vec “vectorizes” about words, and by doing so it makes natural language computer-readable — we can start to perform powerful mathematical operations on words to detect their similarities.</a:t>
            </a:r>
          </a:p>
        </p:txBody>
      </p:sp>
    </p:spTree>
    <p:extLst>
      <p:ext uri="{BB962C8B-B14F-4D97-AF65-F5344CB8AC3E}">
        <p14:creationId xmlns:p14="http://schemas.microsoft.com/office/powerpoint/2010/main" val="1022002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FBA5E-9BEC-171C-FF52-50D241561D70}"/>
              </a:ext>
            </a:extLst>
          </p:cNvPr>
          <p:cNvSpPr>
            <a:spLocks noGrp="1"/>
          </p:cNvSpPr>
          <p:nvPr>
            <p:ph type="title"/>
          </p:nvPr>
        </p:nvSpPr>
        <p:spPr/>
        <p:txBody>
          <a:bodyPr/>
          <a:lstStyle/>
          <a:p>
            <a:r>
              <a:rPr lang="en-US" dirty="0"/>
              <a:t>Word2vec is similar to an autoencoder</a:t>
            </a:r>
          </a:p>
        </p:txBody>
      </p:sp>
      <p:sp>
        <p:nvSpPr>
          <p:cNvPr id="3" name="Slide Number Placeholder 2">
            <a:extLst>
              <a:ext uri="{FF2B5EF4-FFF2-40B4-BE49-F238E27FC236}">
                <a16:creationId xmlns:a16="http://schemas.microsoft.com/office/drawing/2014/main" id="{03879974-7E75-871E-5F21-CEA9F57C109A}"/>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4ED0F83D-D32C-82A2-2219-55BB655FFE00}"/>
              </a:ext>
            </a:extLst>
          </p:cNvPr>
          <p:cNvSpPr>
            <a:spLocks noGrp="1"/>
          </p:cNvSpPr>
          <p:nvPr>
            <p:ph sz="quarter" idx="1"/>
          </p:nvPr>
        </p:nvSpPr>
        <p:spPr/>
        <p:txBody>
          <a:bodyPr/>
          <a:lstStyle/>
          <a:p>
            <a:r>
              <a:rPr lang="en-US" dirty="0"/>
              <a:t>So, a neural word embedding represents a word with numbers.</a:t>
            </a:r>
          </a:p>
          <a:p>
            <a:endParaRPr lang="en-US" dirty="0"/>
          </a:p>
          <a:p>
            <a:r>
              <a:rPr lang="en-US" dirty="0"/>
              <a:t>It’s a simple, yet unlikely, translation.</a:t>
            </a:r>
          </a:p>
          <a:p>
            <a:endParaRPr lang="en-US" dirty="0"/>
          </a:p>
          <a:p>
            <a:r>
              <a:rPr lang="en-US" dirty="0"/>
              <a:t>Word2vec is similar to an autoencoder, encoding each word in a vector, but rather than training against the input words through reconstruction, as a restricted Boltzmann machine does, word2vec trains words against other words that neighbor them in the input corpus.</a:t>
            </a:r>
          </a:p>
          <a:p>
            <a:endParaRPr lang="en-US" dirty="0"/>
          </a:p>
        </p:txBody>
      </p:sp>
    </p:spTree>
    <p:extLst>
      <p:ext uri="{BB962C8B-B14F-4D97-AF65-F5344CB8AC3E}">
        <p14:creationId xmlns:p14="http://schemas.microsoft.com/office/powerpoint/2010/main" val="237168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57AB7-ADF0-F61E-AAAF-292DF72BE519}"/>
              </a:ext>
            </a:extLst>
          </p:cNvPr>
          <p:cNvSpPr>
            <a:spLocks noGrp="1"/>
          </p:cNvSpPr>
          <p:nvPr>
            <p:ph type="title"/>
          </p:nvPr>
        </p:nvSpPr>
        <p:spPr/>
        <p:txBody>
          <a:bodyPr/>
          <a:lstStyle/>
          <a:p>
            <a:r>
              <a:rPr lang="en-US" dirty="0"/>
              <a:t>It does so in one of two ways</a:t>
            </a:r>
          </a:p>
        </p:txBody>
      </p:sp>
      <p:sp>
        <p:nvSpPr>
          <p:cNvPr id="3" name="Slide Number Placeholder 2">
            <a:extLst>
              <a:ext uri="{FF2B5EF4-FFF2-40B4-BE49-F238E27FC236}">
                <a16:creationId xmlns:a16="http://schemas.microsoft.com/office/drawing/2014/main" id="{86806FA0-307B-478B-48FE-E8301AAE3487}"/>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sp>
        <p:nvSpPr>
          <p:cNvPr id="4" name="Content Placeholder 3">
            <a:extLst>
              <a:ext uri="{FF2B5EF4-FFF2-40B4-BE49-F238E27FC236}">
                <a16:creationId xmlns:a16="http://schemas.microsoft.com/office/drawing/2014/main" id="{85688E19-62F1-F480-9654-6759CF9832D9}"/>
              </a:ext>
            </a:extLst>
          </p:cNvPr>
          <p:cNvSpPr>
            <a:spLocks noGrp="1"/>
          </p:cNvSpPr>
          <p:nvPr>
            <p:ph sz="quarter" idx="1"/>
          </p:nvPr>
        </p:nvSpPr>
        <p:spPr/>
        <p:txBody>
          <a:bodyPr/>
          <a:lstStyle/>
          <a:p>
            <a:r>
              <a:rPr lang="en-US" dirty="0"/>
              <a:t>either using context to predict a target word (a method known as continuous bag of words, or CBOW)</a:t>
            </a:r>
          </a:p>
          <a:p>
            <a:endParaRPr lang="en-US" dirty="0"/>
          </a:p>
          <a:p>
            <a:r>
              <a:rPr lang="en-US" dirty="0"/>
              <a:t>or using a word to predict a target context, which is called skip-gram. We use the latter method because it produces more accurate results on large datasets.</a:t>
            </a:r>
          </a:p>
        </p:txBody>
      </p:sp>
    </p:spTree>
    <p:extLst>
      <p:ext uri="{BB962C8B-B14F-4D97-AF65-F5344CB8AC3E}">
        <p14:creationId xmlns:p14="http://schemas.microsoft.com/office/powerpoint/2010/main" val="241977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90FA9E-F0FE-12A2-B504-56E1380B3ACE}"/>
              </a:ext>
            </a:extLst>
          </p:cNvPr>
          <p:cNvSpPr>
            <a:spLocks noGrp="1"/>
          </p:cNvSpPr>
          <p:nvPr>
            <p:ph type="sldNum" sz="quarter" idx="12"/>
          </p:nvPr>
        </p:nvSpPr>
        <p:spPr/>
        <p:txBody>
          <a:bodyPr/>
          <a:lstStyle/>
          <a:p>
            <a:fld id="{EBFB1032-EA64-7144-B003-9BCC9D94B503}" type="slidenum">
              <a:rPr lang="en-US" smtClean="0"/>
              <a:t>7</a:t>
            </a:fld>
            <a:endParaRPr lang="en-US" dirty="0"/>
          </a:p>
        </p:txBody>
      </p:sp>
      <p:pic>
        <p:nvPicPr>
          <p:cNvPr id="8" name="Picture 7" descr="A diagram of a diagram&#10;&#10;AI-generated content may be incorrect.">
            <a:extLst>
              <a:ext uri="{FF2B5EF4-FFF2-40B4-BE49-F238E27FC236}">
                <a16:creationId xmlns:a16="http://schemas.microsoft.com/office/drawing/2014/main" id="{0E04AEB3-84BF-53BF-ECB1-CEFC049F25F2}"/>
              </a:ext>
            </a:extLst>
          </p:cNvPr>
          <p:cNvPicPr>
            <a:picLocks noChangeAspect="1"/>
          </p:cNvPicPr>
          <p:nvPr/>
        </p:nvPicPr>
        <p:blipFill>
          <a:blip r:embed="rId2"/>
          <a:stretch>
            <a:fillRect/>
          </a:stretch>
        </p:blipFill>
        <p:spPr>
          <a:xfrm>
            <a:off x="182880" y="110614"/>
            <a:ext cx="8778240" cy="5279552"/>
          </a:xfrm>
          <a:prstGeom prst="rect">
            <a:avLst/>
          </a:prstGeom>
        </p:spPr>
      </p:pic>
      <p:sp>
        <p:nvSpPr>
          <p:cNvPr id="10" name="TextBox 9">
            <a:extLst>
              <a:ext uri="{FF2B5EF4-FFF2-40B4-BE49-F238E27FC236}">
                <a16:creationId xmlns:a16="http://schemas.microsoft.com/office/drawing/2014/main" id="{8DDB1AAB-44F6-66A2-2251-721E07500843}"/>
              </a:ext>
            </a:extLst>
          </p:cNvPr>
          <p:cNvSpPr txBox="1"/>
          <p:nvPr/>
        </p:nvSpPr>
        <p:spPr>
          <a:xfrm>
            <a:off x="182880" y="5602069"/>
            <a:ext cx="8778240" cy="646331"/>
          </a:xfrm>
          <a:prstGeom prst="rect">
            <a:avLst/>
          </a:prstGeom>
          <a:noFill/>
        </p:spPr>
        <p:txBody>
          <a:bodyPr wrap="square">
            <a:spAutoFit/>
          </a:bodyPr>
          <a:lstStyle/>
          <a:p>
            <a:r>
              <a:rPr lang="en-US" dirty="0">
                <a:latin typeface="Arial Narrow" panose="020B0606020202030204" pitchFamily="34" charset="0"/>
              </a:rPr>
              <a:t>In this lecture, we are going to focus on Skip-Gram model which in contrast to CBOW consider center word as input as depicted in figure above and predict context words.</a:t>
            </a:r>
          </a:p>
        </p:txBody>
      </p:sp>
    </p:spTree>
    <p:extLst>
      <p:ext uri="{BB962C8B-B14F-4D97-AF65-F5344CB8AC3E}">
        <p14:creationId xmlns:p14="http://schemas.microsoft.com/office/powerpoint/2010/main" val="3849542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05F40-9D5E-A89F-F6EE-DF6035CCC092}"/>
              </a:ext>
            </a:extLst>
          </p:cNvPr>
          <p:cNvSpPr>
            <a:spLocks noGrp="1"/>
          </p:cNvSpPr>
          <p:nvPr>
            <p:ph type="title"/>
          </p:nvPr>
        </p:nvSpPr>
        <p:spPr/>
        <p:txBody>
          <a:bodyPr/>
          <a:lstStyle/>
          <a:p>
            <a:r>
              <a:rPr lang="en-US" dirty="0"/>
              <a:t>The components of the vector are adjusted</a:t>
            </a:r>
          </a:p>
        </p:txBody>
      </p:sp>
      <p:sp>
        <p:nvSpPr>
          <p:cNvPr id="3" name="Slide Number Placeholder 2">
            <a:extLst>
              <a:ext uri="{FF2B5EF4-FFF2-40B4-BE49-F238E27FC236}">
                <a16:creationId xmlns:a16="http://schemas.microsoft.com/office/drawing/2014/main" id="{5A194BD9-C508-9EDC-782F-5EA74F655833}"/>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sp>
        <p:nvSpPr>
          <p:cNvPr id="4" name="Content Placeholder 3">
            <a:extLst>
              <a:ext uri="{FF2B5EF4-FFF2-40B4-BE49-F238E27FC236}">
                <a16:creationId xmlns:a16="http://schemas.microsoft.com/office/drawing/2014/main" id="{44D8075C-F523-425E-37AE-BEAD7E8F51C2}"/>
              </a:ext>
            </a:extLst>
          </p:cNvPr>
          <p:cNvSpPr>
            <a:spLocks noGrp="1"/>
          </p:cNvSpPr>
          <p:nvPr>
            <p:ph sz="quarter" idx="1"/>
          </p:nvPr>
        </p:nvSpPr>
        <p:spPr/>
        <p:txBody>
          <a:bodyPr/>
          <a:lstStyle/>
          <a:p>
            <a:r>
              <a:rPr lang="en-US" dirty="0"/>
              <a:t>When the feature vector assigned to a word cannot be used to accurately predict that word’s context, the components of the vector are adjusted. </a:t>
            </a:r>
          </a:p>
          <a:p>
            <a:endParaRPr lang="en-US" dirty="0"/>
          </a:p>
          <a:p>
            <a:r>
              <a:rPr lang="en-US" dirty="0"/>
              <a:t>Each word’s context in the corpus is the teacher sending error signals back to adjust the feature vector.</a:t>
            </a:r>
          </a:p>
          <a:p>
            <a:endParaRPr lang="en-US" dirty="0"/>
          </a:p>
          <a:p>
            <a:r>
              <a:rPr lang="en-US" dirty="0"/>
              <a:t>The vectors of words judged similar by their context are nudged closer together by adjusting the numbers in the vector.</a:t>
            </a:r>
          </a:p>
          <a:p>
            <a:pPr marL="0" indent="0">
              <a:buNone/>
            </a:pPr>
            <a:endParaRPr lang="en-US" dirty="0"/>
          </a:p>
        </p:txBody>
      </p:sp>
    </p:spTree>
    <p:extLst>
      <p:ext uri="{BB962C8B-B14F-4D97-AF65-F5344CB8AC3E}">
        <p14:creationId xmlns:p14="http://schemas.microsoft.com/office/powerpoint/2010/main" val="3587606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069A-7484-93EA-5C8B-78490D26441E}"/>
              </a:ext>
            </a:extLst>
          </p:cNvPr>
          <p:cNvSpPr>
            <a:spLocks noGrp="1"/>
          </p:cNvSpPr>
          <p:nvPr>
            <p:ph type="title"/>
          </p:nvPr>
        </p:nvSpPr>
        <p:spPr/>
        <p:txBody>
          <a:bodyPr>
            <a:normAutofit/>
          </a:bodyPr>
          <a:lstStyle/>
          <a:p>
            <a:r>
              <a:rPr lang="en-US" dirty="0"/>
              <a:t>Model overview</a:t>
            </a:r>
          </a:p>
        </p:txBody>
      </p:sp>
      <p:sp>
        <p:nvSpPr>
          <p:cNvPr id="3" name="Slide Number Placeholder 2">
            <a:extLst>
              <a:ext uri="{FF2B5EF4-FFF2-40B4-BE49-F238E27FC236}">
                <a16:creationId xmlns:a16="http://schemas.microsoft.com/office/drawing/2014/main" id="{79CA8D28-D0CC-9249-54C0-C4BA997A2231}"/>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5E77CAD8-8627-BF13-5949-3E7FCD466E10}"/>
              </a:ext>
            </a:extLst>
          </p:cNvPr>
          <p:cNvSpPr>
            <a:spLocks noGrp="1"/>
          </p:cNvSpPr>
          <p:nvPr>
            <p:ph sz="quarter" idx="1"/>
          </p:nvPr>
        </p:nvSpPr>
        <p:spPr/>
        <p:txBody>
          <a:bodyPr>
            <a:noAutofit/>
          </a:bodyPr>
          <a:lstStyle/>
          <a:p>
            <a:r>
              <a:rPr lang="en-US" sz="2300" dirty="0"/>
              <a:t>We have to feed some strange neural network with some pairs of words but we can’t just do that using as inputs the actual characters, we have to find some way to represent these words mathematically so that the network can process them.</a:t>
            </a:r>
          </a:p>
          <a:p>
            <a:endParaRPr lang="en-US" sz="800" dirty="0"/>
          </a:p>
          <a:p>
            <a:r>
              <a:rPr lang="en-US" sz="2300" dirty="0"/>
              <a:t>One way to do this is to create a vocabulary of all the words in our text and then to encode our word as a vector of the same dimensions of our vocabulary.</a:t>
            </a:r>
          </a:p>
          <a:p>
            <a:endParaRPr lang="en-US" sz="800" dirty="0"/>
          </a:p>
          <a:p>
            <a:r>
              <a:rPr lang="en-US" sz="2300" dirty="0"/>
              <a:t>Each dimension can be thought as a word in our vocabulary.</a:t>
            </a:r>
          </a:p>
          <a:p>
            <a:endParaRPr lang="en-US" sz="800" dirty="0"/>
          </a:p>
          <a:p>
            <a:r>
              <a:rPr lang="en-US" sz="2300" dirty="0"/>
              <a:t>So, we will have a vector with all zeros and a 1 which represents the corresponding word in the vocabulary.</a:t>
            </a:r>
          </a:p>
          <a:p>
            <a:endParaRPr lang="en-US" sz="800" dirty="0"/>
          </a:p>
          <a:p>
            <a:r>
              <a:rPr lang="en-US" sz="2300" dirty="0"/>
              <a:t>This encoding technique is called one-hot encoding.</a:t>
            </a:r>
          </a:p>
        </p:txBody>
      </p:sp>
    </p:spTree>
    <p:extLst>
      <p:ext uri="{BB962C8B-B14F-4D97-AF65-F5344CB8AC3E}">
        <p14:creationId xmlns:p14="http://schemas.microsoft.com/office/powerpoint/2010/main" val="1706599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F4B2-EC17-016C-ABCB-301663CD4631}"/>
              </a:ext>
            </a:extLst>
          </p:cNvPr>
          <p:cNvSpPr>
            <a:spLocks noGrp="1"/>
          </p:cNvSpPr>
          <p:nvPr>
            <p:ph type="title"/>
          </p:nvPr>
        </p:nvSpPr>
        <p:spPr/>
        <p:txBody>
          <a:bodyPr/>
          <a:lstStyle/>
          <a:p>
            <a:r>
              <a:rPr lang="en-US" dirty="0"/>
              <a:t>Example:</a:t>
            </a:r>
          </a:p>
        </p:txBody>
      </p:sp>
      <p:sp>
        <p:nvSpPr>
          <p:cNvPr id="3" name="Slide Number Placeholder 2">
            <a:extLst>
              <a:ext uri="{FF2B5EF4-FFF2-40B4-BE49-F238E27FC236}">
                <a16:creationId xmlns:a16="http://schemas.microsoft.com/office/drawing/2014/main" id="{C7D55C66-4A30-D017-F4DB-AC6E478BC0F7}"/>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5FFCB8DC-9228-A908-A56E-28723C992439}"/>
              </a:ext>
            </a:extLst>
          </p:cNvPr>
          <p:cNvSpPr>
            <a:spLocks noGrp="1"/>
          </p:cNvSpPr>
          <p:nvPr>
            <p:ph sz="quarter" idx="1"/>
          </p:nvPr>
        </p:nvSpPr>
        <p:spPr/>
        <p:txBody>
          <a:bodyPr>
            <a:normAutofit/>
          </a:bodyPr>
          <a:lstStyle/>
          <a:p>
            <a:pPr>
              <a:spcBef>
                <a:spcPts val="0"/>
              </a:spcBef>
            </a:pPr>
            <a:r>
              <a:rPr lang="en-US" sz="2300" dirty="0"/>
              <a:t>Considering our example, if we have a vocabulary made out of the words “the”, “quick”, “brown”, “fox”, “jumps”, “over”, “the” “lazy”, “dog”, the word “brown” is represented by this vector: [ 0, 0, 1, 0, 0, 0 ,0 ,0 ,0 ].</a:t>
            </a:r>
          </a:p>
          <a:p>
            <a:pPr>
              <a:spcBef>
                <a:spcPts val="0"/>
              </a:spcBef>
            </a:pPr>
            <a:r>
              <a:rPr lang="en-US" sz="2300" dirty="0"/>
              <a:t>The Skip-gram model takes in a corpus of text and creates a hot-vector for each word.</a:t>
            </a:r>
          </a:p>
        </p:txBody>
      </p:sp>
      <p:pic>
        <p:nvPicPr>
          <p:cNvPr id="6" name="Picture 5" descr="A hand holding a pen&#10;&#10;AI-generated content may be incorrect.">
            <a:extLst>
              <a:ext uri="{FF2B5EF4-FFF2-40B4-BE49-F238E27FC236}">
                <a16:creationId xmlns:a16="http://schemas.microsoft.com/office/drawing/2014/main" id="{6EF2D8F3-69E6-C7EA-FBE0-8E2294DEF6E7}"/>
              </a:ext>
            </a:extLst>
          </p:cNvPr>
          <p:cNvPicPr>
            <a:picLocks noChangeAspect="1"/>
          </p:cNvPicPr>
          <p:nvPr/>
        </p:nvPicPr>
        <p:blipFill>
          <a:blip r:embed="rId2"/>
          <a:stretch>
            <a:fillRect/>
          </a:stretch>
        </p:blipFill>
        <p:spPr>
          <a:xfrm>
            <a:off x="1208771" y="3522060"/>
            <a:ext cx="6766560" cy="3107340"/>
          </a:xfrm>
          <a:prstGeom prst="rect">
            <a:avLst/>
          </a:prstGeom>
        </p:spPr>
      </p:pic>
    </p:spTree>
    <p:extLst>
      <p:ext uri="{BB962C8B-B14F-4D97-AF65-F5344CB8AC3E}">
        <p14:creationId xmlns:p14="http://schemas.microsoft.com/office/powerpoint/2010/main" val="1510978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B584-D7A8-7EE9-FC3C-A5D1493CB5B3}"/>
              </a:ext>
            </a:extLst>
          </p:cNvPr>
          <p:cNvSpPr>
            <a:spLocks noGrp="1"/>
          </p:cNvSpPr>
          <p:nvPr>
            <p:ph type="title"/>
          </p:nvPr>
        </p:nvSpPr>
        <p:spPr/>
        <p:txBody>
          <a:bodyPr/>
          <a:lstStyle/>
          <a:p>
            <a:r>
              <a:rPr lang="en-US" dirty="0"/>
              <a:t>Hot Vector</a:t>
            </a:r>
          </a:p>
        </p:txBody>
      </p:sp>
      <p:sp>
        <p:nvSpPr>
          <p:cNvPr id="3" name="Slide Number Placeholder 2">
            <a:extLst>
              <a:ext uri="{FF2B5EF4-FFF2-40B4-BE49-F238E27FC236}">
                <a16:creationId xmlns:a16="http://schemas.microsoft.com/office/drawing/2014/main" id="{FA2E3B18-025F-DEEF-4C0D-E4CB28F7D377}"/>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2EC86A3A-D708-92DD-A70E-01299957398F}"/>
              </a:ext>
            </a:extLst>
          </p:cNvPr>
          <p:cNvSpPr>
            <a:spLocks noGrp="1"/>
          </p:cNvSpPr>
          <p:nvPr>
            <p:ph sz="quarter" idx="1"/>
          </p:nvPr>
        </p:nvSpPr>
        <p:spPr/>
        <p:txBody>
          <a:bodyPr/>
          <a:lstStyle/>
          <a:p>
            <a:r>
              <a:rPr lang="en-US" dirty="0"/>
              <a:t>A hot vector is a vector representation of a word where the vector is the size of the vocabulary (total unique words).</a:t>
            </a:r>
          </a:p>
          <a:p>
            <a:r>
              <a:rPr lang="en-US" dirty="0"/>
              <a:t>All dimensions are set to 0 except the dimension representing the word that is used as an input at that point in time.</a:t>
            </a:r>
          </a:p>
          <a:p>
            <a:r>
              <a:rPr lang="en-US" dirty="0"/>
              <a:t>Here is an example of a hot vector:</a:t>
            </a:r>
          </a:p>
          <a:p>
            <a:endParaRPr lang="en-US" dirty="0"/>
          </a:p>
          <a:p>
            <a:endParaRPr lang="en-US" dirty="0"/>
          </a:p>
          <a:p>
            <a:endParaRPr lang="en-US" dirty="0"/>
          </a:p>
          <a:p>
            <a:endParaRPr lang="en-US" dirty="0"/>
          </a:p>
          <a:p>
            <a:r>
              <a:rPr lang="en-US" dirty="0"/>
              <a:t>The above input is given to a neural network with a single hidden layer.</a:t>
            </a:r>
          </a:p>
        </p:txBody>
      </p:sp>
      <p:pic>
        <p:nvPicPr>
          <p:cNvPr id="6" name="Picture 5" descr="A diagram of a word&#10;&#10;AI-generated content may be incorrect.">
            <a:extLst>
              <a:ext uri="{FF2B5EF4-FFF2-40B4-BE49-F238E27FC236}">
                <a16:creationId xmlns:a16="http://schemas.microsoft.com/office/drawing/2014/main" id="{2C6097F5-5BD7-76DF-8502-FEA109D9C26D}"/>
              </a:ext>
            </a:extLst>
          </p:cNvPr>
          <p:cNvPicPr>
            <a:picLocks noChangeAspect="1"/>
          </p:cNvPicPr>
          <p:nvPr/>
        </p:nvPicPr>
        <p:blipFill>
          <a:blip r:embed="rId2"/>
          <a:stretch>
            <a:fillRect/>
          </a:stretch>
        </p:blipFill>
        <p:spPr>
          <a:xfrm>
            <a:off x="1371600" y="3708467"/>
            <a:ext cx="6400800" cy="1549333"/>
          </a:xfrm>
          <a:prstGeom prst="rect">
            <a:avLst/>
          </a:prstGeom>
        </p:spPr>
      </p:pic>
    </p:spTree>
    <p:extLst>
      <p:ext uri="{BB962C8B-B14F-4D97-AF65-F5344CB8AC3E}">
        <p14:creationId xmlns:p14="http://schemas.microsoft.com/office/powerpoint/2010/main" val="2163048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58340-D55D-E87C-704F-934DD9B58C59}"/>
              </a:ext>
            </a:extLst>
          </p:cNvPr>
          <p:cNvSpPr>
            <a:spLocks noGrp="1"/>
          </p:cNvSpPr>
          <p:nvPr>
            <p:ph type="title"/>
          </p:nvPr>
        </p:nvSpPr>
        <p:spPr/>
        <p:txBody>
          <a:bodyPr/>
          <a:lstStyle/>
          <a:p>
            <a:r>
              <a:rPr lang="en-US" dirty="0"/>
              <a:t>Cont’d</a:t>
            </a:r>
          </a:p>
        </p:txBody>
      </p:sp>
      <p:sp>
        <p:nvSpPr>
          <p:cNvPr id="3" name="Slide Number Placeholder 2">
            <a:extLst>
              <a:ext uri="{FF2B5EF4-FFF2-40B4-BE49-F238E27FC236}">
                <a16:creationId xmlns:a16="http://schemas.microsoft.com/office/drawing/2014/main" id="{D83D1EDD-A8E7-DADF-EDB7-EDF6E2F9A5A9}"/>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sp>
        <p:nvSpPr>
          <p:cNvPr id="4" name="Content Placeholder 3">
            <a:extLst>
              <a:ext uri="{FF2B5EF4-FFF2-40B4-BE49-F238E27FC236}">
                <a16:creationId xmlns:a16="http://schemas.microsoft.com/office/drawing/2014/main" id="{906DAD6E-BD6C-69A9-85F4-924BD7FC4C7B}"/>
              </a:ext>
            </a:extLst>
          </p:cNvPr>
          <p:cNvSpPr>
            <a:spLocks noGrp="1"/>
          </p:cNvSpPr>
          <p:nvPr>
            <p:ph sz="quarter" idx="1"/>
          </p:nvPr>
        </p:nvSpPr>
        <p:spPr/>
        <p:txBody>
          <a:bodyPr/>
          <a:lstStyle/>
          <a:p>
            <a:r>
              <a:rPr lang="en-US" dirty="0"/>
              <a:t>We’re going to represent an input word like “ants” as a one-hot vector.</a:t>
            </a:r>
          </a:p>
          <a:p>
            <a:endParaRPr lang="en-US" dirty="0"/>
          </a:p>
          <a:p>
            <a:r>
              <a:rPr lang="en-US" dirty="0"/>
              <a:t>This vector will have 10,000 components (one for every word in our vocabulary) and we’ll place a “1” in the position corresponding to the word “ants”, and 0s in all of the other positions.</a:t>
            </a:r>
          </a:p>
          <a:p>
            <a:endParaRPr lang="en-US" dirty="0"/>
          </a:p>
          <a:p>
            <a:r>
              <a:rPr lang="en-US" dirty="0"/>
              <a:t>The output of the network is a single vector (also with 10,000 components) containing, for every word in our vocabulary, the probability that a randomly selected nearby word is that vocabulary word.</a:t>
            </a:r>
          </a:p>
        </p:txBody>
      </p:sp>
    </p:spTree>
    <p:extLst>
      <p:ext uri="{BB962C8B-B14F-4D97-AF65-F5344CB8AC3E}">
        <p14:creationId xmlns:p14="http://schemas.microsoft.com/office/powerpoint/2010/main" val="2519070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F1A34-BDC2-5EE1-C0AE-973961AFB590}"/>
              </a:ext>
            </a:extLst>
          </p:cNvPr>
          <p:cNvSpPr>
            <a:spLocks noGrp="1"/>
          </p:cNvSpPr>
          <p:nvPr>
            <p:ph type="title"/>
          </p:nvPr>
        </p:nvSpPr>
        <p:spPr/>
        <p:txBody>
          <a:bodyPr>
            <a:noAutofit/>
          </a:bodyPr>
          <a:lstStyle/>
          <a:p>
            <a:r>
              <a:rPr lang="en-US" sz="3200" b="0" dirty="0"/>
              <a:t>In word2vec, a distributed representation of a word is used</a:t>
            </a:r>
          </a:p>
        </p:txBody>
      </p:sp>
      <p:sp>
        <p:nvSpPr>
          <p:cNvPr id="3" name="Slide Number Placeholder 2">
            <a:extLst>
              <a:ext uri="{FF2B5EF4-FFF2-40B4-BE49-F238E27FC236}">
                <a16:creationId xmlns:a16="http://schemas.microsoft.com/office/drawing/2014/main" id="{7165F19C-31A2-507F-8FFB-0DD9A5F0C292}"/>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sp>
        <p:nvSpPr>
          <p:cNvPr id="4" name="Content Placeholder 3">
            <a:extLst>
              <a:ext uri="{FF2B5EF4-FFF2-40B4-BE49-F238E27FC236}">
                <a16:creationId xmlns:a16="http://schemas.microsoft.com/office/drawing/2014/main" id="{59146DFC-02DB-CEAA-FA85-E45D619BE1F5}"/>
              </a:ext>
            </a:extLst>
          </p:cNvPr>
          <p:cNvSpPr>
            <a:spLocks noGrp="1"/>
          </p:cNvSpPr>
          <p:nvPr>
            <p:ph sz="quarter" idx="1"/>
          </p:nvPr>
        </p:nvSpPr>
        <p:spPr/>
        <p:txBody>
          <a:bodyPr/>
          <a:lstStyle/>
          <a:p>
            <a:r>
              <a:rPr lang="en-US" dirty="0"/>
              <a:t>Take a vector with several hundred dimensions (say 1000).</a:t>
            </a:r>
          </a:p>
          <a:p>
            <a:endParaRPr lang="en-US" dirty="0"/>
          </a:p>
          <a:p>
            <a:r>
              <a:rPr lang="en-US" dirty="0"/>
              <a:t>Each word is represented by a distribution of weights across those elements.</a:t>
            </a:r>
          </a:p>
          <a:p>
            <a:endParaRPr lang="en-US" dirty="0"/>
          </a:p>
          <a:p>
            <a:r>
              <a:rPr lang="en-US" dirty="0"/>
              <a:t>So instead of a one-to-one mapping between an element in the vector and a word, the representation of a word is spread across all the elements in the vector, and each element in the vector contributes to the definition of many words.</a:t>
            </a:r>
          </a:p>
        </p:txBody>
      </p:sp>
    </p:spTree>
    <p:extLst>
      <p:ext uri="{BB962C8B-B14F-4D97-AF65-F5344CB8AC3E}">
        <p14:creationId xmlns:p14="http://schemas.microsoft.com/office/powerpoint/2010/main" val="1671268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8A3D6D2-9D13-90B7-26C3-679E8BA369B6}"/>
              </a:ext>
            </a:extLst>
          </p:cNvPr>
          <p:cNvSpPr>
            <a:spLocks noGrp="1"/>
          </p:cNvSpPr>
          <p:nvPr>
            <p:ph type="sldNum" sz="quarter" idx="12"/>
          </p:nvPr>
        </p:nvSpPr>
        <p:spPr/>
        <p:txBody>
          <a:bodyPr/>
          <a:lstStyle/>
          <a:p>
            <a:fld id="{EBFB1032-EA64-7144-B003-9BCC9D94B503}" type="slidenum">
              <a:rPr lang="en-US" smtClean="0"/>
              <a:t>14</a:t>
            </a:fld>
            <a:endParaRPr lang="en-US" dirty="0"/>
          </a:p>
        </p:txBody>
      </p:sp>
      <p:pic>
        <p:nvPicPr>
          <p:cNvPr id="8" name="Picture 7">
            <a:extLst>
              <a:ext uri="{FF2B5EF4-FFF2-40B4-BE49-F238E27FC236}">
                <a16:creationId xmlns:a16="http://schemas.microsoft.com/office/drawing/2014/main" id="{DD94464E-1325-F25E-398B-208AB1B8C886}"/>
              </a:ext>
            </a:extLst>
          </p:cNvPr>
          <p:cNvPicPr>
            <a:picLocks noChangeAspect="1"/>
          </p:cNvPicPr>
          <p:nvPr/>
        </p:nvPicPr>
        <p:blipFill>
          <a:blip r:embed="rId2"/>
          <a:stretch>
            <a:fillRect/>
          </a:stretch>
        </p:blipFill>
        <p:spPr>
          <a:xfrm>
            <a:off x="91440" y="297848"/>
            <a:ext cx="8961120" cy="6262303"/>
          </a:xfrm>
          <a:prstGeom prst="rect">
            <a:avLst/>
          </a:prstGeom>
        </p:spPr>
      </p:pic>
    </p:spTree>
    <p:extLst>
      <p:ext uri="{BB962C8B-B14F-4D97-AF65-F5344CB8AC3E}">
        <p14:creationId xmlns:p14="http://schemas.microsoft.com/office/powerpoint/2010/main" val="3067540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D016EA-08AB-2153-5149-1658C3403F2A}"/>
              </a:ext>
            </a:extLst>
          </p:cNvPr>
          <p:cNvSpPr>
            <a:spLocks noGrp="1"/>
          </p:cNvSpPr>
          <p:nvPr>
            <p:ph type="title"/>
          </p:nvPr>
        </p:nvSpPr>
        <p:spPr/>
        <p:txBody>
          <a:bodyPr>
            <a:normAutofit/>
          </a:bodyPr>
          <a:lstStyle/>
          <a:p>
            <a:r>
              <a:rPr lang="en-US" sz="3200" b="0" dirty="0"/>
              <a:t>We can also use the vectors as inputs to a neural network</a:t>
            </a:r>
          </a:p>
        </p:txBody>
      </p:sp>
      <p:sp>
        <p:nvSpPr>
          <p:cNvPr id="2" name="Slide Number Placeholder 1">
            <a:extLst>
              <a:ext uri="{FF2B5EF4-FFF2-40B4-BE49-F238E27FC236}">
                <a16:creationId xmlns:a16="http://schemas.microsoft.com/office/drawing/2014/main" id="{D74F157F-D963-F6CF-C7D4-1916AD9F4911}"/>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1B78114B-861D-39EC-DC1B-F2EF98C2C127}"/>
              </a:ext>
            </a:extLst>
          </p:cNvPr>
          <p:cNvSpPr>
            <a:spLocks noGrp="1"/>
          </p:cNvSpPr>
          <p:nvPr>
            <p:ph sz="quarter" idx="1"/>
          </p:nvPr>
        </p:nvSpPr>
        <p:spPr/>
        <p:txBody>
          <a:bodyPr/>
          <a:lstStyle/>
          <a:p>
            <a:r>
              <a:rPr lang="en-US" dirty="0"/>
              <a:t>Since our input vectors are one-hot, multiplying an input vector by the weight matrix W1 amounts to simply selecting a row from W1.</a:t>
            </a:r>
          </a:p>
        </p:txBody>
      </p:sp>
      <p:pic>
        <p:nvPicPr>
          <p:cNvPr id="6" name="Picture 5" descr="A diagram of a diagram&#10;&#10;AI-generated content may be incorrect.">
            <a:extLst>
              <a:ext uri="{FF2B5EF4-FFF2-40B4-BE49-F238E27FC236}">
                <a16:creationId xmlns:a16="http://schemas.microsoft.com/office/drawing/2014/main" id="{2234923E-3B21-E16B-7448-F696835A49A0}"/>
              </a:ext>
            </a:extLst>
          </p:cNvPr>
          <p:cNvPicPr>
            <a:picLocks noChangeAspect="1"/>
          </p:cNvPicPr>
          <p:nvPr/>
        </p:nvPicPr>
        <p:blipFill>
          <a:blip r:embed="rId2"/>
          <a:stretch>
            <a:fillRect/>
          </a:stretch>
        </p:blipFill>
        <p:spPr>
          <a:xfrm>
            <a:off x="2320260" y="2423160"/>
            <a:ext cx="4543581" cy="4206240"/>
          </a:xfrm>
          <a:prstGeom prst="rect">
            <a:avLst/>
          </a:prstGeom>
        </p:spPr>
      </p:pic>
    </p:spTree>
    <p:extLst>
      <p:ext uri="{BB962C8B-B14F-4D97-AF65-F5344CB8AC3E}">
        <p14:creationId xmlns:p14="http://schemas.microsoft.com/office/powerpoint/2010/main" val="1960517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5DAAD1-D91F-BCB6-B28C-B1C6DD6C493D}"/>
              </a:ext>
            </a:extLst>
          </p:cNvPr>
          <p:cNvSpPr>
            <a:spLocks noGrp="1"/>
          </p:cNvSpPr>
          <p:nvPr>
            <p:ph type="sldNum" sz="quarter" idx="12"/>
          </p:nvPr>
        </p:nvSpPr>
        <p:spPr/>
        <p:txBody>
          <a:bodyPr/>
          <a:lstStyle/>
          <a:p>
            <a:fld id="{EBFB1032-EA64-7144-B003-9BCC9D94B503}" type="slidenum">
              <a:rPr lang="en-US" smtClean="0"/>
              <a:t>16</a:t>
            </a:fld>
            <a:endParaRPr lang="en-US" dirty="0"/>
          </a:p>
        </p:txBody>
      </p:sp>
      <p:pic>
        <p:nvPicPr>
          <p:cNvPr id="6" name="Picture 5">
            <a:extLst>
              <a:ext uri="{FF2B5EF4-FFF2-40B4-BE49-F238E27FC236}">
                <a16:creationId xmlns:a16="http://schemas.microsoft.com/office/drawing/2014/main" id="{A1F97A1E-A446-EFED-3DB3-23D30F7AF09F}"/>
              </a:ext>
            </a:extLst>
          </p:cNvPr>
          <p:cNvPicPr>
            <a:picLocks noChangeAspect="1"/>
          </p:cNvPicPr>
          <p:nvPr/>
        </p:nvPicPr>
        <p:blipFill>
          <a:blip r:embed="rId2"/>
          <a:stretch>
            <a:fillRect/>
          </a:stretch>
        </p:blipFill>
        <p:spPr>
          <a:xfrm>
            <a:off x="813557" y="45720"/>
            <a:ext cx="7516886" cy="6766560"/>
          </a:xfrm>
          <a:prstGeom prst="rect">
            <a:avLst/>
          </a:prstGeom>
        </p:spPr>
      </p:pic>
    </p:spTree>
    <p:extLst>
      <p:ext uri="{BB962C8B-B14F-4D97-AF65-F5344CB8AC3E}">
        <p14:creationId xmlns:p14="http://schemas.microsoft.com/office/powerpoint/2010/main" val="482206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76B8A-BFEB-C58B-9435-F16D810FE5FB}"/>
              </a:ext>
            </a:extLst>
          </p:cNvPr>
          <p:cNvSpPr>
            <a:spLocks noGrp="1"/>
          </p:cNvSpPr>
          <p:nvPr>
            <p:ph type="title"/>
          </p:nvPr>
        </p:nvSpPr>
        <p:spPr/>
        <p:txBody>
          <a:bodyPr/>
          <a:lstStyle/>
          <a:p>
            <a:r>
              <a:rPr lang="en-US" dirty="0"/>
              <a:t>Here’s the architecture of our neural network</a:t>
            </a:r>
          </a:p>
        </p:txBody>
      </p:sp>
      <p:sp>
        <p:nvSpPr>
          <p:cNvPr id="3" name="Slide Number Placeholder 2">
            <a:extLst>
              <a:ext uri="{FF2B5EF4-FFF2-40B4-BE49-F238E27FC236}">
                <a16:creationId xmlns:a16="http://schemas.microsoft.com/office/drawing/2014/main" id="{5420A2EB-8D70-B42A-349A-152FD35E92BF}"/>
              </a:ext>
            </a:extLst>
          </p:cNvPr>
          <p:cNvSpPr>
            <a:spLocks noGrp="1"/>
          </p:cNvSpPr>
          <p:nvPr>
            <p:ph type="sldNum" sz="quarter" idx="12"/>
          </p:nvPr>
        </p:nvSpPr>
        <p:spPr/>
        <p:txBody>
          <a:bodyPr>
            <a:normAutofit fontScale="85000" lnSpcReduction="20000"/>
          </a:bodyPr>
          <a:lstStyle/>
          <a:p>
            <a:fld id="{EBFB1032-EA64-7144-B003-9BCC9D94B503}" type="slidenum">
              <a:rPr lang="en-US" smtClean="0"/>
              <a:t>17</a:t>
            </a:fld>
            <a:endParaRPr lang="en-US" dirty="0"/>
          </a:p>
        </p:txBody>
      </p:sp>
      <p:pic>
        <p:nvPicPr>
          <p:cNvPr id="6" name="Picture 5" descr="A diagram of a algorithm&#10;&#10;AI-generated content may be incorrect.">
            <a:extLst>
              <a:ext uri="{FF2B5EF4-FFF2-40B4-BE49-F238E27FC236}">
                <a16:creationId xmlns:a16="http://schemas.microsoft.com/office/drawing/2014/main" id="{7136F30B-EB9B-8EEC-B72A-90F042572CEC}"/>
              </a:ext>
            </a:extLst>
          </p:cNvPr>
          <p:cNvPicPr>
            <a:picLocks noChangeAspect="1"/>
          </p:cNvPicPr>
          <p:nvPr/>
        </p:nvPicPr>
        <p:blipFill>
          <a:blip r:embed="rId2"/>
          <a:stretch>
            <a:fillRect/>
          </a:stretch>
        </p:blipFill>
        <p:spPr>
          <a:xfrm>
            <a:off x="472764" y="1569720"/>
            <a:ext cx="8198471" cy="5120640"/>
          </a:xfrm>
          <a:prstGeom prst="rect">
            <a:avLst/>
          </a:prstGeom>
        </p:spPr>
      </p:pic>
    </p:spTree>
    <p:extLst>
      <p:ext uri="{BB962C8B-B14F-4D97-AF65-F5344CB8AC3E}">
        <p14:creationId xmlns:p14="http://schemas.microsoft.com/office/powerpoint/2010/main" val="4155970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568E194-3002-2BBF-5E17-7DC01BE29B93}"/>
              </a:ext>
            </a:extLst>
          </p:cNvPr>
          <p:cNvSpPr>
            <a:spLocks noGrp="1"/>
          </p:cNvSpPr>
          <p:nvPr>
            <p:ph type="sldNum" sz="quarter" idx="12"/>
          </p:nvPr>
        </p:nvSpPr>
        <p:spPr/>
        <p:txBody>
          <a:bodyPr/>
          <a:lstStyle/>
          <a:p>
            <a:fld id="{EBFB1032-EA64-7144-B003-9BCC9D94B503}" type="slidenum">
              <a:rPr lang="en-US" smtClean="0"/>
              <a:t>18</a:t>
            </a:fld>
            <a:endParaRPr lang="en-US" dirty="0"/>
          </a:p>
        </p:txBody>
      </p:sp>
      <p:pic>
        <p:nvPicPr>
          <p:cNvPr id="6" name="Picture 5">
            <a:extLst>
              <a:ext uri="{FF2B5EF4-FFF2-40B4-BE49-F238E27FC236}">
                <a16:creationId xmlns:a16="http://schemas.microsoft.com/office/drawing/2014/main" id="{90DBFFBD-9385-B20F-19FD-5A80BF861269}"/>
              </a:ext>
            </a:extLst>
          </p:cNvPr>
          <p:cNvPicPr>
            <a:picLocks noChangeAspect="1"/>
          </p:cNvPicPr>
          <p:nvPr/>
        </p:nvPicPr>
        <p:blipFill>
          <a:blip r:embed="rId2"/>
          <a:stretch>
            <a:fillRect/>
          </a:stretch>
        </p:blipFill>
        <p:spPr>
          <a:xfrm>
            <a:off x="1284024" y="45720"/>
            <a:ext cx="6575952" cy="6766560"/>
          </a:xfrm>
          <a:prstGeom prst="rect">
            <a:avLst/>
          </a:prstGeom>
        </p:spPr>
      </p:pic>
    </p:spTree>
    <p:extLst>
      <p:ext uri="{BB962C8B-B14F-4D97-AF65-F5344CB8AC3E}">
        <p14:creationId xmlns:p14="http://schemas.microsoft.com/office/powerpoint/2010/main" val="3849237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CC6C-CFC8-4531-09AD-51E579F515E8}"/>
              </a:ext>
            </a:extLst>
          </p:cNvPr>
          <p:cNvSpPr>
            <a:spLocks noGrp="1"/>
          </p:cNvSpPr>
          <p:nvPr>
            <p:ph type="title"/>
          </p:nvPr>
        </p:nvSpPr>
        <p:spPr/>
        <p:txBody>
          <a:bodyPr/>
          <a:lstStyle/>
          <a:p>
            <a:r>
              <a:rPr lang="en-US" dirty="0"/>
              <a:t>Hidden layer weight matrix</a:t>
            </a:r>
          </a:p>
        </p:txBody>
      </p:sp>
      <p:sp>
        <p:nvSpPr>
          <p:cNvPr id="3" name="Slide Number Placeholder 2">
            <a:extLst>
              <a:ext uri="{FF2B5EF4-FFF2-40B4-BE49-F238E27FC236}">
                <a16:creationId xmlns:a16="http://schemas.microsoft.com/office/drawing/2014/main" id="{FB15F00D-EE10-52C1-C045-05C1EC93DF06}"/>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sp>
        <p:nvSpPr>
          <p:cNvPr id="4" name="Content Placeholder 3">
            <a:extLst>
              <a:ext uri="{FF2B5EF4-FFF2-40B4-BE49-F238E27FC236}">
                <a16:creationId xmlns:a16="http://schemas.microsoft.com/office/drawing/2014/main" id="{80BF4AE0-5AF6-893C-53F3-654B3C81D255}"/>
              </a:ext>
            </a:extLst>
          </p:cNvPr>
          <p:cNvSpPr>
            <a:spLocks noGrp="1"/>
          </p:cNvSpPr>
          <p:nvPr>
            <p:ph sz="quarter" idx="1"/>
          </p:nvPr>
        </p:nvSpPr>
        <p:spPr/>
        <p:txBody>
          <a:bodyPr>
            <a:noAutofit/>
          </a:bodyPr>
          <a:lstStyle/>
          <a:p>
            <a:r>
              <a:rPr lang="en-US" sz="2300" dirty="0"/>
              <a:t>So, the end goal of all of this is really just to learn this hidden layer weight matrix — the output layer we’ll just toss when we’re done!</a:t>
            </a:r>
          </a:p>
          <a:p>
            <a:endParaRPr lang="en-US" sz="800" dirty="0"/>
          </a:p>
          <a:p>
            <a:r>
              <a:rPr lang="en-US" sz="2300" dirty="0"/>
              <a:t>The 1 x 300 word vector for “ants” then gets fed to the output layer.</a:t>
            </a:r>
          </a:p>
          <a:p>
            <a:endParaRPr lang="en-US" sz="800" dirty="0"/>
          </a:p>
          <a:p>
            <a:r>
              <a:rPr lang="en-US" sz="2300" dirty="0"/>
              <a:t>The output layer is a </a:t>
            </a:r>
            <a:r>
              <a:rPr lang="en-US" sz="2300" dirty="0" err="1">
                <a:solidFill>
                  <a:srgbClr val="FF0000"/>
                </a:solidFill>
              </a:rPr>
              <a:t>Softmax</a:t>
            </a:r>
            <a:r>
              <a:rPr lang="en-US" sz="2300" dirty="0">
                <a:solidFill>
                  <a:srgbClr val="FF0000"/>
                </a:solidFill>
              </a:rPr>
              <a:t> Regression </a:t>
            </a:r>
            <a:r>
              <a:rPr lang="en-US" sz="2300" dirty="0"/>
              <a:t>classifier.</a:t>
            </a:r>
          </a:p>
          <a:p>
            <a:endParaRPr lang="en-US" sz="800" dirty="0"/>
          </a:p>
          <a:p>
            <a:r>
              <a:rPr lang="en-US" sz="2300" dirty="0"/>
              <a:t>Specifically, each output neuron has a weight vector which it multiplies against the word vector from the hidden layer, then it applies the function exp(x) to the result.</a:t>
            </a:r>
          </a:p>
          <a:p>
            <a:endParaRPr lang="en-US" sz="800" dirty="0"/>
          </a:p>
          <a:p>
            <a:r>
              <a:rPr lang="en-US" sz="2300" dirty="0"/>
              <a:t>Finally, in order to get the outputs to sum up to 1, we divide this result by the sum of the results from all 10,000 output nodes. </a:t>
            </a:r>
          </a:p>
        </p:txBody>
      </p:sp>
    </p:spTree>
    <p:extLst>
      <p:ext uri="{BB962C8B-B14F-4D97-AF65-F5344CB8AC3E}">
        <p14:creationId xmlns:p14="http://schemas.microsoft.com/office/powerpoint/2010/main" val="2550652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D3E579-F1CE-D10F-3A64-7F758023B7D5}"/>
              </a:ext>
            </a:extLst>
          </p:cNvPr>
          <p:cNvSpPr>
            <a:spLocks noGrp="1"/>
          </p:cNvSpPr>
          <p:nvPr>
            <p:ph type="sldNum" sz="quarter" idx="12"/>
          </p:nvPr>
        </p:nvSpPr>
        <p:spPr/>
        <p:txBody>
          <a:bodyPr/>
          <a:lstStyle/>
          <a:p>
            <a:fld id="{EBFB1032-EA64-7144-B003-9BCC9D94B503}" type="slidenum">
              <a:rPr lang="en-US" smtClean="0"/>
              <a:t>20</a:t>
            </a:fld>
            <a:endParaRPr lang="en-US" dirty="0"/>
          </a:p>
        </p:txBody>
      </p:sp>
      <p:pic>
        <p:nvPicPr>
          <p:cNvPr id="6" name="Picture 5">
            <a:extLst>
              <a:ext uri="{FF2B5EF4-FFF2-40B4-BE49-F238E27FC236}">
                <a16:creationId xmlns:a16="http://schemas.microsoft.com/office/drawing/2014/main" id="{63D41F80-E9DD-9E2A-0C7D-4EEE9E54B0ED}"/>
              </a:ext>
            </a:extLst>
          </p:cNvPr>
          <p:cNvPicPr>
            <a:picLocks noChangeAspect="1"/>
          </p:cNvPicPr>
          <p:nvPr/>
        </p:nvPicPr>
        <p:blipFill>
          <a:blip r:embed="rId2"/>
          <a:stretch>
            <a:fillRect/>
          </a:stretch>
        </p:blipFill>
        <p:spPr>
          <a:xfrm>
            <a:off x="182880" y="444398"/>
            <a:ext cx="8778240" cy="5969203"/>
          </a:xfrm>
          <a:prstGeom prst="rect">
            <a:avLst/>
          </a:prstGeom>
          <a:ln>
            <a:solidFill>
              <a:schemeClr val="accent1"/>
            </a:solidFill>
          </a:ln>
        </p:spPr>
      </p:pic>
    </p:spTree>
    <p:extLst>
      <p:ext uri="{BB962C8B-B14F-4D97-AF65-F5344CB8AC3E}">
        <p14:creationId xmlns:p14="http://schemas.microsoft.com/office/powerpoint/2010/main" val="851563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E000E3-5AA9-BE69-7776-15F702AADADA}"/>
              </a:ext>
            </a:extLst>
          </p:cNvPr>
          <p:cNvPicPr>
            <a:picLocks noChangeAspect="1"/>
          </p:cNvPicPr>
          <p:nvPr/>
        </p:nvPicPr>
        <p:blipFill>
          <a:blip r:embed="rId2"/>
          <a:stretch>
            <a:fillRect/>
          </a:stretch>
        </p:blipFill>
        <p:spPr>
          <a:xfrm>
            <a:off x="182880" y="459891"/>
            <a:ext cx="8778240" cy="5938218"/>
          </a:xfrm>
          <a:prstGeom prst="rect">
            <a:avLst/>
          </a:prstGeom>
          <a:ln>
            <a:solidFill>
              <a:schemeClr val="accent1"/>
            </a:solidFill>
          </a:ln>
        </p:spPr>
      </p:pic>
      <p:sp>
        <p:nvSpPr>
          <p:cNvPr id="3" name="Slide Number Placeholder 2">
            <a:extLst>
              <a:ext uri="{FF2B5EF4-FFF2-40B4-BE49-F238E27FC236}">
                <a16:creationId xmlns:a16="http://schemas.microsoft.com/office/drawing/2014/main" id="{B63BBA83-6045-B4EF-0ECA-6384762D05F6}"/>
              </a:ext>
            </a:extLst>
          </p:cNvPr>
          <p:cNvSpPr>
            <a:spLocks noGrp="1"/>
          </p:cNvSpPr>
          <p:nvPr>
            <p:ph type="sldNum" sz="quarter" idx="12"/>
          </p:nvPr>
        </p:nvSpPr>
        <p:spPr/>
        <p:txBody>
          <a:bodyPr/>
          <a:lstStyle/>
          <a:p>
            <a:fld id="{EBFB1032-EA64-7144-B003-9BCC9D94B503}" type="slidenum">
              <a:rPr lang="en-US" smtClean="0"/>
              <a:t>21</a:t>
            </a:fld>
            <a:endParaRPr lang="en-US" dirty="0"/>
          </a:p>
        </p:txBody>
      </p:sp>
    </p:spTree>
    <p:extLst>
      <p:ext uri="{BB962C8B-B14F-4D97-AF65-F5344CB8AC3E}">
        <p14:creationId xmlns:p14="http://schemas.microsoft.com/office/powerpoint/2010/main" val="4140592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95CBBD-7D2C-17A9-C723-5B742E79FE5E}"/>
              </a:ext>
            </a:extLst>
          </p:cNvPr>
          <p:cNvSpPr>
            <a:spLocks noGrp="1"/>
          </p:cNvSpPr>
          <p:nvPr>
            <p:ph type="sldNum" sz="quarter" idx="12"/>
          </p:nvPr>
        </p:nvSpPr>
        <p:spPr/>
        <p:txBody>
          <a:bodyPr/>
          <a:lstStyle/>
          <a:p>
            <a:fld id="{EBFB1032-EA64-7144-B003-9BCC9D94B503}" type="slidenum">
              <a:rPr lang="en-US" smtClean="0"/>
              <a:t>22</a:t>
            </a:fld>
            <a:endParaRPr lang="en-US" dirty="0"/>
          </a:p>
        </p:txBody>
      </p:sp>
      <p:pic>
        <p:nvPicPr>
          <p:cNvPr id="4" name="Picture 3">
            <a:extLst>
              <a:ext uri="{FF2B5EF4-FFF2-40B4-BE49-F238E27FC236}">
                <a16:creationId xmlns:a16="http://schemas.microsoft.com/office/drawing/2014/main" id="{258978E4-14E6-FC68-3674-1D294DFF241D}"/>
              </a:ext>
            </a:extLst>
          </p:cNvPr>
          <p:cNvPicPr>
            <a:picLocks noChangeAspect="1"/>
          </p:cNvPicPr>
          <p:nvPr/>
        </p:nvPicPr>
        <p:blipFill>
          <a:blip r:embed="rId2"/>
          <a:stretch>
            <a:fillRect/>
          </a:stretch>
        </p:blipFill>
        <p:spPr>
          <a:xfrm>
            <a:off x="819635" y="45720"/>
            <a:ext cx="7504730" cy="6766560"/>
          </a:xfrm>
          <a:prstGeom prst="rect">
            <a:avLst/>
          </a:prstGeom>
          <a:ln>
            <a:solidFill>
              <a:schemeClr val="accent1"/>
            </a:solidFill>
          </a:ln>
        </p:spPr>
      </p:pic>
    </p:spTree>
    <p:extLst>
      <p:ext uri="{BB962C8B-B14F-4D97-AF65-F5344CB8AC3E}">
        <p14:creationId xmlns:p14="http://schemas.microsoft.com/office/powerpoint/2010/main" val="3616413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650B9E-68E9-2AE3-4792-CC85285A6A59}"/>
              </a:ext>
            </a:extLst>
          </p:cNvPr>
          <p:cNvSpPr>
            <a:spLocks noGrp="1"/>
          </p:cNvSpPr>
          <p:nvPr>
            <p:ph type="title"/>
          </p:nvPr>
        </p:nvSpPr>
        <p:spPr/>
        <p:txBody>
          <a:bodyPr>
            <a:noAutofit/>
          </a:bodyPr>
          <a:lstStyle/>
          <a:p>
            <a:r>
              <a:rPr lang="en-US" sz="2600" b="0" dirty="0"/>
              <a:t>illustration of calculating the output of the output neuron for the word ‘</a:t>
            </a:r>
            <a:r>
              <a:rPr lang="en-US" sz="2600" b="0" i="1" dirty="0"/>
              <a:t>car’</a:t>
            </a:r>
          </a:p>
        </p:txBody>
      </p:sp>
      <p:sp>
        <p:nvSpPr>
          <p:cNvPr id="2" name="Slide Number Placeholder 1">
            <a:extLst>
              <a:ext uri="{FF2B5EF4-FFF2-40B4-BE49-F238E27FC236}">
                <a16:creationId xmlns:a16="http://schemas.microsoft.com/office/drawing/2014/main" id="{D3212F4F-0E0F-22EE-D041-53E385237C40}"/>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pic>
        <p:nvPicPr>
          <p:cNvPr id="6" name="Picture 5">
            <a:extLst>
              <a:ext uri="{FF2B5EF4-FFF2-40B4-BE49-F238E27FC236}">
                <a16:creationId xmlns:a16="http://schemas.microsoft.com/office/drawing/2014/main" id="{21F988B1-A976-B92E-51CC-E03B75553947}"/>
              </a:ext>
            </a:extLst>
          </p:cNvPr>
          <p:cNvPicPr>
            <a:picLocks noChangeAspect="1"/>
          </p:cNvPicPr>
          <p:nvPr/>
        </p:nvPicPr>
        <p:blipFill>
          <a:blip r:embed="rId2"/>
          <a:stretch>
            <a:fillRect/>
          </a:stretch>
        </p:blipFill>
        <p:spPr>
          <a:xfrm>
            <a:off x="202931" y="1734767"/>
            <a:ext cx="8778240" cy="4894633"/>
          </a:xfrm>
          <a:prstGeom prst="rect">
            <a:avLst/>
          </a:prstGeom>
        </p:spPr>
      </p:pic>
    </p:spTree>
    <p:extLst>
      <p:ext uri="{BB962C8B-B14F-4D97-AF65-F5344CB8AC3E}">
        <p14:creationId xmlns:p14="http://schemas.microsoft.com/office/powerpoint/2010/main" val="4235752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B6D1-DACA-2810-D140-280B8A80FBFA}"/>
              </a:ext>
            </a:extLst>
          </p:cNvPr>
          <p:cNvSpPr>
            <a:spLocks noGrp="1"/>
          </p:cNvSpPr>
          <p:nvPr>
            <p:ph type="title"/>
          </p:nvPr>
        </p:nvSpPr>
        <p:spPr/>
        <p:txBody>
          <a:bodyPr/>
          <a:lstStyle/>
          <a:p>
            <a:r>
              <a:rPr lang="en-US" dirty="0"/>
              <a:t>Each dimension of the input</a:t>
            </a:r>
          </a:p>
        </p:txBody>
      </p:sp>
      <p:sp>
        <p:nvSpPr>
          <p:cNvPr id="3" name="Slide Number Placeholder 2">
            <a:extLst>
              <a:ext uri="{FF2B5EF4-FFF2-40B4-BE49-F238E27FC236}">
                <a16:creationId xmlns:a16="http://schemas.microsoft.com/office/drawing/2014/main" id="{ACCE7C03-EA8A-1A0B-6A23-7B449EC4EA09}"/>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B59C3918-CBA4-5F3A-9545-FD3DB99B6AE7}"/>
              </a:ext>
            </a:extLst>
          </p:cNvPr>
          <p:cNvSpPr>
            <a:spLocks noGrp="1"/>
          </p:cNvSpPr>
          <p:nvPr>
            <p:ph sz="quarter" idx="1"/>
          </p:nvPr>
        </p:nvSpPr>
        <p:spPr/>
        <p:txBody>
          <a:bodyPr/>
          <a:lstStyle/>
          <a:p>
            <a:r>
              <a:rPr lang="en-US" dirty="0"/>
              <a:t>Each dimension of the input passes through each node of the hidden layer. </a:t>
            </a:r>
          </a:p>
          <a:p>
            <a:r>
              <a:rPr lang="en-US" dirty="0"/>
              <a:t>The dimension is multiplied by the weight leading it to the hidden layer. </a:t>
            </a:r>
          </a:p>
          <a:p>
            <a:r>
              <a:rPr lang="en-US" dirty="0"/>
              <a:t>Because the input is a hot vector, only one of the input nodes will have a non-zero value (namely the value of 1).</a:t>
            </a:r>
          </a:p>
          <a:p>
            <a:r>
              <a:rPr lang="en-US" dirty="0"/>
              <a:t>This means that for a word only the weights associated with the input node with value 1 will be activated, as shown in the image in the previous slide.</a:t>
            </a:r>
          </a:p>
          <a:p>
            <a:r>
              <a:rPr lang="en-US" dirty="0"/>
              <a:t>As the input in this case is a hot vector, only one of the input nodes will have a non-zero value. </a:t>
            </a:r>
          </a:p>
          <a:p>
            <a:r>
              <a:rPr lang="en-US" dirty="0"/>
              <a:t>This means that only the weights connected to that input node will be activated in the hidden nodes. </a:t>
            </a:r>
          </a:p>
        </p:txBody>
      </p:sp>
    </p:spTree>
    <p:extLst>
      <p:ext uri="{BB962C8B-B14F-4D97-AF65-F5344CB8AC3E}">
        <p14:creationId xmlns:p14="http://schemas.microsoft.com/office/powerpoint/2010/main" val="1641123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9CFD-25E0-34F7-3874-87578C34E532}"/>
              </a:ext>
            </a:extLst>
          </p:cNvPr>
          <p:cNvSpPr>
            <a:spLocks noGrp="1"/>
          </p:cNvSpPr>
          <p:nvPr>
            <p:ph type="title"/>
          </p:nvPr>
        </p:nvSpPr>
        <p:spPr/>
        <p:txBody>
          <a:bodyPr/>
          <a:lstStyle/>
          <a:p>
            <a:r>
              <a:rPr lang="en-US" dirty="0"/>
              <a:t>Example:</a:t>
            </a:r>
          </a:p>
        </p:txBody>
      </p:sp>
      <p:sp>
        <p:nvSpPr>
          <p:cNvPr id="3" name="Slide Number Placeholder 2">
            <a:extLst>
              <a:ext uri="{FF2B5EF4-FFF2-40B4-BE49-F238E27FC236}">
                <a16:creationId xmlns:a16="http://schemas.microsoft.com/office/drawing/2014/main" id="{4AF15471-96F1-F9F0-0EA9-B7D0450095B8}"/>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sp>
        <p:nvSpPr>
          <p:cNvPr id="4" name="Content Placeholder 3">
            <a:extLst>
              <a:ext uri="{FF2B5EF4-FFF2-40B4-BE49-F238E27FC236}">
                <a16:creationId xmlns:a16="http://schemas.microsoft.com/office/drawing/2014/main" id="{FD0AC802-764E-75D6-E30F-302265B240F9}"/>
              </a:ext>
            </a:extLst>
          </p:cNvPr>
          <p:cNvSpPr>
            <a:spLocks noGrp="1"/>
          </p:cNvSpPr>
          <p:nvPr>
            <p:ph sz="quarter" idx="1"/>
          </p:nvPr>
        </p:nvSpPr>
        <p:spPr/>
        <p:txBody>
          <a:bodyPr>
            <a:normAutofit/>
          </a:bodyPr>
          <a:lstStyle/>
          <a:p>
            <a:r>
              <a:rPr lang="en-US" sz="2300" dirty="0"/>
              <a:t>An example of the weights that will be considered is depicted below for the second word in the vocabulary:</a:t>
            </a:r>
          </a:p>
          <a:p>
            <a:endParaRPr lang="en-US" sz="2300" dirty="0"/>
          </a:p>
          <a:p>
            <a:r>
              <a:rPr lang="en-US" sz="2300" i="1" dirty="0"/>
              <a:t>The vector representation of the second word in the vocabulary (shown in the neural network before) will look as follows, once activated in the hidden layer:</a:t>
            </a:r>
            <a:endParaRPr lang="en-US" sz="2300" dirty="0"/>
          </a:p>
          <a:p>
            <a:endParaRPr lang="en-US" sz="2300" dirty="0"/>
          </a:p>
        </p:txBody>
      </p:sp>
      <p:pic>
        <p:nvPicPr>
          <p:cNvPr id="6" name="Picture 5" descr="A white rectangular object with black text&#10;&#10;AI-generated content may be incorrect.">
            <a:extLst>
              <a:ext uri="{FF2B5EF4-FFF2-40B4-BE49-F238E27FC236}">
                <a16:creationId xmlns:a16="http://schemas.microsoft.com/office/drawing/2014/main" id="{4D0F40A3-F5C7-6824-1176-DDAFF1DBD5E1}"/>
              </a:ext>
            </a:extLst>
          </p:cNvPr>
          <p:cNvPicPr>
            <a:picLocks noChangeAspect="1"/>
          </p:cNvPicPr>
          <p:nvPr/>
        </p:nvPicPr>
        <p:blipFill>
          <a:blip r:embed="rId2"/>
          <a:srcRect l="3280" t="17065" r="3837" b="16655"/>
          <a:stretch/>
        </p:blipFill>
        <p:spPr>
          <a:xfrm>
            <a:off x="495300" y="3952568"/>
            <a:ext cx="8153400" cy="1305232"/>
          </a:xfrm>
          <a:prstGeom prst="rect">
            <a:avLst/>
          </a:prstGeom>
        </p:spPr>
      </p:pic>
    </p:spTree>
    <p:extLst>
      <p:ext uri="{BB962C8B-B14F-4D97-AF65-F5344CB8AC3E}">
        <p14:creationId xmlns:p14="http://schemas.microsoft.com/office/powerpoint/2010/main" val="589148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5896E0-69DE-0A25-E5A3-1DF6D6E687F4}"/>
              </a:ext>
            </a:extLst>
          </p:cNvPr>
          <p:cNvSpPr>
            <a:spLocks noGrp="1"/>
          </p:cNvSpPr>
          <p:nvPr>
            <p:ph type="sldNum" sz="quarter" idx="12"/>
          </p:nvPr>
        </p:nvSpPr>
        <p:spPr/>
        <p:txBody>
          <a:bodyPr/>
          <a:lstStyle/>
          <a:p>
            <a:fld id="{EBFB1032-EA64-7144-B003-9BCC9D94B503}" type="slidenum">
              <a:rPr lang="en-US" smtClean="0"/>
              <a:t>26</a:t>
            </a:fld>
            <a:endParaRPr lang="en-US" dirty="0"/>
          </a:p>
        </p:txBody>
      </p:sp>
      <p:pic>
        <p:nvPicPr>
          <p:cNvPr id="6" name="Picture 5">
            <a:extLst>
              <a:ext uri="{FF2B5EF4-FFF2-40B4-BE49-F238E27FC236}">
                <a16:creationId xmlns:a16="http://schemas.microsoft.com/office/drawing/2014/main" id="{3A81A151-6D2A-486A-BCB1-B8617C32CC79}"/>
              </a:ext>
            </a:extLst>
          </p:cNvPr>
          <p:cNvPicPr>
            <a:picLocks noChangeAspect="1"/>
          </p:cNvPicPr>
          <p:nvPr/>
        </p:nvPicPr>
        <p:blipFill>
          <a:blip r:embed="rId2"/>
          <a:stretch>
            <a:fillRect/>
          </a:stretch>
        </p:blipFill>
        <p:spPr>
          <a:xfrm>
            <a:off x="182880" y="561019"/>
            <a:ext cx="8778240" cy="5735962"/>
          </a:xfrm>
          <a:prstGeom prst="rect">
            <a:avLst/>
          </a:prstGeom>
        </p:spPr>
      </p:pic>
    </p:spTree>
    <p:extLst>
      <p:ext uri="{BB962C8B-B14F-4D97-AF65-F5344CB8AC3E}">
        <p14:creationId xmlns:p14="http://schemas.microsoft.com/office/powerpoint/2010/main" val="4149317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E66EED-CF6C-1A7E-49B9-E216D6F96E65}"/>
              </a:ext>
            </a:extLst>
          </p:cNvPr>
          <p:cNvSpPr>
            <a:spLocks noGrp="1"/>
          </p:cNvSpPr>
          <p:nvPr>
            <p:ph type="sldNum" sz="quarter" idx="12"/>
          </p:nvPr>
        </p:nvSpPr>
        <p:spPr/>
        <p:txBody>
          <a:bodyPr/>
          <a:lstStyle/>
          <a:p>
            <a:fld id="{EBFB1032-EA64-7144-B003-9BCC9D94B503}" type="slidenum">
              <a:rPr lang="en-US" smtClean="0"/>
              <a:t>27</a:t>
            </a:fld>
            <a:endParaRPr lang="en-US" dirty="0"/>
          </a:p>
        </p:txBody>
      </p:sp>
      <p:pic>
        <p:nvPicPr>
          <p:cNvPr id="4" name="Picture 3">
            <a:extLst>
              <a:ext uri="{FF2B5EF4-FFF2-40B4-BE49-F238E27FC236}">
                <a16:creationId xmlns:a16="http://schemas.microsoft.com/office/drawing/2014/main" id="{42373951-A4BB-3C4A-C623-0512E1B27BDD}"/>
              </a:ext>
            </a:extLst>
          </p:cNvPr>
          <p:cNvPicPr>
            <a:picLocks noChangeAspect="1"/>
          </p:cNvPicPr>
          <p:nvPr/>
        </p:nvPicPr>
        <p:blipFill>
          <a:blip r:embed="rId2"/>
          <a:stretch>
            <a:fillRect/>
          </a:stretch>
        </p:blipFill>
        <p:spPr>
          <a:xfrm>
            <a:off x="1028223" y="45720"/>
            <a:ext cx="7087554" cy="6766560"/>
          </a:xfrm>
          <a:prstGeom prst="rect">
            <a:avLst/>
          </a:prstGeom>
          <a:ln>
            <a:solidFill>
              <a:schemeClr val="accent1"/>
            </a:solidFill>
          </a:ln>
        </p:spPr>
      </p:pic>
    </p:spTree>
    <p:extLst>
      <p:ext uri="{BB962C8B-B14F-4D97-AF65-F5344CB8AC3E}">
        <p14:creationId xmlns:p14="http://schemas.microsoft.com/office/powerpoint/2010/main" val="2208745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1DB9A4-9DC4-705D-77F7-48B82E5C01D0}"/>
              </a:ext>
            </a:extLst>
          </p:cNvPr>
          <p:cNvSpPr>
            <a:spLocks noGrp="1"/>
          </p:cNvSpPr>
          <p:nvPr>
            <p:ph type="sldNum" sz="quarter" idx="12"/>
          </p:nvPr>
        </p:nvSpPr>
        <p:spPr/>
        <p:txBody>
          <a:bodyPr/>
          <a:lstStyle/>
          <a:p>
            <a:fld id="{EBFB1032-EA64-7144-B003-9BCC9D94B503}" type="slidenum">
              <a:rPr lang="en-US" smtClean="0"/>
              <a:t>28</a:t>
            </a:fld>
            <a:endParaRPr lang="en-US" dirty="0"/>
          </a:p>
        </p:txBody>
      </p:sp>
      <p:pic>
        <p:nvPicPr>
          <p:cNvPr id="4" name="Picture 3">
            <a:extLst>
              <a:ext uri="{FF2B5EF4-FFF2-40B4-BE49-F238E27FC236}">
                <a16:creationId xmlns:a16="http://schemas.microsoft.com/office/drawing/2014/main" id="{9F447675-0F88-6F6C-07A4-224B9C517B95}"/>
              </a:ext>
            </a:extLst>
          </p:cNvPr>
          <p:cNvPicPr>
            <a:picLocks noChangeAspect="1"/>
          </p:cNvPicPr>
          <p:nvPr/>
        </p:nvPicPr>
        <p:blipFill>
          <a:blip r:embed="rId2"/>
          <a:stretch>
            <a:fillRect/>
          </a:stretch>
        </p:blipFill>
        <p:spPr>
          <a:xfrm>
            <a:off x="683334" y="45720"/>
            <a:ext cx="7777332" cy="6766560"/>
          </a:xfrm>
          <a:prstGeom prst="rect">
            <a:avLst/>
          </a:prstGeom>
          <a:ln>
            <a:solidFill>
              <a:schemeClr val="accent1"/>
            </a:solidFill>
          </a:ln>
        </p:spPr>
      </p:pic>
    </p:spTree>
    <p:extLst>
      <p:ext uri="{BB962C8B-B14F-4D97-AF65-F5344CB8AC3E}">
        <p14:creationId xmlns:p14="http://schemas.microsoft.com/office/powerpoint/2010/main" val="271285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4614B2-AE10-1A14-455A-3215CEF215A9}"/>
              </a:ext>
            </a:extLst>
          </p:cNvPr>
          <p:cNvSpPr>
            <a:spLocks noGrp="1"/>
          </p:cNvSpPr>
          <p:nvPr>
            <p:ph type="title"/>
          </p:nvPr>
        </p:nvSpPr>
        <p:spPr/>
        <p:txBody>
          <a:bodyPr>
            <a:noAutofit/>
          </a:bodyPr>
          <a:lstStyle/>
          <a:p>
            <a:r>
              <a:rPr lang="en-US" sz="2300" b="0" dirty="0"/>
              <a:t>The error is then adjusted at each layer &amp; sent back further using Backpropagation</a:t>
            </a:r>
          </a:p>
        </p:txBody>
      </p:sp>
      <p:sp>
        <p:nvSpPr>
          <p:cNvPr id="2" name="Slide Number Placeholder 1">
            <a:extLst>
              <a:ext uri="{FF2B5EF4-FFF2-40B4-BE49-F238E27FC236}">
                <a16:creationId xmlns:a16="http://schemas.microsoft.com/office/drawing/2014/main" id="{B92D09A2-1C22-C6C2-ED92-4AABE2D78961}"/>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pic>
        <p:nvPicPr>
          <p:cNvPr id="6" name="Picture 5" descr="A diagram of a machine learning">
            <a:extLst>
              <a:ext uri="{FF2B5EF4-FFF2-40B4-BE49-F238E27FC236}">
                <a16:creationId xmlns:a16="http://schemas.microsoft.com/office/drawing/2014/main" id="{83702215-37AB-73FA-9DF8-D4F927146010}"/>
              </a:ext>
            </a:extLst>
          </p:cNvPr>
          <p:cNvPicPr>
            <a:picLocks noChangeAspect="1"/>
          </p:cNvPicPr>
          <p:nvPr/>
        </p:nvPicPr>
        <p:blipFill>
          <a:blip r:embed="rId2"/>
          <a:srcRect t="1850" b="2752"/>
          <a:stretch/>
        </p:blipFill>
        <p:spPr>
          <a:xfrm>
            <a:off x="768480" y="1219200"/>
            <a:ext cx="7647142" cy="5368414"/>
          </a:xfrm>
          <a:prstGeom prst="rect">
            <a:avLst/>
          </a:prstGeom>
          <a:ln>
            <a:solidFill>
              <a:schemeClr val="accent1"/>
            </a:solidFill>
          </a:ln>
        </p:spPr>
      </p:pic>
    </p:spTree>
    <p:extLst>
      <p:ext uri="{BB962C8B-B14F-4D97-AF65-F5344CB8AC3E}">
        <p14:creationId xmlns:p14="http://schemas.microsoft.com/office/powerpoint/2010/main" val="433287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C514-4099-BF8F-3940-49DCA8D355D6}"/>
              </a:ext>
            </a:extLst>
          </p:cNvPr>
          <p:cNvSpPr>
            <a:spLocks noGrp="1"/>
          </p:cNvSpPr>
          <p:nvPr>
            <p:ph type="title"/>
          </p:nvPr>
        </p:nvSpPr>
        <p:spPr/>
        <p:txBody>
          <a:bodyPr/>
          <a:lstStyle/>
          <a:p>
            <a:r>
              <a:rPr lang="en-US" dirty="0"/>
              <a:t>Word2vec uses a single hidden layer</a:t>
            </a:r>
          </a:p>
        </p:txBody>
      </p:sp>
      <p:sp>
        <p:nvSpPr>
          <p:cNvPr id="3" name="Slide Number Placeholder 2">
            <a:extLst>
              <a:ext uri="{FF2B5EF4-FFF2-40B4-BE49-F238E27FC236}">
                <a16:creationId xmlns:a16="http://schemas.microsoft.com/office/drawing/2014/main" id="{CFE49BCB-ADFF-8AB0-5214-9C16F6F57AA2}"/>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sp>
        <p:nvSpPr>
          <p:cNvPr id="4" name="Content Placeholder 3">
            <a:extLst>
              <a:ext uri="{FF2B5EF4-FFF2-40B4-BE49-F238E27FC236}">
                <a16:creationId xmlns:a16="http://schemas.microsoft.com/office/drawing/2014/main" id="{B1FA2E83-2F4E-2069-E7D9-4CF1B55D9880}"/>
              </a:ext>
            </a:extLst>
          </p:cNvPr>
          <p:cNvSpPr>
            <a:spLocks noGrp="1"/>
          </p:cNvSpPr>
          <p:nvPr>
            <p:ph sz="quarter" idx="1"/>
          </p:nvPr>
        </p:nvSpPr>
        <p:spPr>
          <a:xfrm>
            <a:off x="120315" y="1600200"/>
            <a:ext cx="8943473" cy="5153526"/>
          </a:xfrm>
        </p:spPr>
        <p:txBody>
          <a:bodyPr>
            <a:noAutofit/>
          </a:bodyPr>
          <a:lstStyle/>
          <a:p>
            <a:pPr>
              <a:spcBef>
                <a:spcPts val="0"/>
              </a:spcBef>
            </a:pPr>
            <a:r>
              <a:rPr lang="en-US" sz="2200" dirty="0"/>
              <a:t>Word2vec uses a single hidden layer, fully connected neural network,</a:t>
            </a:r>
          </a:p>
          <a:p>
            <a:pPr>
              <a:spcBef>
                <a:spcPts val="0"/>
              </a:spcBef>
            </a:pPr>
            <a:r>
              <a:rPr lang="en-US" sz="2200" dirty="0"/>
              <a:t>The neurons in the hidden layer are all linear neurons.</a:t>
            </a:r>
          </a:p>
          <a:p>
            <a:pPr>
              <a:spcBef>
                <a:spcPts val="0"/>
              </a:spcBef>
            </a:pPr>
            <a:r>
              <a:rPr lang="en-US" sz="2200" dirty="0"/>
              <a:t>The input layer is set to have as many neurons as there are words in the vocabulary for training.</a:t>
            </a:r>
          </a:p>
          <a:p>
            <a:pPr>
              <a:spcBef>
                <a:spcPts val="0"/>
              </a:spcBef>
            </a:pPr>
            <a:r>
              <a:rPr lang="en-US" sz="2200" dirty="0"/>
              <a:t>The hidden layer size is set to the dimensionality of the resulting word vectors.</a:t>
            </a:r>
          </a:p>
          <a:p>
            <a:pPr>
              <a:spcBef>
                <a:spcPts val="0"/>
              </a:spcBef>
            </a:pPr>
            <a:r>
              <a:rPr lang="en-US" sz="2200" dirty="0"/>
              <a:t>The size of the output layer is same as the input layer.</a:t>
            </a:r>
          </a:p>
          <a:p>
            <a:pPr>
              <a:spcBef>
                <a:spcPts val="0"/>
              </a:spcBef>
            </a:pPr>
            <a:r>
              <a:rPr lang="en-US" sz="2200" dirty="0"/>
              <a:t>Thus, if the vocabulary for learning word vectors consists of V words and N to be the dimension of word vectors, the input to hidden layer connections can be represented by matrix </a:t>
            </a:r>
            <a:r>
              <a:rPr lang="en-US" sz="2200" i="1" dirty="0"/>
              <a:t>WI of size </a:t>
            </a:r>
            <a:r>
              <a:rPr lang="en-US" sz="2200" i="1" dirty="0" err="1"/>
              <a:t>VxN</a:t>
            </a:r>
            <a:r>
              <a:rPr lang="en-US" sz="2200" dirty="0"/>
              <a:t> with each row representing a vocabulary word.</a:t>
            </a:r>
          </a:p>
          <a:p>
            <a:pPr>
              <a:spcBef>
                <a:spcPts val="0"/>
              </a:spcBef>
            </a:pPr>
            <a:r>
              <a:rPr lang="en-US" sz="2200" dirty="0"/>
              <a:t>In same way, the connections from hidden layer to output layer can be described by matrix </a:t>
            </a:r>
            <a:r>
              <a:rPr lang="en-US" sz="2200" i="1" dirty="0"/>
              <a:t>WO of size </a:t>
            </a:r>
            <a:r>
              <a:rPr lang="en-US" sz="2200" i="1" dirty="0" err="1"/>
              <a:t>NxV</a:t>
            </a:r>
            <a:r>
              <a:rPr lang="en-US" sz="2200" dirty="0"/>
              <a:t>.</a:t>
            </a:r>
          </a:p>
          <a:p>
            <a:pPr>
              <a:spcBef>
                <a:spcPts val="0"/>
              </a:spcBef>
            </a:pPr>
            <a:r>
              <a:rPr lang="en-US" sz="2200" dirty="0"/>
              <a:t>In this case, each column of </a:t>
            </a:r>
            <a:r>
              <a:rPr lang="en-US" sz="2200" i="1" dirty="0"/>
              <a:t>WO</a:t>
            </a:r>
            <a:r>
              <a:rPr lang="en-US" sz="2200" dirty="0"/>
              <a:t> matrix represents a word from the given vocabulary.</a:t>
            </a:r>
          </a:p>
        </p:txBody>
      </p:sp>
    </p:spTree>
    <p:extLst>
      <p:ext uri="{BB962C8B-B14F-4D97-AF65-F5344CB8AC3E}">
        <p14:creationId xmlns:p14="http://schemas.microsoft.com/office/powerpoint/2010/main" val="520309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9835FC-D137-662C-5ABC-DE790880E73D}"/>
              </a:ext>
            </a:extLst>
          </p:cNvPr>
          <p:cNvSpPr>
            <a:spLocks noGrp="1"/>
          </p:cNvSpPr>
          <p:nvPr>
            <p:ph type="sldNum" sz="quarter" idx="12"/>
          </p:nvPr>
        </p:nvSpPr>
        <p:spPr/>
        <p:txBody>
          <a:bodyPr/>
          <a:lstStyle/>
          <a:p>
            <a:fld id="{EBFB1032-EA64-7144-B003-9BCC9D94B503}" type="slidenum">
              <a:rPr lang="en-US" smtClean="0"/>
              <a:t>31</a:t>
            </a:fld>
            <a:endParaRPr lang="en-US" dirty="0"/>
          </a:p>
        </p:txBody>
      </p:sp>
      <p:pic>
        <p:nvPicPr>
          <p:cNvPr id="8" name="Picture 7">
            <a:extLst>
              <a:ext uri="{FF2B5EF4-FFF2-40B4-BE49-F238E27FC236}">
                <a16:creationId xmlns:a16="http://schemas.microsoft.com/office/drawing/2014/main" id="{AC477421-6728-EC28-38FD-582A8AD95A64}"/>
              </a:ext>
            </a:extLst>
          </p:cNvPr>
          <p:cNvPicPr>
            <a:picLocks noChangeAspect="1"/>
          </p:cNvPicPr>
          <p:nvPr/>
        </p:nvPicPr>
        <p:blipFill>
          <a:blip r:embed="rId2"/>
          <a:stretch>
            <a:fillRect/>
          </a:stretch>
        </p:blipFill>
        <p:spPr>
          <a:xfrm>
            <a:off x="182880" y="986245"/>
            <a:ext cx="8778240" cy="4885509"/>
          </a:xfrm>
          <a:prstGeom prst="rect">
            <a:avLst/>
          </a:prstGeom>
          <a:ln>
            <a:solidFill>
              <a:schemeClr val="accent1"/>
            </a:solidFill>
          </a:ln>
        </p:spPr>
      </p:pic>
    </p:spTree>
    <p:extLst>
      <p:ext uri="{BB962C8B-B14F-4D97-AF65-F5344CB8AC3E}">
        <p14:creationId xmlns:p14="http://schemas.microsoft.com/office/powerpoint/2010/main" val="2204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BA8AB-5077-AB16-D6D0-EBCFFD6AD9A2}"/>
              </a:ext>
            </a:extLst>
          </p:cNvPr>
          <p:cNvSpPr>
            <a:spLocks noGrp="1"/>
          </p:cNvSpPr>
          <p:nvPr>
            <p:ph type="title"/>
          </p:nvPr>
        </p:nvSpPr>
        <p:spPr/>
        <p:txBody>
          <a:bodyPr/>
          <a:lstStyle/>
          <a:p>
            <a:r>
              <a:rPr lang="en-US" dirty="0"/>
              <a:t>Example:</a:t>
            </a:r>
          </a:p>
        </p:txBody>
      </p:sp>
      <p:sp>
        <p:nvSpPr>
          <p:cNvPr id="3" name="Slide Number Placeholder 2">
            <a:extLst>
              <a:ext uri="{FF2B5EF4-FFF2-40B4-BE49-F238E27FC236}">
                <a16:creationId xmlns:a16="http://schemas.microsoft.com/office/drawing/2014/main" id="{74281D3F-48D9-B472-C000-AD616AF6A984}"/>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sp>
        <p:nvSpPr>
          <p:cNvPr id="4" name="Content Placeholder 3">
            <a:extLst>
              <a:ext uri="{FF2B5EF4-FFF2-40B4-BE49-F238E27FC236}">
                <a16:creationId xmlns:a16="http://schemas.microsoft.com/office/drawing/2014/main" id="{0F5EB4D4-D591-E577-455F-7B6ADF55B166}"/>
              </a:ext>
            </a:extLst>
          </p:cNvPr>
          <p:cNvSpPr>
            <a:spLocks noGrp="1"/>
          </p:cNvSpPr>
          <p:nvPr>
            <p:ph sz="quarter" idx="1"/>
          </p:nvPr>
        </p:nvSpPr>
        <p:spPr/>
        <p:txBody>
          <a:bodyPr/>
          <a:lstStyle/>
          <a:p>
            <a:r>
              <a:rPr lang="en-US" dirty="0"/>
              <a:t>Let suppose we have a training corpus having the following sentences:</a:t>
            </a:r>
          </a:p>
          <a:p>
            <a:pPr marL="0" indent="0">
              <a:buNone/>
            </a:pPr>
            <a:r>
              <a:rPr lang="en-US" dirty="0"/>
              <a:t>      </a:t>
            </a:r>
            <a:r>
              <a:rPr lang="en-US" dirty="0">
                <a:solidFill>
                  <a:srgbClr val="0070C0"/>
                </a:solidFill>
              </a:rPr>
              <a:t>“the dog saw a cat”, “the dog chased the cat”, “the cat climbed a tree”</a:t>
            </a:r>
          </a:p>
          <a:p>
            <a:endParaRPr lang="en-US" dirty="0"/>
          </a:p>
          <a:p>
            <a:r>
              <a:rPr lang="en-US" dirty="0"/>
              <a:t>The corpus vocabulary has eight words.</a:t>
            </a:r>
          </a:p>
          <a:p>
            <a:r>
              <a:rPr lang="en-US" dirty="0"/>
              <a:t>Once ordered alphabetically, each word can be referenced by its index.</a:t>
            </a:r>
          </a:p>
          <a:p>
            <a:r>
              <a:rPr lang="en-US" dirty="0"/>
              <a:t>For this example, our neural network will have eight input neurons and eight output neurons.</a:t>
            </a:r>
          </a:p>
          <a:p>
            <a:r>
              <a:rPr lang="en-US" dirty="0"/>
              <a:t>Let us assume that we decide to use three neurons in the hidden layer.</a:t>
            </a:r>
          </a:p>
          <a:p>
            <a:r>
              <a:rPr lang="en-US" dirty="0"/>
              <a:t>This means that WI and WO will be 8×3 and 3×8 matrices, respectively. </a:t>
            </a:r>
          </a:p>
          <a:p>
            <a:r>
              <a:rPr lang="en-US" dirty="0"/>
              <a:t>Before training begins, these matrices are initialized to small random values as is usual in neural network training. </a:t>
            </a:r>
          </a:p>
        </p:txBody>
      </p:sp>
    </p:spTree>
    <p:extLst>
      <p:ext uri="{BB962C8B-B14F-4D97-AF65-F5344CB8AC3E}">
        <p14:creationId xmlns:p14="http://schemas.microsoft.com/office/powerpoint/2010/main" val="3393914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99733-9179-E0E2-2766-3BB07E196309}"/>
              </a:ext>
            </a:extLst>
          </p:cNvPr>
          <p:cNvSpPr>
            <a:spLocks noGrp="1"/>
          </p:cNvSpPr>
          <p:nvPr>
            <p:ph type="title"/>
          </p:nvPr>
        </p:nvSpPr>
        <p:spPr/>
        <p:txBody>
          <a:bodyPr>
            <a:normAutofit fontScale="90000"/>
          </a:bodyPr>
          <a:lstStyle/>
          <a:p>
            <a:r>
              <a:rPr lang="en-US" dirty="0"/>
              <a:t>For the illustration sake, let us assume </a:t>
            </a:r>
            <a:r>
              <a:rPr lang="en-US" i="1" dirty="0"/>
              <a:t>WI</a:t>
            </a:r>
            <a:r>
              <a:rPr lang="en-US" dirty="0"/>
              <a:t> and </a:t>
            </a:r>
            <a:r>
              <a:rPr lang="en-US" i="1" dirty="0"/>
              <a:t>WO</a:t>
            </a:r>
            <a:r>
              <a:rPr lang="en-US" dirty="0"/>
              <a:t> to be initialized to the following values</a:t>
            </a:r>
          </a:p>
        </p:txBody>
      </p:sp>
      <p:sp>
        <p:nvSpPr>
          <p:cNvPr id="3" name="Slide Number Placeholder 2">
            <a:extLst>
              <a:ext uri="{FF2B5EF4-FFF2-40B4-BE49-F238E27FC236}">
                <a16:creationId xmlns:a16="http://schemas.microsoft.com/office/drawing/2014/main" id="{C2F4F8BD-8FF4-4B4B-7B44-B346CA47C6BE}"/>
              </a:ext>
            </a:extLst>
          </p:cNvPr>
          <p:cNvSpPr>
            <a:spLocks noGrp="1"/>
          </p:cNvSpPr>
          <p:nvPr>
            <p:ph type="sldNum" sz="quarter" idx="12"/>
          </p:nvPr>
        </p:nvSpPr>
        <p:spPr/>
        <p:txBody>
          <a:bodyPr>
            <a:normAutofit fontScale="85000" lnSpcReduction="20000"/>
          </a:bodyPr>
          <a:lstStyle/>
          <a:p>
            <a:fld id="{EBFB1032-EA64-7144-B003-9BCC9D94B503}" type="slidenum">
              <a:rPr lang="en-US" smtClean="0"/>
              <a:t>33</a:t>
            </a:fld>
            <a:endParaRPr lang="en-US" dirty="0"/>
          </a:p>
        </p:txBody>
      </p:sp>
      <p:pic>
        <p:nvPicPr>
          <p:cNvPr id="6" name="Picture 5" descr="A number and numbers on a white background&#10;&#10;AI-generated content may be incorrect.">
            <a:extLst>
              <a:ext uri="{FF2B5EF4-FFF2-40B4-BE49-F238E27FC236}">
                <a16:creationId xmlns:a16="http://schemas.microsoft.com/office/drawing/2014/main" id="{C1E1F1FA-0F22-165B-30B3-396D4D0501E9}"/>
              </a:ext>
            </a:extLst>
          </p:cNvPr>
          <p:cNvPicPr>
            <a:picLocks noChangeAspect="1"/>
          </p:cNvPicPr>
          <p:nvPr/>
        </p:nvPicPr>
        <p:blipFill>
          <a:blip r:embed="rId2"/>
          <a:stretch>
            <a:fillRect/>
          </a:stretch>
        </p:blipFill>
        <p:spPr>
          <a:xfrm>
            <a:off x="202931" y="1751355"/>
            <a:ext cx="8778240" cy="4635165"/>
          </a:xfrm>
          <a:prstGeom prst="rect">
            <a:avLst/>
          </a:prstGeom>
        </p:spPr>
      </p:pic>
    </p:spTree>
    <p:extLst>
      <p:ext uri="{BB962C8B-B14F-4D97-AF65-F5344CB8AC3E}">
        <p14:creationId xmlns:p14="http://schemas.microsoft.com/office/powerpoint/2010/main" val="999707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6C5E1-B294-3648-28E8-9AECCCA5810A}"/>
              </a:ext>
            </a:extLst>
          </p:cNvPr>
          <p:cNvSpPr>
            <a:spLocks noGrp="1"/>
          </p:cNvSpPr>
          <p:nvPr>
            <p:ph type="title"/>
          </p:nvPr>
        </p:nvSpPr>
        <p:spPr/>
        <p:txBody>
          <a:bodyPr>
            <a:normAutofit fontScale="90000"/>
          </a:bodyPr>
          <a:lstStyle/>
          <a:p>
            <a:r>
              <a:rPr lang="en-US" dirty="0"/>
              <a:t>Suppose we want the network to learn relationship between the words “cat” and “climbed”</a:t>
            </a:r>
          </a:p>
        </p:txBody>
      </p:sp>
      <p:sp>
        <p:nvSpPr>
          <p:cNvPr id="3" name="Slide Number Placeholder 2">
            <a:extLst>
              <a:ext uri="{FF2B5EF4-FFF2-40B4-BE49-F238E27FC236}">
                <a16:creationId xmlns:a16="http://schemas.microsoft.com/office/drawing/2014/main" id="{6A12577C-F591-9799-0B9F-9012E145E4E3}"/>
              </a:ext>
            </a:extLst>
          </p:cNvPr>
          <p:cNvSpPr>
            <a:spLocks noGrp="1"/>
          </p:cNvSpPr>
          <p:nvPr>
            <p:ph type="sldNum" sz="quarter" idx="12"/>
          </p:nvPr>
        </p:nvSpPr>
        <p:spPr/>
        <p:txBody>
          <a:bodyPr>
            <a:normAutofit fontScale="85000" lnSpcReduction="20000"/>
          </a:bodyPr>
          <a:lstStyle/>
          <a:p>
            <a:fld id="{EBFB1032-EA64-7144-B003-9BCC9D94B503}" type="slidenum">
              <a:rPr lang="en-US" smtClean="0"/>
              <a:t>34</a:t>
            </a:fld>
            <a:endParaRPr lang="en-US" dirty="0"/>
          </a:p>
        </p:txBody>
      </p:sp>
      <p:sp>
        <p:nvSpPr>
          <p:cNvPr id="4" name="Content Placeholder 3">
            <a:extLst>
              <a:ext uri="{FF2B5EF4-FFF2-40B4-BE49-F238E27FC236}">
                <a16:creationId xmlns:a16="http://schemas.microsoft.com/office/drawing/2014/main" id="{726DA7CC-D15B-AC25-7CE0-C071AB59AC7A}"/>
              </a:ext>
            </a:extLst>
          </p:cNvPr>
          <p:cNvSpPr>
            <a:spLocks noGrp="1"/>
          </p:cNvSpPr>
          <p:nvPr>
            <p:ph sz="quarter" idx="1"/>
          </p:nvPr>
        </p:nvSpPr>
        <p:spPr/>
        <p:txBody>
          <a:bodyPr>
            <a:noAutofit/>
          </a:bodyPr>
          <a:lstStyle/>
          <a:p>
            <a:pPr>
              <a:lnSpc>
                <a:spcPct val="90000"/>
              </a:lnSpc>
              <a:spcBef>
                <a:spcPts val="0"/>
              </a:spcBef>
            </a:pPr>
            <a:r>
              <a:rPr lang="en-US" sz="2200" dirty="0"/>
              <a:t>That is, the network should show a high probability for “climbed” when “cat” is inputted to the network.</a:t>
            </a:r>
          </a:p>
          <a:p>
            <a:pPr>
              <a:lnSpc>
                <a:spcPct val="90000"/>
              </a:lnSpc>
              <a:spcBef>
                <a:spcPts val="0"/>
              </a:spcBef>
            </a:pPr>
            <a:r>
              <a:rPr lang="en-US" sz="2200" dirty="0"/>
              <a:t>In word embedding terminology, the word “cat” is referred as the context word and the word “climbed” is referred as the target word.</a:t>
            </a:r>
          </a:p>
          <a:p>
            <a:pPr>
              <a:lnSpc>
                <a:spcPct val="90000"/>
              </a:lnSpc>
              <a:spcBef>
                <a:spcPts val="0"/>
              </a:spcBef>
            </a:pPr>
            <a:r>
              <a:rPr lang="en-US" sz="2200" dirty="0"/>
              <a:t>In this case, the input vector X will be </a:t>
            </a:r>
            <a:r>
              <a:rPr lang="en-US" sz="2200" b="1" dirty="0">
                <a:solidFill>
                  <a:srgbClr val="0070C0"/>
                </a:solidFill>
                <a:latin typeface="Courier New" panose="02070309020205020404" pitchFamily="49" charset="0"/>
                <a:cs typeface="Courier New" panose="02070309020205020404" pitchFamily="49" charset="0"/>
              </a:rPr>
              <a:t>[0 1 0 0 0 0 0 0]</a:t>
            </a:r>
            <a:r>
              <a:rPr lang="en-US" sz="2200" dirty="0"/>
              <a:t>. Notice that only the second component of the vector is 1.</a:t>
            </a:r>
          </a:p>
          <a:p>
            <a:pPr>
              <a:lnSpc>
                <a:spcPct val="90000"/>
              </a:lnSpc>
              <a:spcBef>
                <a:spcPts val="0"/>
              </a:spcBef>
            </a:pPr>
            <a:r>
              <a:rPr lang="en-US" sz="2200" dirty="0"/>
              <a:t>This is because the input word is “cat” which is holding number two position in sorted list of corpus words.</a:t>
            </a:r>
          </a:p>
          <a:p>
            <a:pPr>
              <a:lnSpc>
                <a:spcPct val="90000"/>
              </a:lnSpc>
              <a:spcBef>
                <a:spcPts val="0"/>
              </a:spcBef>
            </a:pPr>
            <a:r>
              <a:rPr lang="en-US" sz="2200" dirty="0"/>
              <a:t>Given that the target word is “climbed”, the target vector will look like</a:t>
            </a:r>
          </a:p>
          <a:p>
            <a:pPr marL="0" indent="0">
              <a:lnSpc>
                <a:spcPct val="90000"/>
              </a:lnSpc>
              <a:spcBef>
                <a:spcPts val="0"/>
              </a:spcBef>
              <a:buNone/>
            </a:pPr>
            <a:r>
              <a:rPr lang="en-US" sz="2200" dirty="0"/>
              <a:t>	</a:t>
            </a:r>
            <a:r>
              <a:rPr lang="en-US" sz="2200" b="1" dirty="0">
                <a:solidFill>
                  <a:srgbClr val="0070C0"/>
                </a:solidFill>
                <a:latin typeface="Courier New" panose="02070309020205020404" pitchFamily="49" charset="0"/>
                <a:cs typeface="Courier New" panose="02070309020205020404" pitchFamily="49" charset="0"/>
              </a:rPr>
              <a:t>[0 0 0 1 0 0 0 0 ]</a:t>
            </a:r>
            <a:r>
              <a:rPr lang="en-US" sz="2200" dirty="0">
                <a:solidFill>
                  <a:srgbClr val="0070C0"/>
                </a:solidFill>
                <a:latin typeface="Courier New" panose="02070309020205020404" pitchFamily="49" charset="0"/>
                <a:cs typeface="Courier New" panose="02070309020205020404" pitchFamily="49" charset="0"/>
              </a:rPr>
              <a:t>.</a:t>
            </a:r>
          </a:p>
          <a:p>
            <a:pPr>
              <a:lnSpc>
                <a:spcPct val="90000"/>
              </a:lnSpc>
              <a:spcBef>
                <a:spcPts val="0"/>
              </a:spcBef>
            </a:pPr>
            <a:r>
              <a:rPr lang="en-US" sz="2200" dirty="0"/>
              <a:t>With the input vector representing “cat”, the output at the hidden layer neurons can be computed as:</a:t>
            </a:r>
          </a:p>
          <a:p>
            <a:pPr marL="0" indent="0">
              <a:lnSpc>
                <a:spcPct val="90000"/>
              </a:lnSpc>
              <a:spcBef>
                <a:spcPts val="0"/>
              </a:spcBef>
              <a:buNone/>
            </a:pPr>
            <a:r>
              <a:rPr lang="en-US" sz="2200" dirty="0"/>
              <a:t>	</a:t>
            </a:r>
            <a:r>
              <a:rPr lang="en-US" sz="2200" b="1" dirty="0" err="1">
                <a:solidFill>
                  <a:srgbClr val="0070C0"/>
                </a:solidFill>
                <a:latin typeface="Courier New" panose="02070309020205020404" pitchFamily="49" charset="0"/>
                <a:cs typeface="Courier New" panose="02070309020205020404" pitchFamily="49" charset="0"/>
              </a:rPr>
              <a:t>Ht</a:t>
            </a:r>
            <a:r>
              <a:rPr lang="en-US" sz="2200" b="1" dirty="0">
                <a:solidFill>
                  <a:srgbClr val="0070C0"/>
                </a:solidFill>
                <a:latin typeface="Courier New" panose="02070309020205020404" pitchFamily="49" charset="0"/>
                <a:cs typeface="Courier New" panose="02070309020205020404" pitchFamily="49" charset="0"/>
              </a:rPr>
              <a:t> = </a:t>
            </a:r>
            <a:r>
              <a:rPr lang="en-US" sz="2200" b="1" dirty="0" err="1">
                <a:solidFill>
                  <a:srgbClr val="0070C0"/>
                </a:solidFill>
                <a:latin typeface="Courier New" panose="02070309020205020404" pitchFamily="49" charset="0"/>
                <a:cs typeface="Courier New" panose="02070309020205020404" pitchFamily="49" charset="0"/>
              </a:rPr>
              <a:t>XtWI</a:t>
            </a:r>
            <a:r>
              <a:rPr lang="en-US" sz="2200" b="1" dirty="0">
                <a:solidFill>
                  <a:srgbClr val="0070C0"/>
                </a:solidFill>
                <a:latin typeface="Courier New" panose="02070309020205020404" pitchFamily="49" charset="0"/>
                <a:cs typeface="Courier New" panose="02070309020205020404" pitchFamily="49" charset="0"/>
              </a:rPr>
              <a:t> = [-0.490796 -0.229903 0.065460]</a:t>
            </a:r>
          </a:p>
          <a:p>
            <a:pPr>
              <a:lnSpc>
                <a:spcPct val="90000"/>
              </a:lnSpc>
              <a:spcBef>
                <a:spcPts val="0"/>
              </a:spcBef>
            </a:pPr>
            <a:r>
              <a:rPr lang="en-US" sz="2200" dirty="0"/>
              <a:t>It should not surprise us that the vector H of hidden neuron outputs mimics the weights of the second row of WI matrix because </a:t>
            </a:r>
            <a:r>
              <a:rPr lang="en-US" sz="2200"/>
              <a:t>of 1-out-of-V representation</a:t>
            </a:r>
            <a:r>
              <a:rPr lang="en-US" sz="2200" dirty="0"/>
              <a:t>.</a:t>
            </a:r>
          </a:p>
          <a:p>
            <a:pPr>
              <a:lnSpc>
                <a:spcPct val="90000"/>
              </a:lnSpc>
              <a:spcBef>
                <a:spcPts val="0"/>
              </a:spcBef>
            </a:pPr>
            <a:r>
              <a:rPr lang="en-US" sz="2200" dirty="0"/>
              <a:t>So the function of the input to hidden layer connections is basically to copy the input word vector to hidden layer. </a:t>
            </a:r>
          </a:p>
        </p:txBody>
      </p:sp>
    </p:spTree>
    <p:extLst>
      <p:ext uri="{BB962C8B-B14F-4D97-AF65-F5344CB8AC3E}">
        <p14:creationId xmlns:p14="http://schemas.microsoft.com/office/powerpoint/2010/main" val="1117736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9BFA8-1D9E-A361-16FE-A25DDBCD9779}"/>
              </a:ext>
            </a:extLst>
          </p:cNvPr>
          <p:cNvSpPr>
            <a:spLocks noGrp="1"/>
          </p:cNvSpPr>
          <p:nvPr>
            <p:ph type="title"/>
          </p:nvPr>
        </p:nvSpPr>
        <p:spPr/>
        <p:txBody>
          <a:bodyPr/>
          <a:lstStyle/>
          <a:p>
            <a:r>
              <a:rPr lang="en-US" dirty="0"/>
              <a:t>The activation vector for output layer neurons</a:t>
            </a:r>
          </a:p>
        </p:txBody>
      </p:sp>
      <p:sp>
        <p:nvSpPr>
          <p:cNvPr id="3" name="Slide Number Placeholder 2">
            <a:extLst>
              <a:ext uri="{FF2B5EF4-FFF2-40B4-BE49-F238E27FC236}">
                <a16:creationId xmlns:a16="http://schemas.microsoft.com/office/drawing/2014/main" id="{DD44B006-0977-72D0-6008-722F84EBD09B}"/>
              </a:ext>
            </a:extLst>
          </p:cNvPr>
          <p:cNvSpPr>
            <a:spLocks noGrp="1"/>
          </p:cNvSpPr>
          <p:nvPr>
            <p:ph type="sldNum" sz="quarter" idx="12"/>
          </p:nvPr>
        </p:nvSpPr>
        <p:spPr/>
        <p:txBody>
          <a:bodyPr>
            <a:normAutofit fontScale="85000" lnSpcReduction="20000"/>
          </a:bodyPr>
          <a:lstStyle/>
          <a:p>
            <a:fld id="{EBFB1032-EA64-7144-B003-9BCC9D94B503}" type="slidenum">
              <a:rPr lang="en-US" smtClean="0"/>
              <a:t>35</a:t>
            </a:fld>
            <a:endParaRPr lang="en-US" dirty="0"/>
          </a:p>
        </p:txBody>
      </p:sp>
      <p:sp>
        <p:nvSpPr>
          <p:cNvPr id="4" name="Content Placeholder 3">
            <a:extLst>
              <a:ext uri="{FF2B5EF4-FFF2-40B4-BE49-F238E27FC236}">
                <a16:creationId xmlns:a16="http://schemas.microsoft.com/office/drawing/2014/main" id="{264F8885-FA75-2B2C-0203-48F64DE08514}"/>
              </a:ext>
            </a:extLst>
          </p:cNvPr>
          <p:cNvSpPr>
            <a:spLocks noGrp="1"/>
          </p:cNvSpPr>
          <p:nvPr>
            <p:ph sz="quarter" idx="1"/>
          </p:nvPr>
        </p:nvSpPr>
        <p:spPr/>
        <p:txBody>
          <a:bodyPr>
            <a:normAutofit/>
          </a:bodyPr>
          <a:lstStyle/>
          <a:p>
            <a:pPr>
              <a:spcBef>
                <a:spcPts val="0"/>
              </a:spcBef>
            </a:pPr>
            <a:r>
              <a:rPr lang="en-US" sz="2200" dirty="0"/>
              <a:t>Carrying out similar manipulations for hidden to output layer, the activation vector for output layer neurons can be written as</a:t>
            </a:r>
          </a:p>
          <a:p>
            <a:pPr marL="0" indent="0">
              <a:spcBef>
                <a:spcPts val="0"/>
              </a:spcBef>
              <a:buNone/>
            </a:pPr>
            <a:r>
              <a:rPr lang="en-US" sz="2200" dirty="0" err="1">
                <a:solidFill>
                  <a:srgbClr val="0070C0"/>
                </a:solidFill>
              </a:rPr>
              <a:t>HtWO</a:t>
            </a:r>
            <a:r>
              <a:rPr lang="en-US" sz="2200" dirty="0">
                <a:solidFill>
                  <a:srgbClr val="0070C0"/>
                </a:solidFill>
              </a:rPr>
              <a:t> = [0.100934 -0.309331 -0.122361 -0.151399 0.143463 -0.051262 -0.079686 0.112928]</a:t>
            </a:r>
          </a:p>
          <a:p>
            <a:pPr>
              <a:spcBef>
                <a:spcPts val="0"/>
              </a:spcBef>
            </a:pPr>
            <a:r>
              <a:rPr lang="en-US" sz="2200" dirty="0"/>
              <a:t>Since, the goal is produce probabilities for words in the output layer, </a:t>
            </a:r>
            <a:r>
              <a:rPr lang="en-US" sz="2200" b="1" dirty="0" err="1">
                <a:solidFill>
                  <a:srgbClr val="0070C0"/>
                </a:solidFill>
              </a:rPr>
              <a:t>Pr</a:t>
            </a:r>
            <a:r>
              <a:rPr lang="en-US" sz="2200" b="1" dirty="0">
                <a:solidFill>
                  <a:srgbClr val="0070C0"/>
                </a:solidFill>
              </a:rPr>
              <a:t>(</a:t>
            </a:r>
            <a:r>
              <a:rPr lang="en-US" sz="2200" b="1" dirty="0" err="1">
                <a:solidFill>
                  <a:srgbClr val="0070C0"/>
                </a:solidFill>
              </a:rPr>
              <a:t>wordk|wordcontext</a:t>
            </a:r>
            <a:r>
              <a:rPr lang="en-US" sz="2200" b="1" dirty="0">
                <a:solidFill>
                  <a:srgbClr val="0070C0"/>
                </a:solidFill>
              </a:rPr>
              <a:t>) for k = 1, V</a:t>
            </a:r>
          </a:p>
          <a:p>
            <a:pPr marL="0" indent="0">
              <a:spcBef>
                <a:spcPts val="0"/>
              </a:spcBef>
              <a:buNone/>
            </a:pPr>
            <a:r>
              <a:rPr lang="en-US" sz="2200" dirty="0"/>
              <a:t>     to reflect their next word relationship with the context word at input, we need the     </a:t>
            </a:r>
          </a:p>
          <a:p>
            <a:pPr marL="0" indent="0">
              <a:spcBef>
                <a:spcPts val="0"/>
              </a:spcBef>
              <a:buNone/>
            </a:pPr>
            <a:r>
              <a:rPr lang="en-US" sz="2200" dirty="0"/>
              <a:t>     sum of neuron outputs in the output layer to add to one.</a:t>
            </a:r>
          </a:p>
          <a:p>
            <a:pPr>
              <a:spcBef>
                <a:spcPts val="0"/>
              </a:spcBef>
            </a:pPr>
            <a:r>
              <a:rPr lang="en-US" sz="2200" dirty="0"/>
              <a:t>Word2vec achieves this by converting activation values of output layer neurons to probabilities using the </a:t>
            </a:r>
            <a:r>
              <a:rPr lang="en-US" sz="2200" dirty="0" err="1"/>
              <a:t>softmax</a:t>
            </a:r>
            <a:r>
              <a:rPr lang="en-US" sz="2200" dirty="0"/>
              <a:t> function.</a:t>
            </a:r>
          </a:p>
          <a:p>
            <a:pPr>
              <a:spcBef>
                <a:spcPts val="0"/>
              </a:spcBef>
            </a:pPr>
            <a:r>
              <a:rPr lang="en-US" sz="2200" dirty="0"/>
              <a:t>Thus, the output of the k-</a:t>
            </a:r>
            <a:r>
              <a:rPr lang="en-US" sz="2200" dirty="0" err="1"/>
              <a:t>th</a:t>
            </a:r>
            <a:r>
              <a:rPr lang="en-US" sz="2200" dirty="0"/>
              <a:t> neuron is computed by the following expression where activation(n) represents the activation value of the n-</a:t>
            </a:r>
            <a:r>
              <a:rPr lang="en-US" sz="2200" dirty="0" err="1"/>
              <a:t>th</a:t>
            </a:r>
            <a:r>
              <a:rPr lang="en-US" sz="2200" dirty="0"/>
              <a:t> output layer neuron:</a:t>
            </a:r>
          </a:p>
          <a:p>
            <a:pPr>
              <a:spcBef>
                <a:spcPts val="0"/>
              </a:spcBef>
            </a:pPr>
            <a:endParaRPr lang="en-US" sz="2200" dirty="0"/>
          </a:p>
          <a:p>
            <a:pPr>
              <a:spcBef>
                <a:spcPts val="0"/>
              </a:spcBef>
            </a:pPr>
            <a:endParaRPr lang="en-US" sz="2200" dirty="0"/>
          </a:p>
        </p:txBody>
      </p:sp>
      <p:pic>
        <p:nvPicPr>
          <p:cNvPr id="7" name="Picture 6" descr="A mathematical equation with black text&#10;&#10;AI-generated content may be incorrect.">
            <a:extLst>
              <a:ext uri="{FF2B5EF4-FFF2-40B4-BE49-F238E27FC236}">
                <a16:creationId xmlns:a16="http://schemas.microsoft.com/office/drawing/2014/main" id="{3237E974-3380-B21B-39D4-E3693904A24D}"/>
              </a:ext>
            </a:extLst>
          </p:cNvPr>
          <p:cNvPicPr>
            <a:picLocks noChangeAspect="1"/>
          </p:cNvPicPr>
          <p:nvPr/>
        </p:nvPicPr>
        <p:blipFill>
          <a:blip r:embed="rId2"/>
          <a:srcRect l="4496" t="17689" r="6702" b="10469"/>
          <a:stretch/>
        </p:blipFill>
        <p:spPr>
          <a:xfrm>
            <a:off x="2217560" y="5786356"/>
            <a:ext cx="4748981" cy="967370"/>
          </a:xfrm>
          <a:prstGeom prst="rect">
            <a:avLst/>
          </a:prstGeom>
          <a:ln>
            <a:solidFill>
              <a:schemeClr val="accent1"/>
            </a:solidFill>
          </a:ln>
        </p:spPr>
      </p:pic>
    </p:spTree>
    <p:extLst>
      <p:ext uri="{BB962C8B-B14F-4D97-AF65-F5344CB8AC3E}">
        <p14:creationId xmlns:p14="http://schemas.microsoft.com/office/powerpoint/2010/main" val="1398678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06E4-6251-D6F9-8374-091CE0C619FE}"/>
              </a:ext>
            </a:extLst>
          </p:cNvPr>
          <p:cNvSpPr>
            <a:spLocks noGrp="1"/>
          </p:cNvSpPr>
          <p:nvPr>
            <p:ph type="title"/>
          </p:nvPr>
        </p:nvSpPr>
        <p:spPr/>
        <p:txBody>
          <a:bodyPr/>
          <a:lstStyle/>
          <a:p>
            <a:r>
              <a:rPr lang="en-US" dirty="0"/>
              <a:t>Probabilities</a:t>
            </a:r>
          </a:p>
        </p:txBody>
      </p:sp>
      <p:sp>
        <p:nvSpPr>
          <p:cNvPr id="3" name="Slide Number Placeholder 2">
            <a:extLst>
              <a:ext uri="{FF2B5EF4-FFF2-40B4-BE49-F238E27FC236}">
                <a16:creationId xmlns:a16="http://schemas.microsoft.com/office/drawing/2014/main" id="{05CDB8A6-5334-B8E4-4394-F8BB27FCA41C}"/>
              </a:ext>
            </a:extLst>
          </p:cNvPr>
          <p:cNvSpPr>
            <a:spLocks noGrp="1"/>
          </p:cNvSpPr>
          <p:nvPr>
            <p:ph type="sldNum" sz="quarter" idx="12"/>
          </p:nvPr>
        </p:nvSpPr>
        <p:spPr/>
        <p:txBody>
          <a:bodyPr>
            <a:normAutofit fontScale="85000" lnSpcReduction="20000"/>
          </a:bodyPr>
          <a:lstStyle/>
          <a:p>
            <a:fld id="{EBFB1032-EA64-7144-B003-9BCC9D94B503}" type="slidenum">
              <a:rPr lang="en-US" smtClean="0"/>
              <a:t>36</a:t>
            </a:fld>
            <a:endParaRPr lang="en-US" dirty="0"/>
          </a:p>
        </p:txBody>
      </p:sp>
      <p:sp>
        <p:nvSpPr>
          <p:cNvPr id="4" name="Content Placeholder 3">
            <a:extLst>
              <a:ext uri="{FF2B5EF4-FFF2-40B4-BE49-F238E27FC236}">
                <a16:creationId xmlns:a16="http://schemas.microsoft.com/office/drawing/2014/main" id="{63AEF3D9-8291-2222-66ED-6290D5197A74}"/>
              </a:ext>
            </a:extLst>
          </p:cNvPr>
          <p:cNvSpPr>
            <a:spLocks noGrp="1"/>
          </p:cNvSpPr>
          <p:nvPr>
            <p:ph sz="quarter" idx="1"/>
          </p:nvPr>
        </p:nvSpPr>
        <p:spPr/>
        <p:txBody>
          <a:bodyPr>
            <a:normAutofit/>
          </a:bodyPr>
          <a:lstStyle/>
          <a:p>
            <a:r>
              <a:rPr lang="en-US" dirty="0"/>
              <a:t>Thus, the probabilities for eight words in the corpus are:</a:t>
            </a:r>
          </a:p>
          <a:p>
            <a:pPr marL="0" indent="0">
              <a:buNone/>
            </a:pPr>
            <a:r>
              <a:rPr lang="en-US" dirty="0"/>
              <a:t>     </a:t>
            </a:r>
            <a:r>
              <a:rPr lang="en-US" sz="2300" dirty="0">
                <a:solidFill>
                  <a:srgbClr val="0070C0"/>
                </a:solidFill>
              </a:rPr>
              <a:t>0.143073 0.094925 0.114441 </a:t>
            </a:r>
            <a:r>
              <a:rPr lang="en-US" sz="2300" b="1" dirty="0">
                <a:solidFill>
                  <a:srgbClr val="0070C0"/>
                </a:solidFill>
              </a:rPr>
              <a:t>0.111166</a:t>
            </a:r>
            <a:r>
              <a:rPr lang="en-US" sz="2300" dirty="0">
                <a:solidFill>
                  <a:srgbClr val="0070C0"/>
                </a:solidFill>
              </a:rPr>
              <a:t> 0.149289 0.122874 0.119431 0.144800</a:t>
            </a:r>
            <a:endParaRPr lang="en-US" sz="2300" dirty="0"/>
          </a:p>
          <a:p>
            <a:r>
              <a:rPr lang="en-US" dirty="0"/>
              <a:t>The probability in bold is for the chosen target word “climbed”.</a:t>
            </a:r>
          </a:p>
          <a:p>
            <a:r>
              <a:rPr lang="en-US" dirty="0"/>
              <a:t>Given the target vector [0 0 0 1 0 0 0 0 ]t, the error vector for the output layer is easily computed by subtracting the probability vector from the target vector.</a:t>
            </a:r>
          </a:p>
          <a:p>
            <a:r>
              <a:rPr lang="en-US" dirty="0"/>
              <a:t>Once the error is known, the weights in the matrices WO and WI can be updated using backpropagation.</a:t>
            </a:r>
          </a:p>
          <a:p>
            <a:r>
              <a:rPr lang="en-US" dirty="0"/>
              <a:t>Thus, the training can proceed by presenting different context-target words pair from the corpus.</a:t>
            </a:r>
          </a:p>
          <a:p>
            <a:r>
              <a:rPr lang="en-US" dirty="0"/>
              <a:t>This is how Word2vec learns relationships between words and in the process develops vector representations for words in the corpus.</a:t>
            </a:r>
          </a:p>
        </p:txBody>
      </p:sp>
    </p:spTree>
    <p:extLst>
      <p:ext uri="{BB962C8B-B14F-4D97-AF65-F5344CB8AC3E}">
        <p14:creationId xmlns:p14="http://schemas.microsoft.com/office/powerpoint/2010/main" val="441418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DC7878-9191-9B85-2C71-259287D2827B}"/>
              </a:ext>
            </a:extLst>
          </p:cNvPr>
          <p:cNvSpPr>
            <a:spLocks noGrp="1"/>
          </p:cNvSpPr>
          <p:nvPr>
            <p:ph type="sldNum" sz="quarter" idx="12"/>
          </p:nvPr>
        </p:nvSpPr>
        <p:spPr/>
        <p:txBody>
          <a:bodyPr/>
          <a:lstStyle/>
          <a:p>
            <a:fld id="{EBFB1032-EA64-7144-B003-9BCC9D94B503}" type="slidenum">
              <a:rPr lang="en-US" smtClean="0"/>
              <a:t>37</a:t>
            </a:fld>
            <a:endParaRPr lang="en-US" dirty="0"/>
          </a:p>
        </p:txBody>
      </p:sp>
      <p:pic>
        <p:nvPicPr>
          <p:cNvPr id="6" name="Picture 5">
            <a:extLst>
              <a:ext uri="{FF2B5EF4-FFF2-40B4-BE49-F238E27FC236}">
                <a16:creationId xmlns:a16="http://schemas.microsoft.com/office/drawing/2014/main" id="{BB23E2DC-F3C6-B562-5564-A074D21114EA}"/>
              </a:ext>
            </a:extLst>
          </p:cNvPr>
          <p:cNvPicPr>
            <a:picLocks noChangeAspect="1"/>
          </p:cNvPicPr>
          <p:nvPr/>
        </p:nvPicPr>
        <p:blipFill>
          <a:blip r:embed="rId2"/>
          <a:stretch>
            <a:fillRect/>
          </a:stretch>
        </p:blipFill>
        <p:spPr>
          <a:xfrm>
            <a:off x="182880" y="1044866"/>
            <a:ext cx="8778240" cy="4768268"/>
          </a:xfrm>
          <a:prstGeom prst="rect">
            <a:avLst/>
          </a:prstGeom>
          <a:ln>
            <a:solidFill>
              <a:schemeClr val="accent1"/>
            </a:solidFill>
          </a:ln>
        </p:spPr>
      </p:pic>
    </p:spTree>
    <p:extLst>
      <p:ext uri="{BB962C8B-B14F-4D97-AF65-F5344CB8AC3E}">
        <p14:creationId xmlns:p14="http://schemas.microsoft.com/office/powerpoint/2010/main" val="203808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8580-C0DE-D888-1015-A14F6E34336E}"/>
              </a:ext>
            </a:extLst>
          </p:cNvPr>
          <p:cNvSpPr>
            <a:spLocks noGrp="1"/>
          </p:cNvSpPr>
          <p:nvPr>
            <p:ph type="title"/>
          </p:nvPr>
        </p:nvSpPr>
        <p:spPr/>
        <p:txBody>
          <a:bodyPr/>
          <a:lstStyle/>
          <a:p>
            <a:r>
              <a:rPr lang="en-US" sz="4000" dirty="0"/>
              <a:t>Human meaning</a:t>
            </a:r>
            <a:endParaRPr lang="en-US" dirty="0"/>
          </a:p>
        </p:txBody>
      </p:sp>
      <p:sp>
        <p:nvSpPr>
          <p:cNvPr id="3" name="Slide Number Placeholder 2">
            <a:extLst>
              <a:ext uri="{FF2B5EF4-FFF2-40B4-BE49-F238E27FC236}">
                <a16:creationId xmlns:a16="http://schemas.microsoft.com/office/drawing/2014/main" id="{2E122993-5507-A2FB-97AB-16083F02CD58}"/>
              </a:ext>
            </a:extLst>
          </p:cNvPr>
          <p:cNvSpPr>
            <a:spLocks noGrp="1"/>
          </p:cNvSpPr>
          <p:nvPr>
            <p:ph type="sldNum" sz="quarter" idx="12"/>
          </p:nvPr>
        </p:nvSpPr>
        <p:spPr/>
        <p:txBody>
          <a:bodyPr>
            <a:normAutofit fontScale="85000" lnSpcReduction="20000"/>
          </a:bodyPr>
          <a:lstStyle/>
          <a:p>
            <a:fld id="{EBFB1032-EA64-7144-B003-9BCC9D94B503}" type="slidenum">
              <a:rPr lang="en-US" smtClean="0"/>
              <a:t>38</a:t>
            </a:fld>
            <a:endParaRPr lang="en-US" dirty="0"/>
          </a:p>
        </p:txBody>
      </p:sp>
      <p:sp>
        <p:nvSpPr>
          <p:cNvPr id="4" name="Content Placeholder 3">
            <a:extLst>
              <a:ext uri="{FF2B5EF4-FFF2-40B4-BE49-F238E27FC236}">
                <a16:creationId xmlns:a16="http://schemas.microsoft.com/office/drawing/2014/main" id="{7B733A01-E947-AC62-FA6E-51E6E3A2DDF9}"/>
              </a:ext>
            </a:extLst>
          </p:cNvPr>
          <p:cNvSpPr>
            <a:spLocks noGrp="1"/>
          </p:cNvSpPr>
          <p:nvPr>
            <p:ph sz="quarter" idx="1"/>
          </p:nvPr>
        </p:nvSpPr>
        <p:spPr/>
        <p:txBody>
          <a:bodyPr>
            <a:normAutofit/>
          </a:bodyPr>
          <a:lstStyle/>
          <a:p>
            <a:r>
              <a:rPr lang="en-US" sz="2300" dirty="0"/>
              <a:t>To our knowledge, there are no “human meaning” specifically to each of the numbers in these representations.</a:t>
            </a:r>
          </a:p>
          <a:p>
            <a:endParaRPr lang="en-US" sz="2300" dirty="0"/>
          </a:p>
          <a:p>
            <a:r>
              <a:rPr lang="en-US" sz="2300" dirty="0"/>
              <a:t>One number is not representing if the word is a verb or not, an adjective or not.</a:t>
            </a:r>
          </a:p>
          <a:p>
            <a:endParaRPr lang="en-US" sz="2300" dirty="0"/>
          </a:p>
          <a:p>
            <a:r>
              <a:rPr lang="en-US" sz="2300" dirty="0"/>
              <a:t>It’s just the weights that you change to solve your optimization problem to learn the representation of your words.</a:t>
            </a:r>
          </a:p>
        </p:txBody>
      </p:sp>
    </p:spTree>
    <p:extLst>
      <p:ext uri="{BB962C8B-B14F-4D97-AF65-F5344CB8AC3E}">
        <p14:creationId xmlns:p14="http://schemas.microsoft.com/office/powerpoint/2010/main" val="278478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820829-889A-722F-D16E-3AB996B34A4E}"/>
              </a:ext>
            </a:extLst>
          </p:cNvPr>
          <p:cNvSpPr>
            <a:spLocks noGrp="1"/>
          </p:cNvSpPr>
          <p:nvPr>
            <p:ph type="sldNum" sz="quarter" idx="12"/>
          </p:nvPr>
        </p:nvSpPr>
        <p:spPr/>
        <p:txBody>
          <a:bodyPr/>
          <a:lstStyle/>
          <a:p>
            <a:fld id="{EBFB1032-EA64-7144-B003-9BCC9D94B503}" type="slidenum">
              <a:rPr lang="en-US" smtClean="0"/>
              <a:t>39</a:t>
            </a:fld>
            <a:endParaRPr lang="en-US" dirty="0"/>
          </a:p>
        </p:txBody>
      </p:sp>
      <p:pic>
        <p:nvPicPr>
          <p:cNvPr id="6" name="Picture 5">
            <a:extLst>
              <a:ext uri="{FF2B5EF4-FFF2-40B4-BE49-F238E27FC236}">
                <a16:creationId xmlns:a16="http://schemas.microsoft.com/office/drawing/2014/main" id="{1D21FAF3-10AE-7434-3D36-A4C90ED9FCED}"/>
              </a:ext>
            </a:extLst>
          </p:cNvPr>
          <p:cNvPicPr>
            <a:picLocks noChangeAspect="1"/>
          </p:cNvPicPr>
          <p:nvPr/>
        </p:nvPicPr>
        <p:blipFill>
          <a:blip r:embed="rId2"/>
          <a:stretch>
            <a:fillRect/>
          </a:stretch>
        </p:blipFill>
        <p:spPr>
          <a:xfrm>
            <a:off x="91440" y="483875"/>
            <a:ext cx="8961120" cy="5890250"/>
          </a:xfrm>
          <a:prstGeom prst="rect">
            <a:avLst/>
          </a:prstGeom>
        </p:spPr>
      </p:pic>
    </p:spTree>
    <p:extLst>
      <p:ext uri="{BB962C8B-B14F-4D97-AF65-F5344CB8AC3E}">
        <p14:creationId xmlns:p14="http://schemas.microsoft.com/office/powerpoint/2010/main" val="31414155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4249D-049A-4A1A-51AF-1E5671DBEBC1}"/>
              </a:ext>
            </a:extLst>
          </p:cNvPr>
          <p:cNvSpPr>
            <a:spLocks noGrp="1"/>
          </p:cNvSpPr>
          <p:nvPr>
            <p:ph type="title"/>
          </p:nvPr>
        </p:nvSpPr>
        <p:spPr/>
        <p:txBody>
          <a:bodyPr/>
          <a:lstStyle/>
          <a:p>
            <a:r>
              <a:rPr lang="en-US" dirty="0"/>
              <a:t>Hot Format</a:t>
            </a:r>
          </a:p>
        </p:txBody>
      </p:sp>
      <p:sp>
        <p:nvSpPr>
          <p:cNvPr id="3" name="Slide Number Placeholder 2">
            <a:extLst>
              <a:ext uri="{FF2B5EF4-FFF2-40B4-BE49-F238E27FC236}">
                <a16:creationId xmlns:a16="http://schemas.microsoft.com/office/drawing/2014/main" id="{F03767D7-FD02-8D54-985C-C43A2258FBF7}"/>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sp>
        <p:nvSpPr>
          <p:cNvPr id="4" name="Content Placeholder 3">
            <a:extLst>
              <a:ext uri="{FF2B5EF4-FFF2-40B4-BE49-F238E27FC236}">
                <a16:creationId xmlns:a16="http://schemas.microsoft.com/office/drawing/2014/main" id="{1C151489-37DF-3753-92E0-90BD6C29DCCC}"/>
              </a:ext>
            </a:extLst>
          </p:cNvPr>
          <p:cNvSpPr>
            <a:spLocks noGrp="1"/>
          </p:cNvSpPr>
          <p:nvPr>
            <p:ph sz="quarter" idx="1"/>
          </p:nvPr>
        </p:nvSpPr>
        <p:spPr/>
        <p:txBody>
          <a:bodyPr/>
          <a:lstStyle/>
          <a:p>
            <a:r>
              <a:rPr lang="en-US" dirty="0"/>
              <a:t>The first matrix represents the input vector in one hot format.</a:t>
            </a:r>
          </a:p>
          <a:p>
            <a:endParaRPr lang="en-US" dirty="0"/>
          </a:p>
          <a:p>
            <a:r>
              <a:rPr lang="en-US" dirty="0"/>
              <a:t>The second matrix represents the synaptic weights from the input layer neurons to the hidden layer neurons.</a:t>
            </a:r>
          </a:p>
          <a:p>
            <a:endParaRPr lang="en-US" dirty="0"/>
          </a:p>
          <a:p>
            <a:r>
              <a:rPr lang="en-US" dirty="0"/>
              <a:t>Especially notice the left top corner where the Input Layer matrix is multiplied with the Weight matrix.</a:t>
            </a:r>
          </a:p>
          <a:p>
            <a:endParaRPr lang="en-US" dirty="0"/>
          </a:p>
          <a:p>
            <a:r>
              <a:rPr lang="en-US" dirty="0"/>
              <a:t>Now look at the top right. This matrix multiplication </a:t>
            </a:r>
            <a:r>
              <a:rPr lang="en-US" dirty="0" err="1"/>
              <a:t>InputLayer</a:t>
            </a:r>
            <a:r>
              <a:rPr lang="en-US" dirty="0"/>
              <a:t> dot-</a:t>
            </a:r>
            <a:r>
              <a:rPr lang="en-US" dirty="0" err="1"/>
              <a:t>producted</a:t>
            </a:r>
            <a:r>
              <a:rPr lang="en-US" dirty="0"/>
              <a:t> with Weights Transpose is just a handy way to represent the neural network at the top right.</a:t>
            </a:r>
          </a:p>
        </p:txBody>
      </p:sp>
    </p:spTree>
    <p:extLst>
      <p:ext uri="{BB962C8B-B14F-4D97-AF65-F5344CB8AC3E}">
        <p14:creationId xmlns:p14="http://schemas.microsoft.com/office/powerpoint/2010/main" val="2442294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7B641-CE3D-B1BB-A062-A5191BE52A31}"/>
              </a:ext>
            </a:extLst>
          </p:cNvPr>
          <p:cNvSpPr>
            <a:spLocks noGrp="1"/>
          </p:cNvSpPr>
          <p:nvPr>
            <p:ph type="title"/>
          </p:nvPr>
        </p:nvSpPr>
        <p:spPr/>
        <p:txBody>
          <a:bodyPr/>
          <a:lstStyle/>
          <a:p>
            <a:r>
              <a:rPr lang="en-US" dirty="0"/>
              <a:t>Weight Matrix</a:t>
            </a:r>
          </a:p>
        </p:txBody>
      </p:sp>
      <p:sp>
        <p:nvSpPr>
          <p:cNvPr id="3" name="Slide Number Placeholder 2">
            <a:extLst>
              <a:ext uri="{FF2B5EF4-FFF2-40B4-BE49-F238E27FC236}">
                <a16:creationId xmlns:a16="http://schemas.microsoft.com/office/drawing/2014/main" id="{76D77086-EEC8-925D-F039-0FC709E449C3}"/>
              </a:ext>
            </a:extLst>
          </p:cNvPr>
          <p:cNvSpPr>
            <a:spLocks noGrp="1"/>
          </p:cNvSpPr>
          <p:nvPr>
            <p:ph type="sldNum" sz="quarter" idx="12"/>
          </p:nvPr>
        </p:nvSpPr>
        <p:spPr/>
        <p:txBody>
          <a:bodyPr>
            <a:normAutofit fontScale="85000" lnSpcReduction="20000"/>
          </a:bodyPr>
          <a:lstStyle/>
          <a:p>
            <a:fld id="{EBFB1032-EA64-7144-B003-9BCC9D94B503}" type="slidenum">
              <a:rPr lang="en-US" smtClean="0"/>
              <a:t>41</a:t>
            </a:fld>
            <a:endParaRPr lang="en-US" dirty="0"/>
          </a:p>
        </p:txBody>
      </p:sp>
      <p:sp>
        <p:nvSpPr>
          <p:cNvPr id="4" name="Content Placeholder 3">
            <a:extLst>
              <a:ext uri="{FF2B5EF4-FFF2-40B4-BE49-F238E27FC236}">
                <a16:creationId xmlns:a16="http://schemas.microsoft.com/office/drawing/2014/main" id="{FA0E11F7-8774-D8A3-E484-0F9D96F05E53}"/>
              </a:ext>
            </a:extLst>
          </p:cNvPr>
          <p:cNvSpPr>
            <a:spLocks noGrp="1"/>
          </p:cNvSpPr>
          <p:nvPr>
            <p:ph sz="quarter" idx="1"/>
          </p:nvPr>
        </p:nvSpPr>
        <p:spPr/>
        <p:txBody>
          <a:bodyPr>
            <a:normAutofit lnSpcReduction="10000"/>
          </a:bodyPr>
          <a:lstStyle/>
          <a:p>
            <a:pPr>
              <a:spcBef>
                <a:spcPts val="0"/>
              </a:spcBef>
            </a:pPr>
            <a:r>
              <a:rPr lang="en-US" dirty="0"/>
              <a:t>The first part, [0 0 0 1 0 … 0] represents the input word as a one hot vector and the other matrix represents the weight for the connection of each of the input layer neurons to the hidden layer neurons.</a:t>
            </a:r>
          </a:p>
          <a:p>
            <a:pPr>
              <a:spcBef>
                <a:spcPts val="0"/>
              </a:spcBef>
            </a:pPr>
            <a:endParaRPr lang="en-US" dirty="0"/>
          </a:p>
          <a:p>
            <a:pPr>
              <a:spcBef>
                <a:spcPts val="0"/>
              </a:spcBef>
            </a:pPr>
            <a:r>
              <a:rPr lang="en-US" dirty="0"/>
              <a:t>As Word2Vec trains, it backpropagates (using gradient descent) into these weights and changes them to give better representations of words as vectors.</a:t>
            </a:r>
          </a:p>
          <a:p>
            <a:pPr>
              <a:spcBef>
                <a:spcPts val="0"/>
              </a:spcBef>
            </a:pPr>
            <a:endParaRPr lang="en-US" dirty="0"/>
          </a:p>
          <a:p>
            <a:pPr>
              <a:spcBef>
                <a:spcPts val="0"/>
              </a:spcBef>
            </a:pPr>
            <a:r>
              <a:rPr lang="en-US" dirty="0"/>
              <a:t>Once training is accomplished, you use only this weight matrix, take</a:t>
            </a:r>
          </a:p>
          <a:p>
            <a:pPr marL="0" indent="0">
              <a:spcBef>
                <a:spcPts val="0"/>
              </a:spcBef>
              <a:buNone/>
            </a:pPr>
            <a:r>
              <a:rPr lang="en-US" dirty="0"/>
              <a:t>        [0 0 1 0 0 … 0]</a:t>
            </a:r>
          </a:p>
          <a:p>
            <a:pPr marL="0" indent="0">
              <a:spcBef>
                <a:spcPts val="0"/>
              </a:spcBef>
              <a:buNone/>
            </a:pPr>
            <a:r>
              <a:rPr lang="en-US" dirty="0"/>
              <a:t>for say ‘dog’ and multiply it with the improved weight matrix to get the vector representation of ‘dog’ in a dimension = no of hidden layer neurons.</a:t>
            </a:r>
          </a:p>
          <a:p>
            <a:pPr>
              <a:spcBef>
                <a:spcPts val="0"/>
              </a:spcBef>
            </a:pPr>
            <a:endParaRPr lang="en-US" dirty="0"/>
          </a:p>
          <a:p>
            <a:pPr>
              <a:spcBef>
                <a:spcPts val="0"/>
              </a:spcBef>
            </a:pPr>
            <a:r>
              <a:rPr lang="en-US" dirty="0"/>
              <a:t>In the diagram, the number of hidden layer neurons is 3.</a:t>
            </a:r>
          </a:p>
        </p:txBody>
      </p:sp>
    </p:spTree>
    <p:extLst>
      <p:ext uri="{BB962C8B-B14F-4D97-AF65-F5344CB8AC3E}">
        <p14:creationId xmlns:p14="http://schemas.microsoft.com/office/powerpoint/2010/main" val="296854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3289648-4FF3-441C-D780-C560468C0345}"/>
              </a:ext>
            </a:extLst>
          </p:cNvPr>
          <p:cNvSpPr>
            <a:spLocks noGrp="1"/>
          </p:cNvSpPr>
          <p:nvPr>
            <p:ph type="sldNum" sz="quarter" idx="12"/>
          </p:nvPr>
        </p:nvSpPr>
        <p:spPr/>
        <p:txBody>
          <a:bodyPr/>
          <a:lstStyle/>
          <a:p>
            <a:fld id="{EBFB1032-EA64-7144-B003-9BCC9D94B503}" type="slidenum">
              <a:rPr lang="en-US" smtClean="0"/>
              <a:t>42</a:t>
            </a:fld>
            <a:endParaRPr lang="en-US" dirty="0"/>
          </a:p>
        </p:txBody>
      </p:sp>
      <p:pic>
        <p:nvPicPr>
          <p:cNvPr id="6" name="Picture 5">
            <a:extLst>
              <a:ext uri="{FF2B5EF4-FFF2-40B4-BE49-F238E27FC236}">
                <a16:creationId xmlns:a16="http://schemas.microsoft.com/office/drawing/2014/main" id="{8FCE4F81-1CFA-3070-95CE-B03B254E9FBF}"/>
              </a:ext>
            </a:extLst>
          </p:cNvPr>
          <p:cNvPicPr>
            <a:picLocks noChangeAspect="1"/>
          </p:cNvPicPr>
          <p:nvPr/>
        </p:nvPicPr>
        <p:blipFill>
          <a:blip r:embed="rId2"/>
          <a:stretch>
            <a:fillRect/>
          </a:stretch>
        </p:blipFill>
        <p:spPr>
          <a:xfrm>
            <a:off x="91440" y="735484"/>
            <a:ext cx="8961120" cy="5387032"/>
          </a:xfrm>
          <a:prstGeom prst="rect">
            <a:avLst/>
          </a:prstGeom>
          <a:ln>
            <a:solidFill>
              <a:schemeClr val="accent1"/>
            </a:solidFill>
          </a:ln>
        </p:spPr>
      </p:pic>
    </p:spTree>
    <p:extLst>
      <p:ext uri="{BB962C8B-B14F-4D97-AF65-F5344CB8AC3E}">
        <p14:creationId xmlns:p14="http://schemas.microsoft.com/office/powerpoint/2010/main" val="2450791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11DAC9-CAAA-98A1-E028-3C1764A553E1}"/>
              </a:ext>
            </a:extLst>
          </p:cNvPr>
          <p:cNvSpPr>
            <a:spLocks noGrp="1"/>
          </p:cNvSpPr>
          <p:nvPr>
            <p:ph type="title"/>
          </p:nvPr>
        </p:nvSpPr>
        <p:spPr/>
        <p:txBody>
          <a:bodyPr/>
          <a:lstStyle/>
          <a:p>
            <a:r>
              <a:rPr lang="en-US" dirty="0"/>
              <a:t>Modification</a:t>
            </a:r>
          </a:p>
        </p:txBody>
      </p:sp>
      <p:sp>
        <p:nvSpPr>
          <p:cNvPr id="2" name="Slide Number Placeholder 1">
            <a:extLst>
              <a:ext uri="{FF2B5EF4-FFF2-40B4-BE49-F238E27FC236}">
                <a16:creationId xmlns:a16="http://schemas.microsoft.com/office/drawing/2014/main" id="{2C489A4A-F9BF-72FC-574A-C54C2DA2BB7D}"/>
              </a:ext>
            </a:extLst>
          </p:cNvPr>
          <p:cNvSpPr>
            <a:spLocks noGrp="1"/>
          </p:cNvSpPr>
          <p:nvPr>
            <p:ph type="sldNum" sz="quarter" idx="12"/>
          </p:nvPr>
        </p:nvSpPr>
        <p:spPr/>
        <p:txBody>
          <a:bodyPr>
            <a:normAutofit fontScale="85000" lnSpcReduction="20000"/>
          </a:bodyPr>
          <a:lstStyle/>
          <a:p>
            <a:fld id="{EBFB1032-EA64-7144-B003-9BCC9D94B503}" type="slidenum">
              <a:rPr lang="en-US" smtClean="0"/>
              <a:t>43</a:t>
            </a:fld>
            <a:endParaRPr lang="en-US" dirty="0"/>
          </a:p>
        </p:txBody>
      </p:sp>
      <p:sp>
        <p:nvSpPr>
          <p:cNvPr id="4" name="Content Placeholder 3">
            <a:extLst>
              <a:ext uri="{FF2B5EF4-FFF2-40B4-BE49-F238E27FC236}">
                <a16:creationId xmlns:a16="http://schemas.microsoft.com/office/drawing/2014/main" id="{DF84C4CF-718B-F6FE-5B9C-D932B7433307}"/>
              </a:ext>
            </a:extLst>
          </p:cNvPr>
          <p:cNvSpPr>
            <a:spLocks noGrp="1"/>
          </p:cNvSpPr>
          <p:nvPr>
            <p:ph sz="quarter" idx="1"/>
          </p:nvPr>
        </p:nvSpPr>
        <p:spPr/>
        <p:txBody>
          <a:bodyPr>
            <a:normAutofit/>
          </a:bodyPr>
          <a:lstStyle/>
          <a:p>
            <a:pPr>
              <a:spcBef>
                <a:spcPts val="0"/>
              </a:spcBef>
            </a:pPr>
            <a:r>
              <a:rPr lang="en-US" sz="2300" dirty="0"/>
              <a:t>We need few additional modifications to the basic skip-gram model which are important for making it feasible to train.</a:t>
            </a:r>
          </a:p>
          <a:p>
            <a:pPr>
              <a:spcBef>
                <a:spcPts val="0"/>
              </a:spcBef>
            </a:pPr>
            <a:endParaRPr lang="en-US" sz="2300" dirty="0"/>
          </a:p>
          <a:p>
            <a:pPr>
              <a:spcBef>
                <a:spcPts val="0"/>
              </a:spcBef>
            </a:pPr>
            <a:r>
              <a:rPr lang="en-US" sz="2300" dirty="0"/>
              <a:t>Running gradient descent on a neural network that large is going to be slow.</a:t>
            </a:r>
          </a:p>
          <a:p>
            <a:pPr>
              <a:spcBef>
                <a:spcPts val="0"/>
              </a:spcBef>
            </a:pPr>
            <a:endParaRPr lang="en-US" sz="2300" dirty="0"/>
          </a:p>
          <a:p>
            <a:pPr>
              <a:spcBef>
                <a:spcPts val="0"/>
              </a:spcBef>
            </a:pPr>
            <a:r>
              <a:rPr lang="en-US" sz="2300" dirty="0"/>
              <a:t>And to make matters worse, you need a huge amount of training data to tune that many weights and avoid over-fitting.</a:t>
            </a:r>
          </a:p>
          <a:p>
            <a:pPr>
              <a:spcBef>
                <a:spcPts val="0"/>
              </a:spcBef>
            </a:pPr>
            <a:endParaRPr lang="en-US" sz="2300" dirty="0"/>
          </a:p>
          <a:p>
            <a:pPr>
              <a:spcBef>
                <a:spcPts val="0"/>
              </a:spcBef>
            </a:pPr>
            <a:r>
              <a:rPr lang="en-US" sz="2300" dirty="0"/>
              <a:t>Millions of weights times billions of training samples means that training this model is going to be a beast.</a:t>
            </a:r>
          </a:p>
          <a:p>
            <a:pPr>
              <a:spcBef>
                <a:spcPts val="0"/>
              </a:spcBef>
            </a:pPr>
            <a:endParaRPr lang="en-US" sz="2300" dirty="0"/>
          </a:p>
          <a:p>
            <a:pPr>
              <a:spcBef>
                <a:spcPts val="0"/>
              </a:spcBef>
            </a:pPr>
            <a:r>
              <a:rPr lang="en-US" sz="2300" dirty="0"/>
              <a:t>For that, authors have proposed two techniques called subsampling and negative sampling in which insignificant words are removed and only a specific sample of weights are updated.</a:t>
            </a:r>
          </a:p>
        </p:txBody>
      </p:sp>
    </p:spTree>
    <p:extLst>
      <p:ext uri="{BB962C8B-B14F-4D97-AF65-F5344CB8AC3E}">
        <p14:creationId xmlns:p14="http://schemas.microsoft.com/office/powerpoint/2010/main" val="16305464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73D5F9E-4B9C-CC0C-9F4F-E1C314C41685}"/>
              </a:ext>
            </a:extLst>
          </p:cNvPr>
          <p:cNvSpPr>
            <a:spLocks noGrp="1"/>
          </p:cNvSpPr>
          <p:nvPr>
            <p:ph type="sldNum" sz="quarter" idx="12"/>
          </p:nvPr>
        </p:nvSpPr>
        <p:spPr/>
        <p:txBody>
          <a:bodyPr/>
          <a:lstStyle/>
          <a:p>
            <a:fld id="{EBFB1032-EA64-7144-B003-9BCC9D94B503}" type="slidenum">
              <a:rPr lang="en-US" smtClean="0"/>
              <a:t>44</a:t>
            </a:fld>
            <a:endParaRPr lang="en-US" dirty="0"/>
          </a:p>
        </p:txBody>
      </p:sp>
      <p:pic>
        <p:nvPicPr>
          <p:cNvPr id="6" name="Picture 5">
            <a:extLst>
              <a:ext uri="{FF2B5EF4-FFF2-40B4-BE49-F238E27FC236}">
                <a16:creationId xmlns:a16="http://schemas.microsoft.com/office/drawing/2014/main" id="{C99B5031-870B-3E97-305A-5FE64DA10FDF}"/>
              </a:ext>
            </a:extLst>
          </p:cNvPr>
          <p:cNvPicPr>
            <a:picLocks noChangeAspect="1"/>
          </p:cNvPicPr>
          <p:nvPr/>
        </p:nvPicPr>
        <p:blipFill>
          <a:blip r:embed="rId2"/>
          <a:stretch>
            <a:fillRect/>
          </a:stretch>
        </p:blipFill>
        <p:spPr>
          <a:xfrm>
            <a:off x="91440" y="1098073"/>
            <a:ext cx="8961120" cy="4661854"/>
          </a:xfrm>
          <a:prstGeom prst="rect">
            <a:avLst/>
          </a:prstGeom>
          <a:ln>
            <a:solidFill>
              <a:schemeClr val="accent1"/>
            </a:solidFill>
          </a:ln>
        </p:spPr>
      </p:pic>
    </p:spTree>
    <p:extLst>
      <p:ext uri="{BB962C8B-B14F-4D97-AF65-F5344CB8AC3E}">
        <p14:creationId xmlns:p14="http://schemas.microsoft.com/office/powerpoint/2010/main" val="28338506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06F5C-8B8F-6E0C-A055-73855A030109}"/>
              </a:ext>
            </a:extLst>
          </p:cNvPr>
          <p:cNvSpPr>
            <a:spLocks noGrp="1"/>
          </p:cNvSpPr>
          <p:nvPr>
            <p:ph type="title"/>
          </p:nvPr>
        </p:nvSpPr>
        <p:spPr/>
        <p:txBody>
          <a:bodyPr>
            <a:normAutofit/>
          </a:bodyPr>
          <a:lstStyle/>
          <a:p>
            <a:r>
              <a:rPr lang="en-US" dirty="0"/>
              <a:t>Implementation details</a:t>
            </a:r>
          </a:p>
        </p:txBody>
      </p:sp>
      <p:sp>
        <p:nvSpPr>
          <p:cNvPr id="2" name="Slide Number Placeholder 1">
            <a:extLst>
              <a:ext uri="{FF2B5EF4-FFF2-40B4-BE49-F238E27FC236}">
                <a16:creationId xmlns:a16="http://schemas.microsoft.com/office/drawing/2014/main" id="{64A67916-D855-0999-3974-9BADDE6739D8}"/>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sp>
        <p:nvSpPr>
          <p:cNvPr id="4" name="Content Placeholder 3">
            <a:extLst>
              <a:ext uri="{FF2B5EF4-FFF2-40B4-BE49-F238E27FC236}">
                <a16:creationId xmlns:a16="http://schemas.microsoft.com/office/drawing/2014/main" id="{43F47A73-BBAB-E775-98D0-05813E0D4EB9}"/>
              </a:ext>
            </a:extLst>
          </p:cNvPr>
          <p:cNvSpPr>
            <a:spLocks noGrp="1"/>
          </p:cNvSpPr>
          <p:nvPr>
            <p:ph sz="quarter" idx="1"/>
          </p:nvPr>
        </p:nvSpPr>
        <p:spPr/>
        <p:txBody>
          <a:bodyPr/>
          <a:lstStyle/>
          <a:p>
            <a:r>
              <a:rPr lang="en-US" dirty="0"/>
              <a:t>Word2vec has been implemented in various languages but here we will focus especially on Java i.e., DeepLearning4j, darks-learning, and python.</a:t>
            </a:r>
          </a:p>
          <a:p>
            <a:endParaRPr lang="en-US" dirty="0"/>
          </a:p>
          <a:p>
            <a:r>
              <a:rPr lang="en-US" dirty="0"/>
              <a:t>Various neural net algorithms have been implemented in DL4j, code is available on GitHub.</a:t>
            </a:r>
          </a:p>
          <a:p>
            <a:endParaRPr lang="en-US" dirty="0"/>
          </a:p>
        </p:txBody>
      </p:sp>
    </p:spTree>
    <p:extLst>
      <p:ext uri="{BB962C8B-B14F-4D97-AF65-F5344CB8AC3E}">
        <p14:creationId xmlns:p14="http://schemas.microsoft.com/office/powerpoint/2010/main" val="3636368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49696-119C-86A0-9676-4AE28F996D0A}"/>
              </a:ext>
            </a:extLst>
          </p:cNvPr>
          <p:cNvSpPr>
            <a:spLocks noGrp="1"/>
          </p:cNvSpPr>
          <p:nvPr>
            <p:ph type="title"/>
          </p:nvPr>
        </p:nvSpPr>
        <p:spPr/>
        <p:txBody>
          <a:bodyPr>
            <a:normAutofit/>
          </a:bodyPr>
          <a:lstStyle/>
          <a:p>
            <a:r>
              <a:rPr lang="en-US" dirty="0"/>
              <a:t>To implement it in DL4j</a:t>
            </a:r>
          </a:p>
        </p:txBody>
      </p:sp>
      <p:sp>
        <p:nvSpPr>
          <p:cNvPr id="3" name="Slide Number Placeholder 2">
            <a:extLst>
              <a:ext uri="{FF2B5EF4-FFF2-40B4-BE49-F238E27FC236}">
                <a16:creationId xmlns:a16="http://schemas.microsoft.com/office/drawing/2014/main" id="{37B26B3D-9814-056F-CA34-D1856951C121}"/>
              </a:ext>
            </a:extLst>
          </p:cNvPr>
          <p:cNvSpPr>
            <a:spLocks noGrp="1"/>
          </p:cNvSpPr>
          <p:nvPr>
            <p:ph type="sldNum" sz="quarter" idx="12"/>
          </p:nvPr>
        </p:nvSpPr>
        <p:spPr/>
        <p:txBody>
          <a:bodyPr>
            <a:normAutofit fontScale="85000" lnSpcReduction="20000"/>
          </a:bodyPr>
          <a:lstStyle/>
          <a:p>
            <a:fld id="{EBFB1032-EA64-7144-B003-9BCC9D94B503}" type="slidenum">
              <a:rPr lang="en-US" smtClean="0"/>
              <a:t>46</a:t>
            </a:fld>
            <a:endParaRPr lang="en-US" dirty="0"/>
          </a:p>
        </p:txBody>
      </p:sp>
      <p:sp>
        <p:nvSpPr>
          <p:cNvPr id="4" name="Content Placeholder 3">
            <a:extLst>
              <a:ext uri="{FF2B5EF4-FFF2-40B4-BE49-F238E27FC236}">
                <a16:creationId xmlns:a16="http://schemas.microsoft.com/office/drawing/2014/main" id="{D7EF45C5-8F4E-1087-5D77-F5E09E08DE4B}"/>
              </a:ext>
            </a:extLst>
          </p:cNvPr>
          <p:cNvSpPr>
            <a:spLocks noGrp="1"/>
          </p:cNvSpPr>
          <p:nvPr>
            <p:ph sz="quarter" idx="1"/>
          </p:nvPr>
        </p:nvSpPr>
        <p:spPr/>
        <p:txBody>
          <a:bodyPr/>
          <a:lstStyle/>
          <a:p>
            <a:r>
              <a:rPr lang="en-US" dirty="0"/>
              <a:t>To implement it in DL4j, we will go through few steps given as following:</a:t>
            </a:r>
          </a:p>
          <a:p>
            <a:pPr lvl="1"/>
            <a:r>
              <a:rPr lang="en-US" dirty="0"/>
              <a:t>a) Word2Vec Setup</a:t>
            </a:r>
          </a:p>
          <a:p>
            <a:pPr lvl="1"/>
            <a:r>
              <a:rPr lang="en-US" dirty="0"/>
              <a:t>b) Load data</a:t>
            </a:r>
          </a:p>
          <a:p>
            <a:pPr lvl="1"/>
            <a:r>
              <a:rPr lang="en-US" dirty="0"/>
              <a:t>c) Tokenizing the Data</a:t>
            </a:r>
          </a:p>
          <a:p>
            <a:pPr lvl="1"/>
            <a:r>
              <a:rPr lang="en-US" dirty="0"/>
              <a:t>d) Training the Model</a:t>
            </a:r>
          </a:p>
          <a:p>
            <a:pPr lvl="1"/>
            <a:r>
              <a:rPr lang="en-US" dirty="0"/>
              <a:t>e) Evaluating the Model, Using Word2vec</a:t>
            </a:r>
          </a:p>
          <a:p>
            <a:pPr lvl="1"/>
            <a:endParaRPr lang="en-US" dirty="0"/>
          </a:p>
        </p:txBody>
      </p:sp>
    </p:spTree>
    <p:extLst>
      <p:ext uri="{BB962C8B-B14F-4D97-AF65-F5344CB8AC3E}">
        <p14:creationId xmlns:p14="http://schemas.microsoft.com/office/powerpoint/2010/main" val="32128454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2833-5AC2-CEB7-00EA-0351F4DEE1EF}"/>
              </a:ext>
            </a:extLst>
          </p:cNvPr>
          <p:cNvSpPr>
            <a:spLocks noGrp="1"/>
          </p:cNvSpPr>
          <p:nvPr>
            <p:ph type="title"/>
          </p:nvPr>
        </p:nvSpPr>
        <p:spPr/>
        <p:txBody>
          <a:bodyPr>
            <a:normAutofit/>
          </a:bodyPr>
          <a:lstStyle/>
          <a:p>
            <a:r>
              <a:rPr lang="en-US" dirty="0"/>
              <a:t>a) Word2Vec Setup</a:t>
            </a:r>
          </a:p>
        </p:txBody>
      </p:sp>
      <p:sp>
        <p:nvSpPr>
          <p:cNvPr id="3" name="Slide Number Placeholder 2">
            <a:extLst>
              <a:ext uri="{FF2B5EF4-FFF2-40B4-BE49-F238E27FC236}">
                <a16:creationId xmlns:a16="http://schemas.microsoft.com/office/drawing/2014/main" id="{C487DEC9-9B3F-BC3D-3292-20B263FE5790}"/>
              </a:ext>
            </a:extLst>
          </p:cNvPr>
          <p:cNvSpPr>
            <a:spLocks noGrp="1"/>
          </p:cNvSpPr>
          <p:nvPr>
            <p:ph type="sldNum" sz="quarter" idx="12"/>
          </p:nvPr>
        </p:nvSpPr>
        <p:spPr/>
        <p:txBody>
          <a:bodyPr>
            <a:normAutofit fontScale="85000" lnSpcReduction="20000"/>
          </a:bodyPr>
          <a:lstStyle/>
          <a:p>
            <a:fld id="{EBFB1032-EA64-7144-B003-9BCC9D94B503}" type="slidenum">
              <a:rPr lang="en-US" smtClean="0"/>
              <a:t>47</a:t>
            </a:fld>
            <a:endParaRPr lang="en-US" dirty="0"/>
          </a:p>
        </p:txBody>
      </p:sp>
      <p:sp>
        <p:nvSpPr>
          <p:cNvPr id="4" name="Content Placeholder 3">
            <a:extLst>
              <a:ext uri="{FF2B5EF4-FFF2-40B4-BE49-F238E27FC236}">
                <a16:creationId xmlns:a16="http://schemas.microsoft.com/office/drawing/2014/main" id="{B8726D6E-67B8-AE87-3843-0F6E69B1B04A}"/>
              </a:ext>
            </a:extLst>
          </p:cNvPr>
          <p:cNvSpPr>
            <a:spLocks noGrp="1"/>
          </p:cNvSpPr>
          <p:nvPr>
            <p:ph sz="quarter" idx="1"/>
          </p:nvPr>
        </p:nvSpPr>
        <p:spPr/>
        <p:txBody>
          <a:bodyPr/>
          <a:lstStyle/>
          <a:p>
            <a:r>
              <a:rPr lang="en-US" dirty="0"/>
              <a:t>Create a new project using Maven.</a:t>
            </a:r>
          </a:p>
          <a:p>
            <a:endParaRPr lang="en-US" dirty="0"/>
          </a:p>
          <a:p>
            <a:r>
              <a:rPr lang="en-US" dirty="0"/>
              <a:t>Then specify properties and dependencies in the POM.xml file in your project’s root directory.</a:t>
            </a:r>
          </a:p>
        </p:txBody>
      </p:sp>
    </p:spTree>
    <p:extLst>
      <p:ext uri="{BB962C8B-B14F-4D97-AF65-F5344CB8AC3E}">
        <p14:creationId xmlns:p14="http://schemas.microsoft.com/office/powerpoint/2010/main" val="15942578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8CFB-D4D5-B80F-68FC-FE8A0951C588}"/>
              </a:ext>
            </a:extLst>
          </p:cNvPr>
          <p:cNvSpPr>
            <a:spLocks noGrp="1"/>
          </p:cNvSpPr>
          <p:nvPr>
            <p:ph type="title"/>
          </p:nvPr>
        </p:nvSpPr>
        <p:spPr/>
        <p:txBody>
          <a:bodyPr>
            <a:normAutofit/>
          </a:bodyPr>
          <a:lstStyle/>
          <a:p>
            <a:r>
              <a:rPr lang="en-US" dirty="0"/>
              <a:t>b) Load data</a:t>
            </a:r>
          </a:p>
        </p:txBody>
      </p:sp>
      <p:sp>
        <p:nvSpPr>
          <p:cNvPr id="3" name="Slide Number Placeholder 2">
            <a:extLst>
              <a:ext uri="{FF2B5EF4-FFF2-40B4-BE49-F238E27FC236}">
                <a16:creationId xmlns:a16="http://schemas.microsoft.com/office/drawing/2014/main" id="{48DC01EF-D058-9D60-28A0-C377AF75F0F6}"/>
              </a:ext>
            </a:extLst>
          </p:cNvPr>
          <p:cNvSpPr>
            <a:spLocks noGrp="1"/>
          </p:cNvSpPr>
          <p:nvPr>
            <p:ph type="sldNum" sz="quarter" idx="12"/>
          </p:nvPr>
        </p:nvSpPr>
        <p:spPr/>
        <p:txBody>
          <a:bodyPr>
            <a:normAutofit fontScale="85000" lnSpcReduction="20000"/>
          </a:bodyPr>
          <a:lstStyle/>
          <a:p>
            <a:fld id="{EBFB1032-EA64-7144-B003-9BCC9D94B503}" type="slidenum">
              <a:rPr lang="en-US" smtClean="0"/>
              <a:t>48</a:t>
            </a:fld>
            <a:endParaRPr lang="en-US" dirty="0"/>
          </a:p>
        </p:txBody>
      </p:sp>
      <p:sp>
        <p:nvSpPr>
          <p:cNvPr id="4" name="Content Placeholder 3">
            <a:extLst>
              <a:ext uri="{FF2B5EF4-FFF2-40B4-BE49-F238E27FC236}">
                <a16:creationId xmlns:a16="http://schemas.microsoft.com/office/drawing/2014/main" id="{95C97CE0-7913-EAB9-031D-3C40B674C9B3}"/>
              </a:ext>
            </a:extLst>
          </p:cNvPr>
          <p:cNvSpPr>
            <a:spLocks noGrp="1"/>
          </p:cNvSpPr>
          <p:nvPr>
            <p:ph sz="quarter" idx="1"/>
          </p:nvPr>
        </p:nvSpPr>
        <p:spPr/>
        <p:txBody>
          <a:bodyPr>
            <a:normAutofit/>
          </a:bodyPr>
          <a:lstStyle/>
          <a:p>
            <a:r>
              <a:rPr lang="en-US" sz="2200" dirty="0"/>
              <a:t>Now create and name a new class in Java.</a:t>
            </a:r>
          </a:p>
          <a:p>
            <a:r>
              <a:rPr lang="en-US" sz="2200" dirty="0"/>
              <a:t>After that, you’ll take the raw sentences in your .txt file, traverse them with your iterator, and subject them to some sort of pre-processing, such as converting all words to lowercase.</a:t>
            </a:r>
          </a:p>
          <a:p>
            <a:pPr marL="0" indent="0">
              <a:buNone/>
            </a:pPr>
            <a:r>
              <a:rPr lang="en-US" sz="2200" dirty="0">
                <a:solidFill>
                  <a:srgbClr val="0070C0"/>
                </a:solidFill>
              </a:rPr>
              <a:t>String </a:t>
            </a:r>
            <a:r>
              <a:rPr lang="en-US" sz="2200" dirty="0" err="1">
                <a:solidFill>
                  <a:srgbClr val="0070C0"/>
                </a:solidFill>
              </a:rPr>
              <a:t>filePath</a:t>
            </a:r>
            <a:r>
              <a:rPr lang="en-US" sz="2200" dirty="0">
                <a:solidFill>
                  <a:srgbClr val="0070C0"/>
                </a:solidFill>
              </a:rPr>
              <a:t> = new </a:t>
            </a:r>
            <a:r>
              <a:rPr lang="en-US" sz="2200" dirty="0" err="1">
                <a:solidFill>
                  <a:srgbClr val="0070C0"/>
                </a:solidFill>
              </a:rPr>
              <a:t>ClassPathResource</a:t>
            </a:r>
            <a:r>
              <a:rPr lang="en-US" sz="2200" dirty="0">
                <a:solidFill>
                  <a:srgbClr val="0070C0"/>
                </a:solidFill>
              </a:rPr>
              <a:t>(“raw_sentences.txt”).</a:t>
            </a:r>
            <a:r>
              <a:rPr lang="en-US" sz="2200" dirty="0" err="1">
                <a:solidFill>
                  <a:srgbClr val="0070C0"/>
                </a:solidFill>
              </a:rPr>
              <a:t>getFile</a:t>
            </a:r>
            <a:r>
              <a:rPr lang="en-US" sz="2200" dirty="0">
                <a:solidFill>
                  <a:srgbClr val="0070C0"/>
                </a:solidFill>
              </a:rPr>
              <a:t>().</a:t>
            </a:r>
            <a:r>
              <a:rPr lang="en-US" sz="2200" dirty="0" err="1">
                <a:solidFill>
                  <a:srgbClr val="0070C0"/>
                </a:solidFill>
              </a:rPr>
              <a:t>getAbsolutePath</a:t>
            </a:r>
            <a:r>
              <a:rPr lang="en-US" sz="2200" dirty="0">
                <a:solidFill>
                  <a:srgbClr val="0070C0"/>
                </a:solidFill>
              </a:rPr>
              <a:t>();</a:t>
            </a:r>
          </a:p>
          <a:p>
            <a:pPr marL="0" indent="0">
              <a:buNone/>
            </a:pPr>
            <a:r>
              <a:rPr lang="en-US" sz="2200" dirty="0">
                <a:solidFill>
                  <a:srgbClr val="0070C0"/>
                </a:solidFill>
              </a:rPr>
              <a:t>log.info(“Load &amp; Vectorize Sentences….”);</a:t>
            </a:r>
          </a:p>
          <a:p>
            <a:pPr marL="0" indent="0">
              <a:buNone/>
            </a:pPr>
            <a:r>
              <a:rPr lang="en-US" sz="2200" dirty="0">
                <a:solidFill>
                  <a:srgbClr val="0070C0"/>
                </a:solidFill>
              </a:rPr>
              <a:t>// Strip white space before and after for each line</a:t>
            </a:r>
          </a:p>
          <a:p>
            <a:pPr marL="0" indent="0">
              <a:buNone/>
            </a:pPr>
            <a:r>
              <a:rPr lang="en-US" sz="2200" dirty="0" err="1">
                <a:solidFill>
                  <a:srgbClr val="0070C0"/>
                </a:solidFill>
              </a:rPr>
              <a:t>SentenceIterator</a:t>
            </a:r>
            <a:r>
              <a:rPr lang="en-US" sz="2200" dirty="0">
                <a:solidFill>
                  <a:srgbClr val="0070C0"/>
                </a:solidFill>
              </a:rPr>
              <a:t> iter = new </a:t>
            </a:r>
            <a:r>
              <a:rPr lang="en-US" sz="2200" dirty="0" err="1">
                <a:solidFill>
                  <a:srgbClr val="0070C0"/>
                </a:solidFill>
              </a:rPr>
              <a:t>BasicLineIterator</a:t>
            </a:r>
            <a:r>
              <a:rPr lang="en-US" sz="2200" dirty="0">
                <a:solidFill>
                  <a:srgbClr val="0070C0"/>
                </a:solidFill>
              </a:rPr>
              <a:t>(</a:t>
            </a:r>
            <a:r>
              <a:rPr lang="en-US" sz="2200" dirty="0" err="1">
                <a:solidFill>
                  <a:srgbClr val="0070C0"/>
                </a:solidFill>
              </a:rPr>
              <a:t>filePath</a:t>
            </a:r>
            <a:r>
              <a:rPr lang="en-US" sz="2200" dirty="0">
                <a:solidFill>
                  <a:srgbClr val="0070C0"/>
                </a:solidFill>
              </a:rPr>
              <a:t>);</a:t>
            </a:r>
          </a:p>
          <a:p>
            <a:pPr marL="0" indent="0">
              <a:buNone/>
            </a:pPr>
            <a:endParaRPr lang="en-US" sz="2200" dirty="0"/>
          </a:p>
          <a:p>
            <a:endParaRPr lang="en-US" sz="2200" dirty="0"/>
          </a:p>
        </p:txBody>
      </p:sp>
    </p:spTree>
    <p:extLst>
      <p:ext uri="{BB962C8B-B14F-4D97-AF65-F5344CB8AC3E}">
        <p14:creationId xmlns:p14="http://schemas.microsoft.com/office/powerpoint/2010/main" val="579419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E157599-E2A1-9813-4306-C6B1AF3415C4}"/>
              </a:ext>
            </a:extLst>
          </p:cNvPr>
          <p:cNvSpPr>
            <a:spLocks noGrp="1"/>
          </p:cNvSpPr>
          <p:nvPr>
            <p:ph type="sldNum" sz="quarter" idx="12"/>
          </p:nvPr>
        </p:nvSpPr>
        <p:spPr/>
        <p:txBody>
          <a:bodyPr/>
          <a:lstStyle/>
          <a:p>
            <a:fld id="{EBFB1032-EA64-7144-B003-9BCC9D94B503}" type="slidenum">
              <a:rPr lang="en-US" smtClean="0"/>
              <a:t>49</a:t>
            </a:fld>
            <a:endParaRPr lang="en-US" dirty="0"/>
          </a:p>
        </p:txBody>
      </p:sp>
      <p:pic>
        <p:nvPicPr>
          <p:cNvPr id="6" name="Picture 5">
            <a:extLst>
              <a:ext uri="{FF2B5EF4-FFF2-40B4-BE49-F238E27FC236}">
                <a16:creationId xmlns:a16="http://schemas.microsoft.com/office/drawing/2014/main" id="{6BB2AFC1-4B09-3EEB-3794-1AAAB0028191}"/>
              </a:ext>
            </a:extLst>
          </p:cNvPr>
          <p:cNvPicPr>
            <a:picLocks noChangeAspect="1"/>
          </p:cNvPicPr>
          <p:nvPr/>
        </p:nvPicPr>
        <p:blipFill>
          <a:blip r:embed="rId2"/>
          <a:stretch>
            <a:fillRect/>
          </a:stretch>
        </p:blipFill>
        <p:spPr>
          <a:xfrm>
            <a:off x="91440" y="1227457"/>
            <a:ext cx="8961120" cy="4403086"/>
          </a:xfrm>
          <a:prstGeom prst="rect">
            <a:avLst/>
          </a:prstGeom>
        </p:spPr>
      </p:pic>
    </p:spTree>
    <p:extLst>
      <p:ext uri="{BB962C8B-B14F-4D97-AF65-F5344CB8AC3E}">
        <p14:creationId xmlns:p14="http://schemas.microsoft.com/office/powerpoint/2010/main" val="1838413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B28D-7B1A-6F76-B2EA-D0FA8C8AB18F}"/>
              </a:ext>
            </a:extLst>
          </p:cNvPr>
          <p:cNvSpPr>
            <a:spLocks noGrp="1"/>
          </p:cNvSpPr>
          <p:nvPr>
            <p:ph type="title"/>
          </p:nvPr>
        </p:nvSpPr>
        <p:spPr/>
        <p:txBody>
          <a:bodyPr>
            <a:normAutofit/>
          </a:bodyPr>
          <a:lstStyle/>
          <a:p>
            <a:r>
              <a:rPr lang="en-US" dirty="0"/>
              <a:t>c) Tokenizing the Data</a:t>
            </a:r>
          </a:p>
        </p:txBody>
      </p:sp>
      <p:sp>
        <p:nvSpPr>
          <p:cNvPr id="3" name="Slide Number Placeholder 2">
            <a:extLst>
              <a:ext uri="{FF2B5EF4-FFF2-40B4-BE49-F238E27FC236}">
                <a16:creationId xmlns:a16="http://schemas.microsoft.com/office/drawing/2014/main" id="{509A1269-FAD8-6B60-458B-6C4DAC710008}"/>
              </a:ext>
            </a:extLst>
          </p:cNvPr>
          <p:cNvSpPr>
            <a:spLocks noGrp="1"/>
          </p:cNvSpPr>
          <p:nvPr>
            <p:ph type="sldNum" sz="quarter" idx="12"/>
          </p:nvPr>
        </p:nvSpPr>
        <p:spPr/>
        <p:txBody>
          <a:bodyPr>
            <a:normAutofit fontScale="85000" lnSpcReduction="20000"/>
          </a:bodyPr>
          <a:lstStyle/>
          <a:p>
            <a:fld id="{EBFB1032-EA64-7144-B003-9BCC9D94B503}" type="slidenum">
              <a:rPr lang="en-US" smtClean="0"/>
              <a:t>50</a:t>
            </a:fld>
            <a:endParaRPr lang="en-US" dirty="0"/>
          </a:p>
        </p:txBody>
      </p:sp>
      <p:sp>
        <p:nvSpPr>
          <p:cNvPr id="4" name="Content Placeholder 3">
            <a:extLst>
              <a:ext uri="{FF2B5EF4-FFF2-40B4-BE49-F238E27FC236}">
                <a16:creationId xmlns:a16="http://schemas.microsoft.com/office/drawing/2014/main" id="{8CA97E64-7A56-0AAB-F373-96EC3C486014}"/>
              </a:ext>
            </a:extLst>
          </p:cNvPr>
          <p:cNvSpPr>
            <a:spLocks noGrp="1"/>
          </p:cNvSpPr>
          <p:nvPr>
            <p:ph sz="quarter" idx="1"/>
          </p:nvPr>
        </p:nvSpPr>
        <p:spPr/>
        <p:txBody>
          <a:bodyPr>
            <a:normAutofit/>
          </a:bodyPr>
          <a:lstStyle/>
          <a:p>
            <a:r>
              <a:rPr lang="en-US" dirty="0"/>
              <a:t>Word2vec needs to be fed words rather than whole sentences, so the next step is to tokenize the data.</a:t>
            </a:r>
          </a:p>
          <a:p>
            <a:endParaRPr lang="en-US" dirty="0"/>
          </a:p>
          <a:p>
            <a:r>
              <a:rPr lang="en-US" dirty="0"/>
              <a:t>To tokenize a text is to break it up into its atomic units, creating a new token each time you hit a white space, for example.</a:t>
            </a:r>
          </a:p>
          <a:p>
            <a:pPr marL="0" indent="0">
              <a:buNone/>
            </a:pPr>
            <a:endParaRPr lang="en-US" dirty="0"/>
          </a:p>
          <a:p>
            <a:pPr marL="0" indent="0">
              <a:buNone/>
            </a:pPr>
            <a:r>
              <a:rPr lang="en-US" dirty="0">
                <a:solidFill>
                  <a:srgbClr val="0070C0"/>
                </a:solidFill>
              </a:rPr>
              <a:t>// Split on white spaces in the line to get words</a:t>
            </a:r>
          </a:p>
          <a:p>
            <a:pPr marL="0" indent="0">
              <a:buNone/>
            </a:pPr>
            <a:r>
              <a:rPr lang="en-US" dirty="0" err="1">
                <a:solidFill>
                  <a:srgbClr val="0070C0"/>
                </a:solidFill>
              </a:rPr>
              <a:t>TokenizerFactory</a:t>
            </a:r>
            <a:r>
              <a:rPr lang="en-US" dirty="0">
                <a:solidFill>
                  <a:srgbClr val="0070C0"/>
                </a:solidFill>
              </a:rPr>
              <a:t> t = new </a:t>
            </a:r>
            <a:r>
              <a:rPr lang="en-US" dirty="0" err="1">
                <a:solidFill>
                  <a:srgbClr val="0070C0"/>
                </a:solidFill>
              </a:rPr>
              <a:t>DefaultTokenizerFactory</a:t>
            </a:r>
            <a:r>
              <a:rPr lang="en-US" dirty="0">
                <a:solidFill>
                  <a:srgbClr val="0070C0"/>
                </a:solidFill>
              </a:rPr>
              <a:t>();</a:t>
            </a:r>
          </a:p>
          <a:p>
            <a:pPr marL="0" indent="0">
              <a:buNone/>
            </a:pPr>
            <a:r>
              <a:rPr lang="en-US" dirty="0" err="1">
                <a:solidFill>
                  <a:srgbClr val="0070C0"/>
                </a:solidFill>
              </a:rPr>
              <a:t>t.setTokenPreProcessor</a:t>
            </a:r>
            <a:r>
              <a:rPr lang="en-US" dirty="0">
                <a:solidFill>
                  <a:srgbClr val="0070C0"/>
                </a:solidFill>
              </a:rPr>
              <a:t>(new </a:t>
            </a:r>
            <a:r>
              <a:rPr lang="en-US" dirty="0" err="1">
                <a:solidFill>
                  <a:srgbClr val="0070C0"/>
                </a:solidFill>
              </a:rPr>
              <a:t>CommonPreprocessor</a:t>
            </a:r>
            <a:r>
              <a:rPr lang="en-US" dirty="0">
                <a:solidFill>
                  <a:srgbClr val="0070C0"/>
                </a:solidFill>
              </a:rPr>
              <a:t>());</a:t>
            </a:r>
          </a:p>
        </p:txBody>
      </p:sp>
    </p:spTree>
    <p:extLst>
      <p:ext uri="{BB962C8B-B14F-4D97-AF65-F5344CB8AC3E}">
        <p14:creationId xmlns:p14="http://schemas.microsoft.com/office/powerpoint/2010/main" val="8817227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3C02D-B9D5-A850-A484-303658A11BD2}"/>
              </a:ext>
            </a:extLst>
          </p:cNvPr>
          <p:cNvSpPr>
            <a:spLocks noGrp="1"/>
          </p:cNvSpPr>
          <p:nvPr>
            <p:ph type="title"/>
          </p:nvPr>
        </p:nvSpPr>
        <p:spPr/>
        <p:txBody>
          <a:bodyPr>
            <a:normAutofit/>
          </a:bodyPr>
          <a:lstStyle/>
          <a:p>
            <a:r>
              <a:rPr lang="en-US" dirty="0"/>
              <a:t>d) Training the Model</a:t>
            </a:r>
          </a:p>
        </p:txBody>
      </p:sp>
      <p:sp>
        <p:nvSpPr>
          <p:cNvPr id="3" name="Slide Number Placeholder 2">
            <a:extLst>
              <a:ext uri="{FF2B5EF4-FFF2-40B4-BE49-F238E27FC236}">
                <a16:creationId xmlns:a16="http://schemas.microsoft.com/office/drawing/2014/main" id="{8AAEABCD-BDF1-1D81-766F-7955B6FC3444}"/>
              </a:ext>
            </a:extLst>
          </p:cNvPr>
          <p:cNvSpPr>
            <a:spLocks noGrp="1"/>
          </p:cNvSpPr>
          <p:nvPr>
            <p:ph type="sldNum" sz="quarter" idx="12"/>
          </p:nvPr>
        </p:nvSpPr>
        <p:spPr/>
        <p:txBody>
          <a:bodyPr/>
          <a:lstStyle/>
          <a:p>
            <a:fld id="{EBFB1032-EA64-7144-B003-9BCC9D94B503}" type="slidenum">
              <a:rPr lang="en-US" smtClean="0"/>
              <a:t>51</a:t>
            </a:fld>
            <a:endParaRPr lang="en-US" dirty="0"/>
          </a:p>
        </p:txBody>
      </p:sp>
      <p:sp>
        <p:nvSpPr>
          <p:cNvPr id="4" name="Content Placeholder 3">
            <a:extLst>
              <a:ext uri="{FF2B5EF4-FFF2-40B4-BE49-F238E27FC236}">
                <a16:creationId xmlns:a16="http://schemas.microsoft.com/office/drawing/2014/main" id="{EEF2E1B1-CF23-51CD-088D-672671BB612B}"/>
              </a:ext>
            </a:extLst>
          </p:cNvPr>
          <p:cNvSpPr>
            <a:spLocks noGrp="1"/>
          </p:cNvSpPr>
          <p:nvPr>
            <p:ph sz="quarter" idx="1"/>
          </p:nvPr>
        </p:nvSpPr>
        <p:spPr/>
        <p:txBody>
          <a:bodyPr>
            <a:normAutofit/>
          </a:bodyPr>
          <a:lstStyle/>
          <a:p>
            <a:r>
              <a:rPr lang="en-US" sz="2300" dirty="0"/>
              <a:t>Now that the data is ready, you can configure the Word2vec neural net and feed in the tokens.</a:t>
            </a:r>
          </a:p>
          <a:p>
            <a:endParaRPr lang="en-US" sz="2300" dirty="0"/>
          </a:p>
        </p:txBody>
      </p:sp>
      <p:pic>
        <p:nvPicPr>
          <p:cNvPr id="6" name="Picture 5">
            <a:extLst>
              <a:ext uri="{FF2B5EF4-FFF2-40B4-BE49-F238E27FC236}">
                <a16:creationId xmlns:a16="http://schemas.microsoft.com/office/drawing/2014/main" id="{161516C7-E615-9ADA-B348-ED361A130B3B}"/>
              </a:ext>
            </a:extLst>
          </p:cNvPr>
          <p:cNvPicPr>
            <a:picLocks noChangeAspect="1"/>
          </p:cNvPicPr>
          <p:nvPr/>
        </p:nvPicPr>
        <p:blipFill>
          <a:blip r:embed="rId2"/>
          <a:stretch>
            <a:fillRect/>
          </a:stretch>
        </p:blipFill>
        <p:spPr>
          <a:xfrm>
            <a:off x="3026368" y="2214589"/>
            <a:ext cx="4937760" cy="4539137"/>
          </a:xfrm>
          <a:prstGeom prst="rect">
            <a:avLst/>
          </a:prstGeom>
        </p:spPr>
      </p:pic>
    </p:spTree>
    <p:extLst>
      <p:ext uri="{BB962C8B-B14F-4D97-AF65-F5344CB8AC3E}">
        <p14:creationId xmlns:p14="http://schemas.microsoft.com/office/powerpoint/2010/main" val="336162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65E15-6E5B-EFE0-DAEA-AA6D63D8BF4D}"/>
              </a:ext>
            </a:extLst>
          </p:cNvPr>
          <p:cNvSpPr>
            <a:spLocks noGrp="1"/>
          </p:cNvSpPr>
          <p:nvPr>
            <p:ph type="title"/>
          </p:nvPr>
        </p:nvSpPr>
        <p:spPr/>
        <p:txBody>
          <a:bodyPr>
            <a:normAutofit/>
          </a:bodyPr>
          <a:lstStyle/>
          <a:p>
            <a:r>
              <a:rPr lang="en-US" dirty="0"/>
              <a:t>Configuration Parameters</a:t>
            </a:r>
          </a:p>
        </p:txBody>
      </p:sp>
      <p:sp>
        <p:nvSpPr>
          <p:cNvPr id="3" name="Slide Number Placeholder 2">
            <a:extLst>
              <a:ext uri="{FF2B5EF4-FFF2-40B4-BE49-F238E27FC236}">
                <a16:creationId xmlns:a16="http://schemas.microsoft.com/office/drawing/2014/main" id="{7117964D-13B0-123B-017C-3A5E3F4BDDEE}"/>
              </a:ext>
            </a:extLst>
          </p:cNvPr>
          <p:cNvSpPr>
            <a:spLocks noGrp="1"/>
          </p:cNvSpPr>
          <p:nvPr>
            <p:ph type="sldNum" sz="quarter" idx="12"/>
          </p:nvPr>
        </p:nvSpPr>
        <p:spPr/>
        <p:txBody>
          <a:bodyPr/>
          <a:lstStyle/>
          <a:p>
            <a:fld id="{EBFB1032-EA64-7144-B003-9BCC9D94B503}" type="slidenum">
              <a:rPr lang="en-US" smtClean="0"/>
              <a:t>52</a:t>
            </a:fld>
            <a:endParaRPr lang="en-US" dirty="0"/>
          </a:p>
        </p:txBody>
      </p:sp>
      <p:sp>
        <p:nvSpPr>
          <p:cNvPr id="4" name="Content Placeholder 3">
            <a:extLst>
              <a:ext uri="{FF2B5EF4-FFF2-40B4-BE49-F238E27FC236}">
                <a16:creationId xmlns:a16="http://schemas.microsoft.com/office/drawing/2014/main" id="{B37103EC-EAAA-A484-3C3B-69D512C246ED}"/>
              </a:ext>
            </a:extLst>
          </p:cNvPr>
          <p:cNvSpPr>
            <a:spLocks noGrp="1"/>
          </p:cNvSpPr>
          <p:nvPr>
            <p:ph sz="quarter" idx="1"/>
          </p:nvPr>
        </p:nvSpPr>
        <p:spPr/>
        <p:txBody>
          <a:bodyPr>
            <a:noAutofit/>
          </a:bodyPr>
          <a:lstStyle/>
          <a:p>
            <a:pPr>
              <a:lnSpc>
                <a:spcPct val="90000"/>
              </a:lnSpc>
              <a:spcBef>
                <a:spcPts val="0"/>
              </a:spcBef>
              <a:buFont typeface="Arial" panose="020B0604020202020204" pitchFamily="34" charset="0"/>
              <a:buChar char="•"/>
            </a:pPr>
            <a:r>
              <a:rPr lang="en-US" sz="2000" b="1" i="1" dirty="0" err="1"/>
              <a:t>batchSize</a:t>
            </a:r>
            <a:r>
              <a:rPr lang="en-US" sz="2000" dirty="0"/>
              <a:t> is the amount of words you process at a time.</a:t>
            </a:r>
          </a:p>
          <a:p>
            <a:pPr>
              <a:lnSpc>
                <a:spcPct val="90000"/>
              </a:lnSpc>
              <a:spcBef>
                <a:spcPts val="0"/>
              </a:spcBef>
              <a:buFont typeface="Arial" panose="020B0604020202020204" pitchFamily="34" charset="0"/>
              <a:buChar char="•"/>
            </a:pPr>
            <a:r>
              <a:rPr lang="en-US" sz="2000" b="1" i="1" dirty="0" err="1"/>
              <a:t>minWordFrequency</a:t>
            </a:r>
            <a:r>
              <a:rPr lang="en-US" sz="2000" dirty="0"/>
              <a:t> is the minimum number of times a word must appear in the corpus. Here, if it appears less than 5 times, it is not learned. Words must appear in multiple contexts to learn useful features about them. In very large corpora, it’s reasonable to raise the minimum.</a:t>
            </a:r>
          </a:p>
          <a:p>
            <a:pPr>
              <a:lnSpc>
                <a:spcPct val="90000"/>
              </a:lnSpc>
              <a:spcBef>
                <a:spcPts val="0"/>
              </a:spcBef>
              <a:buFont typeface="Arial" panose="020B0604020202020204" pitchFamily="34" charset="0"/>
              <a:buChar char="•"/>
            </a:pPr>
            <a:r>
              <a:rPr lang="en-US" sz="2000" b="1" i="1" dirty="0" err="1"/>
              <a:t>useAdaGrad</a:t>
            </a:r>
            <a:r>
              <a:rPr lang="en-US" sz="2000" dirty="0"/>
              <a:t> — </a:t>
            </a:r>
            <a:r>
              <a:rPr lang="en-US" sz="2000" dirty="0" err="1"/>
              <a:t>Adagrad</a:t>
            </a:r>
            <a:r>
              <a:rPr lang="en-US" sz="2000" dirty="0"/>
              <a:t> creates a different gradient for each feature. Here we are not concerned with that.</a:t>
            </a:r>
          </a:p>
          <a:p>
            <a:pPr>
              <a:lnSpc>
                <a:spcPct val="90000"/>
              </a:lnSpc>
              <a:spcBef>
                <a:spcPts val="0"/>
              </a:spcBef>
              <a:buFont typeface="Arial" panose="020B0604020202020204" pitchFamily="34" charset="0"/>
              <a:buChar char="•"/>
            </a:pPr>
            <a:r>
              <a:rPr lang="en-US" sz="2000" b="1" i="1" dirty="0" err="1"/>
              <a:t>layerSize</a:t>
            </a:r>
            <a:r>
              <a:rPr lang="en-US" sz="2000" dirty="0"/>
              <a:t> specifies the number of features in the word vector. This is equal to the number of dimensions in the </a:t>
            </a:r>
            <a:r>
              <a:rPr lang="en-US" sz="2000" dirty="0" err="1"/>
              <a:t>featurespace</a:t>
            </a:r>
            <a:r>
              <a:rPr lang="en-US" sz="2000" dirty="0"/>
              <a:t>. Words represented by 500 features become points in a 500-dimensional space.</a:t>
            </a:r>
          </a:p>
          <a:p>
            <a:pPr>
              <a:lnSpc>
                <a:spcPct val="90000"/>
              </a:lnSpc>
              <a:spcBef>
                <a:spcPts val="0"/>
              </a:spcBef>
              <a:buFont typeface="Arial" panose="020B0604020202020204" pitchFamily="34" charset="0"/>
              <a:buChar char="•"/>
            </a:pPr>
            <a:r>
              <a:rPr lang="en-US" sz="2000" b="1" i="1" dirty="0" err="1"/>
              <a:t>learningRate</a:t>
            </a:r>
            <a:r>
              <a:rPr lang="en-US" sz="2000" b="1" i="1" dirty="0"/>
              <a:t> </a:t>
            </a:r>
            <a:r>
              <a:rPr lang="en-US" sz="2000" dirty="0"/>
              <a:t>is the step size for each update of the coefficients, as words are repositioned in the feature space.</a:t>
            </a:r>
          </a:p>
          <a:p>
            <a:pPr>
              <a:lnSpc>
                <a:spcPct val="90000"/>
              </a:lnSpc>
              <a:spcBef>
                <a:spcPts val="0"/>
              </a:spcBef>
              <a:buFont typeface="Arial" panose="020B0604020202020204" pitchFamily="34" charset="0"/>
              <a:buChar char="•"/>
            </a:pPr>
            <a:r>
              <a:rPr lang="en-US" sz="2000" b="1" i="1" dirty="0" err="1"/>
              <a:t>minLearningRat</a:t>
            </a:r>
            <a:r>
              <a:rPr lang="en-US" sz="2000" i="1" dirty="0" err="1"/>
              <a:t>e</a:t>
            </a:r>
            <a:r>
              <a:rPr lang="en-US" sz="2000" dirty="0"/>
              <a:t> is the floor on the learning rate. Learning rate decays as the number of words you train on decreases. If learning rate shrinks too much, the net’s learning is no longer efficient. This keeps the coefficients moving.</a:t>
            </a:r>
          </a:p>
          <a:p>
            <a:pPr>
              <a:lnSpc>
                <a:spcPct val="90000"/>
              </a:lnSpc>
              <a:spcBef>
                <a:spcPts val="0"/>
              </a:spcBef>
              <a:buFont typeface="Arial" panose="020B0604020202020204" pitchFamily="34" charset="0"/>
              <a:buChar char="•"/>
            </a:pPr>
            <a:r>
              <a:rPr lang="en-US" sz="2000" b="1" i="1" dirty="0"/>
              <a:t>iterate</a:t>
            </a:r>
            <a:r>
              <a:rPr lang="en-US" sz="2000" dirty="0"/>
              <a:t> tells the net what batch of the dataset it’s training on.</a:t>
            </a:r>
          </a:p>
          <a:p>
            <a:pPr>
              <a:lnSpc>
                <a:spcPct val="90000"/>
              </a:lnSpc>
              <a:spcBef>
                <a:spcPts val="0"/>
              </a:spcBef>
              <a:buFont typeface="Arial" panose="020B0604020202020204" pitchFamily="34" charset="0"/>
              <a:buChar char="•"/>
            </a:pPr>
            <a:r>
              <a:rPr lang="en-US" sz="2000" i="1" dirty="0"/>
              <a:t>tokenizer</a:t>
            </a:r>
            <a:r>
              <a:rPr lang="en-US" sz="2000" dirty="0"/>
              <a:t> feeds it the words from the current batch.</a:t>
            </a:r>
          </a:p>
          <a:p>
            <a:pPr>
              <a:lnSpc>
                <a:spcPct val="90000"/>
              </a:lnSpc>
              <a:spcBef>
                <a:spcPts val="0"/>
              </a:spcBef>
              <a:buFont typeface="Arial" panose="020B0604020202020204" pitchFamily="34" charset="0"/>
              <a:buChar char="•"/>
            </a:pPr>
            <a:r>
              <a:rPr lang="en-US" sz="2000" b="1" i="1" dirty="0" err="1"/>
              <a:t>vec.fit</a:t>
            </a:r>
            <a:r>
              <a:rPr lang="en-US" sz="2000" b="1" i="1" dirty="0"/>
              <a:t>()</a:t>
            </a:r>
            <a:r>
              <a:rPr lang="en-US" sz="2000" dirty="0"/>
              <a:t> tells the configured net to begin training.</a:t>
            </a:r>
          </a:p>
        </p:txBody>
      </p:sp>
    </p:spTree>
    <p:extLst>
      <p:ext uri="{BB962C8B-B14F-4D97-AF65-F5344CB8AC3E}">
        <p14:creationId xmlns:p14="http://schemas.microsoft.com/office/powerpoint/2010/main" val="10929723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93F44-5625-FF2D-4C33-521D543E7CD5}"/>
              </a:ext>
            </a:extLst>
          </p:cNvPr>
          <p:cNvSpPr>
            <a:spLocks noGrp="1"/>
          </p:cNvSpPr>
          <p:nvPr>
            <p:ph type="title"/>
          </p:nvPr>
        </p:nvSpPr>
        <p:spPr/>
        <p:txBody>
          <a:bodyPr>
            <a:normAutofit/>
          </a:bodyPr>
          <a:lstStyle/>
          <a:p>
            <a:r>
              <a:rPr lang="en-US" dirty="0"/>
              <a:t>e) Evaluating the Model, Using Word2vec</a:t>
            </a:r>
          </a:p>
        </p:txBody>
      </p:sp>
      <p:sp>
        <p:nvSpPr>
          <p:cNvPr id="3" name="Slide Number Placeholder 2">
            <a:extLst>
              <a:ext uri="{FF2B5EF4-FFF2-40B4-BE49-F238E27FC236}">
                <a16:creationId xmlns:a16="http://schemas.microsoft.com/office/drawing/2014/main" id="{D39FDA52-9E84-4B66-5F5C-F45E88E5AAF6}"/>
              </a:ext>
            </a:extLst>
          </p:cNvPr>
          <p:cNvSpPr>
            <a:spLocks noGrp="1"/>
          </p:cNvSpPr>
          <p:nvPr>
            <p:ph type="sldNum" sz="quarter" idx="12"/>
          </p:nvPr>
        </p:nvSpPr>
        <p:spPr/>
        <p:txBody>
          <a:bodyPr/>
          <a:lstStyle/>
          <a:p>
            <a:fld id="{EBFB1032-EA64-7144-B003-9BCC9D94B503}" type="slidenum">
              <a:rPr lang="en-US" smtClean="0"/>
              <a:t>53</a:t>
            </a:fld>
            <a:endParaRPr lang="en-US" dirty="0"/>
          </a:p>
        </p:txBody>
      </p:sp>
      <p:sp>
        <p:nvSpPr>
          <p:cNvPr id="4" name="Content Placeholder 3">
            <a:extLst>
              <a:ext uri="{FF2B5EF4-FFF2-40B4-BE49-F238E27FC236}">
                <a16:creationId xmlns:a16="http://schemas.microsoft.com/office/drawing/2014/main" id="{3AC8C8D4-E05A-D258-A8D8-BEB99FF87488}"/>
              </a:ext>
            </a:extLst>
          </p:cNvPr>
          <p:cNvSpPr>
            <a:spLocks noGrp="1"/>
          </p:cNvSpPr>
          <p:nvPr>
            <p:ph sz="quarter" idx="1"/>
          </p:nvPr>
        </p:nvSpPr>
        <p:spPr/>
        <p:txBody>
          <a:bodyPr/>
          <a:lstStyle/>
          <a:p>
            <a:r>
              <a:rPr lang="en-US" dirty="0"/>
              <a:t>The next step is to evaluate the quality of your feature vectors.</a:t>
            </a:r>
          </a:p>
          <a:p>
            <a:endParaRPr lang="en-US" dirty="0"/>
          </a:p>
        </p:txBody>
      </p:sp>
      <p:pic>
        <p:nvPicPr>
          <p:cNvPr id="6" name="Picture 5">
            <a:extLst>
              <a:ext uri="{FF2B5EF4-FFF2-40B4-BE49-F238E27FC236}">
                <a16:creationId xmlns:a16="http://schemas.microsoft.com/office/drawing/2014/main" id="{2651EA20-232D-C56E-D91F-37B40C2F63AD}"/>
              </a:ext>
            </a:extLst>
          </p:cNvPr>
          <p:cNvPicPr>
            <a:picLocks noChangeAspect="1"/>
          </p:cNvPicPr>
          <p:nvPr/>
        </p:nvPicPr>
        <p:blipFill>
          <a:blip r:embed="rId2"/>
          <a:stretch>
            <a:fillRect/>
          </a:stretch>
        </p:blipFill>
        <p:spPr>
          <a:xfrm>
            <a:off x="91440" y="2128833"/>
            <a:ext cx="8961120" cy="3678779"/>
          </a:xfrm>
          <a:prstGeom prst="rect">
            <a:avLst/>
          </a:prstGeom>
        </p:spPr>
      </p:pic>
    </p:spTree>
    <p:extLst>
      <p:ext uri="{BB962C8B-B14F-4D97-AF65-F5344CB8AC3E}">
        <p14:creationId xmlns:p14="http://schemas.microsoft.com/office/powerpoint/2010/main" val="20271336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A2859C-14B9-A684-5C07-138E62504F56}"/>
              </a:ext>
            </a:extLst>
          </p:cNvPr>
          <p:cNvSpPr>
            <a:spLocks noGrp="1"/>
          </p:cNvSpPr>
          <p:nvPr>
            <p:ph type="sldNum" sz="quarter" idx="12"/>
          </p:nvPr>
        </p:nvSpPr>
        <p:spPr/>
        <p:txBody>
          <a:bodyPr/>
          <a:lstStyle/>
          <a:p>
            <a:fld id="{EBFB1032-EA64-7144-B003-9BCC9D94B503}" type="slidenum">
              <a:rPr lang="en-US" smtClean="0"/>
              <a:t>54</a:t>
            </a:fld>
            <a:endParaRPr lang="en-US" dirty="0"/>
          </a:p>
        </p:txBody>
      </p:sp>
      <p:pic>
        <p:nvPicPr>
          <p:cNvPr id="6" name="Picture 5">
            <a:extLst>
              <a:ext uri="{FF2B5EF4-FFF2-40B4-BE49-F238E27FC236}">
                <a16:creationId xmlns:a16="http://schemas.microsoft.com/office/drawing/2014/main" id="{CAC611B3-2A69-68B6-9EB8-C424D4B985B5}"/>
              </a:ext>
            </a:extLst>
          </p:cNvPr>
          <p:cNvPicPr>
            <a:picLocks noChangeAspect="1"/>
          </p:cNvPicPr>
          <p:nvPr/>
        </p:nvPicPr>
        <p:blipFill>
          <a:blip r:embed="rId2"/>
          <a:stretch>
            <a:fillRect/>
          </a:stretch>
        </p:blipFill>
        <p:spPr>
          <a:xfrm>
            <a:off x="91440" y="1444105"/>
            <a:ext cx="8961120" cy="3969789"/>
          </a:xfrm>
          <a:prstGeom prst="rect">
            <a:avLst/>
          </a:prstGeom>
          <a:ln>
            <a:solidFill>
              <a:schemeClr val="accent1"/>
            </a:solidFill>
          </a:ln>
        </p:spPr>
      </p:pic>
    </p:spTree>
    <p:extLst>
      <p:ext uri="{BB962C8B-B14F-4D97-AF65-F5344CB8AC3E}">
        <p14:creationId xmlns:p14="http://schemas.microsoft.com/office/powerpoint/2010/main" val="24596556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E14632-173C-FB0A-D04A-8CE2524DC585}"/>
              </a:ext>
            </a:extLst>
          </p:cNvPr>
          <p:cNvSpPr>
            <a:spLocks noGrp="1"/>
          </p:cNvSpPr>
          <p:nvPr>
            <p:ph type="sldNum" sz="quarter" idx="12"/>
          </p:nvPr>
        </p:nvSpPr>
        <p:spPr/>
        <p:txBody>
          <a:bodyPr/>
          <a:lstStyle/>
          <a:p>
            <a:fld id="{EBFB1032-EA64-7144-B003-9BCC9D94B503}" type="slidenum">
              <a:rPr lang="en-US" smtClean="0"/>
              <a:t>55</a:t>
            </a:fld>
            <a:endParaRPr lang="en-US" dirty="0"/>
          </a:p>
        </p:txBody>
      </p:sp>
      <p:pic>
        <p:nvPicPr>
          <p:cNvPr id="4" name="Picture 3">
            <a:extLst>
              <a:ext uri="{FF2B5EF4-FFF2-40B4-BE49-F238E27FC236}">
                <a16:creationId xmlns:a16="http://schemas.microsoft.com/office/drawing/2014/main" id="{0EF8650E-7A28-18DE-1688-3D4265E100C7}"/>
              </a:ext>
            </a:extLst>
          </p:cNvPr>
          <p:cNvPicPr>
            <a:picLocks noChangeAspect="1"/>
          </p:cNvPicPr>
          <p:nvPr/>
        </p:nvPicPr>
        <p:blipFill>
          <a:blip r:embed="rId2"/>
          <a:stretch>
            <a:fillRect/>
          </a:stretch>
        </p:blipFill>
        <p:spPr>
          <a:xfrm>
            <a:off x="91440" y="1363035"/>
            <a:ext cx="8961120" cy="4131929"/>
          </a:xfrm>
          <a:prstGeom prst="rect">
            <a:avLst/>
          </a:prstGeom>
          <a:ln>
            <a:solidFill>
              <a:schemeClr val="accent1"/>
            </a:solidFill>
          </a:ln>
        </p:spPr>
      </p:pic>
    </p:spTree>
    <p:extLst>
      <p:ext uri="{BB962C8B-B14F-4D97-AF65-F5344CB8AC3E}">
        <p14:creationId xmlns:p14="http://schemas.microsoft.com/office/powerpoint/2010/main" val="25056098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10293</TotalTime>
  <Words>3137</Words>
  <Application>Microsoft Office PowerPoint</Application>
  <PresentationFormat>On-screen Show (4:3)</PresentationFormat>
  <Paragraphs>275</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Arial Narrow</vt:lpstr>
      <vt:lpstr>Calibri</vt:lpstr>
      <vt:lpstr>Courier New</vt:lpstr>
      <vt:lpstr>Tw Cen MT</vt:lpstr>
      <vt:lpstr>Wingdings</vt:lpstr>
      <vt:lpstr>Wingdings 2</vt:lpstr>
      <vt:lpstr>Median</vt:lpstr>
      <vt:lpstr>Word2Vec</vt:lpstr>
      <vt:lpstr>There are two flavors of this algorithm</vt:lpstr>
      <vt:lpstr>PowerPoint Presentation</vt:lpstr>
      <vt:lpstr>Vector Representation</vt:lpstr>
      <vt:lpstr>Word2vec is similar to an autoencoder</vt:lpstr>
      <vt:lpstr>It does so in one of two ways</vt:lpstr>
      <vt:lpstr>PowerPoint Presentation</vt:lpstr>
      <vt:lpstr>The components of the vector are adjusted</vt:lpstr>
      <vt:lpstr>Model overview</vt:lpstr>
      <vt:lpstr>Example:</vt:lpstr>
      <vt:lpstr>Hot Vector</vt:lpstr>
      <vt:lpstr>Cont’d</vt:lpstr>
      <vt:lpstr>In word2vec, a distributed representation of a word is used</vt:lpstr>
      <vt:lpstr>PowerPoint Presentation</vt:lpstr>
      <vt:lpstr>We can also use the vectors as inputs to a neural network</vt:lpstr>
      <vt:lpstr>PowerPoint Presentation</vt:lpstr>
      <vt:lpstr>Here’s the architecture of our neural network</vt:lpstr>
      <vt:lpstr>PowerPoint Presentation</vt:lpstr>
      <vt:lpstr>Hidden layer weight matrix</vt:lpstr>
      <vt:lpstr>PowerPoint Presentation</vt:lpstr>
      <vt:lpstr>PowerPoint Presentation</vt:lpstr>
      <vt:lpstr>PowerPoint Presentation</vt:lpstr>
      <vt:lpstr>illustration of calculating the output of the output neuron for the word ‘car’</vt:lpstr>
      <vt:lpstr>Each dimension of the input</vt:lpstr>
      <vt:lpstr>Example:</vt:lpstr>
      <vt:lpstr>PowerPoint Presentation</vt:lpstr>
      <vt:lpstr>PowerPoint Presentation</vt:lpstr>
      <vt:lpstr>PowerPoint Presentation</vt:lpstr>
      <vt:lpstr>The error is then adjusted at each layer &amp; sent back further using Backpropagation</vt:lpstr>
      <vt:lpstr>Word2vec uses a single hidden layer</vt:lpstr>
      <vt:lpstr>PowerPoint Presentation</vt:lpstr>
      <vt:lpstr>Example:</vt:lpstr>
      <vt:lpstr>For the illustration sake, let us assume WI and WO to be initialized to the following values</vt:lpstr>
      <vt:lpstr>Suppose we want the network to learn relationship between the words “cat” and “climbed”</vt:lpstr>
      <vt:lpstr>The activation vector for output layer neurons</vt:lpstr>
      <vt:lpstr>Probabilities</vt:lpstr>
      <vt:lpstr>PowerPoint Presentation</vt:lpstr>
      <vt:lpstr>Human meaning</vt:lpstr>
      <vt:lpstr>PowerPoint Presentation</vt:lpstr>
      <vt:lpstr>Hot Format</vt:lpstr>
      <vt:lpstr>Weight Matrix</vt:lpstr>
      <vt:lpstr>PowerPoint Presentation</vt:lpstr>
      <vt:lpstr>Modification</vt:lpstr>
      <vt:lpstr>PowerPoint Presentation</vt:lpstr>
      <vt:lpstr>Implementation details</vt:lpstr>
      <vt:lpstr>To implement it in DL4j</vt:lpstr>
      <vt:lpstr>a) Word2Vec Setup</vt:lpstr>
      <vt:lpstr>b) Load data</vt:lpstr>
      <vt:lpstr>PowerPoint Presentation</vt:lpstr>
      <vt:lpstr>c) Tokenizing the Data</vt:lpstr>
      <vt:lpstr>d) Training the Model</vt:lpstr>
      <vt:lpstr>Configuration Parameters</vt:lpstr>
      <vt:lpstr>e) Evaluating the Model, Using Word2vec</vt:lpstr>
      <vt:lpstr>PowerPoint Presentation</vt:lpstr>
      <vt:lpstr>PowerPoint Presentation</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1273</cp:revision>
  <dcterms:created xsi:type="dcterms:W3CDTF">2013-01-13T20:33:29Z</dcterms:created>
  <dcterms:modified xsi:type="dcterms:W3CDTF">2025-05-29T16:48:22Z</dcterms:modified>
</cp:coreProperties>
</file>